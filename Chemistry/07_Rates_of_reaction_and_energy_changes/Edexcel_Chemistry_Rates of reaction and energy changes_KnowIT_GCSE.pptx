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74"/>
  </p:notesMasterIdLst>
  <p:sldIdLst>
    <p:sldId id="256" r:id="rId4"/>
    <p:sldId id="464" r:id="rId5"/>
    <p:sldId id="314" r:id="rId6"/>
    <p:sldId id="282" r:id="rId7"/>
    <p:sldId id="283" r:id="rId8"/>
    <p:sldId id="362" r:id="rId9"/>
    <p:sldId id="422" r:id="rId10"/>
    <p:sldId id="423" r:id="rId11"/>
    <p:sldId id="424" r:id="rId12"/>
    <p:sldId id="367" r:id="rId13"/>
    <p:sldId id="425" r:id="rId14"/>
    <p:sldId id="426" r:id="rId15"/>
    <p:sldId id="427" r:id="rId16"/>
    <p:sldId id="370" r:id="rId17"/>
    <p:sldId id="373" r:id="rId18"/>
    <p:sldId id="342" r:id="rId19"/>
    <p:sldId id="428" r:id="rId20"/>
    <p:sldId id="377" r:id="rId21"/>
    <p:sldId id="429" r:id="rId22"/>
    <p:sldId id="430" r:id="rId23"/>
    <p:sldId id="431" r:id="rId24"/>
    <p:sldId id="374" r:id="rId25"/>
    <p:sldId id="432" r:id="rId26"/>
    <p:sldId id="433" r:id="rId27"/>
    <p:sldId id="434" r:id="rId28"/>
    <p:sldId id="380" r:id="rId29"/>
    <p:sldId id="312" r:id="rId30"/>
    <p:sldId id="381" r:id="rId31"/>
    <p:sldId id="435" r:id="rId32"/>
    <p:sldId id="387" r:id="rId33"/>
    <p:sldId id="388" r:id="rId34"/>
    <p:sldId id="383" r:id="rId35"/>
    <p:sldId id="436" r:id="rId36"/>
    <p:sldId id="384" r:id="rId37"/>
    <p:sldId id="385" r:id="rId38"/>
    <p:sldId id="389" r:id="rId39"/>
    <p:sldId id="442" r:id="rId40"/>
    <p:sldId id="390" r:id="rId41"/>
    <p:sldId id="392" r:id="rId42"/>
    <p:sldId id="393" r:id="rId43"/>
    <p:sldId id="437" r:id="rId44"/>
    <p:sldId id="438" r:id="rId45"/>
    <p:sldId id="395" r:id="rId46"/>
    <p:sldId id="439" r:id="rId47"/>
    <p:sldId id="440" r:id="rId48"/>
    <p:sldId id="441" r:id="rId49"/>
    <p:sldId id="443" r:id="rId50"/>
    <p:sldId id="455" r:id="rId51"/>
    <p:sldId id="444" r:id="rId52"/>
    <p:sldId id="445" r:id="rId53"/>
    <p:sldId id="446" r:id="rId54"/>
    <p:sldId id="447" r:id="rId55"/>
    <p:sldId id="449" r:id="rId56"/>
    <p:sldId id="456" r:id="rId57"/>
    <p:sldId id="457" r:id="rId58"/>
    <p:sldId id="452" r:id="rId59"/>
    <p:sldId id="458" r:id="rId60"/>
    <p:sldId id="459" r:id="rId61"/>
    <p:sldId id="398" r:id="rId62"/>
    <p:sldId id="399" r:id="rId63"/>
    <p:sldId id="400" r:id="rId64"/>
    <p:sldId id="401" r:id="rId65"/>
    <p:sldId id="402" r:id="rId66"/>
    <p:sldId id="403" r:id="rId67"/>
    <p:sldId id="404" r:id="rId68"/>
    <p:sldId id="460" r:id="rId69"/>
    <p:sldId id="461" r:id="rId70"/>
    <p:sldId id="407" r:id="rId71"/>
    <p:sldId id="462" r:id="rId72"/>
    <p:sldId id="463" r:id="rId7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llins" initials="KC" lastIdx="1" clrIdx="0">
    <p:extLst/>
  </p:cmAuthor>
  <p:cmAuthor id="2" name="Karen Collins" initials="KC [2]" lastIdx="1" clrIdx="1">
    <p:extLst/>
  </p:cmAuthor>
  <p:cmAuthor id="3" name="Karen Collins" initials="KC [3]" lastIdx="1" clrIdx="2">
    <p:extLst/>
  </p:cmAuthor>
  <p:cmAuthor id="4" name="Karen Collins" initials="KC [4]" lastIdx="1" clrIdx="3">
    <p:extLst/>
  </p:cmAuthor>
  <p:cmAuthor id="5" name="Karen Collins" initials="KC [5]" lastIdx="1" clrIdx="4">
    <p:extLst/>
  </p:cmAuthor>
  <p:cmAuthor id="6" name="Karen Collins" initials="KC [6]" lastIdx="1" clrIdx="5">
    <p:extLst/>
  </p:cmAuthor>
  <p:cmAuthor id="7" name="Karen Collins" initials="KC [7]" lastIdx="1" clrIdx="6">
    <p:extLst/>
  </p:cmAuthor>
  <p:cmAuthor id="8" name="Karen Collins" initials="KC [8]" lastIdx="1" clrIdx="7">
    <p:extLst/>
  </p:cmAuthor>
  <p:cmAuthor id="9" name="Karen Collins" initials="KC [9]" lastIdx="1" clrIdx="8">
    <p:extLst/>
  </p:cmAuthor>
  <p:cmAuthor id="10" name="Karen Collins" initials="KC [10]" lastIdx="1" clrIdx="9">
    <p:extLst/>
  </p:cmAuthor>
  <p:cmAuthor id="11" name="Karen Collins" initials="KC [11]" lastIdx="1" clrIdx="10">
    <p:extLst/>
  </p:cmAuthor>
  <p:cmAuthor id="12" name="Karen Collins" initials="KC [12]" lastIdx="1" clrIdx="11">
    <p:extLst/>
  </p:cmAuthor>
  <p:cmAuthor id="13" name="Karen Collins" initials="KC [13]" lastIdx="1" clrIdx="12">
    <p:extLst/>
  </p:cmAuthor>
  <p:cmAuthor id="14" name="Karen Collins" initials="KC [14]" lastIdx="1" clrIdx="13">
    <p:extLst/>
  </p:cmAuthor>
  <p:cmAuthor id="15" name="Karen Collins" initials="KC [15]" lastIdx="1" clrIdx="14">
    <p:extLst/>
  </p:cmAuthor>
  <p:cmAuthor id="16" name="Karen Collins" initials="KC [16]" lastIdx="1" clrIdx="15">
    <p:extLst/>
  </p:cmAuthor>
  <p:cmAuthor id="17" name="Karen Collins" initials="KC [17]" lastIdx="1" clrIdx="16">
    <p:extLst/>
  </p:cmAuthor>
  <p:cmAuthor id="18" name="Karen Collins" initials="KC [18]" lastIdx="1" clrIdx="17">
    <p:extLst/>
  </p:cmAuthor>
  <p:cmAuthor id="19" name="Karen Collins" initials="KC [19]" lastIdx="1" clrIdx="18">
    <p:extLst/>
  </p:cmAuthor>
  <p:cmAuthor id="20" name="Karen Collins" initials="KC [20]" lastIdx="1" clrIdx="19">
    <p:extLst/>
  </p:cmAuthor>
  <p:cmAuthor id="21" name="Karen Collins" initials="KC [21]" lastIdx="1" clrIdx="20">
    <p:extLst/>
  </p:cmAuthor>
  <p:cmAuthor id="22" name="Karen Collins" initials="KC [22]" lastIdx="1" clrIdx="21">
    <p:extLst/>
  </p:cmAuthor>
  <p:cmAuthor id="23" name="Karen Collins" initials="KC [23]" lastIdx="1" clrIdx="22">
    <p:extLst/>
  </p:cmAuthor>
  <p:cmAuthor id="24" name="Karen Collins" initials="KC [24]" lastIdx="1" clrIdx="23">
    <p:extLst/>
  </p:cmAuthor>
  <p:cmAuthor id="25" name="Karen Collins" initials="KC [25]" lastIdx="1" clrIdx="24">
    <p:extLst/>
  </p:cmAuthor>
  <p:cmAuthor id="26" name="Karen Collins" initials="KC [26]" lastIdx="1" clrIdx="25">
    <p:extLst/>
  </p:cmAuthor>
  <p:cmAuthor id="27" name="Karen Collins" initials="KC [27]" lastIdx="1" clrIdx="26">
    <p:extLst/>
  </p:cmAuthor>
  <p:cmAuthor id="28" name="Karen Collins" initials="KC [28]" lastIdx="1" clrIdx="27">
    <p:extLst/>
  </p:cmAuthor>
  <p:cmAuthor id="29" name="Karen Collins" initials="KC [29]" lastIdx="1" clrIdx="28">
    <p:extLst/>
  </p:cmAuthor>
  <p:cmAuthor id="30" name="Karen Collins" initials="KC [30]" lastIdx="1" clrIdx="29">
    <p:extLst/>
  </p:cmAuthor>
  <p:cmAuthor id="31" name="Karen Collins" initials="KC [31]" lastIdx="1" clrIdx="30">
    <p:extLst/>
  </p:cmAuthor>
  <p:cmAuthor id="32" name="Karen Collins" initials="KC [32]" lastIdx="1" clrIdx="31">
    <p:extLst/>
  </p:cmAuthor>
  <p:cmAuthor id="33" name="Karen Collins" initials="KC [33]" lastIdx="1" clrIdx="32">
    <p:extLst/>
  </p:cmAuthor>
  <p:cmAuthor id="34" name="Mark Simpkins" initials="MS" lastIdx="29" clrIdx="33">
    <p:extLst>
      <p:ext uri="{19B8F6BF-5375-455C-9EA6-DF929625EA0E}">
        <p15:presenceInfo xmlns:p15="http://schemas.microsoft.com/office/powerpoint/2012/main" userId="S-1-5-21-938404072-1861764119-582892889-4477" providerId="AD"/>
      </p:ext>
    </p:extLst>
  </p:cmAuthor>
  <p:cmAuthor id="35" name="Vicki Pugh" initials="VP" lastIdx="16" clrIdx="34">
    <p:extLst>
      <p:ext uri="{19B8F6BF-5375-455C-9EA6-DF929625EA0E}">
        <p15:presenceInfo xmlns:p15="http://schemas.microsoft.com/office/powerpoint/2012/main" userId="fb86ba5f6b82553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61" autoAdjust="0"/>
    <p:restoredTop sz="83654" autoAdjust="0"/>
  </p:normalViewPr>
  <p:slideViewPr>
    <p:cSldViewPr>
      <p:cViewPr varScale="1">
        <p:scale>
          <a:sx n="72" d="100"/>
          <a:sy n="72" d="100"/>
        </p:scale>
        <p:origin x="1224"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2/9/2018</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dirty="0"/>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a:t>
            </a:fld>
            <a:endParaRPr lang="en-US" dirty="0"/>
          </a:p>
        </p:txBody>
      </p:sp>
    </p:spTree>
    <p:extLst>
      <p:ext uri="{BB962C8B-B14F-4D97-AF65-F5344CB8AC3E}">
        <p14:creationId xmlns:p14="http://schemas.microsoft.com/office/powerpoint/2010/main" val="203579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dirty="0"/>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dirty="0"/>
          </a:p>
        </p:txBody>
      </p:sp>
    </p:spTree>
    <p:extLst>
      <p:ext uri="{BB962C8B-B14F-4D97-AF65-F5344CB8AC3E}">
        <p14:creationId xmlns:p14="http://schemas.microsoft.com/office/powerpoint/2010/main" val="1022498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dirty="0"/>
          </a:p>
        </p:txBody>
      </p:sp>
    </p:spTree>
    <p:extLst>
      <p:ext uri="{BB962C8B-B14F-4D97-AF65-F5344CB8AC3E}">
        <p14:creationId xmlns:p14="http://schemas.microsoft.com/office/powerpoint/2010/main" val="1564237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10</a:t>
            </a:fld>
            <a:endParaRPr lang="en-US" dirty="0"/>
          </a:p>
        </p:txBody>
      </p:sp>
    </p:spTree>
    <p:extLst>
      <p:ext uri="{BB962C8B-B14F-4D97-AF65-F5344CB8AC3E}">
        <p14:creationId xmlns:p14="http://schemas.microsoft.com/office/powerpoint/2010/main" val="255430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14</a:t>
            </a:fld>
            <a:endParaRPr lang="en-US" dirty="0"/>
          </a:p>
        </p:txBody>
      </p:sp>
    </p:spTree>
    <p:extLst>
      <p:ext uri="{BB962C8B-B14F-4D97-AF65-F5344CB8AC3E}">
        <p14:creationId xmlns:p14="http://schemas.microsoft.com/office/powerpoint/2010/main" val="728618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15</a:t>
            </a:fld>
            <a:endParaRPr lang="en-US" dirty="0"/>
          </a:p>
        </p:txBody>
      </p:sp>
    </p:spTree>
    <p:extLst>
      <p:ext uri="{BB962C8B-B14F-4D97-AF65-F5344CB8AC3E}">
        <p14:creationId xmlns:p14="http://schemas.microsoft.com/office/powerpoint/2010/main" val="2137656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16</a:t>
            </a:fld>
            <a:endParaRPr lang="en-US" dirty="0"/>
          </a:p>
        </p:txBody>
      </p:sp>
    </p:spTree>
    <p:extLst>
      <p:ext uri="{BB962C8B-B14F-4D97-AF65-F5344CB8AC3E}">
        <p14:creationId xmlns:p14="http://schemas.microsoft.com/office/powerpoint/2010/main" val="348567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17</a:t>
            </a:fld>
            <a:endParaRPr lang="en-US" dirty="0"/>
          </a:p>
        </p:txBody>
      </p:sp>
    </p:spTree>
    <p:extLst>
      <p:ext uri="{BB962C8B-B14F-4D97-AF65-F5344CB8AC3E}">
        <p14:creationId xmlns:p14="http://schemas.microsoft.com/office/powerpoint/2010/main" val="2940126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18</a:t>
            </a:fld>
            <a:endParaRPr lang="en-US" dirty="0"/>
          </a:p>
        </p:txBody>
      </p:sp>
    </p:spTree>
    <p:extLst>
      <p:ext uri="{BB962C8B-B14F-4D97-AF65-F5344CB8AC3E}">
        <p14:creationId xmlns:p14="http://schemas.microsoft.com/office/powerpoint/2010/main" val="647851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22</a:t>
            </a:fld>
            <a:endParaRPr lang="en-US" dirty="0"/>
          </a:p>
        </p:txBody>
      </p:sp>
    </p:spTree>
    <p:extLst>
      <p:ext uri="{BB962C8B-B14F-4D97-AF65-F5344CB8AC3E}">
        <p14:creationId xmlns:p14="http://schemas.microsoft.com/office/powerpoint/2010/main" val="1716871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26</a:t>
            </a:fld>
            <a:endParaRPr lang="en-US" dirty="0"/>
          </a:p>
        </p:txBody>
      </p:sp>
    </p:spTree>
    <p:extLst>
      <p:ext uri="{BB962C8B-B14F-4D97-AF65-F5344CB8AC3E}">
        <p14:creationId xmlns:p14="http://schemas.microsoft.com/office/powerpoint/2010/main" val="1908741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28</a:t>
            </a:fld>
            <a:endParaRPr lang="en-US" dirty="0"/>
          </a:p>
        </p:txBody>
      </p:sp>
    </p:spTree>
    <p:extLst>
      <p:ext uri="{BB962C8B-B14F-4D97-AF65-F5344CB8AC3E}">
        <p14:creationId xmlns:p14="http://schemas.microsoft.com/office/powerpoint/2010/main" val="1590097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dirty="0"/>
          </a:p>
        </p:txBody>
      </p:sp>
    </p:spTree>
    <p:extLst>
      <p:ext uri="{BB962C8B-B14F-4D97-AF65-F5344CB8AC3E}">
        <p14:creationId xmlns:p14="http://schemas.microsoft.com/office/powerpoint/2010/main" val="3141179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36</a:t>
            </a:fld>
            <a:endParaRPr lang="en-US" dirty="0"/>
          </a:p>
        </p:txBody>
      </p:sp>
    </p:spTree>
    <p:extLst>
      <p:ext uri="{BB962C8B-B14F-4D97-AF65-F5344CB8AC3E}">
        <p14:creationId xmlns:p14="http://schemas.microsoft.com/office/powerpoint/2010/main" val="3244517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dirty="0"/>
          </a:p>
        </p:txBody>
      </p:sp>
    </p:spTree>
    <p:extLst>
      <p:ext uri="{BB962C8B-B14F-4D97-AF65-F5344CB8AC3E}">
        <p14:creationId xmlns:p14="http://schemas.microsoft.com/office/powerpoint/2010/main" val="17010307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38</a:t>
            </a:fld>
            <a:endParaRPr lang="en-US" dirty="0"/>
          </a:p>
        </p:txBody>
      </p:sp>
    </p:spTree>
    <p:extLst>
      <p:ext uri="{BB962C8B-B14F-4D97-AF65-F5344CB8AC3E}">
        <p14:creationId xmlns:p14="http://schemas.microsoft.com/office/powerpoint/2010/main" val="31031640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39</a:t>
            </a:fld>
            <a:endParaRPr lang="en-US" dirty="0"/>
          </a:p>
        </p:txBody>
      </p:sp>
    </p:spTree>
    <p:extLst>
      <p:ext uri="{BB962C8B-B14F-4D97-AF65-F5344CB8AC3E}">
        <p14:creationId xmlns:p14="http://schemas.microsoft.com/office/powerpoint/2010/main" val="2030918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40</a:t>
            </a:fld>
            <a:endParaRPr lang="en-US" dirty="0"/>
          </a:p>
        </p:txBody>
      </p:sp>
    </p:spTree>
    <p:extLst>
      <p:ext uri="{BB962C8B-B14F-4D97-AF65-F5344CB8AC3E}">
        <p14:creationId xmlns:p14="http://schemas.microsoft.com/office/powerpoint/2010/main" val="350041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43</a:t>
            </a:fld>
            <a:endParaRPr lang="en-US" dirty="0"/>
          </a:p>
        </p:txBody>
      </p:sp>
    </p:spTree>
    <p:extLst>
      <p:ext uri="{BB962C8B-B14F-4D97-AF65-F5344CB8AC3E}">
        <p14:creationId xmlns:p14="http://schemas.microsoft.com/office/powerpoint/2010/main" val="14032284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47</a:t>
            </a:fld>
            <a:endParaRPr lang="en-US" dirty="0"/>
          </a:p>
        </p:txBody>
      </p:sp>
    </p:spTree>
    <p:extLst>
      <p:ext uri="{BB962C8B-B14F-4D97-AF65-F5344CB8AC3E}">
        <p14:creationId xmlns:p14="http://schemas.microsoft.com/office/powerpoint/2010/main" val="42089501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48</a:t>
            </a:fld>
            <a:endParaRPr lang="en-US" dirty="0"/>
          </a:p>
        </p:txBody>
      </p:sp>
    </p:spTree>
    <p:extLst>
      <p:ext uri="{BB962C8B-B14F-4D97-AF65-F5344CB8AC3E}">
        <p14:creationId xmlns:p14="http://schemas.microsoft.com/office/powerpoint/2010/main" val="18172645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49</a:t>
            </a:fld>
            <a:endParaRPr lang="en-US" dirty="0"/>
          </a:p>
        </p:txBody>
      </p:sp>
    </p:spTree>
    <p:extLst>
      <p:ext uri="{BB962C8B-B14F-4D97-AF65-F5344CB8AC3E}">
        <p14:creationId xmlns:p14="http://schemas.microsoft.com/office/powerpoint/2010/main" val="19583393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50</a:t>
            </a:fld>
            <a:endParaRPr lang="en-US" dirty="0"/>
          </a:p>
        </p:txBody>
      </p:sp>
    </p:spTree>
    <p:extLst>
      <p:ext uri="{BB962C8B-B14F-4D97-AF65-F5344CB8AC3E}">
        <p14:creationId xmlns:p14="http://schemas.microsoft.com/office/powerpoint/2010/main" val="13055230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51</a:t>
            </a:fld>
            <a:endParaRPr lang="en-US" dirty="0"/>
          </a:p>
        </p:txBody>
      </p:sp>
    </p:spTree>
    <p:extLst>
      <p:ext uri="{BB962C8B-B14F-4D97-AF65-F5344CB8AC3E}">
        <p14:creationId xmlns:p14="http://schemas.microsoft.com/office/powerpoint/2010/main" val="2755802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52</a:t>
            </a:fld>
            <a:endParaRPr lang="en-US" dirty="0"/>
          </a:p>
        </p:txBody>
      </p:sp>
    </p:spTree>
    <p:extLst>
      <p:ext uri="{BB962C8B-B14F-4D97-AF65-F5344CB8AC3E}">
        <p14:creationId xmlns:p14="http://schemas.microsoft.com/office/powerpoint/2010/main" val="35350386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53</a:t>
            </a:fld>
            <a:endParaRPr lang="en-US" dirty="0"/>
          </a:p>
        </p:txBody>
      </p:sp>
    </p:spTree>
    <p:extLst>
      <p:ext uri="{BB962C8B-B14F-4D97-AF65-F5344CB8AC3E}">
        <p14:creationId xmlns:p14="http://schemas.microsoft.com/office/powerpoint/2010/main" val="35373238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56</a:t>
            </a:fld>
            <a:endParaRPr lang="en-US" dirty="0"/>
          </a:p>
        </p:txBody>
      </p:sp>
    </p:spTree>
    <p:extLst>
      <p:ext uri="{BB962C8B-B14F-4D97-AF65-F5344CB8AC3E}">
        <p14:creationId xmlns:p14="http://schemas.microsoft.com/office/powerpoint/2010/main" val="29674826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59</a:t>
            </a:fld>
            <a:endParaRPr lang="en-US" dirty="0"/>
          </a:p>
        </p:txBody>
      </p:sp>
    </p:spTree>
    <p:extLst>
      <p:ext uri="{BB962C8B-B14F-4D97-AF65-F5344CB8AC3E}">
        <p14:creationId xmlns:p14="http://schemas.microsoft.com/office/powerpoint/2010/main" val="41524712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65</a:t>
            </a:fld>
            <a:endParaRPr lang="en-US" dirty="0"/>
          </a:p>
        </p:txBody>
      </p:sp>
    </p:spTree>
    <p:extLst>
      <p:ext uri="{BB962C8B-B14F-4D97-AF65-F5344CB8AC3E}">
        <p14:creationId xmlns:p14="http://schemas.microsoft.com/office/powerpoint/2010/main" val="10725582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68</a:t>
            </a:fld>
            <a:endParaRPr lang="en-US" dirty="0"/>
          </a:p>
        </p:txBody>
      </p:sp>
    </p:spTree>
    <p:extLst>
      <p:ext uri="{BB962C8B-B14F-4D97-AF65-F5344CB8AC3E}">
        <p14:creationId xmlns:p14="http://schemas.microsoft.com/office/powerpoint/2010/main" val="1525369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Drag picture to placeholder or click icon to add</a:t>
            </a:r>
            <a:endParaRPr lang="en-GB"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09/02/2018</a:t>
            </a:fld>
            <a:endParaRPr lang="en-GB" dirty="0"/>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dirty="0"/>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09/02/2018</a:t>
            </a:fld>
            <a:endParaRPr lang="en-GB" dirty="0"/>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dirty="0"/>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09/02/2018</a:t>
            </a:fld>
            <a:endParaRPr lang="en-GB"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dirty="0"/>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09/02/2018</a:t>
            </a:fld>
            <a:endParaRPr lang="en-GB"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dirty="0"/>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5.jpeg"/><Relationship Id="rId4" Type="http://schemas.openxmlformats.org/officeDocument/2006/relationships/hyperlink" Target="http://www.pixl.org.uk/"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4"/>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742837"/>
          </a:xfrm>
          <a:prstGeom prst="rect">
            <a:avLst/>
          </a:prstGeom>
          <a:noFill/>
        </p:spPr>
        <p:txBody>
          <a:bodyPr wrap="square" rtlCol="0">
            <a:spAutoFit/>
          </a:bodyPr>
          <a:lstStyle/>
          <a:p>
            <a:pPr algn="ctr">
              <a:lnSpc>
                <a:spcPct val="115000"/>
              </a:lnSpc>
              <a:spcAft>
                <a:spcPts val="0"/>
              </a:spcAft>
            </a:pPr>
            <a:r>
              <a:rPr lang="en-GB" sz="7200" b="1" dirty="0"/>
              <a:t>PiXL KnowIT!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Edexcel Topic – Rates of reaction and energy changes</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9752" y="35655"/>
            <a:ext cx="6804248" cy="1017081"/>
          </a:xfrm>
        </p:spPr>
        <p:txBody>
          <a:bodyPr>
            <a:normAutofit/>
          </a:bodyPr>
          <a:lstStyle/>
          <a:p>
            <a:pPr algn="r"/>
            <a:r>
              <a:rPr lang="en-GB" sz="2800" b="1" dirty="0">
                <a:solidFill>
                  <a:schemeClr val="accent6"/>
                </a:solidFill>
              </a:rPr>
              <a:t>Overview </a:t>
            </a:r>
            <a:br>
              <a:rPr lang="en-GB" sz="2800" b="1" dirty="0">
                <a:solidFill>
                  <a:schemeClr val="accent6"/>
                </a:solidFill>
              </a:rPr>
            </a:br>
            <a:r>
              <a:rPr lang="en-GB" sz="2800" b="1" dirty="0">
                <a:solidFill>
                  <a:schemeClr val="accent6"/>
                </a:solidFill>
              </a:rPr>
              <a:t> Rates of reaction and energy changes</a:t>
            </a:r>
          </a:p>
        </p:txBody>
      </p:sp>
      <p:sp>
        <p:nvSpPr>
          <p:cNvPr id="3" name="Subtitle 2"/>
          <p:cNvSpPr>
            <a:spLocks noGrp="1"/>
          </p:cNvSpPr>
          <p:nvPr>
            <p:ph type="subTitle" idx="1"/>
          </p:nvPr>
        </p:nvSpPr>
        <p:spPr>
          <a:xfrm>
            <a:off x="179512" y="908720"/>
            <a:ext cx="4896544" cy="5472608"/>
          </a:xfrm>
        </p:spPr>
        <p:txBody>
          <a:bodyPr>
            <a:normAutofit fontScale="92500" lnSpcReduction="20000"/>
          </a:bodyPr>
          <a:lstStyle/>
          <a:p>
            <a:pPr algn="l"/>
            <a:r>
              <a:rPr lang="en-US" sz="2000" b="1" dirty="0">
                <a:solidFill>
                  <a:schemeClr val="tx1"/>
                </a:solidFill>
                <a:latin typeface="+mn-lt"/>
              </a:rPr>
              <a:t>Rate of reaction</a:t>
            </a:r>
          </a:p>
          <a:p>
            <a:pPr marL="685800" lvl="1" indent="-342900" algn="l">
              <a:buFont typeface="Arial" charset="0"/>
              <a:buChar char="•"/>
            </a:pPr>
            <a:r>
              <a:rPr lang="en-US" sz="2000" dirty="0">
                <a:solidFill>
                  <a:schemeClr val="tx1"/>
                </a:solidFill>
              </a:rPr>
              <a:t>Practical methods</a:t>
            </a:r>
          </a:p>
          <a:p>
            <a:pPr marL="685800" lvl="1" indent="-342900" algn="l">
              <a:buFont typeface="Arial" charset="0"/>
              <a:buChar char="•"/>
            </a:pPr>
            <a:r>
              <a:rPr lang="en-US" sz="2000" dirty="0">
                <a:solidFill>
                  <a:schemeClr val="tx1"/>
                </a:solidFill>
              </a:rPr>
              <a:t>Calculating rates of reaction</a:t>
            </a:r>
          </a:p>
          <a:p>
            <a:pPr marL="685800" lvl="1" indent="-342900" algn="l">
              <a:buFont typeface="Arial" charset="0"/>
              <a:buChar char="•"/>
            </a:pPr>
            <a:r>
              <a:rPr lang="en-US" sz="2000" dirty="0">
                <a:solidFill>
                  <a:schemeClr val="tx1"/>
                </a:solidFill>
              </a:rPr>
              <a:t>Collision theory</a:t>
            </a:r>
          </a:p>
          <a:p>
            <a:pPr marL="685800" lvl="1" indent="-342900" algn="l">
              <a:buFont typeface="Arial" charset="0"/>
              <a:buChar char="•"/>
            </a:pPr>
            <a:r>
              <a:rPr lang="en-US" sz="2000" dirty="0">
                <a:solidFill>
                  <a:schemeClr val="tx1"/>
                </a:solidFill>
              </a:rPr>
              <a:t>Effects of changes in temperature, concentration, surface area and pressure on rates of reaction</a:t>
            </a:r>
          </a:p>
          <a:p>
            <a:pPr marL="685800" lvl="1" indent="-342900" algn="l">
              <a:buFont typeface="Arial" charset="0"/>
              <a:buChar char="•"/>
            </a:pPr>
            <a:r>
              <a:rPr lang="en-US" sz="2000" dirty="0">
                <a:solidFill>
                  <a:schemeClr val="tx1"/>
                </a:solidFill>
              </a:rPr>
              <a:t>Catalysts</a:t>
            </a:r>
          </a:p>
          <a:p>
            <a:pPr algn="l"/>
            <a:r>
              <a:rPr lang="en-US" sz="2000" b="1" dirty="0">
                <a:solidFill>
                  <a:schemeClr val="tx1"/>
                </a:solidFill>
                <a:latin typeface="+mn-lt"/>
              </a:rPr>
              <a:t>Heat energy changes in chemical reactions</a:t>
            </a:r>
          </a:p>
          <a:p>
            <a:pPr marL="685800" lvl="1" indent="-342900" algn="l">
              <a:buFont typeface="Arial" charset="0"/>
              <a:buChar char="•"/>
            </a:pPr>
            <a:r>
              <a:rPr lang="en-US" sz="2000" dirty="0">
                <a:solidFill>
                  <a:schemeClr val="tx1"/>
                </a:solidFill>
              </a:rPr>
              <a:t>Types of change that cause a change in heat energy</a:t>
            </a:r>
          </a:p>
          <a:p>
            <a:pPr marL="685800" lvl="1" indent="-342900" algn="l">
              <a:buFont typeface="Arial" charset="0"/>
              <a:buChar char="•"/>
            </a:pPr>
            <a:r>
              <a:rPr lang="en-US" sz="2000" dirty="0">
                <a:solidFill>
                  <a:schemeClr val="tx1"/>
                </a:solidFill>
              </a:rPr>
              <a:t>Exothermic reactions</a:t>
            </a:r>
          </a:p>
          <a:p>
            <a:pPr marL="685800" lvl="1" indent="-342900" algn="l">
              <a:buFont typeface="Arial" charset="0"/>
              <a:buChar char="•"/>
            </a:pPr>
            <a:r>
              <a:rPr lang="en-US" sz="2000" dirty="0">
                <a:solidFill>
                  <a:schemeClr val="tx1"/>
                </a:solidFill>
              </a:rPr>
              <a:t>Endothermic reactions</a:t>
            </a:r>
          </a:p>
          <a:p>
            <a:pPr marL="685800" lvl="1" indent="-342900" algn="l">
              <a:buFont typeface="Arial" charset="0"/>
              <a:buChar char="•"/>
            </a:pPr>
            <a:r>
              <a:rPr lang="en-US" sz="2000" dirty="0">
                <a:solidFill>
                  <a:schemeClr val="tx1"/>
                </a:solidFill>
              </a:rPr>
              <a:t>Overall heat energy change for a reaction</a:t>
            </a:r>
          </a:p>
          <a:p>
            <a:pPr marL="685800" lvl="1" indent="-342900" algn="l">
              <a:buFont typeface="Arial" charset="0"/>
              <a:buChar char="•"/>
            </a:pPr>
            <a:r>
              <a:rPr lang="en-US" sz="2000" dirty="0">
                <a:solidFill>
                  <a:schemeClr val="tx1"/>
                </a:solidFill>
              </a:rPr>
              <a:t>Calculate energy change (HT)</a:t>
            </a:r>
          </a:p>
          <a:p>
            <a:pPr marL="685800" lvl="1" indent="-342900" algn="l">
              <a:buFont typeface="Arial" charset="0"/>
              <a:buChar char="•"/>
            </a:pPr>
            <a:r>
              <a:rPr lang="en-US" sz="2000" dirty="0">
                <a:solidFill>
                  <a:schemeClr val="tx1"/>
                </a:solidFill>
              </a:rPr>
              <a:t>Activation energy</a:t>
            </a:r>
          </a:p>
          <a:p>
            <a:pPr marL="685800" lvl="1" indent="-342900" algn="l">
              <a:buFont typeface="Arial" charset="0"/>
              <a:buChar char="•"/>
            </a:pPr>
            <a:r>
              <a:rPr lang="en-US" sz="2000" dirty="0">
                <a:solidFill>
                  <a:schemeClr val="tx1"/>
                </a:solidFill>
              </a:rPr>
              <a:t>Energy profiles</a:t>
            </a:r>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endParaRPr lang="en-GB" dirty="0">
              <a:solidFill>
                <a:schemeClr val="tx1"/>
              </a:solidFill>
            </a:endParaRPr>
          </a:p>
        </p:txBody>
      </p:sp>
      <p:pic>
        <p:nvPicPr>
          <p:cNvPr id="4" name="Picture 3"/>
          <p:cNvPicPr>
            <a:picLocks noChangeAspect="1"/>
          </p:cNvPicPr>
          <p:nvPr/>
        </p:nvPicPr>
        <p:blipFill>
          <a:blip r:embed="rId2"/>
          <a:stretch>
            <a:fillRect/>
          </a:stretch>
        </p:blipFill>
        <p:spPr>
          <a:xfrm>
            <a:off x="5076056" y="1196752"/>
            <a:ext cx="3888432" cy="4104456"/>
          </a:xfrm>
          <a:prstGeom prst="rect">
            <a:avLst/>
          </a:prstGeom>
        </p:spPr>
      </p:pic>
    </p:spTree>
    <p:extLst>
      <p:ext uri="{BB962C8B-B14F-4D97-AF65-F5344CB8AC3E}">
        <p14:creationId xmlns:p14="http://schemas.microsoft.com/office/powerpoint/2010/main" val="372044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4678204"/>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1 </a:t>
            </a:r>
          </a:p>
          <a:p>
            <a:pPr marL="457200" indent="-457200">
              <a:buFont typeface="Arial" charset="0"/>
              <a:buChar char="•"/>
            </a:pPr>
            <a:r>
              <a:rPr lang="en-GB" sz="2400" b="1" dirty="0">
                <a:solidFill>
                  <a:schemeClr val="tx1">
                    <a:lumMod val="50000"/>
                    <a:lumOff val="50000"/>
                  </a:schemeClr>
                </a:solidFill>
              </a:rPr>
              <a:t>Practical methods</a:t>
            </a:r>
          </a:p>
          <a:p>
            <a:pPr marL="457200" indent="-457200">
              <a:buFont typeface="Arial" charset="0"/>
              <a:buChar char="•"/>
            </a:pPr>
            <a:r>
              <a:rPr lang="en-GB" sz="2400" b="1" dirty="0">
                <a:solidFill>
                  <a:schemeClr val="tx1">
                    <a:lumMod val="50000"/>
                    <a:lumOff val="50000"/>
                  </a:schemeClr>
                </a:solidFill>
              </a:rPr>
              <a:t>Calculating rates</a:t>
            </a:r>
          </a:p>
          <a:p>
            <a:r>
              <a:rPr lang="en-GB" sz="2400" b="1" dirty="0">
                <a:solidFill>
                  <a:schemeClr val="tx1">
                    <a:lumMod val="50000"/>
                    <a:lumOff val="50000"/>
                  </a:schemeClr>
                </a:solidFill>
              </a:rPr>
              <a:t>       of reactions</a:t>
            </a: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632385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200" b="1" dirty="0">
                <a:solidFill>
                  <a:schemeClr val="accent6"/>
                </a:solidFill>
              </a:rPr>
              <a:t>Rate of reactions part 1 – </a:t>
            </a:r>
            <a:r>
              <a:rPr kumimoji="0" lang="en-US" sz="2200" b="1" i="0" u="none" strike="noStrike" kern="1200" cap="none" spc="0" normalizeH="0" baseline="0" noProof="0" dirty="0">
                <a:ln>
                  <a:noFill/>
                </a:ln>
                <a:solidFill>
                  <a:schemeClr val="accent6"/>
                </a:solidFill>
                <a:effectLst/>
                <a:uLnTx/>
                <a:uFillTx/>
                <a:latin typeface="Calibri"/>
                <a:ea typeface=""/>
                <a:cs typeface="News Gothic MT"/>
              </a:rPr>
              <a:t>Calculating rates of</a:t>
            </a:r>
            <a:r>
              <a:rPr kumimoji="0" lang="en-US" sz="2200" b="1" i="0" u="none" strike="noStrike" kern="1200" cap="none" spc="0" normalizeH="0" noProof="0" dirty="0">
                <a:ln>
                  <a:noFill/>
                </a:ln>
                <a:solidFill>
                  <a:schemeClr val="accent6"/>
                </a:solidFill>
                <a:effectLst/>
                <a:uLnTx/>
                <a:uFillTx/>
                <a:latin typeface="Calibri"/>
                <a:ea typeface=""/>
                <a:cs typeface="News Gothic MT"/>
              </a:rPr>
              <a:t> reactions</a:t>
            </a:r>
            <a:endParaRPr lang="en-GB" sz="2200" b="1" dirty="0">
              <a:solidFill>
                <a:schemeClr val="accent6"/>
              </a:solidFill>
            </a:endParaRPr>
          </a:p>
        </p:txBody>
      </p:sp>
      <p:sp>
        <p:nvSpPr>
          <p:cNvPr id="7" name="TextBox 6"/>
          <p:cNvSpPr txBox="1"/>
          <p:nvPr/>
        </p:nvSpPr>
        <p:spPr>
          <a:xfrm>
            <a:off x="395536" y="734992"/>
            <a:ext cx="8561561" cy="2554545"/>
          </a:xfrm>
          <a:prstGeom prst="rect">
            <a:avLst/>
          </a:prstGeom>
          <a:noFill/>
          <a:ln w="19050">
            <a:solidFill>
              <a:schemeClr val="accent6"/>
            </a:solidFill>
          </a:ln>
        </p:spPr>
        <p:txBody>
          <a:bodyPr wrap="square" rtlCol="0">
            <a:spAutoFit/>
          </a:bodyPr>
          <a:lstStyle/>
          <a:p>
            <a:pPr algn="ctr"/>
            <a:r>
              <a:rPr lang="en-GB" sz="2000" b="1" dirty="0"/>
              <a:t>The rate of a chemical reaction can be found by measuring the quantity of a reactant used or the quantity of product formed over time.</a:t>
            </a:r>
          </a:p>
          <a:p>
            <a:pPr algn="ctr"/>
            <a:endParaRPr lang="en-GB" sz="2000" b="1" dirty="0"/>
          </a:p>
          <a:p>
            <a:pPr algn="ctr"/>
            <a:r>
              <a:rPr lang="en-GB" sz="2000" b="1" dirty="0"/>
              <a:t>mean rate of reaction  =  </a:t>
            </a:r>
            <a:r>
              <a:rPr lang="en-GB" sz="2000" b="1" u="sng" dirty="0"/>
              <a:t>quantity of reactant used</a:t>
            </a:r>
          </a:p>
          <a:p>
            <a:pPr algn="ctr"/>
            <a:r>
              <a:rPr lang="en-GB" sz="2000" b="1" dirty="0"/>
              <a:t>                                        time taken</a:t>
            </a:r>
          </a:p>
          <a:p>
            <a:pPr algn="ctr"/>
            <a:endParaRPr lang="en-GB" sz="2000" b="1" dirty="0"/>
          </a:p>
          <a:p>
            <a:pPr algn="ctr"/>
            <a:r>
              <a:rPr lang="en-GB" sz="2000" b="1" dirty="0"/>
              <a:t>mean rate of reaction  =  </a:t>
            </a:r>
            <a:r>
              <a:rPr lang="en-GB" sz="2000" b="1" u="sng" dirty="0"/>
              <a:t>quantity of product formed</a:t>
            </a:r>
            <a:r>
              <a:rPr lang="en-GB" sz="2000" b="1" dirty="0"/>
              <a:t> </a:t>
            </a:r>
          </a:p>
          <a:p>
            <a:pPr algn="ctr"/>
            <a:r>
              <a:rPr lang="en-GB" sz="2000" b="1" dirty="0"/>
              <a:t>                                         time taken</a:t>
            </a:r>
          </a:p>
        </p:txBody>
      </p:sp>
      <p:sp>
        <p:nvSpPr>
          <p:cNvPr id="4" name="TextBox 3"/>
          <p:cNvSpPr txBox="1"/>
          <p:nvPr/>
        </p:nvSpPr>
        <p:spPr>
          <a:xfrm>
            <a:off x="395536" y="3501008"/>
            <a:ext cx="3312368" cy="1323439"/>
          </a:xfrm>
          <a:prstGeom prst="rect">
            <a:avLst/>
          </a:prstGeom>
          <a:noFill/>
          <a:ln w="19050">
            <a:solidFill>
              <a:schemeClr val="accent6"/>
            </a:solidFill>
          </a:ln>
        </p:spPr>
        <p:txBody>
          <a:bodyPr wrap="square" rtlCol="0">
            <a:spAutoFit/>
          </a:bodyPr>
          <a:lstStyle/>
          <a:p>
            <a:pPr algn="ctr"/>
            <a:r>
              <a:rPr lang="en-GB" sz="2000" b="1" dirty="0"/>
              <a:t>The quantity of reactant or product can be measured by the mass in grams or by a volume in cm</a:t>
            </a:r>
            <a:r>
              <a:rPr lang="en-GB" sz="2000" b="1" baseline="30000" dirty="0"/>
              <a:t>3</a:t>
            </a:r>
            <a:r>
              <a:rPr lang="en-GB" sz="2000" b="1" dirty="0"/>
              <a:t>.</a:t>
            </a:r>
            <a:endParaRPr lang="en-GB" sz="2000" b="1" baseline="30000" dirty="0"/>
          </a:p>
        </p:txBody>
      </p:sp>
      <p:sp>
        <p:nvSpPr>
          <p:cNvPr id="5" name="TextBox 4"/>
          <p:cNvSpPr txBox="1"/>
          <p:nvPr/>
        </p:nvSpPr>
        <p:spPr>
          <a:xfrm>
            <a:off x="395536" y="4941168"/>
            <a:ext cx="3312368" cy="707886"/>
          </a:xfrm>
          <a:prstGeom prst="rect">
            <a:avLst/>
          </a:prstGeom>
          <a:noFill/>
          <a:ln w="19050">
            <a:solidFill>
              <a:schemeClr val="accent6"/>
            </a:solidFill>
          </a:ln>
        </p:spPr>
        <p:txBody>
          <a:bodyPr wrap="square" rtlCol="0">
            <a:spAutoFit/>
          </a:bodyPr>
          <a:lstStyle/>
          <a:p>
            <a:pPr algn="ctr"/>
            <a:r>
              <a:rPr lang="en-GB" sz="2000" b="1" dirty="0"/>
              <a:t>The units of rate of reaction may be given as g/s or cm</a:t>
            </a:r>
            <a:r>
              <a:rPr lang="en-GB" sz="2000" b="1" baseline="30000" dirty="0"/>
              <a:t>3</a:t>
            </a:r>
            <a:r>
              <a:rPr lang="en-GB" sz="2000" b="1" dirty="0"/>
              <a:t>/s.</a:t>
            </a:r>
          </a:p>
        </p:txBody>
      </p:sp>
      <p:pic>
        <p:nvPicPr>
          <p:cNvPr id="3" name="Picture 2"/>
          <p:cNvPicPr>
            <a:picLocks noChangeAspect="1"/>
          </p:cNvPicPr>
          <p:nvPr/>
        </p:nvPicPr>
        <p:blipFill>
          <a:blip r:embed="rId3"/>
          <a:stretch>
            <a:fillRect/>
          </a:stretch>
        </p:blipFill>
        <p:spPr>
          <a:xfrm>
            <a:off x="3851920" y="3289537"/>
            <a:ext cx="5184576" cy="3235806"/>
          </a:xfrm>
          <a:prstGeom prst="rect">
            <a:avLst/>
          </a:prstGeom>
        </p:spPr>
      </p:pic>
    </p:spTree>
    <p:extLst>
      <p:ext uri="{BB962C8B-B14F-4D97-AF65-F5344CB8AC3E}">
        <p14:creationId xmlns:p14="http://schemas.microsoft.com/office/powerpoint/2010/main" val="1270480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188640"/>
            <a:ext cx="8604448" cy="546447"/>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200" b="1" dirty="0">
                <a:solidFill>
                  <a:schemeClr val="accent6"/>
                </a:solidFill>
              </a:rPr>
              <a:t>Rate of reactions part 1 – </a:t>
            </a:r>
            <a:r>
              <a:rPr lang="en-US" sz="2200" b="1" kern="1200" dirty="0">
                <a:solidFill>
                  <a:schemeClr val="accent6"/>
                </a:solidFill>
                <a:latin typeface="Calibri"/>
                <a:ea typeface=""/>
                <a:cs typeface="News Gothic MT"/>
              </a:rPr>
              <a:t>Calculating rates of reactions</a:t>
            </a:r>
            <a:endParaRPr lang="en-GB" sz="2200" b="1" dirty="0">
              <a:solidFill>
                <a:schemeClr val="accent6"/>
              </a:solidFill>
            </a:endParaRPr>
          </a:p>
        </p:txBody>
      </p:sp>
      <p:sp>
        <p:nvSpPr>
          <p:cNvPr id="6" name="TextBox 5"/>
          <p:cNvSpPr txBox="1"/>
          <p:nvPr/>
        </p:nvSpPr>
        <p:spPr>
          <a:xfrm>
            <a:off x="3563888" y="2027749"/>
            <a:ext cx="4104456" cy="609163"/>
          </a:xfrm>
          <a:prstGeom prst="rect">
            <a:avLst/>
          </a:prstGeom>
          <a:noFill/>
        </p:spPr>
        <p:txBody>
          <a:bodyPr wrap="square" rtlCol="0">
            <a:spAutoFit/>
          </a:bodyPr>
          <a:lstStyle/>
          <a:p>
            <a:endParaRPr lang="en-GB" dirty="0"/>
          </a:p>
        </p:txBody>
      </p:sp>
      <p:sp>
        <p:nvSpPr>
          <p:cNvPr id="4" name="TextBox 3"/>
          <p:cNvSpPr txBox="1"/>
          <p:nvPr/>
        </p:nvSpPr>
        <p:spPr>
          <a:xfrm>
            <a:off x="179512" y="836712"/>
            <a:ext cx="4536504" cy="2800767"/>
          </a:xfrm>
          <a:prstGeom prst="rect">
            <a:avLst/>
          </a:prstGeom>
          <a:solidFill>
            <a:schemeClr val="accent6"/>
          </a:solidFill>
          <a:ln>
            <a:solidFill>
              <a:schemeClr val="tx1"/>
            </a:solidFill>
          </a:ln>
        </p:spPr>
        <p:txBody>
          <a:bodyPr wrap="square" rtlCol="0">
            <a:spAutoFit/>
          </a:bodyPr>
          <a:lstStyle/>
          <a:p>
            <a:r>
              <a:rPr lang="en-GB" sz="1600" b="1" u="sng" dirty="0"/>
              <a:t>Worked example 1</a:t>
            </a:r>
          </a:p>
          <a:p>
            <a:r>
              <a:rPr lang="en-GB" sz="1600" b="1" dirty="0"/>
              <a:t>25cm</a:t>
            </a:r>
            <a:r>
              <a:rPr lang="en-GB" sz="1600" b="1" baseline="30000" dirty="0"/>
              <a:t>3</a:t>
            </a:r>
            <a:r>
              <a:rPr lang="en-GB" sz="1600" b="1" dirty="0"/>
              <a:t> of carbon dioxide was given off in the first 2 seconds of a reaction. Calculate the mean rate of reaction and give the units.</a:t>
            </a:r>
          </a:p>
          <a:p>
            <a:r>
              <a:rPr lang="en-GB" sz="1600" b="1" dirty="0"/>
              <a:t>Mean rate of reaction = </a:t>
            </a:r>
            <a:r>
              <a:rPr lang="en-GB" sz="1600" b="1" u="sng" dirty="0"/>
              <a:t>quantity of product formed</a:t>
            </a:r>
          </a:p>
          <a:p>
            <a:r>
              <a:rPr lang="en-GB" sz="1600" b="1" dirty="0"/>
              <a:t>                                                        time taken</a:t>
            </a:r>
          </a:p>
          <a:p>
            <a:endParaRPr lang="en-GB" sz="1600" b="1" dirty="0"/>
          </a:p>
          <a:p>
            <a:r>
              <a:rPr lang="en-GB" sz="1600" b="1" dirty="0"/>
              <a:t>Mean rate of reaction =      </a:t>
            </a:r>
            <a:r>
              <a:rPr lang="en-GB" sz="1600" b="1" u="sng" dirty="0"/>
              <a:t>25cm</a:t>
            </a:r>
            <a:r>
              <a:rPr lang="en-GB" sz="1600" b="1" u="sng" baseline="30000" dirty="0"/>
              <a:t>3</a:t>
            </a:r>
          </a:p>
          <a:p>
            <a:r>
              <a:rPr lang="en-GB" sz="1600" b="1" dirty="0"/>
              <a:t>                                                   2 s</a:t>
            </a:r>
          </a:p>
          <a:p>
            <a:endParaRPr lang="en-GB" sz="1600" b="1" dirty="0"/>
          </a:p>
          <a:p>
            <a:r>
              <a:rPr lang="en-GB" sz="1600" b="1" dirty="0"/>
              <a:t>Mean rate of reaction =      12.5 cm</a:t>
            </a:r>
            <a:r>
              <a:rPr lang="en-GB" sz="1600" b="1" baseline="30000" dirty="0"/>
              <a:t>3</a:t>
            </a:r>
            <a:r>
              <a:rPr lang="en-GB" sz="1600" b="1" dirty="0"/>
              <a:t>/s</a:t>
            </a:r>
          </a:p>
        </p:txBody>
      </p:sp>
      <p:sp>
        <p:nvSpPr>
          <p:cNvPr id="12" name="TextBox 11"/>
          <p:cNvSpPr txBox="1"/>
          <p:nvPr/>
        </p:nvSpPr>
        <p:spPr>
          <a:xfrm>
            <a:off x="179512" y="3739103"/>
            <a:ext cx="4532947" cy="2736373"/>
          </a:xfrm>
          <a:custGeom>
            <a:avLst/>
            <a:gdLst>
              <a:gd name="connsiteX0" fmla="*/ 0 w 5112568"/>
              <a:gd name="connsiteY0" fmla="*/ 0 h 2800767"/>
              <a:gd name="connsiteX1" fmla="*/ 5112568 w 5112568"/>
              <a:gd name="connsiteY1" fmla="*/ 0 h 2800767"/>
              <a:gd name="connsiteX2" fmla="*/ 5112568 w 5112568"/>
              <a:gd name="connsiteY2" fmla="*/ 2800767 h 2800767"/>
              <a:gd name="connsiteX3" fmla="*/ 0 w 5112568"/>
              <a:gd name="connsiteY3" fmla="*/ 2800767 h 2800767"/>
              <a:gd name="connsiteX4" fmla="*/ 0 w 5112568"/>
              <a:gd name="connsiteY4" fmla="*/ 0 h 2800767"/>
              <a:gd name="connsiteX0" fmla="*/ 0 w 5112568"/>
              <a:gd name="connsiteY0" fmla="*/ 0 h 2929556"/>
              <a:gd name="connsiteX1" fmla="*/ 5112568 w 5112568"/>
              <a:gd name="connsiteY1" fmla="*/ 128789 h 2929556"/>
              <a:gd name="connsiteX2" fmla="*/ 5112568 w 5112568"/>
              <a:gd name="connsiteY2" fmla="*/ 2929556 h 2929556"/>
              <a:gd name="connsiteX3" fmla="*/ 0 w 5112568"/>
              <a:gd name="connsiteY3" fmla="*/ 2929556 h 2929556"/>
              <a:gd name="connsiteX4" fmla="*/ 0 w 5112568"/>
              <a:gd name="connsiteY4" fmla="*/ 0 h 2929556"/>
              <a:gd name="connsiteX0" fmla="*/ 12879 w 5112568"/>
              <a:gd name="connsiteY0" fmla="*/ 0 h 2929556"/>
              <a:gd name="connsiteX1" fmla="*/ 5112568 w 5112568"/>
              <a:gd name="connsiteY1" fmla="*/ 128789 h 2929556"/>
              <a:gd name="connsiteX2" fmla="*/ 5112568 w 5112568"/>
              <a:gd name="connsiteY2" fmla="*/ 2929556 h 2929556"/>
              <a:gd name="connsiteX3" fmla="*/ 0 w 5112568"/>
              <a:gd name="connsiteY3" fmla="*/ 2929556 h 2929556"/>
              <a:gd name="connsiteX4" fmla="*/ 12879 w 5112568"/>
              <a:gd name="connsiteY4" fmla="*/ 0 h 2929556"/>
              <a:gd name="connsiteX0" fmla="*/ 12879 w 5112568"/>
              <a:gd name="connsiteY0" fmla="*/ 0 h 2929556"/>
              <a:gd name="connsiteX1" fmla="*/ 4533019 w 5112568"/>
              <a:gd name="connsiteY1" fmla="*/ 0 h 2929556"/>
              <a:gd name="connsiteX2" fmla="*/ 5112568 w 5112568"/>
              <a:gd name="connsiteY2" fmla="*/ 2929556 h 2929556"/>
              <a:gd name="connsiteX3" fmla="*/ 0 w 5112568"/>
              <a:gd name="connsiteY3" fmla="*/ 2929556 h 2929556"/>
              <a:gd name="connsiteX4" fmla="*/ 12879 w 5112568"/>
              <a:gd name="connsiteY4" fmla="*/ 0 h 2929556"/>
              <a:gd name="connsiteX0" fmla="*/ 0 w 5099689"/>
              <a:gd name="connsiteY0" fmla="*/ 0 h 2929556"/>
              <a:gd name="connsiteX1" fmla="*/ 4520140 w 5099689"/>
              <a:gd name="connsiteY1" fmla="*/ 0 h 2929556"/>
              <a:gd name="connsiteX2" fmla="*/ 5099689 w 5099689"/>
              <a:gd name="connsiteY2" fmla="*/ 2929556 h 2929556"/>
              <a:gd name="connsiteX3" fmla="*/ 0 w 5099689"/>
              <a:gd name="connsiteY3" fmla="*/ 2736373 h 2929556"/>
              <a:gd name="connsiteX4" fmla="*/ 0 w 5099689"/>
              <a:gd name="connsiteY4" fmla="*/ 0 h 2929556"/>
              <a:gd name="connsiteX0" fmla="*/ 0 w 4545897"/>
              <a:gd name="connsiteY0" fmla="*/ 0 h 2736373"/>
              <a:gd name="connsiteX1" fmla="*/ 4520140 w 4545897"/>
              <a:gd name="connsiteY1" fmla="*/ 0 h 2736373"/>
              <a:gd name="connsiteX2" fmla="*/ 4545897 w 4545897"/>
              <a:gd name="connsiteY2" fmla="*/ 2736372 h 2736373"/>
              <a:gd name="connsiteX3" fmla="*/ 0 w 4545897"/>
              <a:gd name="connsiteY3" fmla="*/ 2736373 h 2736373"/>
              <a:gd name="connsiteX4" fmla="*/ 0 w 4545897"/>
              <a:gd name="connsiteY4" fmla="*/ 0 h 2736373"/>
              <a:gd name="connsiteX0" fmla="*/ 0 w 4545897"/>
              <a:gd name="connsiteY0" fmla="*/ 0 h 2736372"/>
              <a:gd name="connsiteX1" fmla="*/ 4520140 w 4545897"/>
              <a:gd name="connsiteY1" fmla="*/ 0 h 2736372"/>
              <a:gd name="connsiteX2" fmla="*/ 4545897 w 4545897"/>
              <a:gd name="connsiteY2" fmla="*/ 2736372 h 2736372"/>
              <a:gd name="connsiteX3" fmla="*/ 0 w 4545897"/>
              <a:gd name="connsiteY3" fmla="*/ 2660692 h 2736372"/>
              <a:gd name="connsiteX4" fmla="*/ 0 w 4545897"/>
              <a:gd name="connsiteY4" fmla="*/ 0 h 2736372"/>
              <a:gd name="connsiteX0" fmla="*/ 0 w 4533055"/>
              <a:gd name="connsiteY0" fmla="*/ 0 h 2660692"/>
              <a:gd name="connsiteX1" fmla="*/ 4520140 w 4533055"/>
              <a:gd name="connsiteY1" fmla="*/ 0 h 2660692"/>
              <a:gd name="connsiteX2" fmla="*/ 4533055 w 4533055"/>
              <a:gd name="connsiteY2" fmla="*/ 2660690 h 2660692"/>
              <a:gd name="connsiteX3" fmla="*/ 0 w 4533055"/>
              <a:gd name="connsiteY3" fmla="*/ 2660692 h 2660692"/>
              <a:gd name="connsiteX4" fmla="*/ 0 w 4533055"/>
              <a:gd name="connsiteY4" fmla="*/ 0 h 2660692"/>
              <a:gd name="connsiteX0" fmla="*/ 0 w 4520212"/>
              <a:gd name="connsiteY0" fmla="*/ 0 h 2660692"/>
              <a:gd name="connsiteX1" fmla="*/ 4520140 w 4520212"/>
              <a:gd name="connsiteY1" fmla="*/ 0 h 2660692"/>
              <a:gd name="connsiteX2" fmla="*/ 4520212 w 4520212"/>
              <a:gd name="connsiteY2" fmla="*/ 2660690 h 2660692"/>
              <a:gd name="connsiteX3" fmla="*/ 0 w 4520212"/>
              <a:gd name="connsiteY3" fmla="*/ 2660692 h 2660692"/>
              <a:gd name="connsiteX4" fmla="*/ 0 w 4520212"/>
              <a:gd name="connsiteY4" fmla="*/ 0 h 2660692"/>
              <a:gd name="connsiteX0" fmla="*/ 0 w 4520212"/>
              <a:gd name="connsiteY0" fmla="*/ 0 h 2660690"/>
              <a:gd name="connsiteX1" fmla="*/ 4520140 w 4520212"/>
              <a:gd name="connsiteY1" fmla="*/ 0 h 2660690"/>
              <a:gd name="connsiteX2" fmla="*/ 4520212 w 4520212"/>
              <a:gd name="connsiteY2" fmla="*/ 2660690 h 2660690"/>
              <a:gd name="connsiteX3" fmla="*/ 0 w 4520212"/>
              <a:gd name="connsiteY3" fmla="*/ 2599519 h 2660690"/>
              <a:gd name="connsiteX4" fmla="*/ 0 w 4520212"/>
              <a:gd name="connsiteY4" fmla="*/ 0 h 2660690"/>
              <a:gd name="connsiteX0" fmla="*/ 0 w 4520140"/>
              <a:gd name="connsiteY0" fmla="*/ 0 h 2611750"/>
              <a:gd name="connsiteX1" fmla="*/ 4520140 w 4520140"/>
              <a:gd name="connsiteY1" fmla="*/ 0 h 2611750"/>
              <a:gd name="connsiteX2" fmla="*/ 4507369 w 4520140"/>
              <a:gd name="connsiteY2" fmla="*/ 2611750 h 2611750"/>
              <a:gd name="connsiteX3" fmla="*/ 0 w 4520140"/>
              <a:gd name="connsiteY3" fmla="*/ 2599519 h 2611750"/>
              <a:gd name="connsiteX4" fmla="*/ 0 w 4520140"/>
              <a:gd name="connsiteY4" fmla="*/ 0 h 2611750"/>
              <a:gd name="connsiteX0" fmla="*/ 0 w 4520140"/>
              <a:gd name="connsiteY0" fmla="*/ 0 h 2611750"/>
              <a:gd name="connsiteX1" fmla="*/ 4520140 w 4520140"/>
              <a:gd name="connsiteY1" fmla="*/ 0 h 2611750"/>
              <a:gd name="connsiteX2" fmla="*/ 4507369 w 4520140"/>
              <a:gd name="connsiteY2" fmla="*/ 2611750 h 2611750"/>
              <a:gd name="connsiteX3" fmla="*/ 0 w 4520140"/>
              <a:gd name="connsiteY3" fmla="*/ 2599519 h 2611750"/>
              <a:gd name="connsiteX4" fmla="*/ 0 w 4520140"/>
              <a:gd name="connsiteY4" fmla="*/ 0 h 2611750"/>
              <a:gd name="connsiteX0" fmla="*/ 0 w 4520140"/>
              <a:gd name="connsiteY0" fmla="*/ 0 h 2599519"/>
              <a:gd name="connsiteX1" fmla="*/ 4520140 w 4520140"/>
              <a:gd name="connsiteY1" fmla="*/ 0 h 2599519"/>
              <a:gd name="connsiteX2" fmla="*/ 4507369 w 4520140"/>
              <a:gd name="connsiteY2" fmla="*/ 2599515 h 2599519"/>
              <a:gd name="connsiteX3" fmla="*/ 0 w 4520140"/>
              <a:gd name="connsiteY3" fmla="*/ 2599519 h 2599519"/>
              <a:gd name="connsiteX4" fmla="*/ 0 w 4520140"/>
              <a:gd name="connsiteY4" fmla="*/ 0 h 25995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0140" h="2599519">
                <a:moveTo>
                  <a:pt x="0" y="0"/>
                </a:moveTo>
                <a:lnTo>
                  <a:pt x="4520140" y="0"/>
                </a:lnTo>
                <a:cubicBezTo>
                  <a:pt x="4520164" y="886897"/>
                  <a:pt x="4507345" y="1712618"/>
                  <a:pt x="4507369" y="2599515"/>
                </a:cubicBezTo>
                <a:lnTo>
                  <a:pt x="0" y="2599519"/>
                </a:lnTo>
                <a:lnTo>
                  <a:pt x="0" y="0"/>
                </a:lnTo>
                <a:close/>
              </a:path>
            </a:pathLst>
          </a:custGeom>
          <a:solidFill>
            <a:schemeClr val="accent6"/>
          </a:solidFill>
          <a:ln>
            <a:solidFill>
              <a:schemeClr val="tx1"/>
            </a:solidFill>
          </a:ln>
        </p:spPr>
        <p:txBody>
          <a:bodyPr wrap="square" rtlCol="0">
            <a:spAutoFit/>
          </a:bodyPr>
          <a:lstStyle/>
          <a:p>
            <a:r>
              <a:rPr lang="en-GB" sz="1600" b="1" u="sng" dirty="0"/>
              <a:t>Worked example 2 (Higher Tier)</a:t>
            </a:r>
          </a:p>
          <a:p>
            <a:r>
              <a:rPr lang="en-GB" sz="1600" b="1" dirty="0"/>
              <a:t>The above reaction was carried out again. The new results showed that 2 dm</a:t>
            </a:r>
            <a:r>
              <a:rPr lang="en-GB" sz="1600" b="1" baseline="30000" dirty="0"/>
              <a:t>3</a:t>
            </a:r>
            <a:r>
              <a:rPr lang="en-GB" sz="1600" b="1" dirty="0"/>
              <a:t> of carbon dioxide was released in 200 seconds. Calculate the mean rate of reaction in </a:t>
            </a:r>
            <a:r>
              <a:rPr lang="en-GB" sz="1600" b="1" dirty="0" err="1"/>
              <a:t>mol</a:t>
            </a:r>
            <a:r>
              <a:rPr lang="en-GB" sz="1600" b="1" dirty="0"/>
              <a:t>/dm</a:t>
            </a:r>
            <a:r>
              <a:rPr lang="en-GB" sz="1600" b="1" baseline="30000" dirty="0"/>
              <a:t>3</a:t>
            </a:r>
          </a:p>
          <a:p>
            <a:r>
              <a:rPr lang="en-GB" sz="1600" b="1" dirty="0"/>
              <a:t>(1 mole of any gas occupies 24 dm</a:t>
            </a:r>
            <a:r>
              <a:rPr lang="en-GB" sz="1600" b="1" baseline="30000" dirty="0"/>
              <a:t>3</a:t>
            </a:r>
            <a:r>
              <a:rPr lang="en-GB" sz="1600" b="1" dirty="0"/>
              <a:t> at STP)</a:t>
            </a:r>
          </a:p>
          <a:p>
            <a:r>
              <a:rPr lang="en-GB" sz="1600" b="1" dirty="0"/>
              <a:t>Moles of carbon dioxide =  </a:t>
            </a:r>
            <a:r>
              <a:rPr lang="en-GB" sz="1600" b="1" u="sng" dirty="0"/>
              <a:t>2 dm</a:t>
            </a:r>
            <a:r>
              <a:rPr lang="en-GB" sz="1600" b="1" u="sng" baseline="30000" dirty="0"/>
              <a:t>3</a:t>
            </a:r>
            <a:r>
              <a:rPr lang="en-GB" sz="1600" b="1" dirty="0"/>
              <a:t> = 0.83 moles</a:t>
            </a:r>
          </a:p>
          <a:p>
            <a:r>
              <a:rPr lang="en-GB" sz="1600" b="1" dirty="0"/>
              <a:t>		        24 dm</a:t>
            </a:r>
            <a:r>
              <a:rPr lang="en-GB" sz="1600" b="1" baseline="30000" dirty="0"/>
              <a:t>3</a:t>
            </a:r>
          </a:p>
          <a:p>
            <a:endParaRPr lang="en-GB" sz="1600" b="1" dirty="0"/>
          </a:p>
          <a:p>
            <a:r>
              <a:rPr lang="en-GB" sz="1600" b="1" dirty="0"/>
              <a:t>Mean rate of reaction =  </a:t>
            </a:r>
            <a:r>
              <a:rPr lang="en-GB" sz="1600" b="1" u="sng" dirty="0"/>
              <a:t>0.83 moles</a:t>
            </a:r>
            <a:r>
              <a:rPr lang="en-GB" sz="1600" b="1" dirty="0"/>
              <a:t> =  0.0042 </a:t>
            </a:r>
            <a:r>
              <a:rPr lang="en-GB" sz="1600" b="1" dirty="0" err="1"/>
              <a:t>mol</a:t>
            </a:r>
            <a:r>
              <a:rPr lang="en-GB" sz="1600" b="1" dirty="0"/>
              <a:t>/s</a:t>
            </a:r>
          </a:p>
          <a:p>
            <a:r>
              <a:rPr lang="en-GB" sz="1600" b="1" dirty="0"/>
              <a:t>		        200 s  </a:t>
            </a:r>
            <a:endParaRPr lang="en-GB" sz="1600" b="1" baseline="30000" dirty="0"/>
          </a:p>
        </p:txBody>
      </p:sp>
      <p:sp>
        <p:nvSpPr>
          <p:cNvPr id="3" name="TextBox 2"/>
          <p:cNvSpPr txBox="1"/>
          <p:nvPr/>
        </p:nvSpPr>
        <p:spPr>
          <a:xfrm>
            <a:off x="4860032" y="4869160"/>
            <a:ext cx="4104456" cy="646331"/>
          </a:xfrm>
          <a:prstGeom prst="rect">
            <a:avLst/>
          </a:prstGeom>
          <a:noFill/>
        </p:spPr>
        <p:txBody>
          <a:bodyPr wrap="square" rtlCol="0">
            <a:spAutoFit/>
          </a:bodyPr>
          <a:lstStyle/>
          <a:p>
            <a:r>
              <a:rPr lang="en-GB" dirty="0"/>
              <a:t>Slope A will have a greater rate of reaction as it is steeper.</a:t>
            </a:r>
          </a:p>
        </p:txBody>
      </p:sp>
      <p:pic>
        <p:nvPicPr>
          <p:cNvPr id="7" name="Picture 6"/>
          <p:cNvPicPr>
            <a:picLocks noChangeAspect="1"/>
          </p:cNvPicPr>
          <p:nvPr/>
        </p:nvPicPr>
        <p:blipFill>
          <a:blip r:embed="rId2"/>
          <a:stretch>
            <a:fillRect/>
          </a:stretch>
        </p:blipFill>
        <p:spPr>
          <a:xfrm>
            <a:off x="4860032" y="836713"/>
            <a:ext cx="3960440" cy="3888431"/>
          </a:xfrm>
          <a:prstGeom prst="rect">
            <a:avLst/>
          </a:prstGeom>
        </p:spPr>
      </p:pic>
    </p:spTree>
    <p:extLst>
      <p:ext uri="{BB962C8B-B14F-4D97-AF65-F5344CB8AC3E}">
        <p14:creationId xmlns:p14="http://schemas.microsoft.com/office/powerpoint/2010/main" val="1113305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324535"/>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4400" b="1" dirty="0">
                <a:solidFill>
                  <a:schemeClr val="tx1">
                    <a:lumMod val="50000"/>
                    <a:lumOff val="50000"/>
                  </a:schemeClr>
                </a:solidFill>
              </a:rPr>
              <a:t>Rate of reaction</a:t>
            </a:r>
          </a:p>
          <a:p>
            <a:r>
              <a:rPr lang="en-GB" sz="4400" b="1" dirty="0">
                <a:solidFill>
                  <a:schemeClr val="tx1">
                    <a:lumMod val="50000"/>
                    <a:lumOff val="50000"/>
                  </a:schemeClr>
                </a:solidFill>
              </a:rPr>
              <a:t>Part 1 </a:t>
            </a:r>
          </a:p>
          <a:p>
            <a:pPr marL="457200" indent="-457200">
              <a:buFont typeface="Arial" charset="0"/>
              <a:buChar char="•"/>
            </a:pPr>
            <a:r>
              <a:rPr lang="en-GB" sz="3600" b="1" dirty="0">
                <a:solidFill>
                  <a:schemeClr val="tx1">
                    <a:lumMod val="50000"/>
                    <a:lumOff val="50000"/>
                  </a:schemeClr>
                </a:solidFill>
              </a:rPr>
              <a:t>Practical methods</a:t>
            </a:r>
          </a:p>
          <a:p>
            <a:pPr marL="457200" indent="-457200">
              <a:buFont typeface="Arial" charset="0"/>
              <a:buChar char="•"/>
            </a:pPr>
            <a:r>
              <a:rPr lang="en-GB" sz="3600" b="1" dirty="0">
                <a:solidFill>
                  <a:schemeClr val="tx1">
                    <a:lumMod val="50000"/>
                    <a:lumOff val="50000"/>
                  </a:schemeClr>
                </a:solidFill>
              </a:rPr>
              <a:t>Calculating rates</a:t>
            </a:r>
          </a:p>
          <a:p>
            <a:r>
              <a:rPr lang="en-GB" sz="3600" b="1" dirty="0">
                <a:solidFill>
                  <a:schemeClr val="tx1">
                    <a:lumMod val="50000"/>
                    <a:lumOff val="50000"/>
                  </a:schemeClr>
                </a:solidFill>
              </a:rPr>
              <a:t>       of reactions</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134652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Calculating rates of reactions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2492990"/>
          </a:xfrm>
          <a:prstGeom prst="rect">
            <a:avLst/>
          </a:prstGeom>
          <a:noFill/>
        </p:spPr>
        <p:txBody>
          <a:bodyPr wrap="square" rtlCol="0">
            <a:spAutoFit/>
          </a:bodyPr>
          <a:lstStyle/>
          <a:p>
            <a:pPr marL="457200" indent="-457200">
              <a:buAutoNum type="arabicPeriod"/>
            </a:pPr>
            <a:r>
              <a:rPr lang="en-GB" sz="2400" dirty="0"/>
              <a:t>State two ways of finding the rate of reaction.</a:t>
            </a:r>
          </a:p>
          <a:p>
            <a:pPr marL="457200" indent="-457200">
              <a:buAutoNum type="arabicPeriod"/>
            </a:pPr>
            <a:endParaRPr lang="en-GB" sz="2400" dirty="0"/>
          </a:p>
          <a:p>
            <a:pPr marL="457200" indent="-457200">
              <a:buFontTx/>
              <a:buAutoNum type="arabicPeriod"/>
            </a:pPr>
            <a:r>
              <a:rPr lang="en-GB" sz="2400" dirty="0"/>
              <a:t>State two units of rate of reaction. (HT: state 3)</a:t>
            </a:r>
          </a:p>
          <a:p>
            <a:pPr marL="457200" indent="-457200">
              <a:buAutoNum type="arabicPeriod"/>
            </a:pPr>
            <a:endParaRPr lang="en-GB" sz="2400" dirty="0"/>
          </a:p>
          <a:p>
            <a:pPr marL="457200" indent="-457200">
              <a:buAutoNum type="arabicPeriod"/>
            </a:pPr>
            <a:r>
              <a:rPr lang="en-GB" sz="2400" dirty="0"/>
              <a:t>State two ways of measuring the quantity of reactant or product.</a:t>
            </a:r>
          </a:p>
          <a:p>
            <a:pPr marL="457200" indent="-457200">
              <a:lnSpc>
                <a:spcPct val="150000"/>
              </a:lnSpc>
              <a:buAutoNum type="arabicPeriod"/>
            </a:pPr>
            <a:endParaRPr lang="en-GB" sz="2400" dirty="0"/>
          </a:p>
        </p:txBody>
      </p:sp>
    </p:spTree>
    <p:extLst>
      <p:ext uri="{BB962C8B-B14F-4D97-AF65-F5344CB8AC3E}">
        <p14:creationId xmlns:p14="http://schemas.microsoft.com/office/powerpoint/2010/main" val="3198418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Calculating rates of reactions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524315"/>
          </a:xfrm>
          <a:prstGeom prst="rect">
            <a:avLst/>
          </a:prstGeom>
          <a:noFill/>
        </p:spPr>
        <p:txBody>
          <a:bodyPr wrap="square" rtlCol="0">
            <a:spAutoFit/>
          </a:bodyPr>
          <a:lstStyle/>
          <a:p>
            <a:pPr marL="457200" indent="-457200">
              <a:lnSpc>
                <a:spcPct val="150000"/>
              </a:lnSpc>
              <a:buFont typeface="+mj-lt"/>
              <a:buAutoNum type="arabicPeriod" startAt="4"/>
            </a:pPr>
            <a:r>
              <a:rPr lang="en-GB" sz="2400" dirty="0"/>
              <a:t>A student carries out an experiment reacting hydrochloric acid (</a:t>
            </a:r>
            <a:r>
              <a:rPr lang="en-GB" sz="2400" dirty="0" err="1"/>
              <a:t>HCl</a:t>
            </a:r>
            <a:r>
              <a:rPr lang="en-GB" sz="2400" dirty="0"/>
              <a:t>) with calcium carbonate (CaCO</a:t>
            </a:r>
            <a:r>
              <a:rPr lang="en-GB" sz="2400" baseline="-25000" dirty="0"/>
              <a:t>3</a:t>
            </a:r>
            <a:r>
              <a:rPr lang="en-GB" sz="2400" dirty="0"/>
              <a:t>) to give calcium chloride (CaCl</a:t>
            </a:r>
            <a:r>
              <a:rPr lang="en-GB" sz="2400" baseline="-25000" dirty="0"/>
              <a:t>2</a:t>
            </a:r>
            <a:r>
              <a:rPr lang="en-GB" sz="2400" dirty="0"/>
              <a:t>) carbon dioxide and water. Write the balanced symbol equation for this reaction.</a:t>
            </a:r>
          </a:p>
          <a:p>
            <a:pPr>
              <a:lnSpc>
                <a:spcPct val="150000"/>
              </a:lnSpc>
            </a:pPr>
            <a:endParaRPr lang="en-GB" sz="2400" dirty="0"/>
          </a:p>
          <a:p>
            <a:pPr marL="457200" indent="-457200">
              <a:lnSpc>
                <a:spcPct val="150000"/>
              </a:lnSpc>
              <a:buFont typeface="+mj-lt"/>
              <a:buAutoNum type="arabicPeriod" startAt="5"/>
            </a:pPr>
            <a:r>
              <a:rPr lang="en-GB" sz="2400" dirty="0"/>
              <a:t>The student collects 50 cm</a:t>
            </a:r>
            <a:r>
              <a:rPr lang="en-GB" sz="2400" baseline="30000" dirty="0"/>
              <a:t>3</a:t>
            </a:r>
            <a:r>
              <a:rPr lang="en-GB" sz="2400" dirty="0"/>
              <a:t> of carbon dioxide gas in 10 seconds. What is the rate of reaction? Include the units.</a:t>
            </a:r>
          </a:p>
          <a:p>
            <a:pPr>
              <a:lnSpc>
                <a:spcPct val="150000"/>
              </a:lnSpc>
            </a:pPr>
            <a:endParaRPr lang="en-GB" sz="2400" dirty="0"/>
          </a:p>
        </p:txBody>
      </p:sp>
    </p:spTree>
    <p:extLst>
      <p:ext uri="{BB962C8B-B14F-4D97-AF65-F5344CB8AC3E}">
        <p14:creationId xmlns:p14="http://schemas.microsoft.com/office/powerpoint/2010/main" val="4243029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Calculating rates of reactions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94031"/>
          </a:xfrm>
          <a:prstGeom prst="rect">
            <a:avLst/>
          </a:prstGeom>
          <a:noFill/>
        </p:spPr>
        <p:txBody>
          <a:bodyPr wrap="square" rtlCol="0">
            <a:spAutoFit/>
          </a:bodyPr>
          <a:lstStyle/>
          <a:p>
            <a:pPr marL="457200" indent="-457200">
              <a:lnSpc>
                <a:spcPct val="150000"/>
              </a:lnSpc>
              <a:buFont typeface="+mj-lt"/>
              <a:buAutoNum type="arabicPeriod" startAt="6"/>
            </a:pPr>
            <a:r>
              <a:rPr lang="en-GB" sz="2400" dirty="0"/>
              <a:t>(HT only) The student repeats the experiment again, this time they find the mass of the carbon dioxide collected. They collect 11 g of carbon dioxide in 10 seconds. Calculate the rate of reaction in </a:t>
            </a:r>
            <a:r>
              <a:rPr lang="en-GB" sz="2400" dirty="0" err="1"/>
              <a:t>mol</a:t>
            </a:r>
            <a:r>
              <a:rPr lang="en-GB" sz="2400" dirty="0"/>
              <a:t>/s.</a:t>
            </a:r>
          </a:p>
          <a:p>
            <a:pPr>
              <a:lnSpc>
                <a:spcPct val="150000"/>
              </a:lnSpc>
            </a:pPr>
            <a:r>
              <a:rPr lang="en-GB" sz="2400" dirty="0">
                <a:solidFill>
                  <a:srgbClr val="00B050"/>
                </a:solidFill>
              </a:rPr>
              <a:t>	</a:t>
            </a:r>
          </a:p>
          <a:p>
            <a:pPr>
              <a:lnSpc>
                <a:spcPct val="150000"/>
              </a:lnSpc>
            </a:pPr>
            <a:endParaRPr lang="en-GB" sz="2400" dirty="0">
              <a:solidFill>
                <a:srgbClr val="00B050"/>
              </a:solidFill>
            </a:endParaRPr>
          </a:p>
          <a:p>
            <a:pPr>
              <a:lnSpc>
                <a:spcPct val="150000"/>
              </a:lnSpc>
            </a:pPr>
            <a:endParaRPr lang="en-GB" sz="2400" dirty="0">
              <a:solidFill>
                <a:srgbClr val="00B050"/>
              </a:solidFill>
            </a:endParaRPr>
          </a:p>
          <a:p>
            <a:pPr marL="457200" indent="-457200">
              <a:lnSpc>
                <a:spcPct val="150000"/>
              </a:lnSpc>
              <a:buFont typeface="+mj-lt"/>
              <a:buAutoNum type="arabicPeriod" startAt="7"/>
            </a:pPr>
            <a:r>
              <a:rPr lang="en-GB" sz="2400" dirty="0"/>
              <a:t>(HT only) What mass of carbon dioxide are they collecting per second if the rate of reaction is 0.075 </a:t>
            </a:r>
            <a:r>
              <a:rPr lang="en-GB" sz="2400" dirty="0" err="1"/>
              <a:t>mol</a:t>
            </a:r>
            <a:r>
              <a:rPr lang="en-GB" sz="2400" dirty="0"/>
              <a:t>/s?</a:t>
            </a:r>
          </a:p>
          <a:p>
            <a:pPr>
              <a:lnSpc>
                <a:spcPct val="150000"/>
              </a:lnSpc>
            </a:pPr>
            <a:r>
              <a:rPr lang="en-GB" sz="2400" dirty="0"/>
              <a:t>	</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505644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08981"/>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Rate of reaction</a:t>
            </a:r>
          </a:p>
          <a:p>
            <a:r>
              <a:rPr lang="en-GB" sz="3600" b="1" dirty="0">
                <a:solidFill>
                  <a:schemeClr val="tx1">
                    <a:lumMod val="50000"/>
                    <a:lumOff val="50000"/>
                  </a:schemeClr>
                </a:solidFill>
              </a:rPr>
              <a:t>Part 1 </a:t>
            </a:r>
          </a:p>
          <a:p>
            <a:pPr marL="457200" indent="-457200">
              <a:buFont typeface="Arial" charset="0"/>
              <a:buChar char="•"/>
            </a:pPr>
            <a:r>
              <a:rPr lang="en-GB" sz="2800" b="1" dirty="0">
                <a:solidFill>
                  <a:schemeClr val="tx1">
                    <a:lumMod val="50000"/>
                    <a:lumOff val="50000"/>
                  </a:schemeClr>
                </a:solidFill>
              </a:rPr>
              <a:t>Practical methods</a:t>
            </a:r>
          </a:p>
          <a:p>
            <a:pPr marL="457200" indent="-457200">
              <a:buFont typeface="Arial" charset="0"/>
              <a:buChar char="•"/>
            </a:pPr>
            <a:r>
              <a:rPr lang="en-GB" sz="2800" b="1" dirty="0">
                <a:solidFill>
                  <a:schemeClr val="tx1">
                    <a:lumMod val="50000"/>
                    <a:lumOff val="50000"/>
                  </a:schemeClr>
                </a:solidFill>
              </a:rPr>
              <a:t>Calculating rates</a:t>
            </a:r>
          </a:p>
          <a:p>
            <a:r>
              <a:rPr lang="en-GB" sz="2800" b="1" dirty="0">
                <a:solidFill>
                  <a:schemeClr val="tx1">
                    <a:lumMod val="50000"/>
                    <a:lumOff val="50000"/>
                  </a:schemeClr>
                </a:solidFill>
              </a:rPr>
              <a:t>       of reactions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881572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Calculating rates of reactions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2492990"/>
          </a:xfrm>
          <a:prstGeom prst="rect">
            <a:avLst/>
          </a:prstGeom>
          <a:noFill/>
        </p:spPr>
        <p:txBody>
          <a:bodyPr wrap="square" rtlCol="0">
            <a:spAutoFit/>
          </a:bodyPr>
          <a:lstStyle/>
          <a:p>
            <a:pPr marL="457200" indent="-457200">
              <a:buAutoNum type="arabicPeriod"/>
            </a:pPr>
            <a:r>
              <a:rPr lang="en-GB" sz="2400" dirty="0"/>
              <a:t>State two ways of finding the rate of reaction.</a:t>
            </a:r>
          </a:p>
          <a:p>
            <a:r>
              <a:rPr lang="en-GB" sz="2400" dirty="0">
                <a:solidFill>
                  <a:srgbClr val="00B050"/>
                </a:solidFill>
              </a:rPr>
              <a:t>       Measuring the quantity of reactant used or product formed.</a:t>
            </a:r>
            <a:endParaRPr lang="en-GB" sz="2400" dirty="0"/>
          </a:p>
          <a:p>
            <a:pPr marL="457200" indent="-457200">
              <a:buFont typeface="+mj-lt"/>
              <a:buAutoNum type="arabicPeriod" startAt="2"/>
            </a:pPr>
            <a:r>
              <a:rPr lang="en-GB" sz="2400" dirty="0"/>
              <a:t>State two units of rate of reaction. (HT: state 3)</a:t>
            </a:r>
          </a:p>
          <a:p>
            <a:r>
              <a:rPr lang="en-GB" sz="2400" dirty="0">
                <a:solidFill>
                  <a:srgbClr val="00B050"/>
                </a:solidFill>
              </a:rPr>
              <a:t>       g/s; cm</a:t>
            </a:r>
            <a:r>
              <a:rPr lang="en-GB" sz="2400" baseline="30000" dirty="0">
                <a:solidFill>
                  <a:srgbClr val="00B050"/>
                </a:solidFill>
              </a:rPr>
              <a:t>3</a:t>
            </a:r>
            <a:r>
              <a:rPr lang="en-GB" sz="2400" dirty="0">
                <a:solidFill>
                  <a:srgbClr val="00B050"/>
                </a:solidFill>
              </a:rPr>
              <a:t>/s; (</a:t>
            </a:r>
            <a:r>
              <a:rPr lang="en-GB" sz="2400" dirty="0" err="1">
                <a:solidFill>
                  <a:srgbClr val="00B050"/>
                </a:solidFill>
              </a:rPr>
              <a:t>mol</a:t>
            </a:r>
            <a:r>
              <a:rPr lang="en-GB" sz="2400" dirty="0">
                <a:solidFill>
                  <a:srgbClr val="00B050"/>
                </a:solidFill>
              </a:rPr>
              <a:t>/s)</a:t>
            </a:r>
            <a:endParaRPr lang="en-GB" sz="2400" dirty="0"/>
          </a:p>
          <a:p>
            <a:pPr marL="457200" indent="-457200">
              <a:buFont typeface="+mj-lt"/>
              <a:buAutoNum type="arabicPeriod" startAt="3"/>
            </a:pPr>
            <a:r>
              <a:rPr lang="en-GB" sz="2400" dirty="0"/>
              <a:t>State two ways of measuring the quantity of reactant or product.</a:t>
            </a:r>
          </a:p>
          <a:p>
            <a:pPr>
              <a:lnSpc>
                <a:spcPct val="150000"/>
              </a:lnSpc>
            </a:pPr>
            <a:r>
              <a:rPr lang="en-GB" sz="2400" dirty="0">
                <a:solidFill>
                  <a:srgbClr val="00B050"/>
                </a:solidFill>
              </a:rPr>
              <a:t>       Mass in grams or volume cm</a:t>
            </a:r>
            <a:r>
              <a:rPr lang="en-GB" sz="2400" baseline="30000" dirty="0">
                <a:solidFill>
                  <a:srgbClr val="00B050"/>
                </a:solidFill>
              </a:rPr>
              <a:t>3</a:t>
            </a:r>
            <a:endParaRPr lang="en-GB" sz="2400" baseline="30000" dirty="0"/>
          </a:p>
        </p:txBody>
      </p:sp>
    </p:spTree>
    <p:extLst>
      <p:ext uri="{BB962C8B-B14F-4D97-AF65-F5344CB8AC3E}">
        <p14:creationId xmlns:p14="http://schemas.microsoft.com/office/powerpoint/2010/main" val="2957364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Calculating rates of reactions –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lnSpc>
                <a:spcPct val="150000"/>
              </a:lnSpc>
              <a:buFont typeface="+mj-lt"/>
              <a:buAutoNum type="arabicPeriod" startAt="4"/>
            </a:pPr>
            <a:r>
              <a:rPr lang="en-GB" sz="2400" dirty="0"/>
              <a:t>A student carries out an experiment reacting hydrochloric acid (</a:t>
            </a:r>
            <a:r>
              <a:rPr lang="en-GB" sz="2400" dirty="0" err="1"/>
              <a:t>HCl</a:t>
            </a:r>
            <a:r>
              <a:rPr lang="en-GB" sz="2400" dirty="0"/>
              <a:t>) with calcium carbonate (CaCO</a:t>
            </a:r>
            <a:r>
              <a:rPr lang="en-GB" sz="2400" baseline="-25000" dirty="0"/>
              <a:t>3</a:t>
            </a:r>
            <a:r>
              <a:rPr lang="en-GB" sz="2400" dirty="0"/>
              <a:t>) to give calcium chloride (CaCl</a:t>
            </a:r>
            <a:r>
              <a:rPr lang="en-GB" sz="2400" baseline="-25000" dirty="0"/>
              <a:t>2</a:t>
            </a:r>
            <a:r>
              <a:rPr lang="en-GB" sz="2400" dirty="0"/>
              <a:t>) carbon dioxide and water. Write the balanced symbol equation for this reaction.</a:t>
            </a:r>
          </a:p>
          <a:p>
            <a:pPr algn="ctr">
              <a:lnSpc>
                <a:spcPct val="150000"/>
              </a:lnSpc>
            </a:pPr>
            <a:r>
              <a:rPr lang="en-GB" sz="2400" dirty="0">
                <a:solidFill>
                  <a:srgbClr val="00B050"/>
                </a:solidFill>
              </a:rPr>
              <a:t>CaCO</a:t>
            </a:r>
            <a:r>
              <a:rPr lang="en-GB" sz="2400" baseline="-25000" dirty="0">
                <a:solidFill>
                  <a:srgbClr val="00B050"/>
                </a:solidFill>
              </a:rPr>
              <a:t>3</a:t>
            </a:r>
            <a:r>
              <a:rPr lang="en-GB" sz="2400" dirty="0">
                <a:solidFill>
                  <a:srgbClr val="00B050"/>
                </a:solidFill>
              </a:rPr>
              <a:t> (s)   +  2HCl (</a:t>
            </a:r>
            <a:r>
              <a:rPr lang="en-GB" sz="2400" dirty="0" err="1">
                <a:solidFill>
                  <a:srgbClr val="00B050"/>
                </a:solidFill>
              </a:rPr>
              <a:t>aq</a:t>
            </a:r>
            <a:r>
              <a:rPr lang="en-GB" sz="2400" dirty="0">
                <a:solidFill>
                  <a:srgbClr val="00B050"/>
                </a:solidFill>
              </a:rPr>
              <a:t>) </a:t>
            </a:r>
            <a:r>
              <a:rPr lang="en-GB" sz="2400" dirty="0">
                <a:solidFill>
                  <a:srgbClr val="00B050"/>
                </a:solidFill>
                <a:sym typeface="Wingdings" panose="05000000000000000000" pitchFamily="2" charset="2"/>
              </a:rPr>
              <a:t>  CaCl</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 (</a:t>
            </a:r>
            <a:r>
              <a:rPr lang="en-GB" sz="2400" dirty="0" err="1">
                <a:solidFill>
                  <a:srgbClr val="00B050"/>
                </a:solidFill>
                <a:sym typeface="Wingdings" panose="05000000000000000000" pitchFamily="2" charset="2"/>
              </a:rPr>
              <a:t>aq</a:t>
            </a:r>
            <a:r>
              <a:rPr lang="en-GB" sz="2400" dirty="0">
                <a:solidFill>
                  <a:srgbClr val="00B050"/>
                </a:solidFill>
                <a:sym typeface="Wingdings" panose="05000000000000000000" pitchFamily="2" charset="2"/>
              </a:rPr>
              <a:t>)  +  CO</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 (g)  +  H</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O (l)</a:t>
            </a:r>
            <a:endParaRPr lang="en-GB" sz="2400" dirty="0">
              <a:solidFill>
                <a:srgbClr val="00B050"/>
              </a:solidFill>
            </a:endParaRPr>
          </a:p>
          <a:p>
            <a:pPr marL="457200" indent="-457200">
              <a:lnSpc>
                <a:spcPct val="150000"/>
              </a:lnSpc>
              <a:buFont typeface="+mj-lt"/>
              <a:buAutoNum type="arabicPeriod" startAt="5"/>
            </a:pPr>
            <a:r>
              <a:rPr lang="en-GB" sz="2400" dirty="0"/>
              <a:t>The student collects 50 cm</a:t>
            </a:r>
            <a:r>
              <a:rPr lang="en-GB" sz="2400" baseline="30000" dirty="0"/>
              <a:t>3</a:t>
            </a:r>
            <a:r>
              <a:rPr lang="en-GB" sz="2400" dirty="0"/>
              <a:t> of carbon dioxide gas in 10 seconds. What is the rate of reaction? Include the units.</a:t>
            </a:r>
          </a:p>
          <a:p>
            <a:r>
              <a:rPr lang="en-GB" sz="2400" dirty="0"/>
              <a:t>	</a:t>
            </a:r>
            <a:r>
              <a:rPr lang="en-GB" sz="2400" dirty="0">
                <a:solidFill>
                  <a:srgbClr val="00B050"/>
                </a:solidFill>
              </a:rPr>
              <a:t>rate of reaction = </a:t>
            </a:r>
            <a:r>
              <a:rPr lang="en-GB" sz="2400" u="sng" dirty="0">
                <a:solidFill>
                  <a:srgbClr val="00B050"/>
                </a:solidFill>
              </a:rPr>
              <a:t>volume of gas collected  </a:t>
            </a:r>
            <a:r>
              <a:rPr lang="en-GB" sz="2400" dirty="0">
                <a:solidFill>
                  <a:srgbClr val="00B050"/>
                </a:solidFill>
              </a:rPr>
              <a:t>=   </a:t>
            </a:r>
            <a:r>
              <a:rPr lang="en-GB" sz="2400" u="sng" dirty="0">
                <a:solidFill>
                  <a:srgbClr val="00B050"/>
                </a:solidFill>
              </a:rPr>
              <a:t>50</a:t>
            </a:r>
          </a:p>
          <a:p>
            <a:r>
              <a:rPr lang="en-GB" sz="2400" dirty="0">
                <a:solidFill>
                  <a:srgbClr val="00B050"/>
                </a:solidFill>
              </a:rPr>
              <a:t>				time taken		  10</a:t>
            </a:r>
          </a:p>
          <a:p>
            <a:pPr>
              <a:lnSpc>
                <a:spcPct val="150000"/>
              </a:lnSpc>
            </a:pPr>
            <a:r>
              <a:rPr lang="en-GB" sz="2400" dirty="0">
                <a:solidFill>
                  <a:srgbClr val="00B050"/>
                </a:solidFill>
              </a:rPr>
              <a:t>	5 cm</a:t>
            </a:r>
            <a:r>
              <a:rPr lang="en-GB" sz="2400" baseline="30000" dirty="0">
                <a:solidFill>
                  <a:srgbClr val="00B050"/>
                </a:solidFill>
              </a:rPr>
              <a:t>3</a:t>
            </a:r>
            <a:r>
              <a:rPr lang="en-GB" sz="2400" dirty="0">
                <a:solidFill>
                  <a:srgbClr val="00B050"/>
                </a:solidFill>
              </a:rPr>
              <a:t>/s</a:t>
            </a:r>
          </a:p>
        </p:txBody>
      </p:sp>
    </p:spTree>
    <p:extLst>
      <p:ext uri="{BB962C8B-B14F-4D97-AF65-F5344CB8AC3E}">
        <p14:creationId xmlns:p14="http://schemas.microsoft.com/office/powerpoint/2010/main" val="2583065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Factors which affect the rates of reactions –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94031"/>
          </a:xfrm>
          <a:prstGeom prst="rect">
            <a:avLst/>
          </a:prstGeom>
          <a:noFill/>
        </p:spPr>
        <p:txBody>
          <a:bodyPr wrap="square" rtlCol="0">
            <a:spAutoFit/>
          </a:bodyPr>
          <a:lstStyle/>
          <a:p>
            <a:pPr marL="457200" indent="-457200">
              <a:lnSpc>
                <a:spcPct val="150000"/>
              </a:lnSpc>
              <a:buFont typeface="+mj-lt"/>
              <a:buAutoNum type="arabicPeriod" startAt="6"/>
            </a:pPr>
            <a:r>
              <a:rPr lang="en-GB" sz="2400" dirty="0"/>
              <a:t>(HT only) The student repeats the experiment again, this time they find the mass of the carbon dioxide collected. They collect 11 g of carbon dioxide in 10 seconds. Calculate the rate of reaction in </a:t>
            </a:r>
            <a:r>
              <a:rPr lang="en-GB" sz="2400" dirty="0" err="1"/>
              <a:t>mol</a:t>
            </a:r>
            <a:r>
              <a:rPr lang="en-GB" sz="2400" dirty="0"/>
              <a:t>/s.</a:t>
            </a:r>
          </a:p>
          <a:p>
            <a:pPr>
              <a:lnSpc>
                <a:spcPct val="150000"/>
              </a:lnSpc>
            </a:pPr>
            <a:r>
              <a:rPr lang="en-GB" sz="2400" dirty="0">
                <a:solidFill>
                  <a:srgbClr val="00B050"/>
                </a:solidFill>
              </a:rPr>
              <a:t>	11g/44g = 0.25 moles of carbon dioxide</a:t>
            </a:r>
          </a:p>
          <a:p>
            <a:pPr>
              <a:lnSpc>
                <a:spcPct val="150000"/>
              </a:lnSpc>
            </a:pPr>
            <a:r>
              <a:rPr lang="en-GB" sz="2400" dirty="0">
                <a:solidFill>
                  <a:srgbClr val="00B050"/>
                </a:solidFill>
              </a:rPr>
              <a:t>  so	0.25 moles/10 seconds	</a:t>
            </a:r>
          </a:p>
          <a:p>
            <a:pPr>
              <a:lnSpc>
                <a:spcPct val="150000"/>
              </a:lnSpc>
            </a:pPr>
            <a:r>
              <a:rPr lang="en-GB" sz="2400" dirty="0">
                <a:solidFill>
                  <a:srgbClr val="00B050"/>
                </a:solidFill>
              </a:rPr>
              <a:t>  =	0.025 </a:t>
            </a:r>
            <a:r>
              <a:rPr lang="en-GB" sz="2400" dirty="0" err="1">
                <a:solidFill>
                  <a:srgbClr val="00B050"/>
                </a:solidFill>
              </a:rPr>
              <a:t>mol</a:t>
            </a:r>
            <a:r>
              <a:rPr lang="en-GB" sz="2400" dirty="0">
                <a:solidFill>
                  <a:srgbClr val="00B050"/>
                </a:solidFill>
              </a:rPr>
              <a:t>/s</a:t>
            </a:r>
          </a:p>
          <a:p>
            <a:pPr marL="457200" indent="-457200">
              <a:lnSpc>
                <a:spcPct val="150000"/>
              </a:lnSpc>
              <a:buFont typeface="+mj-lt"/>
              <a:buAutoNum type="arabicPeriod" startAt="7"/>
            </a:pPr>
            <a:r>
              <a:rPr lang="en-GB" sz="2400" dirty="0"/>
              <a:t>(HT only) What mass of carbon dioxide are they collecting per second if the rate of reaction is 0.075 </a:t>
            </a:r>
            <a:r>
              <a:rPr lang="en-GB" sz="2400" dirty="0" err="1"/>
              <a:t>mol</a:t>
            </a:r>
            <a:r>
              <a:rPr lang="en-GB" sz="2400" dirty="0"/>
              <a:t>/s</a:t>
            </a:r>
          </a:p>
          <a:p>
            <a:pPr>
              <a:lnSpc>
                <a:spcPct val="150000"/>
              </a:lnSpc>
            </a:pPr>
            <a:r>
              <a:rPr lang="en-GB" sz="2400" dirty="0"/>
              <a:t>	</a:t>
            </a:r>
            <a:r>
              <a:rPr lang="en-GB" sz="2400" dirty="0">
                <a:solidFill>
                  <a:srgbClr val="00B050"/>
                </a:solidFill>
              </a:rPr>
              <a:t>0.075 moles of CO</a:t>
            </a:r>
            <a:r>
              <a:rPr lang="en-GB" sz="2400" baseline="-25000" dirty="0">
                <a:solidFill>
                  <a:srgbClr val="00B050"/>
                </a:solidFill>
              </a:rPr>
              <a:t>2</a:t>
            </a:r>
            <a:r>
              <a:rPr lang="en-GB" sz="2400" dirty="0">
                <a:solidFill>
                  <a:srgbClr val="00B050"/>
                </a:solidFill>
              </a:rPr>
              <a:t> is 44 x 0.075   so 	3.3 g/s</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984789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33062" y="548680"/>
            <a:ext cx="3491880" cy="6432530"/>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2 </a:t>
            </a:r>
          </a:p>
          <a:p>
            <a:pPr marL="285750" indent="-285750">
              <a:buFont typeface="Arial" panose="020B0604020202020204" pitchFamily="34" charset="0"/>
              <a:buChar char="•"/>
            </a:pPr>
            <a:r>
              <a:rPr lang="en-GB" sz="2400" b="1" dirty="0">
                <a:solidFill>
                  <a:schemeClr val="tx1">
                    <a:lumMod val="50000"/>
                    <a:lumOff val="50000"/>
                  </a:schemeClr>
                </a:solidFill>
              </a:rPr>
              <a:t>Collision theory</a:t>
            </a:r>
          </a:p>
          <a:p>
            <a:pPr marL="285750" indent="-285750">
              <a:buFont typeface="Arial" panose="020B0604020202020204" pitchFamily="34" charset="0"/>
              <a:buChar char="•"/>
            </a:pPr>
            <a:r>
              <a:rPr lang="en-GB" sz="2400" b="1" dirty="0">
                <a:solidFill>
                  <a:schemeClr val="tx1">
                    <a:lumMod val="50000"/>
                    <a:lumOff val="50000"/>
                  </a:schemeClr>
                </a:solidFill>
              </a:rPr>
              <a:t>Effects of changes in temperature, concentration, surface area and pressure on rates of reaction.</a:t>
            </a:r>
          </a:p>
          <a:p>
            <a:endParaRPr lang="en-GB" sz="2400" b="1" dirty="0">
              <a:solidFill>
                <a:schemeClr val="tx1">
                  <a:lumMod val="50000"/>
                  <a:lumOff val="50000"/>
                </a:schemeClr>
              </a:solidFill>
            </a:endParaRPr>
          </a:p>
          <a:p>
            <a:endParaRPr lang="en-GB" dirty="0"/>
          </a:p>
        </p:txBody>
      </p:sp>
    </p:spTree>
    <p:extLst>
      <p:ext uri="{BB962C8B-B14F-4D97-AF65-F5344CB8AC3E}">
        <p14:creationId xmlns:p14="http://schemas.microsoft.com/office/powerpoint/2010/main" val="1981867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Rates of reactions part 2 – </a:t>
            </a:r>
            <a:r>
              <a:rPr kumimoji="0" lang="en-US" sz="20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000" b="1" i="0" u="none" strike="noStrike" kern="1200" cap="none" spc="0" normalizeH="0" noProof="0" dirty="0">
                <a:ln>
                  <a:noFill/>
                </a:ln>
                <a:solidFill>
                  <a:schemeClr val="accent6"/>
                </a:solidFill>
                <a:effectLst/>
                <a:uLnTx/>
                <a:uFillTx/>
                <a:latin typeface="Calibri"/>
                <a:ea typeface=""/>
                <a:cs typeface="News Gothic MT"/>
              </a:rPr>
              <a:t> reactions</a:t>
            </a:r>
            <a:endParaRPr lang="en-GB" sz="2000" b="1" dirty="0">
              <a:solidFill>
                <a:schemeClr val="accent6"/>
              </a:solidFill>
            </a:endParaRP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3" name="TextBox 2"/>
          <p:cNvSpPr txBox="1"/>
          <p:nvPr/>
        </p:nvSpPr>
        <p:spPr>
          <a:xfrm>
            <a:off x="179512" y="764704"/>
            <a:ext cx="8712968" cy="1938992"/>
          </a:xfrm>
          <a:prstGeom prst="rect">
            <a:avLst/>
          </a:prstGeom>
          <a:noFill/>
          <a:ln w="28575">
            <a:solidFill>
              <a:schemeClr val="accent6"/>
            </a:solidFill>
          </a:ln>
        </p:spPr>
        <p:txBody>
          <a:bodyPr wrap="square" rtlCol="0">
            <a:spAutoFit/>
          </a:bodyPr>
          <a:lstStyle/>
          <a:p>
            <a:r>
              <a:rPr lang="en-GB" sz="2000" b="1" dirty="0"/>
              <a:t>Factors which affect the rates of chemical reactions include:</a:t>
            </a:r>
          </a:p>
          <a:p>
            <a:pPr marL="285750" indent="-285750">
              <a:buFont typeface="Arial" panose="020B0604020202020204" pitchFamily="34" charset="0"/>
              <a:buChar char="•"/>
            </a:pPr>
            <a:r>
              <a:rPr lang="en-GB" sz="2000" b="1" dirty="0"/>
              <a:t>The </a:t>
            </a:r>
            <a:r>
              <a:rPr lang="en-GB" sz="2000" b="1" dirty="0">
                <a:solidFill>
                  <a:schemeClr val="accent6"/>
                </a:solidFill>
              </a:rPr>
              <a:t>concentrations</a:t>
            </a:r>
            <a:r>
              <a:rPr lang="en-GB" sz="2000" b="1" dirty="0"/>
              <a:t> of reactants in solution</a:t>
            </a:r>
          </a:p>
          <a:p>
            <a:pPr marL="285750" indent="-285750">
              <a:buFont typeface="Arial" panose="020B0604020202020204" pitchFamily="34" charset="0"/>
              <a:buChar char="•"/>
            </a:pPr>
            <a:r>
              <a:rPr lang="en-GB" sz="2000" b="1" dirty="0"/>
              <a:t>The </a:t>
            </a:r>
            <a:r>
              <a:rPr lang="en-GB" sz="2000" b="1" dirty="0">
                <a:solidFill>
                  <a:schemeClr val="accent6"/>
                </a:solidFill>
              </a:rPr>
              <a:t>pressure</a:t>
            </a:r>
            <a:r>
              <a:rPr lang="en-GB" sz="2000" b="1" dirty="0"/>
              <a:t> of reacting gases</a:t>
            </a:r>
          </a:p>
          <a:p>
            <a:pPr marL="285750" indent="-285750">
              <a:buFont typeface="Arial" panose="020B0604020202020204" pitchFamily="34" charset="0"/>
              <a:buChar char="•"/>
            </a:pPr>
            <a:r>
              <a:rPr lang="en-GB" sz="2000" b="1" dirty="0"/>
              <a:t>The </a:t>
            </a:r>
            <a:r>
              <a:rPr lang="en-GB" sz="2000" b="1" dirty="0">
                <a:solidFill>
                  <a:schemeClr val="accent6"/>
                </a:solidFill>
              </a:rPr>
              <a:t>surface area </a:t>
            </a:r>
            <a:r>
              <a:rPr lang="en-GB" sz="2000" b="1" dirty="0"/>
              <a:t>of solid reactants</a:t>
            </a:r>
          </a:p>
          <a:p>
            <a:pPr marL="285750" indent="-285750">
              <a:buFont typeface="Arial" panose="020B0604020202020204" pitchFamily="34" charset="0"/>
              <a:buChar char="•"/>
            </a:pPr>
            <a:r>
              <a:rPr lang="en-GB" sz="2000" b="1" dirty="0"/>
              <a:t>The </a:t>
            </a:r>
            <a:r>
              <a:rPr lang="en-GB" sz="2000" b="1" dirty="0">
                <a:solidFill>
                  <a:schemeClr val="accent6"/>
                </a:solidFill>
              </a:rPr>
              <a:t>temperature</a:t>
            </a:r>
            <a:r>
              <a:rPr lang="en-GB" sz="2000" b="1" dirty="0"/>
              <a:t> </a:t>
            </a:r>
          </a:p>
          <a:p>
            <a:pPr marL="285750" indent="-285750">
              <a:buFont typeface="Arial" panose="020B0604020202020204" pitchFamily="34" charset="0"/>
              <a:buChar char="•"/>
            </a:pPr>
            <a:r>
              <a:rPr lang="en-GB" sz="2000" b="1" dirty="0"/>
              <a:t>The presence of a </a:t>
            </a:r>
            <a:r>
              <a:rPr lang="en-GB" sz="2000" b="1" dirty="0">
                <a:solidFill>
                  <a:schemeClr val="accent6"/>
                </a:solidFill>
              </a:rPr>
              <a:t>catalyst</a:t>
            </a:r>
          </a:p>
        </p:txBody>
      </p:sp>
      <p:sp>
        <p:nvSpPr>
          <p:cNvPr id="7" name="TextBox 6"/>
          <p:cNvSpPr txBox="1"/>
          <p:nvPr/>
        </p:nvSpPr>
        <p:spPr>
          <a:xfrm>
            <a:off x="192390" y="3005137"/>
            <a:ext cx="8700090" cy="1323439"/>
          </a:xfrm>
          <a:custGeom>
            <a:avLst/>
            <a:gdLst>
              <a:gd name="connsiteX0" fmla="*/ 0 w 5760640"/>
              <a:gd name="connsiteY0" fmla="*/ 0 h 1754326"/>
              <a:gd name="connsiteX1" fmla="*/ 5760640 w 5760640"/>
              <a:gd name="connsiteY1" fmla="*/ 0 h 1754326"/>
              <a:gd name="connsiteX2" fmla="*/ 5760640 w 5760640"/>
              <a:gd name="connsiteY2" fmla="*/ 1754326 h 1754326"/>
              <a:gd name="connsiteX3" fmla="*/ 0 w 5760640"/>
              <a:gd name="connsiteY3" fmla="*/ 1754326 h 1754326"/>
              <a:gd name="connsiteX4" fmla="*/ 0 w 5760640"/>
              <a:gd name="connsiteY4" fmla="*/ 0 h 1754326"/>
              <a:gd name="connsiteX0" fmla="*/ 0 w 5760640"/>
              <a:gd name="connsiteY0" fmla="*/ 0 h 3119487"/>
              <a:gd name="connsiteX1" fmla="*/ 5760640 w 5760640"/>
              <a:gd name="connsiteY1" fmla="*/ 0 h 3119487"/>
              <a:gd name="connsiteX2" fmla="*/ 5760640 w 5760640"/>
              <a:gd name="connsiteY2" fmla="*/ 1754326 h 3119487"/>
              <a:gd name="connsiteX3" fmla="*/ 0 w 5760640"/>
              <a:gd name="connsiteY3" fmla="*/ 3119487 h 3119487"/>
              <a:gd name="connsiteX4" fmla="*/ 0 w 5760640"/>
              <a:gd name="connsiteY4" fmla="*/ 0 h 3119487"/>
              <a:gd name="connsiteX0" fmla="*/ 0 w 5773518"/>
              <a:gd name="connsiteY0" fmla="*/ 0 h 3119487"/>
              <a:gd name="connsiteX1" fmla="*/ 5760640 w 5773518"/>
              <a:gd name="connsiteY1" fmla="*/ 0 h 3119487"/>
              <a:gd name="connsiteX2" fmla="*/ 5773518 w 5773518"/>
              <a:gd name="connsiteY2" fmla="*/ 3055092 h 3119487"/>
              <a:gd name="connsiteX3" fmla="*/ 0 w 5773518"/>
              <a:gd name="connsiteY3" fmla="*/ 3119487 h 3119487"/>
              <a:gd name="connsiteX4" fmla="*/ 0 w 5773518"/>
              <a:gd name="connsiteY4" fmla="*/ 0 h 3119487"/>
              <a:gd name="connsiteX0" fmla="*/ 0 w 5773518"/>
              <a:gd name="connsiteY0" fmla="*/ 0 h 3119487"/>
              <a:gd name="connsiteX1" fmla="*/ 5760640 w 5773518"/>
              <a:gd name="connsiteY1" fmla="*/ 0 h 3119487"/>
              <a:gd name="connsiteX2" fmla="*/ 5773518 w 5773518"/>
              <a:gd name="connsiteY2" fmla="*/ 3080850 h 3119487"/>
              <a:gd name="connsiteX3" fmla="*/ 0 w 5773518"/>
              <a:gd name="connsiteY3" fmla="*/ 3119487 h 3119487"/>
              <a:gd name="connsiteX4" fmla="*/ 0 w 5773518"/>
              <a:gd name="connsiteY4" fmla="*/ 0 h 3119487"/>
              <a:gd name="connsiteX0" fmla="*/ 0 w 5773518"/>
              <a:gd name="connsiteY0" fmla="*/ 0 h 3132366"/>
              <a:gd name="connsiteX1" fmla="*/ 5760640 w 5773518"/>
              <a:gd name="connsiteY1" fmla="*/ 0 h 3132366"/>
              <a:gd name="connsiteX2" fmla="*/ 5773518 w 5773518"/>
              <a:gd name="connsiteY2" fmla="*/ 3132366 h 3132366"/>
              <a:gd name="connsiteX3" fmla="*/ 0 w 5773518"/>
              <a:gd name="connsiteY3" fmla="*/ 3119487 h 3132366"/>
              <a:gd name="connsiteX4" fmla="*/ 0 w 5773518"/>
              <a:gd name="connsiteY4" fmla="*/ 0 h 3132366"/>
              <a:gd name="connsiteX0" fmla="*/ 0 w 5773518"/>
              <a:gd name="connsiteY0" fmla="*/ 0 h 3119487"/>
              <a:gd name="connsiteX1" fmla="*/ 5760640 w 5773518"/>
              <a:gd name="connsiteY1" fmla="*/ 0 h 3119487"/>
              <a:gd name="connsiteX2" fmla="*/ 5773518 w 5773518"/>
              <a:gd name="connsiteY2" fmla="*/ 3106608 h 3119487"/>
              <a:gd name="connsiteX3" fmla="*/ 0 w 5773518"/>
              <a:gd name="connsiteY3" fmla="*/ 3119487 h 3119487"/>
              <a:gd name="connsiteX4" fmla="*/ 0 w 5773518"/>
              <a:gd name="connsiteY4" fmla="*/ 0 h 3119487"/>
              <a:gd name="connsiteX0" fmla="*/ 0 w 5773518"/>
              <a:gd name="connsiteY0" fmla="*/ 0 h 3132366"/>
              <a:gd name="connsiteX1" fmla="*/ 5760640 w 5773518"/>
              <a:gd name="connsiteY1" fmla="*/ 0 h 3132366"/>
              <a:gd name="connsiteX2" fmla="*/ 5773518 w 5773518"/>
              <a:gd name="connsiteY2" fmla="*/ 3132366 h 3132366"/>
              <a:gd name="connsiteX3" fmla="*/ 0 w 5773518"/>
              <a:gd name="connsiteY3" fmla="*/ 3119487 h 3132366"/>
              <a:gd name="connsiteX4" fmla="*/ 0 w 5773518"/>
              <a:gd name="connsiteY4" fmla="*/ 0 h 3132366"/>
              <a:gd name="connsiteX0" fmla="*/ 0 w 5761879"/>
              <a:gd name="connsiteY0" fmla="*/ 0 h 3132366"/>
              <a:gd name="connsiteX1" fmla="*/ 5760640 w 5761879"/>
              <a:gd name="connsiteY1" fmla="*/ 0 h 3132366"/>
              <a:gd name="connsiteX2" fmla="*/ 5760640 w 5761879"/>
              <a:gd name="connsiteY2" fmla="*/ 3132366 h 3132366"/>
              <a:gd name="connsiteX3" fmla="*/ 0 w 5761879"/>
              <a:gd name="connsiteY3" fmla="*/ 3119487 h 3132366"/>
              <a:gd name="connsiteX4" fmla="*/ 0 w 5761879"/>
              <a:gd name="connsiteY4" fmla="*/ 0 h 3132366"/>
              <a:gd name="connsiteX0" fmla="*/ 0 w 5761879"/>
              <a:gd name="connsiteY0" fmla="*/ 0 h 3119487"/>
              <a:gd name="connsiteX1" fmla="*/ 5760640 w 5761879"/>
              <a:gd name="connsiteY1" fmla="*/ 0 h 3119487"/>
              <a:gd name="connsiteX2" fmla="*/ 5760640 w 5761879"/>
              <a:gd name="connsiteY2" fmla="*/ 3119487 h 3119487"/>
              <a:gd name="connsiteX3" fmla="*/ 0 w 5761879"/>
              <a:gd name="connsiteY3" fmla="*/ 3119487 h 3119487"/>
              <a:gd name="connsiteX4" fmla="*/ 0 w 5761879"/>
              <a:gd name="connsiteY4" fmla="*/ 0 h 3119487"/>
              <a:gd name="connsiteX0" fmla="*/ 0 w 5761879"/>
              <a:gd name="connsiteY0" fmla="*/ 528034 h 3119487"/>
              <a:gd name="connsiteX1" fmla="*/ 5760640 w 5761879"/>
              <a:gd name="connsiteY1" fmla="*/ 0 h 3119487"/>
              <a:gd name="connsiteX2" fmla="*/ 5760640 w 5761879"/>
              <a:gd name="connsiteY2" fmla="*/ 3119487 h 3119487"/>
              <a:gd name="connsiteX3" fmla="*/ 0 w 5761879"/>
              <a:gd name="connsiteY3" fmla="*/ 3119487 h 3119487"/>
              <a:gd name="connsiteX4" fmla="*/ 0 w 5761879"/>
              <a:gd name="connsiteY4" fmla="*/ 528034 h 3119487"/>
              <a:gd name="connsiteX0" fmla="*/ 0 w 5774088"/>
              <a:gd name="connsiteY0" fmla="*/ 51515 h 2642968"/>
              <a:gd name="connsiteX1" fmla="*/ 5773518 w 5774088"/>
              <a:gd name="connsiteY1" fmla="*/ 0 h 2642968"/>
              <a:gd name="connsiteX2" fmla="*/ 5760640 w 5774088"/>
              <a:gd name="connsiteY2" fmla="*/ 2642968 h 2642968"/>
              <a:gd name="connsiteX3" fmla="*/ 0 w 5774088"/>
              <a:gd name="connsiteY3" fmla="*/ 2642968 h 2642968"/>
              <a:gd name="connsiteX4" fmla="*/ 0 w 5774088"/>
              <a:gd name="connsiteY4" fmla="*/ 51515 h 2642968"/>
              <a:gd name="connsiteX0" fmla="*/ 0 w 5774088"/>
              <a:gd name="connsiteY0" fmla="*/ 38636 h 2630089"/>
              <a:gd name="connsiteX1" fmla="*/ 5773518 w 5774088"/>
              <a:gd name="connsiteY1" fmla="*/ 0 h 2630089"/>
              <a:gd name="connsiteX2" fmla="*/ 5760640 w 5774088"/>
              <a:gd name="connsiteY2" fmla="*/ 2630089 h 2630089"/>
              <a:gd name="connsiteX3" fmla="*/ 0 w 5774088"/>
              <a:gd name="connsiteY3" fmla="*/ 2630089 h 2630089"/>
              <a:gd name="connsiteX4" fmla="*/ 0 w 5774088"/>
              <a:gd name="connsiteY4" fmla="*/ 38636 h 2630089"/>
              <a:gd name="connsiteX0" fmla="*/ 0 w 5774088"/>
              <a:gd name="connsiteY0" fmla="*/ 12879 h 2604332"/>
              <a:gd name="connsiteX1" fmla="*/ 5773518 w 5774088"/>
              <a:gd name="connsiteY1" fmla="*/ 0 h 2604332"/>
              <a:gd name="connsiteX2" fmla="*/ 5760640 w 5774088"/>
              <a:gd name="connsiteY2" fmla="*/ 2604332 h 2604332"/>
              <a:gd name="connsiteX3" fmla="*/ 0 w 5774088"/>
              <a:gd name="connsiteY3" fmla="*/ 2604332 h 2604332"/>
              <a:gd name="connsiteX4" fmla="*/ 0 w 5774088"/>
              <a:gd name="connsiteY4" fmla="*/ 12879 h 2604332"/>
              <a:gd name="connsiteX0" fmla="*/ 0 w 5774088"/>
              <a:gd name="connsiteY0" fmla="*/ 0 h 2591453"/>
              <a:gd name="connsiteX1" fmla="*/ 5773518 w 5774088"/>
              <a:gd name="connsiteY1" fmla="*/ 12879 h 2591453"/>
              <a:gd name="connsiteX2" fmla="*/ 5760640 w 5774088"/>
              <a:gd name="connsiteY2" fmla="*/ 2591453 h 2591453"/>
              <a:gd name="connsiteX3" fmla="*/ 0 w 5774088"/>
              <a:gd name="connsiteY3" fmla="*/ 2591453 h 2591453"/>
              <a:gd name="connsiteX4" fmla="*/ 0 w 5774088"/>
              <a:gd name="connsiteY4" fmla="*/ 0 h 2591453"/>
              <a:gd name="connsiteX0" fmla="*/ 0 w 5761879"/>
              <a:gd name="connsiteY0" fmla="*/ 0 h 2591453"/>
              <a:gd name="connsiteX1" fmla="*/ 5760640 w 5761879"/>
              <a:gd name="connsiteY1" fmla="*/ 0 h 2591453"/>
              <a:gd name="connsiteX2" fmla="*/ 5760640 w 5761879"/>
              <a:gd name="connsiteY2" fmla="*/ 2591453 h 2591453"/>
              <a:gd name="connsiteX3" fmla="*/ 0 w 5761879"/>
              <a:gd name="connsiteY3" fmla="*/ 2591453 h 2591453"/>
              <a:gd name="connsiteX4" fmla="*/ 0 w 5761879"/>
              <a:gd name="connsiteY4" fmla="*/ 0 h 2591453"/>
              <a:gd name="connsiteX0" fmla="*/ 30310 w 5761879"/>
              <a:gd name="connsiteY0" fmla="*/ 0 h 2872303"/>
              <a:gd name="connsiteX1" fmla="*/ 5760640 w 5761879"/>
              <a:gd name="connsiteY1" fmla="*/ 280850 h 2872303"/>
              <a:gd name="connsiteX2" fmla="*/ 5760640 w 5761879"/>
              <a:gd name="connsiteY2" fmla="*/ 2872303 h 2872303"/>
              <a:gd name="connsiteX3" fmla="*/ 0 w 5761879"/>
              <a:gd name="connsiteY3" fmla="*/ 2872303 h 2872303"/>
              <a:gd name="connsiteX4" fmla="*/ 30310 w 5761879"/>
              <a:gd name="connsiteY4" fmla="*/ 0 h 2872303"/>
              <a:gd name="connsiteX0" fmla="*/ 30310 w 5760640"/>
              <a:gd name="connsiteY0" fmla="*/ 0 h 2872303"/>
              <a:gd name="connsiteX1" fmla="*/ 5745485 w 5760640"/>
              <a:gd name="connsiteY1" fmla="*/ 0 h 2872303"/>
              <a:gd name="connsiteX2" fmla="*/ 5760640 w 5760640"/>
              <a:gd name="connsiteY2" fmla="*/ 2872303 h 2872303"/>
              <a:gd name="connsiteX3" fmla="*/ 0 w 5760640"/>
              <a:gd name="connsiteY3" fmla="*/ 2872303 h 2872303"/>
              <a:gd name="connsiteX4" fmla="*/ 30310 w 5760640"/>
              <a:gd name="connsiteY4" fmla="*/ 0 h 2872303"/>
              <a:gd name="connsiteX0" fmla="*/ 30310 w 5760640"/>
              <a:gd name="connsiteY0" fmla="*/ 0 h 2872303"/>
              <a:gd name="connsiteX1" fmla="*/ 5745485 w 5760640"/>
              <a:gd name="connsiteY1" fmla="*/ 0 h 2872303"/>
              <a:gd name="connsiteX2" fmla="*/ 5760640 w 5760640"/>
              <a:gd name="connsiteY2" fmla="*/ 2513440 h 2872303"/>
              <a:gd name="connsiteX3" fmla="*/ 0 w 5760640"/>
              <a:gd name="connsiteY3" fmla="*/ 2872303 h 2872303"/>
              <a:gd name="connsiteX4" fmla="*/ 30310 w 5760640"/>
              <a:gd name="connsiteY4" fmla="*/ 0 h 2872303"/>
              <a:gd name="connsiteX0" fmla="*/ 15155 w 5745485"/>
              <a:gd name="connsiteY0" fmla="*/ 0 h 2544646"/>
              <a:gd name="connsiteX1" fmla="*/ 5730330 w 5745485"/>
              <a:gd name="connsiteY1" fmla="*/ 0 h 2544646"/>
              <a:gd name="connsiteX2" fmla="*/ 5745485 w 5745485"/>
              <a:gd name="connsiteY2" fmla="*/ 2513440 h 2544646"/>
              <a:gd name="connsiteX3" fmla="*/ 0 w 5745485"/>
              <a:gd name="connsiteY3" fmla="*/ 2544646 h 2544646"/>
              <a:gd name="connsiteX4" fmla="*/ 15155 w 5745485"/>
              <a:gd name="connsiteY4" fmla="*/ 0 h 2544646"/>
              <a:gd name="connsiteX0" fmla="*/ 15155 w 5745485"/>
              <a:gd name="connsiteY0" fmla="*/ 0 h 2560249"/>
              <a:gd name="connsiteX1" fmla="*/ 5730330 w 5745485"/>
              <a:gd name="connsiteY1" fmla="*/ 0 h 2560249"/>
              <a:gd name="connsiteX2" fmla="*/ 5745485 w 5745485"/>
              <a:gd name="connsiteY2" fmla="*/ 2513440 h 2560249"/>
              <a:gd name="connsiteX3" fmla="*/ 0 w 5745485"/>
              <a:gd name="connsiteY3" fmla="*/ 2560249 h 2560249"/>
              <a:gd name="connsiteX4" fmla="*/ 15155 w 5745485"/>
              <a:gd name="connsiteY4" fmla="*/ 0 h 2560249"/>
              <a:gd name="connsiteX0" fmla="*/ 15155 w 5745485"/>
              <a:gd name="connsiteY0" fmla="*/ 0 h 2560249"/>
              <a:gd name="connsiteX1" fmla="*/ 5730330 w 5745485"/>
              <a:gd name="connsiteY1" fmla="*/ 0 h 2560249"/>
              <a:gd name="connsiteX2" fmla="*/ 5745485 w 5745485"/>
              <a:gd name="connsiteY2" fmla="*/ 2529043 h 2560249"/>
              <a:gd name="connsiteX3" fmla="*/ 0 w 5745485"/>
              <a:gd name="connsiteY3" fmla="*/ 2560249 h 2560249"/>
              <a:gd name="connsiteX4" fmla="*/ 15155 w 5745485"/>
              <a:gd name="connsiteY4" fmla="*/ 0 h 2560249"/>
              <a:gd name="connsiteX0" fmla="*/ 15155 w 5745485"/>
              <a:gd name="connsiteY0" fmla="*/ 0 h 2560249"/>
              <a:gd name="connsiteX1" fmla="*/ 5730330 w 5745485"/>
              <a:gd name="connsiteY1" fmla="*/ 0 h 2560249"/>
              <a:gd name="connsiteX2" fmla="*/ 5745485 w 5745485"/>
              <a:gd name="connsiteY2" fmla="*/ 2544646 h 2560249"/>
              <a:gd name="connsiteX3" fmla="*/ 0 w 5745485"/>
              <a:gd name="connsiteY3" fmla="*/ 2560249 h 2560249"/>
              <a:gd name="connsiteX4" fmla="*/ 15155 w 5745485"/>
              <a:gd name="connsiteY4" fmla="*/ 0 h 2560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5485" h="2560249">
                <a:moveTo>
                  <a:pt x="15155" y="0"/>
                </a:moveTo>
                <a:lnTo>
                  <a:pt x="5730330" y="0"/>
                </a:lnTo>
                <a:cubicBezTo>
                  <a:pt x="5734623" y="1018364"/>
                  <a:pt x="5741192" y="1526282"/>
                  <a:pt x="5745485" y="2544646"/>
                </a:cubicBezTo>
                <a:lnTo>
                  <a:pt x="0" y="2560249"/>
                </a:lnTo>
                <a:cubicBezTo>
                  <a:pt x="5052" y="1712034"/>
                  <a:pt x="10103" y="848215"/>
                  <a:pt x="15155" y="0"/>
                </a:cubicBezTo>
                <a:close/>
              </a:path>
            </a:pathLst>
          </a:custGeom>
          <a:noFill/>
          <a:ln w="28575">
            <a:solidFill>
              <a:schemeClr val="accent6"/>
            </a:solidFill>
          </a:ln>
        </p:spPr>
        <p:txBody>
          <a:bodyPr wrap="square" rtlCol="0">
            <a:spAutoFit/>
          </a:bodyPr>
          <a:lstStyle/>
          <a:p>
            <a:r>
              <a:rPr lang="en-GB" sz="2000" b="1" dirty="0">
                <a:solidFill>
                  <a:schemeClr val="accent6">
                    <a:lumMod val="75000"/>
                  </a:schemeClr>
                </a:solidFill>
              </a:rPr>
              <a:t>Collision theory </a:t>
            </a:r>
            <a:r>
              <a:rPr lang="en-GB" sz="2000" b="1" dirty="0"/>
              <a:t>explains how these factors affect rates of reactions. According to this theory, chemical reactions can occur only when reacting particles </a:t>
            </a:r>
            <a:r>
              <a:rPr lang="en-GB" sz="2000" b="1" dirty="0">
                <a:solidFill>
                  <a:schemeClr val="accent6"/>
                </a:solidFill>
              </a:rPr>
              <a:t>collide</a:t>
            </a:r>
            <a:r>
              <a:rPr lang="en-GB" sz="2000" b="1" dirty="0"/>
              <a:t> with each other </a:t>
            </a:r>
            <a:r>
              <a:rPr lang="en-GB" sz="2000" b="1" dirty="0">
                <a:solidFill>
                  <a:schemeClr val="accent6"/>
                </a:solidFill>
              </a:rPr>
              <a:t>and</a:t>
            </a:r>
            <a:r>
              <a:rPr lang="en-GB" sz="2000" b="1" dirty="0"/>
              <a:t> with </a:t>
            </a:r>
            <a:r>
              <a:rPr lang="en-GB" sz="2000" b="1" dirty="0">
                <a:solidFill>
                  <a:schemeClr val="accent6"/>
                </a:solidFill>
              </a:rPr>
              <a:t>sufficient energy</a:t>
            </a:r>
            <a:r>
              <a:rPr lang="en-GB" sz="2000" b="1" dirty="0"/>
              <a:t>. The </a:t>
            </a:r>
            <a:r>
              <a:rPr lang="en-GB" sz="2000" b="1" dirty="0">
                <a:solidFill>
                  <a:schemeClr val="accent6"/>
                </a:solidFill>
              </a:rPr>
              <a:t>minimum</a:t>
            </a:r>
            <a:r>
              <a:rPr lang="en-GB" sz="2000" b="1" dirty="0"/>
              <a:t> amount of </a:t>
            </a:r>
            <a:r>
              <a:rPr lang="en-GB" sz="2000" b="1" dirty="0">
                <a:solidFill>
                  <a:schemeClr val="accent6"/>
                </a:solidFill>
              </a:rPr>
              <a:t>energy</a:t>
            </a:r>
            <a:r>
              <a:rPr lang="en-GB" sz="2000" b="1" dirty="0"/>
              <a:t> that particles must have to react is called the </a:t>
            </a:r>
            <a:r>
              <a:rPr lang="en-GB" sz="2000" b="1" dirty="0">
                <a:solidFill>
                  <a:schemeClr val="accent6"/>
                </a:solidFill>
              </a:rPr>
              <a:t>activation energy</a:t>
            </a:r>
            <a:r>
              <a:rPr lang="en-GB" sz="2000" b="1" dirty="0"/>
              <a:t>.</a:t>
            </a:r>
          </a:p>
        </p:txBody>
      </p:sp>
      <p:sp>
        <p:nvSpPr>
          <p:cNvPr id="10" name="TextBox 9"/>
          <p:cNvSpPr txBox="1"/>
          <p:nvPr/>
        </p:nvSpPr>
        <p:spPr>
          <a:xfrm>
            <a:off x="218150" y="4651104"/>
            <a:ext cx="8674330" cy="830997"/>
          </a:xfrm>
          <a:custGeom>
            <a:avLst/>
            <a:gdLst>
              <a:gd name="connsiteX0" fmla="*/ 0 w 4895491"/>
              <a:gd name="connsiteY0" fmla="*/ 0 h 1015663"/>
              <a:gd name="connsiteX1" fmla="*/ 4895491 w 4895491"/>
              <a:gd name="connsiteY1" fmla="*/ 0 h 1015663"/>
              <a:gd name="connsiteX2" fmla="*/ 4895491 w 4895491"/>
              <a:gd name="connsiteY2" fmla="*/ 1015663 h 1015663"/>
              <a:gd name="connsiteX3" fmla="*/ 0 w 4895491"/>
              <a:gd name="connsiteY3" fmla="*/ 1015663 h 1015663"/>
              <a:gd name="connsiteX4" fmla="*/ 0 w 4895491"/>
              <a:gd name="connsiteY4" fmla="*/ 0 h 1015663"/>
              <a:gd name="connsiteX0" fmla="*/ 38637 w 4895491"/>
              <a:gd name="connsiteY0" fmla="*/ 0 h 1118694"/>
              <a:gd name="connsiteX1" fmla="*/ 4895491 w 4895491"/>
              <a:gd name="connsiteY1" fmla="*/ 103031 h 1118694"/>
              <a:gd name="connsiteX2" fmla="*/ 4895491 w 4895491"/>
              <a:gd name="connsiteY2" fmla="*/ 1118694 h 1118694"/>
              <a:gd name="connsiteX3" fmla="*/ 0 w 4895491"/>
              <a:gd name="connsiteY3" fmla="*/ 1118694 h 1118694"/>
              <a:gd name="connsiteX4" fmla="*/ 38637 w 4895491"/>
              <a:gd name="connsiteY4" fmla="*/ 0 h 1118694"/>
              <a:gd name="connsiteX0" fmla="*/ 38637 w 4895491"/>
              <a:gd name="connsiteY0" fmla="*/ 0 h 1118694"/>
              <a:gd name="connsiteX1" fmla="*/ 4895491 w 4895491"/>
              <a:gd name="connsiteY1" fmla="*/ 0 h 1118694"/>
              <a:gd name="connsiteX2" fmla="*/ 4895491 w 4895491"/>
              <a:gd name="connsiteY2" fmla="*/ 1118694 h 1118694"/>
              <a:gd name="connsiteX3" fmla="*/ 0 w 4895491"/>
              <a:gd name="connsiteY3" fmla="*/ 1118694 h 1118694"/>
              <a:gd name="connsiteX4" fmla="*/ 38637 w 4895491"/>
              <a:gd name="connsiteY4" fmla="*/ 0 h 1118694"/>
              <a:gd name="connsiteX0" fmla="*/ 38637 w 4895491"/>
              <a:gd name="connsiteY0" fmla="*/ 0 h 1118694"/>
              <a:gd name="connsiteX1" fmla="*/ 4895491 w 4895491"/>
              <a:gd name="connsiteY1" fmla="*/ 0 h 1118694"/>
              <a:gd name="connsiteX2" fmla="*/ 4895491 w 4895491"/>
              <a:gd name="connsiteY2" fmla="*/ 1118694 h 1118694"/>
              <a:gd name="connsiteX3" fmla="*/ 0 w 4895491"/>
              <a:gd name="connsiteY3" fmla="*/ 1118694 h 1118694"/>
              <a:gd name="connsiteX4" fmla="*/ 38637 w 4895491"/>
              <a:gd name="connsiteY4" fmla="*/ 0 h 1118694"/>
              <a:gd name="connsiteX0" fmla="*/ 0 w 4856854"/>
              <a:gd name="connsiteY0" fmla="*/ 0 h 1118694"/>
              <a:gd name="connsiteX1" fmla="*/ 4856854 w 4856854"/>
              <a:gd name="connsiteY1" fmla="*/ 0 h 1118694"/>
              <a:gd name="connsiteX2" fmla="*/ 4856854 w 4856854"/>
              <a:gd name="connsiteY2" fmla="*/ 1118694 h 1118694"/>
              <a:gd name="connsiteX3" fmla="*/ 12879 w 4856854"/>
              <a:gd name="connsiteY3" fmla="*/ 1015663 h 1118694"/>
              <a:gd name="connsiteX4" fmla="*/ 0 w 4856854"/>
              <a:gd name="connsiteY4" fmla="*/ 0 h 1118694"/>
              <a:gd name="connsiteX0" fmla="*/ 0 w 4856854"/>
              <a:gd name="connsiteY0" fmla="*/ 0 h 1041421"/>
              <a:gd name="connsiteX1" fmla="*/ 4856854 w 4856854"/>
              <a:gd name="connsiteY1" fmla="*/ 0 h 1041421"/>
              <a:gd name="connsiteX2" fmla="*/ 4856854 w 4856854"/>
              <a:gd name="connsiteY2" fmla="*/ 1041421 h 1041421"/>
              <a:gd name="connsiteX3" fmla="*/ 12879 w 4856854"/>
              <a:gd name="connsiteY3" fmla="*/ 1015663 h 1041421"/>
              <a:gd name="connsiteX4" fmla="*/ 0 w 4856854"/>
              <a:gd name="connsiteY4" fmla="*/ 0 h 1041421"/>
              <a:gd name="connsiteX0" fmla="*/ 0 w 4856854"/>
              <a:gd name="connsiteY0" fmla="*/ 0 h 1015663"/>
              <a:gd name="connsiteX1" fmla="*/ 4856854 w 4856854"/>
              <a:gd name="connsiteY1" fmla="*/ 0 h 1015663"/>
              <a:gd name="connsiteX2" fmla="*/ 4843975 w 4856854"/>
              <a:gd name="connsiteY2" fmla="*/ 1015663 h 1015663"/>
              <a:gd name="connsiteX3" fmla="*/ 12879 w 4856854"/>
              <a:gd name="connsiteY3" fmla="*/ 1015663 h 1015663"/>
              <a:gd name="connsiteX4" fmla="*/ 0 w 4856854"/>
              <a:gd name="connsiteY4" fmla="*/ 0 h 10156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6854" h="1015663">
                <a:moveTo>
                  <a:pt x="0" y="0"/>
                </a:moveTo>
                <a:lnTo>
                  <a:pt x="4856854" y="0"/>
                </a:lnTo>
                <a:lnTo>
                  <a:pt x="4843975" y="1015663"/>
                </a:lnTo>
                <a:lnTo>
                  <a:pt x="12879" y="1015663"/>
                </a:lnTo>
                <a:lnTo>
                  <a:pt x="0" y="0"/>
                </a:lnTo>
                <a:close/>
              </a:path>
            </a:pathLst>
          </a:custGeom>
          <a:solidFill>
            <a:schemeClr val="accent6"/>
          </a:solidFill>
        </p:spPr>
        <p:txBody>
          <a:bodyPr wrap="square" rtlCol="0">
            <a:spAutoFit/>
          </a:bodyPr>
          <a:lstStyle/>
          <a:p>
            <a:r>
              <a:rPr lang="en-GB" sz="2400" b="1" dirty="0"/>
              <a:t>The explanations on the next slide are very important and you will need to use them accurately in the exams to gain credit.</a:t>
            </a:r>
          </a:p>
        </p:txBody>
      </p:sp>
    </p:spTree>
    <p:extLst>
      <p:ext uri="{BB962C8B-B14F-4D97-AF65-F5344CB8AC3E}">
        <p14:creationId xmlns:p14="http://schemas.microsoft.com/office/powerpoint/2010/main" val="644646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Rates of reactions part 2 – </a:t>
            </a:r>
            <a:r>
              <a:rPr kumimoji="0" lang="en-US" sz="20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000" b="1" i="0" u="none" strike="noStrike" kern="1200" cap="none" spc="0" normalizeH="0" noProof="0" dirty="0">
                <a:ln>
                  <a:noFill/>
                </a:ln>
                <a:solidFill>
                  <a:schemeClr val="accent6"/>
                </a:solidFill>
                <a:effectLst/>
                <a:uLnTx/>
                <a:uFillTx/>
                <a:latin typeface="Calibri"/>
                <a:ea typeface=""/>
                <a:cs typeface="News Gothic MT"/>
              </a:rPr>
              <a:t> reactions</a:t>
            </a:r>
            <a:endParaRPr lang="en-GB" sz="2000" b="1" dirty="0">
              <a:solidFill>
                <a:schemeClr val="accent6"/>
              </a:solidFill>
            </a:endParaRP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5" name="TextBox 4"/>
          <p:cNvSpPr txBox="1"/>
          <p:nvPr/>
        </p:nvSpPr>
        <p:spPr>
          <a:xfrm>
            <a:off x="198480" y="769492"/>
            <a:ext cx="4104456" cy="1323439"/>
          </a:xfrm>
          <a:prstGeom prst="rect">
            <a:avLst/>
          </a:prstGeom>
          <a:noFill/>
          <a:ln w="28575">
            <a:solidFill>
              <a:schemeClr val="accent6"/>
            </a:solidFill>
          </a:ln>
        </p:spPr>
        <p:txBody>
          <a:bodyPr wrap="square" rtlCol="0">
            <a:spAutoFit/>
          </a:bodyPr>
          <a:lstStyle/>
          <a:p>
            <a:pPr algn="ctr"/>
            <a:r>
              <a:rPr lang="en-GB" sz="2000" dirty="0">
                <a:solidFill>
                  <a:schemeClr val="accent6">
                    <a:lumMod val="75000"/>
                  </a:schemeClr>
                </a:solidFill>
              </a:rPr>
              <a:t>Increasing the concentration </a:t>
            </a:r>
            <a:r>
              <a:rPr lang="en-GB" sz="2000" dirty="0"/>
              <a:t>of reactants in solution increases the </a:t>
            </a:r>
            <a:r>
              <a:rPr lang="en-GB" sz="2000" dirty="0">
                <a:solidFill>
                  <a:schemeClr val="accent6">
                    <a:lumMod val="75000"/>
                  </a:schemeClr>
                </a:solidFill>
              </a:rPr>
              <a:t>frequency</a:t>
            </a:r>
            <a:r>
              <a:rPr lang="en-GB" sz="2000" dirty="0"/>
              <a:t> of collisions, and so increases the rate of reaction.</a:t>
            </a:r>
          </a:p>
        </p:txBody>
      </p:sp>
      <p:sp>
        <p:nvSpPr>
          <p:cNvPr id="6" name="TextBox 5"/>
          <p:cNvSpPr txBox="1"/>
          <p:nvPr/>
        </p:nvSpPr>
        <p:spPr>
          <a:xfrm>
            <a:off x="188749" y="2179810"/>
            <a:ext cx="4105344" cy="1323439"/>
          </a:xfrm>
          <a:custGeom>
            <a:avLst/>
            <a:gdLst>
              <a:gd name="connsiteX0" fmla="*/ 0 w 4104456"/>
              <a:gd name="connsiteY0" fmla="*/ 0 h 923330"/>
              <a:gd name="connsiteX1" fmla="*/ 4104456 w 4104456"/>
              <a:gd name="connsiteY1" fmla="*/ 0 h 923330"/>
              <a:gd name="connsiteX2" fmla="*/ 4104456 w 4104456"/>
              <a:gd name="connsiteY2" fmla="*/ 923330 h 923330"/>
              <a:gd name="connsiteX3" fmla="*/ 0 w 4104456"/>
              <a:gd name="connsiteY3" fmla="*/ 923330 h 923330"/>
              <a:gd name="connsiteX4" fmla="*/ 0 w 4104456"/>
              <a:gd name="connsiteY4" fmla="*/ 0 h 923330"/>
              <a:gd name="connsiteX0" fmla="*/ 0 w 4104456"/>
              <a:gd name="connsiteY0" fmla="*/ 0 h 1431330"/>
              <a:gd name="connsiteX1" fmla="*/ 4104456 w 4104456"/>
              <a:gd name="connsiteY1" fmla="*/ 0 h 1431330"/>
              <a:gd name="connsiteX2" fmla="*/ 4104456 w 4104456"/>
              <a:gd name="connsiteY2" fmla="*/ 923330 h 1431330"/>
              <a:gd name="connsiteX3" fmla="*/ 36946 w 4104456"/>
              <a:gd name="connsiteY3" fmla="*/ 1431330 h 1431330"/>
              <a:gd name="connsiteX4" fmla="*/ 0 w 4104456"/>
              <a:gd name="connsiteY4" fmla="*/ 0 h 1431330"/>
              <a:gd name="connsiteX0" fmla="*/ 0 w 4104456"/>
              <a:gd name="connsiteY0" fmla="*/ 0 h 1431330"/>
              <a:gd name="connsiteX1" fmla="*/ 4104456 w 4104456"/>
              <a:gd name="connsiteY1" fmla="*/ 0 h 1431330"/>
              <a:gd name="connsiteX2" fmla="*/ 4104456 w 4104456"/>
              <a:gd name="connsiteY2" fmla="*/ 1431330 h 1431330"/>
              <a:gd name="connsiteX3" fmla="*/ 36946 w 4104456"/>
              <a:gd name="connsiteY3" fmla="*/ 1431330 h 1431330"/>
              <a:gd name="connsiteX4" fmla="*/ 0 w 4104456"/>
              <a:gd name="connsiteY4" fmla="*/ 0 h 1431330"/>
              <a:gd name="connsiteX0" fmla="*/ 0 w 4113692"/>
              <a:gd name="connsiteY0" fmla="*/ 0 h 1431330"/>
              <a:gd name="connsiteX1" fmla="*/ 4113692 w 4113692"/>
              <a:gd name="connsiteY1" fmla="*/ 286327 h 1431330"/>
              <a:gd name="connsiteX2" fmla="*/ 4104456 w 4113692"/>
              <a:gd name="connsiteY2" fmla="*/ 1431330 h 1431330"/>
              <a:gd name="connsiteX3" fmla="*/ 36946 w 4113692"/>
              <a:gd name="connsiteY3" fmla="*/ 1431330 h 1431330"/>
              <a:gd name="connsiteX4" fmla="*/ 0 w 4113692"/>
              <a:gd name="connsiteY4" fmla="*/ 0 h 1431330"/>
              <a:gd name="connsiteX0" fmla="*/ 0 w 4095219"/>
              <a:gd name="connsiteY0" fmla="*/ 0 h 1154239"/>
              <a:gd name="connsiteX1" fmla="*/ 4095219 w 4095219"/>
              <a:gd name="connsiteY1" fmla="*/ 9236 h 1154239"/>
              <a:gd name="connsiteX2" fmla="*/ 4085983 w 4095219"/>
              <a:gd name="connsiteY2" fmla="*/ 1154239 h 1154239"/>
              <a:gd name="connsiteX3" fmla="*/ 18473 w 4095219"/>
              <a:gd name="connsiteY3" fmla="*/ 1154239 h 1154239"/>
              <a:gd name="connsiteX4" fmla="*/ 0 w 4095219"/>
              <a:gd name="connsiteY4" fmla="*/ 0 h 1154239"/>
              <a:gd name="connsiteX0" fmla="*/ 9236 w 4104455"/>
              <a:gd name="connsiteY0" fmla="*/ 0 h 1154239"/>
              <a:gd name="connsiteX1" fmla="*/ 4104455 w 4104455"/>
              <a:gd name="connsiteY1" fmla="*/ 9236 h 1154239"/>
              <a:gd name="connsiteX2" fmla="*/ 4095219 w 4104455"/>
              <a:gd name="connsiteY2" fmla="*/ 1154239 h 1154239"/>
              <a:gd name="connsiteX3" fmla="*/ 0 w 4104455"/>
              <a:gd name="connsiteY3" fmla="*/ 1154239 h 1154239"/>
              <a:gd name="connsiteX4" fmla="*/ 9236 w 4104455"/>
              <a:gd name="connsiteY4" fmla="*/ 0 h 1154239"/>
              <a:gd name="connsiteX0" fmla="*/ 9236 w 4105344"/>
              <a:gd name="connsiteY0" fmla="*/ 0 h 1172711"/>
              <a:gd name="connsiteX1" fmla="*/ 4104455 w 4105344"/>
              <a:gd name="connsiteY1" fmla="*/ 9236 h 1172711"/>
              <a:gd name="connsiteX2" fmla="*/ 4104456 w 4105344"/>
              <a:gd name="connsiteY2" fmla="*/ 1172711 h 1172711"/>
              <a:gd name="connsiteX3" fmla="*/ 0 w 4105344"/>
              <a:gd name="connsiteY3" fmla="*/ 1154239 h 1172711"/>
              <a:gd name="connsiteX4" fmla="*/ 9236 w 4105344"/>
              <a:gd name="connsiteY4" fmla="*/ 0 h 1172711"/>
              <a:gd name="connsiteX0" fmla="*/ 9236 w 4105344"/>
              <a:gd name="connsiteY0" fmla="*/ 0 h 1163474"/>
              <a:gd name="connsiteX1" fmla="*/ 4104455 w 4105344"/>
              <a:gd name="connsiteY1" fmla="*/ 9236 h 1163474"/>
              <a:gd name="connsiteX2" fmla="*/ 4104456 w 4105344"/>
              <a:gd name="connsiteY2" fmla="*/ 1163474 h 1163474"/>
              <a:gd name="connsiteX3" fmla="*/ 0 w 4105344"/>
              <a:gd name="connsiteY3" fmla="*/ 1154239 h 1163474"/>
              <a:gd name="connsiteX4" fmla="*/ 9236 w 4105344"/>
              <a:gd name="connsiteY4" fmla="*/ 0 h 1163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5344" h="1163474">
                <a:moveTo>
                  <a:pt x="9236" y="0"/>
                </a:moveTo>
                <a:lnTo>
                  <a:pt x="4104455" y="9236"/>
                </a:lnTo>
                <a:cubicBezTo>
                  <a:pt x="4101376" y="390904"/>
                  <a:pt x="4107535" y="781806"/>
                  <a:pt x="4104456" y="1163474"/>
                </a:cubicBezTo>
                <a:lnTo>
                  <a:pt x="0" y="1154239"/>
                </a:lnTo>
                <a:cubicBezTo>
                  <a:pt x="3079" y="769493"/>
                  <a:pt x="6157" y="384746"/>
                  <a:pt x="9236" y="0"/>
                </a:cubicBezTo>
                <a:close/>
              </a:path>
            </a:pathLst>
          </a:custGeom>
          <a:noFill/>
          <a:ln w="28575">
            <a:solidFill>
              <a:schemeClr val="accent6"/>
            </a:solidFill>
          </a:ln>
        </p:spPr>
        <p:txBody>
          <a:bodyPr wrap="square" rtlCol="0">
            <a:spAutoFit/>
          </a:bodyPr>
          <a:lstStyle/>
          <a:p>
            <a:pPr algn="ctr"/>
            <a:r>
              <a:rPr lang="en-GB" sz="2000" dirty="0">
                <a:solidFill>
                  <a:schemeClr val="accent6">
                    <a:lumMod val="75000"/>
                  </a:schemeClr>
                </a:solidFill>
              </a:rPr>
              <a:t>Increasing the pressure </a:t>
            </a:r>
            <a:r>
              <a:rPr lang="en-GB" sz="2000" dirty="0"/>
              <a:t>of reacting gases increases the </a:t>
            </a:r>
            <a:r>
              <a:rPr lang="en-GB" sz="2000" dirty="0">
                <a:solidFill>
                  <a:schemeClr val="accent6">
                    <a:lumMod val="75000"/>
                  </a:schemeClr>
                </a:solidFill>
              </a:rPr>
              <a:t>frequency</a:t>
            </a:r>
            <a:r>
              <a:rPr lang="en-GB" sz="2000" dirty="0"/>
              <a:t> of collisions, and so increases the rate of reaction.</a:t>
            </a:r>
          </a:p>
        </p:txBody>
      </p:sp>
      <p:sp>
        <p:nvSpPr>
          <p:cNvPr id="10" name="TextBox 9"/>
          <p:cNvSpPr txBox="1"/>
          <p:nvPr/>
        </p:nvSpPr>
        <p:spPr>
          <a:xfrm>
            <a:off x="180401" y="3590128"/>
            <a:ext cx="4113692" cy="1323439"/>
          </a:xfrm>
          <a:custGeom>
            <a:avLst/>
            <a:gdLst>
              <a:gd name="connsiteX0" fmla="*/ 0 w 4104456"/>
              <a:gd name="connsiteY0" fmla="*/ 0 h 1477328"/>
              <a:gd name="connsiteX1" fmla="*/ 4104456 w 4104456"/>
              <a:gd name="connsiteY1" fmla="*/ 0 h 1477328"/>
              <a:gd name="connsiteX2" fmla="*/ 4104456 w 4104456"/>
              <a:gd name="connsiteY2" fmla="*/ 1477328 h 1477328"/>
              <a:gd name="connsiteX3" fmla="*/ 0 w 4104456"/>
              <a:gd name="connsiteY3" fmla="*/ 1477328 h 1477328"/>
              <a:gd name="connsiteX4" fmla="*/ 0 w 4104456"/>
              <a:gd name="connsiteY4" fmla="*/ 0 h 1477328"/>
              <a:gd name="connsiteX0" fmla="*/ 0 w 4104456"/>
              <a:gd name="connsiteY0" fmla="*/ 0 h 1735946"/>
              <a:gd name="connsiteX1" fmla="*/ 4104456 w 4104456"/>
              <a:gd name="connsiteY1" fmla="*/ 0 h 1735946"/>
              <a:gd name="connsiteX2" fmla="*/ 4104456 w 4104456"/>
              <a:gd name="connsiteY2" fmla="*/ 1477328 h 1735946"/>
              <a:gd name="connsiteX3" fmla="*/ 0 w 4104456"/>
              <a:gd name="connsiteY3" fmla="*/ 1735946 h 1735946"/>
              <a:gd name="connsiteX4" fmla="*/ 0 w 4104456"/>
              <a:gd name="connsiteY4" fmla="*/ 0 h 1735946"/>
              <a:gd name="connsiteX0" fmla="*/ 0 w 4113693"/>
              <a:gd name="connsiteY0" fmla="*/ 0 h 1735946"/>
              <a:gd name="connsiteX1" fmla="*/ 4104456 w 4113693"/>
              <a:gd name="connsiteY1" fmla="*/ 0 h 1735946"/>
              <a:gd name="connsiteX2" fmla="*/ 4113693 w 4113693"/>
              <a:gd name="connsiteY2" fmla="*/ 1717474 h 1735946"/>
              <a:gd name="connsiteX3" fmla="*/ 0 w 4113693"/>
              <a:gd name="connsiteY3" fmla="*/ 1735946 h 1735946"/>
              <a:gd name="connsiteX4" fmla="*/ 0 w 4113693"/>
              <a:gd name="connsiteY4" fmla="*/ 0 h 1735946"/>
              <a:gd name="connsiteX0" fmla="*/ 0 w 4113693"/>
              <a:gd name="connsiteY0" fmla="*/ 0 h 1735946"/>
              <a:gd name="connsiteX1" fmla="*/ 4104456 w 4113693"/>
              <a:gd name="connsiteY1" fmla="*/ 212436 h 1735946"/>
              <a:gd name="connsiteX2" fmla="*/ 4113693 w 4113693"/>
              <a:gd name="connsiteY2" fmla="*/ 1717474 h 1735946"/>
              <a:gd name="connsiteX3" fmla="*/ 0 w 4113693"/>
              <a:gd name="connsiteY3" fmla="*/ 1735946 h 1735946"/>
              <a:gd name="connsiteX4" fmla="*/ 0 w 4113693"/>
              <a:gd name="connsiteY4" fmla="*/ 0 h 1735946"/>
              <a:gd name="connsiteX0" fmla="*/ 9237 w 4113693"/>
              <a:gd name="connsiteY0" fmla="*/ 120073 h 1523510"/>
              <a:gd name="connsiteX1" fmla="*/ 4104456 w 4113693"/>
              <a:gd name="connsiteY1" fmla="*/ 0 h 1523510"/>
              <a:gd name="connsiteX2" fmla="*/ 4113693 w 4113693"/>
              <a:gd name="connsiteY2" fmla="*/ 1505038 h 1523510"/>
              <a:gd name="connsiteX3" fmla="*/ 0 w 4113693"/>
              <a:gd name="connsiteY3" fmla="*/ 1523510 h 1523510"/>
              <a:gd name="connsiteX4" fmla="*/ 9237 w 4113693"/>
              <a:gd name="connsiteY4" fmla="*/ 120073 h 1523510"/>
              <a:gd name="connsiteX0" fmla="*/ 9237 w 4122928"/>
              <a:gd name="connsiteY0" fmla="*/ 18473 h 1421910"/>
              <a:gd name="connsiteX1" fmla="*/ 4122928 w 4122928"/>
              <a:gd name="connsiteY1" fmla="*/ 0 h 1421910"/>
              <a:gd name="connsiteX2" fmla="*/ 4113693 w 4122928"/>
              <a:gd name="connsiteY2" fmla="*/ 1403438 h 1421910"/>
              <a:gd name="connsiteX3" fmla="*/ 0 w 4122928"/>
              <a:gd name="connsiteY3" fmla="*/ 1421910 h 1421910"/>
              <a:gd name="connsiteX4" fmla="*/ 9237 w 4122928"/>
              <a:gd name="connsiteY4" fmla="*/ 18473 h 1421910"/>
              <a:gd name="connsiteX0" fmla="*/ 9237 w 4122928"/>
              <a:gd name="connsiteY0" fmla="*/ 1 h 1403438"/>
              <a:gd name="connsiteX1" fmla="*/ 4122928 w 4122928"/>
              <a:gd name="connsiteY1" fmla="*/ 0 h 1403438"/>
              <a:gd name="connsiteX2" fmla="*/ 4113693 w 4122928"/>
              <a:gd name="connsiteY2" fmla="*/ 1384966 h 1403438"/>
              <a:gd name="connsiteX3" fmla="*/ 0 w 4122928"/>
              <a:gd name="connsiteY3" fmla="*/ 1403438 h 1403438"/>
              <a:gd name="connsiteX4" fmla="*/ 9237 w 4122928"/>
              <a:gd name="connsiteY4" fmla="*/ 1 h 1403438"/>
              <a:gd name="connsiteX0" fmla="*/ 9237 w 4122928"/>
              <a:gd name="connsiteY0" fmla="*/ 1 h 1431148"/>
              <a:gd name="connsiteX1" fmla="*/ 4122928 w 4122928"/>
              <a:gd name="connsiteY1" fmla="*/ 0 h 1431148"/>
              <a:gd name="connsiteX2" fmla="*/ 4113693 w 4122928"/>
              <a:gd name="connsiteY2" fmla="*/ 1431148 h 1431148"/>
              <a:gd name="connsiteX3" fmla="*/ 0 w 4122928"/>
              <a:gd name="connsiteY3" fmla="*/ 1403438 h 1431148"/>
              <a:gd name="connsiteX4" fmla="*/ 9237 w 4122928"/>
              <a:gd name="connsiteY4" fmla="*/ 1 h 1431148"/>
              <a:gd name="connsiteX0" fmla="*/ 9237 w 4122928"/>
              <a:gd name="connsiteY0" fmla="*/ 1 h 1403439"/>
              <a:gd name="connsiteX1" fmla="*/ 4122928 w 4122928"/>
              <a:gd name="connsiteY1" fmla="*/ 0 h 1403439"/>
              <a:gd name="connsiteX2" fmla="*/ 4104457 w 4122928"/>
              <a:gd name="connsiteY2" fmla="*/ 1403439 h 1403439"/>
              <a:gd name="connsiteX3" fmla="*/ 0 w 4122928"/>
              <a:gd name="connsiteY3" fmla="*/ 1403438 h 1403439"/>
              <a:gd name="connsiteX4" fmla="*/ 9237 w 4122928"/>
              <a:gd name="connsiteY4" fmla="*/ 1 h 1403439"/>
              <a:gd name="connsiteX0" fmla="*/ 9237 w 4113692"/>
              <a:gd name="connsiteY0" fmla="*/ 1 h 1403439"/>
              <a:gd name="connsiteX1" fmla="*/ 4113692 w 4113692"/>
              <a:gd name="connsiteY1" fmla="*/ 0 h 1403439"/>
              <a:gd name="connsiteX2" fmla="*/ 4104457 w 4113692"/>
              <a:gd name="connsiteY2" fmla="*/ 1403439 h 1403439"/>
              <a:gd name="connsiteX3" fmla="*/ 0 w 4113692"/>
              <a:gd name="connsiteY3" fmla="*/ 1403438 h 1403439"/>
              <a:gd name="connsiteX4" fmla="*/ 9237 w 4113692"/>
              <a:gd name="connsiteY4" fmla="*/ 1 h 1403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3692" h="1403439">
                <a:moveTo>
                  <a:pt x="9237" y="1"/>
                </a:moveTo>
                <a:lnTo>
                  <a:pt x="4113692" y="0"/>
                </a:lnTo>
                <a:cubicBezTo>
                  <a:pt x="4110614" y="467813"/>
                  <a:pt x="4107535" y="935626"/>
                  <a:pt x="4104457" y="1403439"/>
                </a:cubicBezTo>
                <a:lnTo>
                  <a:pt x="0" y="1403438"/>
                </a:lnTo>
                <a:lnTo>
                  <a:pt x="9237" y="1"/>
                </a:lnTo>
                <a:close/>
              </a:path>
            </a:pathLst>
          </a:custGeom>
          <a:noFill/>
          <a:ln w="28575">
            <a:solidFill>
              <a:schemeClr val="accent6"/>
            </a:solidFill>
          </a:ln>
        </p:spPr>
        <p:txBody>
          <a:bodyPr wrap="square" rtlCol="0">
            <a:spAutoFit/>
          </a:bodyPr>
          <a:lstStyle/>
          <a:p>
            <a:pPr algn="ctr"/>
            <a:r>
              <a:rPr lang="en-GB" sz="2000" dirty="0">
                <a:solidFill>
                  <a:schemeClr val="accent6">
                    <a:lumMod val="75000"/>
                  </a:schemeClr>
                </a:solidFill>
              </a:rPr>
              <a:t>Increasing the surface area </a:t>
            </a:r>
            <a:r>
              <a:rPr lang="en-GB" sz="2000" dirty="0"/>
              <a:t>of solid reactants increases the </a:t>
            </a:r>
            <a:r>
              <a:rPr lang="en-GB" sz="2000" dirty="0">
                <a:solidFill>
                  <a:schemeClr val="accent6">
                    <a:lumMod val="75000"/>
                  </a:schemeClr>
                </a:solidFill>
              </a:rPr>
              <a:t>frequency</a:t>
            </a:r>
            <a:r>
              <a:rPr lang="en-GB" sz="2000" dirty="0"/>
              <a:t> of collisions, and so increases the rate of reaction.</a:t>
            </a:r>
          </a:p>
        </p:txBody>
      </p:sp>
      <p:sp>
        <p:nvSpPr>
          <p:cNvPr id="11" name="TextBox 10"/>
          <p:cNvSpPr txBox="1"/>
          <p:nvPr/>
        </p:nvSpPr>
        <p:spPr>
          <a:xfrm>
            <a:off x="194256" y="5000446"/>
            <a:ext cx="4085982" cy="1323439"/>
          </a:xfrm>
          <a:custGeom>
            <a:avLst/>
            <a:gdLst>
              <a:gd name="connsiteX0" fmla="*/ 0 w 4104456"/>
              <a:gd name="connsiteY0" fmla="*/ 0 h 1200329"/>
              <a:gd name="connsiteX1" fmla="*/ 4104456 w 4104456"/>
              <a:gd name="connsiteY1" fmla="*/ 0 h 1200329"/>
              <a:gd name="connsiteX2" fmla="*/ 4104456 w 4104456"/>
              <a:gd name="connsiteY2" fmla="*/ 1200329 h 1200329"/>
              <a:gd name="connsiteX3" fmla="*/ 0 w 4104456"/>
              <a:gd name="connsiteY3" fmla="*/ 1200329 h 1200329"/>
              <a:gd name="connsiteX4" fmla="*/ 0 w 4104456"/>
              <a:gd name="connsiteY4" fmla="*/ 0 h 1200329"/>
              <a:gd name="connsiteX0" fmla="*/ 9236 w 4113692"/>
              <a:gd name="connsiteY0" fmla="*/ 0 h 1966947"/>
              <a:gd name="connsiteX1" fmla="*/ 4113692 w 4113692"/>
              <a:gd name="connsiteY1" fmla="*/ 0 h 1966947"/>
              <a:gd name="connsiteX2" fmla="*/ 4113692 w 4113692"/>
              <a:gd name="connsiteY2" fmla="*/ 1200329 h 1966947"/>
              <a:gd name="connsiteX3" fmla="*/ 0 w 4113692"/>
              <a:gd name="connsiteY3" fmla="*/ 1966947 h 1966947"/>
              <a:gd name="connsiteX4" fmla="*/ 9236 w 4113692"/>
              <a:gd name="connsiteY4" fmla="*/ 0 h 1966947"/>
              <a:gd name="connsiteX0" fmla="*/ 9236 w 4113692"/>
              <a:gd name="connsiteY0" fmla="*/ 0 h 1966947"/>
              <a:gd name="connsiteX1" fmla="*/ 4113692 w 4113692"/>
              <a:gd name="connsiteY1" fmla="*/ 0 h 1966947"/>
              <a:gd name="connsiteX2" fmla="*/ 4113692 w 4113692"/>
              <a:gd name="connsiteY2" fmla="*/ 1957711 h 1966947"/>
              <a:gd name="connsiteX3" fmla="*/ 0 w 4113692"/>
              <a:gd name="connsiteY3" fmla="*/ 1966947 h 1966947"/>
              <a:gd name="connsiteX4" fmla="*/ 9236 w 4113692"/>
              <a:gd name="connsiteY4" fmla="*/ 0 h 1966947"/>
              <a:gd name="connsiteX0" fmla="*/ 9236 w 4113692"/>
              <a:gd name="connsiteY0" fmla="*/ 0 h 1976184"/>
              <a:gd name="connsiteX1" fmla="*/ 4113692 w 4113692"/>
              <a:gd name="connsiteY1" fmla="*/ 0 h 1976184"/>
              <a:gd name="connsiteX2" fmla="*/ 4104455 w 4113692"/>
              <a:gd name="connsiteY2" fmla="*/ 1976184 h 1976184"/>
              <a:gd name="connsiteX3" fmla="*/ 0 w 4113692"/>
              <a:gd name="connsiteY3" fmla="*/ 1966947 h 1976184"/>
              <a:gd name="connsiteX4" fmla="*/ 9236 w 4113692"/>
              <a:gd name="connsiteY4" fmla="*/ 0 h 1976184"/>
              <a:gd name="connsiteX0" fmla="*/ 9236 w 4113692"/>
              <a:gd name="connsiteY0" fmla="*/ 0 h 1966948"/>
              <a:gd name="connsiteX1" fmla="*/ 4113692 w 4113692"/>
              <a:gd name="connsiteY1" fmla="*/ 0 h 1966948"/>
              <a:gd name="connsiteX2" fmla="*/ 4104455 w 4113692"/>
              <a:gd name="connsiteY2" fmla="*/ 1966948 h 1966948"/>
              <a:gd name="connsiteX3" fmla="*/ 0 w 4113692"/>
              <a:gd name="connsiteY3" fmla="*/ 1966947 h 1966948"/>
              <a:gd name="connsiteX4" fmla="*/ 9236 w 4113692"/>
              <a:gd name="connsiteY4" fmla="*/ 0 h 1966948"/>
              <a:gd name="connsiteX0" fmla="*/ 9236 w 4104456"/>
              <a:gd name="connsiteY0" fmla="*/ 0 h 1966948"/>
              <a:gd name="connsiteX1" fmla="*/ 4104456 w 4104456"/>
              <a:gd name="connsiteY1" fmla="*/ 415637 h 1966948"/>
              <a:gd name="connsiteX2" fmla="*/ 4104455 w 4104456"/>
              <a:gd name="connsiteY2" fmla="*/ 1966948 h 1966948"/>
              <a:gd name="connsiteX3" fmla="*/ 0 w 4104456"/>
              <a:gd name="connsiteY3" fmla="*/ 1966947 h 1966948"/>
              <a:gd name="connsiteX4" fmla="*/ 9236 w 4104456"/>
              <a:gd name="connsiteY4" fmla="*/ 0 h 1966948"/>
              <a:gd name="connsiteX0" fmla="*/ 9236 w 4104456"/>
              <a:gd name="connsiteY0" fmla="*/ 138544 h 1551311"/>
              <a:gd name="connsiteX1" fmla="*/ 4104456 w 4104456"/>
              <a:gd name="connsiteY1" fmla="*/ 0 h 1551311"/>
              <a:gd name="connsiteX2" fmla="*/ 4104455 w 4104456"/>
              <a:gd name="connsiteY2" fmla="*/ 1551311 h 1551311"/>
              <a:gd name="connsiteX3" fmla="*/ 0 w 4104456"/>
              <a:gd name="connsiteY3" fmla="*/ 1551310 h 1551311"/>
              <a:gd name="connsiteX4" fmla="*/ 9236 w 4104456"/>
              <a:gd name="connsiteY4" fmla="*/ 138544 h 1551311"/>
              <a:gd name="connsiteX0" fmla="*/ 9236 w 4104456"/>
              <a:gd name="connsiteY0" fmla="*/ 46180 h 1458947"/>
              <a:gd name="connsiteX1" fmla="*/ 4104456 w 4104456"/>
              <a:gd name="connsiteY1" fmla="*/ 0 h 1458947"/>
              <a:gd name="connsiteX2" fmla="*/ 4104455 w 4104456"/>
              <a:gd name="connsiteY2" fmla="*/ 1458947 h 1458947"/>
              <a:gd name="connsiteX3" fmla="*/ 0 w 4104456"/>
              <a:gd name="connsiteY3" fmla="*/ 1458946 h 1458947"/>
              <a:gd name="connsiteX4" fmla="*/ 9236 w 4104456"/>
              <a:gd name="connsiteY4" fmla="*/ 46180 h 1458947"/>
              <a:gd name="connsiteX0" fmla="*/ 9236 w 4104456"/>
              <a:gd name="connsiteY0" fmla="*/ 9234 h 1422001"/>
              <a:gd name="connsiteX1" fmla="*/ 4104456 w 4104456"/>
              <a:gd name="connsiteY1" fmla="*/ 0 h 1422001"/>
              <a:gd name="connsiteX2" fmla="*/ 4104455 w 4104456"/>
              <a:gd name="connsiteY2" fmla="*/ 1422001 h 1422001"/>
              <a:gd name="connsiteX3" fmla="*/ 0 w 4104456"/>
              <a:gd name="connsiteY3" fmla="*/ 1422000 h 1422001"/>
              <a:gd name="connsiteX4" fmla="*/ 9236 w 4104456"/>
              <a:gd name="connsiteY4" fmla="*/ 9234 h 1422001"/>
              <a:gd name="connsiteX0" fmla="*/ 9236 w 4104456"/>
              <a:gd name="connsiteY0" fmla="*/ 0 h 1412767"/>
              <a:gd name="connsiteX1" fmla="*/ 4104456 w 4104456"/>
              <a:gd name="connsiteY1" fmla="*/ 9239 h 1412767"/>
              <a:gd name="connsiteX2" fmla="*/ 4104455 w 4104456"/>
              <a:gd name="connsiteY2" fmla="*/ 1412767 h 1412767"/>
              <a:gd name="connsiteX3" fmla="*/ 0 w 4104456"/>
              <a:gd name="connsiteY3" fmla="*/ 1412766 h 1412767"/>
              <a:gd name="connsiteX4" fmla="*/ 9236 w 4104456"/>
              <a:gd name="connsiteY4" fmla="*/ 0 h 1412767"/>
              <a:gd name="connsiteX0" fmla="*/ 9236 w 4104455"/>
              <a:gd name="connsiteY0" fmla="*/ 0 h 1412767"/>
              <a:gd name="connsiteX1" fmla="*/ 4095219 w 4104455"/>
              <a:gd name="connsiteY1" fmla="*/ 3 h 1412767"/>
              <a:gd name="connsiteX2" fmla="*/ 4104455 w 4104455"/>
              <a:gd name="connsiteY2" fmla="*/ 1412767 h 1412767"/>
              <a:gd name="connsiteX3" fmla="*/ 0 w 4104455"/>
              <a:gd name="connsiteY3" fmla="*/ 1412766 h 1412767"/>
              <a:gd name="connsiteX4" fmla="*/ 9236 w 4104455"/>
              <a:gd name="connsiteY4" fmla="*/ 0 h 1412767"/>
              <a:gd name="connsiteX0" fmla="*/ 27709 w 4104455"/>
              <a:gd name="connsiteY0" fmla="*/ 0 h 1412767"/>
              <a:gd name="connsiteX1" fmla="*/ 4095219 w 4104455"/>
              <a:gd name="connsiteY1" fmla="*/ 3 h 1412767"/>
              <a:gd name="connsiteX2" fmla="*/ 4104455 w 4104455"/>
              <a:gd name="connsiteY2" fmla="*/ 1412767 h 1412767"/>
              <a:gd name="connsiteX3" fmla="*/ 0 w 4104455"/>
              <a:gd name="connsiteY3" fmla="*/ 1412766 h 1412767"/>
              <a:gd name="connsiteX4" fmla="*/ 27709 w 4104455"/>
              <a:gd name="connsiteY4" fmla="*/ 0 h 1412767"/>
              <a:gd name="connsiteX0" fmla="*/ 9236 w 4085982"/>
              <a:gd name="connsiteY0" fmla="*/ 0 h 1412767"/>
              <a:gd name="connsiteX1" fmla="*/ 4076746 w 4085982"/>
              <a:gd name="connsiteY1" fmla="*/ 3 h 1412767"/>
              <a:gd name="connsiteX2" fmla="*/ 4085982 w 4085982"/>
              <a:gd name="connsiteY2" fmla="*/ 1412767 h 1412767"/>
              <a:gd name="connsiteX3" fmla="*/ 0 w 4085982"/>
              <a:gd name="connsiteY3" fmla="*/ 1412766 h 1412767"/>
              <a:gd name="connsiteX4" fmla="*/ 9236 w 4085982"/>
              <a:gd name="connsiteY4" fmla="*/ 0 h 1412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5982" h="1412767">
                <a:moveTo>
                  <a:pt x="9236" y="0"/>
                </a:moveTo>
                <a:lnTo>
                  <a:pt x="4076746" y="3"/>
                </a:lnTo>
                <a:cubicBezTo>
                  <a:pt x="4076746" y="517107"/>
                  <a:pt x="4085982" y="895663"/>
                  <a:pt x="4085982" y="1412767"/>
                </a:cubicBezTo>
                <a:lnTo>
                  <a:pt x="0" y="1412766"/>
                </a:lnTo>
                <a:cubicBezTo>
                  <a:pt x="3079" y="757117"/>
                  <a:pt x="6157" y="655649"/>
                  <a:pt x="9236" y="0"/>
                </a:cubicBezTo>
                <a:close/>
              </a:path>
            </a:pathLst>
          </a:custGeom>
          <a:noFill/>
          <a:ln w="28575">
            <a:solidFill>
              <a:schemeClr val="accent6"/>
            </a:solidFill>
          </a:ln>
        </p:spPr>
        <p:txBody>
          <a:bodyPr wrap="square" rtlCol="0">
            <a:spAutoFit/>
          </a:bodyPr>
          <a:lstStyle/>
          <a:p>
            <a:pPr algn="ctr"/>
            <a:r>
              <a:rPr lang="en-GB" sz="2000" dirty="0">
                <a:solidFill>
                  <a:schemeClr val="accent6">
                    <a:lumMod val="75000"/>
                  </a:schemeClr>
                </a:solidFill>
              </a:rPr>
              <a:t>Increasing the temperature</a:t>
            </a:r>
            <a:r>
              <a:rPr lang="en-GB" sz="2000" dirty="0"/>
              <a:t> increases the </a:t>
            </a:r>
            <a:r>
              <a:rPr lang="en-GB" sz="2000" dirty="0">
                <a:solidFill>
                  <a:schemeClr val="accent6">
                    <a:lumMod val="75000"/>
                  </a:schemeClr>
                </a:solidFill>
              </a:rPr>
              <a:t>frequency </a:t>
            </a:r>
            <a:r>
              <a:rPr lang="en-GB" sz="2000" dirty="0"/>
              <a:t>of collisions and makes the collisions more </a:t>
            </a:r>
            <a:r>
              <a:rPr lang="en-GB" sz="2000" dirty="0">
                <a:solidFill>
                  <a:schemeClr val="accent6">
                    <a:lumMod val="75000"/>
                  </a:schemeClr>
                </a:solidFill>
              </a:rPr>
              <a:t>energetic</a:t>
            </a:r>
            <a:r>
              <a:rPr lang="en-GB" sz="2000" dirty="0"/>
              <a:t>, and so increases the rate of reaction</a:t>
            </a:r>
            <a:r>
              <a:rPr lang="en-GB" dirty="0"/>
              <a:t>.</a:t>
            </a:r>
          </a:p>
        </p:txBody>
      </p:sp>
      <p:pic>
        <p:nvPicPr>
          <p:cNvPr id="3" name="Picture 2"/>
          <p:cNvPicPr>
            <a:picLocks noChangeAspect="1"/>
          </p:cNvPicPr>
          <p:nvPr/>
        </p:nvPicPr>
        <p:blipFill>
          <a:blip r:embed="rId3"/>
          <a:stretch>
            <a:fillRect/>
          </a:stretch>
        </p:blipFill>
        <p:spPr>
          <a:xfrm>
            <a:off x="4427984" y="478705"/>
            <a:ext cx="3024335" cy="1425645"/>
          </a:xfrm>
          <a:prstGeom prst="rect">
            <a:avLst/>
          </a:prstGeom>
        </p:spPr>
      </p:pic>
      <p:pic>
        <p:nvPicPr>
          <p:cNvPr id="4" name="Picture 3"/>
          <p:cNvPicPr>
            <a:picLocks noChangeAspect="1"/>
          </p:cNvPicPr>
          <p:nvPr/>
        </p:nvPicPr>
        <p:blipFill>
          <a:blip r:embed="rId4"/>
          <a:stretch>
            <a:fillRect/>
          </a:stretch>
        </p:blipFill>
        <p:spPr>
          <a:xfrm>
            <a:off x="7508429" y="715425"/>
            <a:ext cx="1515440" cy="848414"/>
          </a:xfrm>
          <a:prstGeom prst="rect">
            <a:avLst/>
          </a:prstGeom>
        </p:spPr>
      </p:pic>
      <p:pic>
        <p:nvPicPr>
          <p:cNvPr id="7" name="Picture 6"/>
          <p:cNvPicPr>
            <a:picLocks noChangeAspect="1"/>
          </p:cNvPicPr>
          <p:nvPr/>
        </p:nvPicPr>
        <p:blipFill>
          <a:blip r:embed="rId5"/>
          <a:stretch>
            <a:fillRect/>
          </a:stretch>
        </p:blipFill>
        <p:spPr>
          <a:xfrm>
            <a:off x="4427984" y="1865577"/>
            <a:ext cx="3024335" cy="1627589"/>
          </a:xfrm>
          <a:prstGeom prst="rect">
            <a:avLst/>
          </a:prstGeom>
        </p:spPr>
      </p:pic>
      <p:pic>
        <p:nvPicPr>
          <p:cNvPr id="8" name="Picture 7"/>
          <p:cNvPicPr>
            <a:picLocks noChangeAspect="1"/>
          </p:cNvPicPr>
          <p:nvPr/>
        </p:nvPicPr>
        <p:blipFill>
          <a:blip r:embed="rId6"/>
          <a:stretch>
            <a:fillRect/>
          </a:stretch>
        </p:blipFill>
        <p:spPr>
          <a:xfrm>
            <a:off x="7524327" y="2348880"/>
            <a:ext cx="1368151" cy="586514"/>
          </a:xfrm>
          <a:prstGeom prst="rect">
            <a:avLst/>
          </a:prstGeom>
        </p:spPr>
      </p:pic>
      <p:pic>
        <p:nvPicPr>
          <p:cNvPr id="15" name="Picture 14"/>
          <p:cNvPicPr>
            <a:picLocks noChangeAspect="1"/>
          </p:cNvPicPr>
          <p:nvPr/>
        </p:nvPicPr>
        <p:blipFill>
          <a:blip r:embed="rId7"/>
          <a:stretch>
            <a:fillRect/>
          </a:stretch>
        </p:blipFill>
        <p:spPr>
          <a:xfrm>
            <a:off x="4572000" y="3493167"/>
            <a:ext cx="3096344" cy="1610309"/>
          </a:xfrm>
          <a:prstGeom prst="rect">
            <a:avLst/>
          </a:prstGeom>
        </p:spPr>
      </p:pic>
      <p:pic>
        <p:nvPicPr>
          <p:cNvPr id="17" name="Picture 16"/>
          <p:cNvPicPr>
            <a:picLocks noChangeAspect="1"/>
          </p:cNvPicPr>
          <p:nvPr/>
        </p:nvPicPr>
        <p:blipFill>
          <a:blip r:embed="rId8"/>
          <a:stretch>
            <a:fillRect/>
          </a:stretch>
        </p:blipFill>
        <p:spPr>
          <a:xfrm>
            <a:off x="7524327" y="3645024"/>
            <a:ext cx="1512169" cy="837963"/>
          </a:xfrm>
          <a:prstGeom prst="rect">
            <a:avLst/>
          </a:prstGeom>
        </p:spPr>
      </p:pic>
      <p:pic>
        <p:nvPicPr>
          <p:cNvPr id="18" name="Picture 17"/>
          <p:cNvPicPr>
            <a:picLocks noChangeAspect="1"/>
          </p:cNvPicPr>
          <p:nvPr/>
        </p:nvPicPr>
        <p:blipFill>
          <a:blip r:embed="rId9"/>
          <a:stretch>
            <a:fillRect/>
          </a:stretch>
        </p:blipFill>
        <p:spPr>
          <a:xfrm>
            <a:off x="4427984" y="4943777"/>
            <a:ext cx="3096343" cy="1584176"/>
          </a:xfrm>
          <a:prstGeom prst="rect">
            <a:avLst/>
          </a:prstGeom>
        </p:spPr>
      </p:pic>
      <p:pic>
        <p:nvPicPr>
          <p:cNvPr id="19" name="Picture 18"/>
          <p:cNvPicPr>
            <a:picLocks noChangeAspect="1"/>
          </p:cNvPicPr>
          <p:nvPr/>
        </p:nvPicPr>
        <p:blipFill>
          <a:blip r:embed="rId10"/>
          <a:stretch>
            <a:fillRect/>
          </a:stretch>
        </p:blipFill>
        <p:spPr>
          <a:xfrm>
            <a:off x="7524326" y="5255333"/>
            <a:ext cx="1599749" cy="837963"/>
          </a:xfrm>
          <a:prstGeom prst="rect">
            <a:avLst/>
          </a:prstGeom>
        </p:spPr>
      </p:pic>
    </p:spTree>
    <p:extLst>
      <p:ext uri="{BB962C8B-B14F-4D97-AF65-F5344CB8AC3E}">
        <p14:creationId xmlns:p14="http://schemas.microsoft.com/office/powerpoint/2010/main" val="346775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Rates of reactions part 2 – </a:t>
            </a:r>
            <a:r>
              <a:rPr kumimoji="0" lang="en-US" sz="20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000" b="1" i="0" u="none" strike="noStrike" kern="1200" cap="none" spc="0" normalizeH="0" noProof="0" dirty="0">
                <a:ln>
                  <a:noFill/>
                </a:ln>
                <a:solidFill>
                  <a:schemeClr val="accent6"/>
                </a:solidFill>
                <a:effectLst/>
                <a:uLnTx/>
                <a:uFillTx/>
                <a:latin typeface="Calibri"/>
                <a:ea typeface=""/>
                <a:cs typeface="News Gothic MT"/>
              </a:rPr>
              <a:t> reactions</a:t>
            </a:r>
            <a:endParaRPr lang="en-GB" sz="2000" b="1" dirty="0">
              <a:solidFill>
                <a:schemeClr val="accent6"/>
              </a:solidFill>
            </a:endParaRP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4" name="TextBox 3"/>
          <p:cNvSpPr txBox="1"/>
          <p:nvPr/>
        </p:nvSpPr>
        <p:spPr>
          <a:xfrm>
            <a:off x="3347864" y="773703"/>
            <a:ext cx="5400600" cy="3170099"/>
          </a:xfrm>
          <a:custGeom>
            <a:avLst/>
            <a:gdLst>
              <a:gd name="connsiteX0" fmla="*/ 0 w 2808312"/>
              <a:gd name="connsiteY0" fmla="*/ 0 h 1661993"/>
              <a:gd name="connsiteX1" fmla="*/ 2808312 w 2808312"/>
              <a:gd name="connsiteY1" fmla="*/ 0 h 1661993"/>
              <a:gd name="connsiteX2" fmla="*/ 2808312 w 2808312"/>
              <a:gd name="connsiteY2" fmla="*/ 1661993 h 1661993"/>
              <a:gd name="connsiteX3" fmla="*/ 0 w 2808312"/>
              <a:gd name="connsiteY3" fmla="*/ 1661993 h 1661993"/>
              <a:gd name="connsiteX4" fmla="*/ 0 w 2808312"/>
              <a:gd name="connsiteY4" fmla="*/ 0 h 1661993"/>
              <a:gd name="connsiteX0" fmla="*/ 0 w 2808312"/>
              <a:gd name="connsiteY0" fmla="*/ 0 h 3233215"/>
              <a:gd name="connsiteX1" fmla="*/ 2808312 w 2808312"/>
              <a:gd name="connsiteY1" fmla="*/ 0 h 3233215"/>
              <a:gd name="connsiteX2" fmla="*/ 2808312 w 2808312"/>
              <a:gd name="connsiteY2" fmla="*/ 1661993 h 3233215"/>
              <a:gd name="connsiteX3" fmla="*/ 12879 w 2808312"/>
              <a:gd name="connsiteY3" fmla="*/ 3233215 h 3233215"/>
              <a:gd name="connsiteX4" fmla="*/ 0 w 2808312"/>
              <a:gd name="connsiteY4" fmla="*/ 0 h 3233215"/>
              <a:gd name="connsiteX0" fmla="*/ 0 w 2808312"/>
              <a:gd name="connsiteY0" fmla="*/ 0 h 3258973"/>
              <a:gd name="connsiteX1" fmla="*/ 2808312 w 2808312"/>
              <a:gd name="connsiteY1" fmla="*/ 0 h 3258973"/>
              <a:gd name="connsiteX2" fmla="*/ 2808312 w 2808312"/>
              <a:gd name="connsiteY2" fmla="*/ 3258973 h 3258973"/>
              <a:gd name="connsiteX3" fmla="*/ 12879 w 2808312"/>
              <a:gd name="connsiteY3" fmla="*/ 3233215 h 3258973"/>
              <a:gd name="connsiteX4" fmla="*/ 0 w 2808312"/>
              <a:gd name="connsiteY4" fmla="*/ 0 h 3258973"/>
              <a:gd name="connsiteX0" fmla="*/ 0 w 2808312"/>
              <a:gd name="connsiteY0" fmla="*/ 0 h 3233215"/>
              <a:gd name="connsiteX1" fmla="*/ 2808312 w 2808312"/>
              <a:gd name="connsiteY1" fmla="*/ 0 h 3233215"/>
              <a:gd name="connsiteX2" fmla="*/ 2795433 w 2808312"/>
              <a:gd name="connsiteY2" fmla="*/ 3220337 h 3233215"/>
              <a:gd name="connsiteX3" fmla="*/ 12879 w 2808312"/>
              <a:gd name="connsiteY3" fmla="*/ 3233215 h 3233215"/>
              <a:gd name="connsiteX4" fmla="*/ 0 w 2808312"/>
              <a:gd name="connsiteY4" fmla="*/ 0 h 3233215"/>
              <a:gd name="connsiteX0" fmla="*/ 0 w 2808312"/>
              <a:gd name="connsiteY0" fmla="*/ 2060620 h 3233215"/>
              <a:gd name="connsiteX1" fmla="*/ 2808312 w 2808312"/>
              <a:gd name="connsiteY1" fmla="*/ 0 h 3233215"/>
              <a:gd name="connsiteX2" fmla="*/ 2795433 w 2808312"/>
              <a:gd name="connsiteY2" fmla="*/ 3220337 h 3233215"/>
              <a:gd name="connsiteX3" fmla="*/ 12879 w 2808312"/>
              <a:gd name="connsiteY3" fmla="*/ 3233215 h 3233215"/>
              <a:gd name="connsiteX4" fmla="*/ 0 w 2808312"/>
              <a:gd name="connsiteY4" fmla="*/ 2060620 h 3233215"/>
              <a:gd name="connsiteX0" fmla="*/ 0 w 2795433"/>
              <a:gd name="connsiteY0" fmla="*/ 0 h 1172595"/>
              <a:gd name="connsiteX1" fmla="*/ 2795433 w 2795433"/>
              <a:gd name="connsiteY1" fmla="*/ 12879 h 1172595"/>
              <a:gd name="connsiteX2" fmla="*/ 2795433 w 2795433"/>
              <a:gd name="connsiteY2" fmla="*/ 1159717 h 1172595"/>
              <a:gd name="connsiteX3" fmla="*/ 12879 w 2795433"/>
              <a:gd name="connsiteY3" fmla="*/ 1172595 h 1172595"/>
              <a:gd name="connsiteX4" fmla="*/ 0 w 2795433"/>
              <a:gd name="connsiteY4" fmla="*/ 0 h 1172595"/>
              <a:gd name="connsiteX0" fmla="*/ 0 w 2795433"/>
              <a:gd name="connsiteY0" fmla="*/ 0 h 1333880"/>
              <a:gd name="connsiteX1" fmla="*/ 2795433 w 2795433"/>
              <a:gd name="connsiteY1" fmla="*/ 12879 h 1333880"/>
              <a:gd name="connsiteX2" fmla="*/ 2795433 w 2795433"/>
              <a:gd name="connsiteY2" fmla="*/ 1159717 h 1333880"/>
              <a:gd name="connsiteX3" fmla="*/ 12879 w 2795433"/>
              <a:gd name="connsiteY3" fmla="*/ 1333880 h 1333880"/>
              <a:gd name="connsiteX4" fmla="*/ 0 w 2795433"/>
              <a:gd name="connsiteY4" fmla="*/ 0 h 1333880"/>
              <a:gd name="connsiteX0" fmla="*/ 0 w 2804670"/>
              <a:gd name="connsiteY0" fmla="*/ 0 h 1333880"/>
              <a:gd name="connsiteX1" fmla="*/ 2795433 w 2804670"/>
              <a:gd name="connsiteY1" fmla="*/ 12879 h 1333880"/>
              <a:gd name="connsiteX2" fmla="*/ 2804670 w 2804670"/>
              <a:gd name="connsiteY2" fmla="*/ 1321003 h 1333880"/>
              <a:gd name="connsiteX3" fmla="*/ 12879 w 2804670"/>
              <a:gd name="connsiteY3" fmla="*/ 1333880 h 1333880"/>
              <a:gd name="connsiteX4" fmla="*/ 0 w 2804670"/>
              <a:gd name="connsiteY4" fmla="*/ 0 h 1333880"/>
              <a:gd name="connsiteX0" fmla="*/ 0 w 2804670"/>
              <a:gd name="connsiteY0" fmla="*/ 0 h 1333880"/>
              <a:gd name="connsiteX1" fmla="*/ 2804670 w 2804670"/>
              <a:gd name="connsiteY1" fmla="*/ 320787 h 1333880"/>
              <a:gd name="connsiteX2" fmla="*/ 2804670 w 2804670"/>
              <a:gd name="connsiteY2" fmla="*/ 1321003 h 1333880"/>
              <a:gd name="connsiteX3" fmla="*/ 12879 w 2804670"/>
              <a:gd name="connsiteY3" fmla="*/ 1333880 h 1333880"/>
              <a:gd name="connsiteX4" fmla="*/ 0 w 2804670"/>
              <a:gd name="connsiteY4" fmla="*/ 0 h 1333880"/>
              <a:gd name="connsiteX0" fmla="*/ 0 w 2795434"/>
              <a:gd name="connsiteY0" fmla="*/ 53102 h 1013093"/>
              <a:gd name="connsiteX1" fmla="*/ 2795434 w 2795434"/>
              <a:gd name="connsiteY1" fmla="*/ 0 h 1013093"/>
              <a:gd name="connsiteX2" fmla="*/ 2795434 w 2795434"/>
              <a:gd name="connsiteY2" fmla="*/ 1000216 h 1013093"/>
              <a:gd name="connsiteX3" fmla="*/ 3643 w 2795434"/>
              <a:gd name="connsiteY3" fmla="*/ 1013093 h 1013093"/>
              <a:gd name="connsiteX4" fmla="*/ 0 w 2795434"/>
              <a:gd name="connsiteY4" fmla="*/ 53102 h 1013093"/>
              <a:gd name="connsiteX0" fmla="*/ 0 w 2804671"/>
              <a:gd name="connsiteY0" fmla="*/ 9115 h 1013093"/>
              <a:gd name="connsiteX1" fmla="*/ 2804671 w 2804671"/>
              <a:gd name="connsiteY1" fmla="*/ 0 h 1013093"/>
              <a:gd name="connsiteX2" fmla="*/ 2804671 w 2804671"/>
              <a:gd name="connsiteY2" fmla="*/ 1000216 h 1013093"/>
              <a:gd name="connsiteX3" fmla="*/ 12880 w 2804671"/>
              <a:gd name="connsiteY3" fmla="*/ 1013093 h 1013093"/>
              <a:gd name="connsiteX4" fmla="*/ 0 w 2804671"/>
              <a:gd name="connsiteY4" fmla="*/ 9115 h 1013093"/>
              <a:gd name="connsiteX0" fmla="*/ 0 w 2804671"/>
              <a:gd name="connsiteY0" fmla="*/ 0 h 1277175"/>
              <a:gd name="connsiteX1" fmla="*/ 2804671 w 2804671"/>
              <a:gd name="connsiteY1" fmla="*/ 264082 h 1277175"/>
              <a:gd name="connsiteX2" fmla="*/ 2804671 w 2804671"/>
              <a:gd name="connsiteY2" fmla="*/ 1264298 h 1277175"/>
              <a:gd name="connsiteX3" fmla="*/ 12880 w 2804671"/>
              <a:gd name="connsiteY3" fmla="*/ 1277175 h 1277175"/>
              <a:gd name="connsiteX4" fmla="*/ 0 w 2804671"/>
              <a:gd name="connsiteY4" fmla="*/ 0 h 1277175"/>
              <a:gd name="connsiteX0" fmla="*/ 0 w 2869065"/>
              <a:gd name="connsiteY0" fmla="*/ 0 h 1277175"/>
              <a:gd name="connsiteX1" fmla="*/ 2869065 w 2869065"/>
              <a:gd name="connsiteY1" fmla="*/ 19146 h 1277175"/>
              <a:gd name="connsiteX2" fmla="*/ 2804671 w 2869065"/>
              <a:gd name="connsiteY2" fmla="*/ 1264298 h 1277175"/>
              <a:gd name="connsiteX3" fmla="*/ 12880 w 2869065"/>
              <a:gd name="connsiteY3" fmla="*/ 1277175 h 1277175"/>
              <a:gd name="connsiteX4" fmla="*/ 0 w 2869065"/>
              <a:gd name="connsiteY4" fmla="*/ 0 h 1277175"/>
              <a:gd name="connsiteX0" fmla="*/ 0 w 2869065"/>
              <a:gd name="connsiteY0" fmla="*/ 0 h 1277175"/>
              <a:gd name="connsiteX1" fmla="*/ 2869065 w 2869065"/>
              <a:gd name="connsiteY1" fmla="*/ 19146 h 1277175"/>
              <a:gd name="connsiteX2" fmla="*/ 2856186 w 2869065"/>
              <a:gd name="connsiteY2" fmla="*/ 1019362 h 1277175"/>
              <a:gd name="connsiteX3" fmla="*/ 12880 w 2869065"/>
              <a:gd name="connsiteY3" fmla="*/ 1277175 h 1277175"/>
              <a:gd name="connsiteX4" fmla="*/ 0 w 2869065"/>
              <a:gd name="connsiteY4" fmla="*/ 0 h 1277175"/>
              <a:gd name="connsiteX0" fmla="*/ 0 w 2869065"/>
              <a:gd name="connsiteY0" fmla="*/ 0 h 1041660"/>
              <a:gd name="connsiteX1" fmla="*/ 2869065 w 2869065"/>
              <a:gd name="connsiteY1" fmla="*/ 19146 h 1041660"/>
              <a:gd name="connsiteX2" fmla="*/ 2856186 w 2869065"/>
              <a:gd name="connsiteY2" fmla="*/ 1019362 h 1041660"/>
              <a:gd name="connsiteX3" fmla="*/ 38638 w 2869065"/>
              <a:gd name="connsiteY3" fmla="*/ 1041660 h 1041660"/>
              <a:gd name="connsiteX4" fmla="*/ 0 w 2869065"/>
              <a:gd name="connsiteY4" fmla="*/ 0 h 1041660"/>
              <a:gd name="connsiteX0" fmla="*/ 0 w 2869065"/>
              <a:gd name="connsiteY0" fmla="*/ 0 h 1019362"/>
              <a:gd name="connsiteX1" fmla="*/ 2869065 w 2869065"/>
              <a:gd name="connsiteY1" fmla="*/ 19146 h 1019362"/>
              <a:gd name="connsiteX2" fmla="*/ 2856186 w 2869065"/>
              <a:gd name="connsiteY2" fmla="*/ 1019362 h 1019362"/>
              <a:gd name="connsiteX3" fmla="*/ 38638 w 2869065"/>
              <a:gd name="connsiteY3" fmla="*/ 1013398 h 1019362"/>
              <a:gd name="connsiteX4" fmla="*/ 0 w 2869065"/>
              <a:gd name="connsiteY4" fmla="*/ 0 h 101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9065" h="1019362">
                <a:moveTo>
                  <a:pt x="0" y="0"/>
                </a:moveTo>
                <a:lnTo>
                  <a:pt x="2869065" y="19146"/>
                </a:lnTo>
                <a:lnTo>
                  <a:pt x="2856186" y="1019362"/>
                </a:lnTo>
                <a:lnTo>
                  <a:pt x="38638" y="1013398"/>
                </a:lnTo>
                <a:cubicBezTo>
                  <a:pt x="37424" y="693401"/>
                  <a:pt x="1214" y="319997"/>
                  <a:pt x="0" y="0"/>
                </a:cubicBezTo>
                <a:close/>
              </a:path>
            </a:pathLst>
          </a:custGeom>
          <a:noFill/>
        </p:spPr>
        <p:txBody>
          <a:bodyPr wrap="square" rtlCol="0">
            <a:spAutoFit/>
          </a:bodyPr>
          <a:lstStyle/>
          <a:p>
            <a:r>
              <a:rPr lang="en-GB" sz="2000" dirty="0"/>
              <a:t>Increasing the </a:t>
            </a:r>
            <a:r>
              <a:rPr lang="en-GB" sz="2000" b="1" dirty="0">
                <a:solidFill>
                  <a:schemeClr val="accent6">
                    <a:lumMod val="75000"/>
                  </a:schemeClr>
                </a:solidFill>
              </a:rPr>
              <a:t>surface area, temperature </a:t>
            </a:r>
            <a:r>
              <a:rPr lang="en-GB" sz="2000" dirty="0"/>
              <a:t>or using a </a:t>
            </a:r>
            <a:r>
              <a:rPr lang="en-GB" sz="2000" b="1" dirty="0">
                <a:solidFill>
                  <a:schemeClr val="accent6">
                    <a:lumMod val="75000"/>
                  </a:schemeClr>
                </a:solidFill>
              </a:rPr>
              <a:t>catalyst</a:t>
            </a:r>
            <a:r>
              <a:rPr lang="en-GB" sz="2000" dirty="0"/>
              <a:t> will increase the rate of reaction so the </a:t>
            </a:r>
            <a:r>
              <a:rPr lang="en-GB" sz="2000" b="1" dirty="0">
                <a:solidFill>
                  <a:schemeClr val="accent6">
                    <a:lumMod val="75000"/>
                  </a:schemeClr>
                </a:solidFill>
              </a:rPr>
              <a:t>gradient of the line increases </a:t>
            </a:r>
            <a:r>
              <a:rPr lang="en-GB" sz="2000" dirty="0"/>
              <a:t>from B to A. Finishing at the </a:t>
            </a:r>
            <a:r>
              <a:rPr lang="en-GB" sz="2000" b="1" dirty="0">
                <a:solidFill>
                  <a:schemeClr val="accent6">
                    <a:lumMod val="75000"/>
                  </a:schemeClr>
                </a:solidFill>
              </a:rPr>
              <a:t>same final volume of gas</a:t>
            </a:r>
            <a:r>
              <a:rPr lang="en-GB" sz="2000" dirty="0"/>
              <a:t>.</a:t>
            </a:r>
          </a:p>
          <a:p>
            <a:endParaRPr lang="en-GB" sz="2000" dirty="0"/>
          </a:p>
          <a:p>
            <a:endParaRPr lang="en-GB" sz="2000" dirty="0"/>
          </a:p>
          <a:p>
            <a:r>
              <a:rPr lang="en-GB" sz="2000" dirty="0"/>
              <a:t>Increasing the </a:t>
            </a:r>
            <a:r>
              <a:rPr lang="en-GB" sz="2000" b="1" dirty="0">
                <a:solidFill>
                  <a:schemeClr val="accent6">
                    <a:lumMod val="75000"/>
                  </a:schemeClr>
                </a:solidFill>
              </a:rPr>
              <a:t>concentration</a:t>
            </a:r>
            <a:r>
              <a:rPr lang="en-GB" sz="2000" dirty="0"/>
              <a:t> provides more reacting particles therefore more product. So the </a:t>
            </a:r>
            <a:r>
              <a:rPr lang="en-GB" sz="2000" b="1" dirty="0">
                <a:solidFill>
                  <a:schemeClr val="accent6">
                    <a:lumMod val="75000"/>
                  </a:schemeClr>
                </a:solidFill>
              </a:rPr>
              <a:t>gradient of the line increases </a:t>
            </a:r>
            <a:r>
              <a:rPr lang="en-GB" sz="2000" dirty="0"/>
              <a:t>and the </a:t>
            </a:r>
            <a:r>
              <a:rPr lang="en-GB" sz="2000" b="1" dirty="0">
                <a:solidFill>
                  <a:schemeClr val="accent6">
                    <a:lumMod val="75000"/>
                  </a:schemeClr>
                </a:solidFill>
              </a:rPr>
              <a:t>final volume of gas increases</a:t>
            </a:r>
            <a:r>
              <a:rPr lang="en-GB" sz="2000" dirty="0"/>
              <a:t>.</a:t>
            </a:r>
          </a:p>
        </p:txBody>
      </p:sp>
      <p:pic>
        <p:nvPicPr>
          <p:cNvPr id="6" name="Picture 5"/>
          <p:cNvPicPr>
            <a:picLocks noChangeAspect="1"/>
          </p:cNvPicPr>
          <p:nvPr/>
        </p:nvPicPr>
        <p:blipFill>
          <a:blip r:embed="rId3"/>
          <a:stretch>
            <a:fillRect/>
          </a:stretch>
        </p:blipFill>
        <p:spPr>
          <a:xfrm>
            <a:off x="4179412" y="3933056"/>
            <a:ext cx="3737504" cy="2582567"/>
          </a:xfrm>
          <a:prstGeom prst="rect">
            <a:avLst/>
          </a:prstGeom>
        </p:spPr>
      </p:pic>
      <p:pic>
        <p:nvPicPr>
          <p:cNvPr id="8" name="Picture 7"/>
          <p:cNvPicPr>
            <a:picLocks noChangeAspect="1"/>
          </p:cNvPicPr>
          <p:nvPr/>
        </p:nvPicPr>
        <p:blipFill>
          <a:blip r:embed="rId4"/>
          <a:stretch>
            <a:fillRect/>
          </a:stretch>
        </p:blipFill>
        <p:spPr>
          <a:xfrm>
            <a:off x="-36512" y="773703"/>
            <a:ext cx="3384376" cy="2561148"/>
          </a:xfrm>
          <a:prstGeom prst="rect">
            <a:avLst/>
          </a:prstGeom>
        </p:spPr>
      </p:pic>
    </p:spTree>
    <p:extLst>
      <p:ext uri="{BB962C8B-B14F-4D97-AF65-F5344CB8AC3E}">
        <p14:creationId xmlns:p14="http://schemas.microsoft.com/office/powerpoint/2010/main" val="1020086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139869"/>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2 </a:t>
            </a:r>
          </a:p>
          <a:p>
            <a:pPr marL="285750" indent="-285750">
              <a:buFont typeface="Arial" panose="020B0604020202020204" pitchFamily="34" charset="0"/>
              <a:buChar char="•"/>
            </a:pPr>
            <a:r>
              <a:rPr lang="en-GB" sz="2400" b="1" dirty="0">
                <a:solidFill>
                  <a:schemeClr val="tx1">
                    <a:lumMod val="50000"/>
                    <a:lumOff val="50000"/>
                  </a:schemeClr>
                </a:solidFill>
              </a:rPr>
              <a:t>Collision theory</a:t>
            </a:r>
          </a:p>
          <a:p>
            <a:pPr marL="285750" indent="-285750">
              <a:buFont typeface="Arial" panose="020B0604020202020204" pitchFamily="34" charset="0"/>
              <a:buChar char="•"/>
            </a:pPr>
            <a:r>
              <a:rPr lang="en-GB" sz="2400" b="1" dirty="0">
                <a:solidFill>
                  <a:schemeClr val="tx1">
                    <a:lumMod val="50000"/>
                    <a:lumOff val="50000"/>
                  </a:schemeClr>
                </a:solidFill>
              </a:rPr>
              <a:t>Effects of changes in temperature, concentration, surface area and pressure on rates of reaction.</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3836677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 </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001369"/>
          </a:xfrm>
          <a:prstGeom prst="rect">
            <a:avLst/>
          </a:prstGeom>
          <a:noFill/>
        </p:spPr>
        <p:txBody>
          <a:bodyPr wrap="square" rtlCol="0">
            <a:spAutoFit/>
          </a:bodyPr>
          <a:lstStyle/>
          <a:p>
            <a:pPr marL="457200" indent="-457200">
              <a:buAutoNum type="arabicPeriod"/>
            </a:pPr>
            <a:r>
              <a:rPr lang="en-GB" sz="2400" dirty="0"/>
              <a:t>What is meant by the term ‘collision theory’?</a:t>
            </a:r>
          </a:p>
          <a:p>
            <a:pPr marL="457200" indent="-457200">
              <a:buAutoNum type="arabicPeriod"/>
            </a:pPr>
            <a:endParaRPr lang="en-GB" sz="2400" dirty="0"/>
          </a:p>
          <a:p>
            <a:pPr marL="457200" indent="-457200">
              <a:buAutoNum type="arabicPeriod"/>
            </a:pPr>
            <a:r>
              <a:rPr lang="en-GB" sz="2400" dirty="0"/>
              <a:t>What happens to the gradient of a line if the rate of reaction is increased?</a:t>
            </a:r>
            <a:r>
              <a:rPr lang="en-GB" sz="2400" dirty="0">
                <a:solidFill>
                  <a:srgbClr val="00B050"/>
                </a:solidFill>
              </a:rPr>
              <a:t>	</a:t>
            </a:r>
          </a:p>
          <a:p>
            <a:pPr marL="457200" indent="-457200">
              <a:buAutoNum type="arabicPeriod"/>
            </a:pPr>
            <a:endParaRPr lang="en-GB" sz="2400" dirty="0"/>
          </a:p>
          <a:p>
            <a:pPr marL="457200" indent="-457200">
              <a:buAutoNum type="arabicPeriod"/>
            </a:pPr>
            <a:r>
              <a:rPr lang="en-GB" sz="2400" dirty="0"/>
              <a:t>According to collision theory, chemical reactions can only occur when</a:t>
            </a:r>
            <a:r>
              <a:rPr lang="mr-IN" sz="2400" dirty="0"/>
              <a:t>…</a:t>
            </a: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4152313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 </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94031"/>
          </a:xfrm>
          <a:prstGeom prst="rect">
            <a:avLst/>
          </a:prstGeom>
          <a:noFill/>
        </p:spPr>
        <p:txBody>
          <a:bodyPr wrap="square" rtlCol="0">
            <a:spAutoFit/>
          </a:bodyPr>
          <a:lstStyle/>
          <a:p>
            <a:pPr>
              <a:lnSpc>
                <a:spcPct val="150000"/>
              </a:lnSpc>
            </a:pPr>
            <a:r>
              <a:rPr lang="en-GB" sz="2400" dirty="0"/>
              <a:t>4. Other than concentration, give three factors that affect the rate of reaction.</a:t>
            </a:r>
          </a:p>
          <a:p>
            <a:pPr marL="457200" indent="-457200">
              <a:lnSpc>
                <a:spcPct val="150000"/>
              </a:lnSpc>
              <a:buFont typeface="+mj-lt"/>
              <a:buAutoNum type="arabicPeriod" startAt="5"/>
            </a:pPr>
            <a:endParaRPr lang="en-GB" sz="2400" dirty="0"/>
          </a:p>
          <a:p>
            <a:pPr marL="457200" indent="-457200">
              <a:lnSpc>
                <a:spcPct val="150000"/>
              </a:lnSpc>
              <a:buFont typeface="+mj-lt"/>
              <a:buAutoNum type="arabicPeriod" startAt="5"/>
            </a:pPr>
            <a:r>
              <a:rPr lang="en-GB" sz="2400" dirty="0"/>
              <a:t>Draw a labelled graph to show how changing any one of these factors may affect the rate of reaction. Include the line before and after the change.</a:t>
            </a:r>
          </a:p>
          <a:p>
            <a:pPr>
              <a:lnSpc>
                <a:spcPct val="150000"/>
              </a:lnSpc>
            </a:pPr>
            <a:r>
              <a:rPr lang="en-GB" sz="2400" dirty="0">
                <a:solidFill>
                  <a:srgbClr val="00B050"/>
                </a:solidFill>
              </a:rPr>
              <a:t>	</a:t>
            </a: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0296446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Factors which affect the rates of reactions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5"/>
            <a:ext cx="8915400" cy="4078039"/>
          </a:xfrm>
          <a:custGeom>
            <a:avLst/>
            <a:gdLst>
              <a:gd name="connsiteX0" fmla="*/ 0 w 8915400"/>
              <a:gd name="connsiteY0" fmla="*/ 0 h 3524042"/>
              <a:gd name="connsiteX1" fmla="*/ 8915400 w 8915400"/>
              <a:gd name="connsiteY1" fmla="*/ 0 h 3524042"/>
              <a:gd name="connsiteX2" fmla="*/ 8915400 w 8915400"/>
              <a:gd name="connsiteY2" fmla="*/ 3524042 h 3524042"/>
              <a:gd name="connsiteX3" fmla="*/ 0 w 8915400"/>
              <a:gd name="connsiteY3" fmla="*/ 3524042 h 3524042"/>
              <a:gd name="connsiteX4" fmla="*/ 0 w 8915400"/>
              <a:gd name="connsiteY4" fmla="*/ 0 h 3524042"/>
              <a:gd name="connsiteX0" fmla="*/ 0 w 8915400"/>
              <a:gd name="connsiteY0" fmla="*/ 0 h 3524042"/>
              <a:gd name="connsiteX1" fmla="*/ 8915400 w 8915400"/>
              <a:gd name="connsiteY1" fmla="*/ 0 h 3524042"/>
              <a:gd name="connsiteX2" fmla="*/ 8915400 w 8915400"/>
              <a:gd name="connsiteY2" fmla="*/ 3524042 h 3524042"/>
              <a:gd name="connsiteX3" fmla="*/ 0 w 8915400"/>
              <a:gd name="connsiteY3" fmla="*/ 2287670 h 3524042"/>
              <a:gd name="connsiteX4" fmla="*/ 0 w 8915400"/>
              <a:gd name="connsiteY4" fmla="*/ 0 h 3524042"/>
              <a:gd name="connsiteX0" fmla="*/ 0 w 8915400"/>
              <a:gd name="connsiteY0" fmla="*/ 0 h 2326306"/>
              <a:gd name="connsiteX1" fmla="*/ 8915400 w 8915400"/>
              <a:gd name="connsiteY1" fmla="*/ 0 h 2326306"/>
              <a:gd name="connsiteX2" fmla="*/ 8902521 w 8915400"/>
              <a:gd name="connsiteY2" fmla="*/ 2326306 h 2326306"/>
              <a:gd name="connsiteX3" fmla="*/ 0 w 8915400"/>
              <a:gd name="connsiteY3" fmla="*/ 2287670 h 2326306"/>
              <a:gd name="connsiteX4" fmla="*/ 0 w 8915400"/>
              <a:gd name="connsiteY4" fmla="*/ 0 h 2326306"/>
              <a:gd name="connsiteX0" fmla="*/ 0 w 8915400"/>
              <a:gd name="connsiteY0" fmla="*/ 0 h 2300549"/>
              <a:gd name="connsiteX1" fmla="*/ 8915400 w 8915400"/>
              <a:gd name="connsiteY1" fmla="*/ 0 h 2300549"/>
              <a:gd name="connsiteX2" fmla="*/ 8902521 w 8915400"/>
              <a:gd name="connsiteY2" fmla="*/ 2300549 h 2300549"/>
              <a:gd name="connsiteX3" fmla="*/ 0 w 8915400"/>
              <a:gd name="connsiteY3" fmla="*/ 2287670 h 2300549"/>
              <a:gd name="connsiteX4" fmla="*/ 0 w 8915400"/>
              <a:gd name="connsiteY4" fmla="*/ 0 h 230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2300549">
                <a:moveTo>
                  <a:pt x="0" y="0"/>
                </a:moveTo>
                <a:lnTo>
                  <a:pt x="8915400" y="0"/>
                </a:lnTo>
                <a:lnTo>
                  <a:pt x="8902521" y="2300549"/>
                </a:lnTo>
                <a:lnTo>
                  <a:pt x="0" y="2287670"/>
                </a:lnTo>
                <a:lnTo>
                  <a:pt x="0" y="0"/>
                </a:lnTo>
                <a:close/>
              </a:path>
            </a:pathLst>
          </a:custGeom>
          <a:noFill/>
        </p:spPr>
        <p:txBody>
          <a:bodyPr wrap="square" rtlCol="0">
            <a:spAutoFit/>
          </a:bodyPr>
          <a:lstStyle/>
          <a:p>
            <a:pPr>
              <a:lnSpc>
                <a:spcPct val="150000"/>
              </a:lnSpc>
            </a:pPr>
            <a:r>
              <a:rPr lang="en-GB" sz="2400" dirty="0"/>
              <a:t>6. The graph below shows how the reaction is affected when the concentration of hydrochloric acid is doubled when reacting with excess magnesium. Explain why the amount of hydrogen gas doubles and why the rate of reaction doubles. Use collision theory in your response.</a:t>
            </a:r>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pic>
        <p:nvPicPr>
          <p:cNvPr id="3" name="Picture 2"/>
          <p:cNvPicPr>
            <a:picLocks noChangeAspect="1"/>
          </p:cNvPicPr>
          <p:nvPr/>
        </p:nvPicPr>
        <p:blipFill>
          <a:blip r:embed="rId2"/>
          <a:stretch>
            <a:fillRect/>
          </a:stretch>
        </p:blipFill>
        <p:spPr>
          <a:xfrm>
            <a:off x="3347864" y="3097716"/>
            <a:ext cx="4392488" cy="3399770"/>
          </a:xfrm>
          <a:prstGeom prst="rect">
            <a:avLst/>
          </a:prstGeom>
        </p:spPr>
      </p:pic>
    </p:spTree>
    <p:extLst>
      <p:ext uri="{BB962C8B-B14F-4D97-AF65-F5344CB8AC3E}">
        <p14:creationId xmlns:p14="http://schemas.microsoft.com/office/powerpoint/2010/main" val="2763464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862870"/>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2 </a:t>
            </a:r>
          </a:p>
          <a:p>
            <a:pPr marL="285750" indent="-285750">
              <a:buFont typeface="Arial" panose="020B0604020202020204" pitchFamily="34" charset="0"/>
              <a:buChar char="•"/>
            </a:pPr>
            <a:r>
              <a:rPr lang="en-GB" sz="2400" b="1" dirty="0">
                <a:solidFill>
                  <a:schemeClr val="tx1">
                    <a:lumMod val="50000"/>
                    <a:lumOff val="50000"/>
                  </a:schemeClr>
                </a:solidFill>
              </a:rPr>
              <a:t>Collision theory</a:t>
            </a:r>
          </a:p>
          <a:p>
            <a:pPr marL="285750" indent="-285750">
              <a:buFont typeface="Arial" panose="020B0604020202020204" pitchFamily="34" charset="0"/>
              <a:buChar char="•"/>
            </a:pPr>
            <a:r>
              <a:rPr lang="en-GB" sz="2400" b="1" dirty="0">
                <a:solidFill>
                  <a:schemeClr val="tx1">
                    <a:lumMod val="50000"/>
                    <a:lumOff val="50000"/>
                  </a:schemeClr>
                </a:solidFill>
              </a:rPr>
              <a:t>Effects of changes in temperature, concentration, surface area and pressure on rates of reaction.</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400140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 </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785652"/>
          </a:xfrm>
          <a:prstGeom prst="rect">
            <a:avLst/>
          </a:prstGeom>
          <a:noFill/>
        </p:spPr>
        <p:txBody>
          <a:bodyPr wrap="square" rtlCol="0">
            <a:spAutoFit/>
          </a:bodyPr>
          <a:lstStyle/>
          <a:p>
            <a:pPr marL="457200" indent="-457200">
              <a:buAutoNum type="arabicPeriod"/>
            </a:pPr>
            <a:r>
              <a:rPr lang="en-GB" sz="2400" dirty="0"/>
              <a:t>What is meant by the term ‘collision theory’?</a:t>
            </a:r>
          </a:p>
          <a:p>
            <a:pPr lvl="1"/>
            <a:r>
              <a:rPr lang="en-GB" sz="2400" dirty="0">
                <a:solidFill>
                  <a:srgbClr val="00B050"/>
                </a:solidFill>
              </a:rPr>
              <a:t>Explains how reactions occur when particles collide, and how rates of reaction are increased when the frequency and/ or energy of collisions is increased.</a:t>
            </a:r>
            <a:endParaRPr lang="en-GB" sz="2400" dirty="0"/>
          </a:p>
          <a:p>
            <a:pPr marL="457200" indent="-457200">
              <a:buFont typeface="+mj-lt"/>
              <a:buAutoNum type="arabicPeriod" startAt="2"/>
            </a:pPr>
            <a:r>
              <a:rPr lang="en-GB" sz="2400" dirty="0"/>
              <a:t>What happens to the gradient of a line if the rate of reaction is increased?</a:t>
            </a:r>
            <a:r>
              <a:rPr lang="en-GB" sz="2400" dirty="0">
                <a:solidFill>
                  <a:srgbClr val="00B050"/>
                </a:solidFill>
              </a:rPr>
              <a:t>	</a:t>
            </a:r>
          </a:p>
          <a:p>
            <a:pPr lvl="1"/>
            <a:r>
              <a:rPr lang="en-GB" sz="2400" dirty="0">
                <a:solidFill>
                  <a:srgbClr val="00B050"/>
                </a:solidFill>
              </a:rPr>
              <a:t>Becomes steeper.</a:t>
            </a:r>
          </a:p>
          <a:p>
            <a:pPr marL="457200" indent="-457200">
              <a:buFont typeface="+mj-lt"/>
              <a:buAutoNum type="arabicPeriod" startAt="3"/>
            </a:pPr>
            <a:r>
              <a:rPr lang="en-GB" sz="2400" dirty="0"/>
              <a:t>According to collision theory, chemical reactions can only occur when</a:t>
            </a:r>
            <a:r>
              <a:rPr lang="mr-IN" sz="2400" dirty="0"/>
              <a:t>…</a:t>
            </a:r>
            <a:endParaRPr lang="en-GB" sz="2400" dirty="0"/>
          </a:p>
          <a:p>
            <a:pPr lvl="1"/>
            <a:r>
              <a:rPr lang="en-GB" sz="2400" dirty="0">
                <a:solidFill>
                  <a:srgbClr val="00B050"/>
                </a:solidFill>
              </a:rPr>
              <a:t>reacting particles collide with each other with sufficient energy.</a:t>
            </a:r>
            <a:endParaRPr lang="en-GB" sz="2400" dirty="0"/>
          </a:p>
        </p:txBody>
      </p:sp>
    </p:spTree>
    <p:extLst>
      <p:ext uri="{BB962C8B-B14F-4D97-AF65-F5344CB8AC3E}">
        <p14:creationId xmlns:p14="http://schemas.microsoft.com/office/powerpoint/2010/main" val="876955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Factors which affect rates of </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 </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848029"/>
          </a:xfrm>
          <a:prstGeom prst="rect">
            <a:avLst/>
          </a:prstGeom>
          <a:noFill/>
        </p:spPr>
        <p:txBody>
          <a:bodyPr wrap="square" rtlCol="0">
            <a:spAutoFit/>
          </a:bodyPr>
          <a:lstStyle/>
          <a:p>
            <a:pPr>
              <a:lnSpc>
                <a:spcPct val="150000"/>
              </a:lnSpc>
            </a:pPr>
            <a:r>
              <a:rPr lang="en-GB" sz="2400" dirty="0"/>
              <a:t>4.  Other than concentration, give three factors that affect the rate of     	reaction.</a:t>
            </a:r>
          </a:p>
          <a:p>
            <a:pPr lvl="1">
              <a:lnSpc>
                <a:spcPct val="150000"/>
              </a:lnSpc>
            </a:pPr>
            <a:r>
              <a:rPr lang="en-GB" sz="2400" dirty="0">
                <a:solidFill>
                  <a:srgbClr val="00B050"/>
                </a:solidFill>
              </a:rPr>
              <a:t>Any from: temperature, surface area, pressure and a catalyst</a:t>
            </a:r>
          </a:p>
          <a:p>
            <a:pPr>
              <a:lnSpc>
                <a:spcPct val="150000"/>
              </a:lnSpc>
            </a:pPr>
            <a:r>
              <a:rPr lang="en-GB" sz="2400" dirty="0"/>
              <a:t>5. Draw a labelled graph to show how changing any one of these    factors may affect the rate of reaction. Include the line before and after the change.</a:t>
            </a:r>
          </a:p>
          <a:p>
            <a:pPr>
              <a:lnSpc>
                <a:spcPct val="150000"/>
              </a:lnSpc>
            </a:pPr>
            <a:r>
              <a:rPr lang="en-GB" sz="2400" dirty="0">
                <a:solidFill>
                  <a:srgbClr val="00B050"/>
                </a:solidFill>
              </a:rPr>
              <a:t>	</a:t>
            </a:r>
            <a:endParaRPr lang="en-GB" sz="2400" dirty="0">
              <a:solidFill>
                <a:srgbClr val="FF0000"/>
              </a:solidFill>
            </a:endParaRPr>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pic>
        <p:nvPicPr>
          <p:cNvPr id="3" name="Picture 2"/>
          <p:cNvPicPr>
            <a:picLocks noChangeAspect="1"/>
          </p:cNvPicPr>
          <p:nvPr/>
        </p:nvPicPr>
        <p:blipFill>
          <a:blip r:embed="rId2"/>
          <a:stretch>
            <a:fillRect/>
          </a:stretch>
        </p:blipFill>
        <p:spPr>
          <a:xfrm>
            <a:off x="2547937" y="4221087"/>
            <a:ext cx="2888159" cy="2177167"/>
          </a:xfrm>
          <a:prstGeom prst="rect">
            <a:avLst/>
          </a:prstGeom>
        </p:spPr>
      </p:pic>
    </p:spTree>
    <p:extLst>
      <p:ext uri="{BB962C8B-B14F-4D97-AF65-F5344CB8AC3E}">
        <p14:creationId xmlns:p14="http://schemas.microsoft.com/office/powerpoint/2010/main" val="2126974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Factors which affect the rates of reactions –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3736302" y="3605520"/>
            <a:ext cx="5112568" cy="2554545"/>
          </a:xfrm>
          <a:prstGeom prst="rect">
            <a:avLst/>
          </a:prstGeom>
          <a:noFill/>
        </p:spPr>
        <p:txBody>
          <a:bodyPr wrap="square" rtlCol="0">
            <a:spAutoFit/>
          </a:bodyPr>
          <a:lstStyle/>
          <a:p>
            <a:r>
              <a:rPr lang="en-GB" sz="2000" dirty="0">
                <a:solidFill>
                  <a:srgbClr val="00B050"/>
                </a:solidFill>
              </a:rPr>
              <a:t>If concentration of acid is doubled then there are twice the number of collisions with magnesium atoms.</a:t>
            </a:r>
          </a:p>
          <a:p>
            <a:r>
              <a:rPr lang="en-GB" sz="2000" dirty="0">
                <a:solidFill>
                  <a:srgbClr val="00B050"/>
                </a:solidFill>
              </a:rPr>
              <a:t>There will be twice the number of successful collisions so rate of reaction doubles.</a:t>
            </a:r>
          </a:p>
          <a:p>
            <a:r>
              <a:rPr lang="en-GB" sz="2000" dirty="0">
                <a:solidFill>
                  <a:srgbClr val="00B050"/>
                </a:solidFill>
              </a:rPr>
              <a:t>As there are twice as many acid particles (and the magnesium is in excess) there will be twice the volume of (hydrogen) gas released</a:t>
            </a:r>
          </a:p>
        </p:txBody>
      </p:sp>
      <p:pic>
        <p:nvPicPr>
          <p:cNvPr id="3" name="Picture 2"/>
          <p:cNvPicPr>
            <a:picLocks noChangeAspect="1"/>
          </p:cNvPicPr>
          <p:nvPr/>
        </p:nvPicPr>
        <p:blipFill>
          <a:blip r:embed="rId2"/>
          <a:stretch>
            <a:fillRect/>
          </a:stretch>
        </p:blipFill>
        <p:spPr>
          <a:xfrm>
            <a:off x="149087" y="2998483"/>
            <a:ext cx="3558817" cy="3399771"/>
          </a:xfrm>
          <a:prstGeom prst="rect">
            <a:avLst/>
          </a:prstGeom>
        </p:spPr>
      </p:pic>
      <p:sp>
        <p:nvSpPr>
          <p:cNvPr id="6" name="TextBox 5"/>
          <p:cNvSpPr txBox="1"/>
          <p:nvPr/>
        </p:nvSpPr>
        <p:spPr>
          <a:xfrm>
            <a:off x="149087" y="697935"/>
            <a:ext cx="8915400" cy="4078039"/>
          </a:xfrm>
          <a:custGeom>
            <a:avLst/>
            <a:gdLst>
              <a:gd name="connsiteX0" fmla="*/ 0 w 8915400"/>
              <a:gd name="connsiteY0" fmla="*/ 0 h 3524042"/>
              <a:gd name="connsiteX1" fmla="*/ 8915400 w 8915400"/>
              <a:gd name="connsiteY1" fmla="*/ 0 h 3524042"/>
              <a:gd name="connsiteX2" fmla="*/ 8915400 w 8915400"/>
              <a:gd name="connsiteY2" fmla="*/ 3524042 h 3524042"/>
              <a:gd name="connsiteX3" fmla="*/ 0 w 8915400"/>
              <a:gd name="connsiteY3" fmla="*/ 3524042 h 3524042"/>
              <a:gd name="connsiteX4" fmla="*/ 0 w 8915400"/>
              <a:gd name="connsiteY4" fmla="*/ 0 h 3524042"/>
              <a:gd name="connsiteX0" fmla="*/ 0 w 8915400"/>
              <a:gd name="connsiteY0" fmla="*/ 0 h 3524042"/>
              <a:gd name="connsiteX1" fmla="*/ 8915400 w 8915400"/>
              <a:gd name="connsiteY1" fmla="*/ 0 h 3524042"/>
              <a:gd name="connsiteX2" fmla="*/ 8915400 w 8915400"/>
              <a:gd name="connsiteY2" fmla="*/ 3524042 h 3524042"/>
              <a:gd name="connsiteX3" fmla="*/ 0 w 8915400"/>
              <a:gd name="connsiteY3" fmla="*/ 2287670 h 3524042"/>
              <a:gd name="connsiteX4" fmla="*/ 0 w 8915400"/>
              <a:gd name="connsiteY4" fmla="*/ 0 h 3524042"/>
              <a:gd name="connsiteX0" fmla="*/ 0 w 8915400"/>
              <a:gd name="connsiteY0" fmla="*/ 0 h 2326306"/>
              <a:gd name="connsiteX1" fmla="*/ 8915400 w 8915400"/>
              <a:gd name="connsiteY1" fmla="*/ 0 h 2326306"/>
              <a:gd name="connsiteX2" fmla="*/ 8902521 w 8915400"/>
              <a:gd name="connsiteY2" fmla="*/ 2326306 h 2326306"/>
              <a:gd name="connsiteX3" fmla="*/ 0 w 8915400"/>
              <a:gd name="connsiteY3" fmla="*/ 2287670 h 2326306"/>
              <a:gd name="connsiteX4" fmla="*/ 0 w 8915400"/>
              <a:gd name="connsiteY4" fmla="*/ 0 h 2326306"/>
              <a:gd name="connsiteX0" fmla="*/ 0 w 8915400"/>
              <a:gd name="connsiteY0" fmla="*/ 0 h 2300549"/>
              <a:gd name="connsiteX1" fmla="*/ 8915400 w 8915400"/>
              <a:gd name="connsiteY1" fmla="*/ 0 h 2300549"/>
              <a:gd name="connsiteX2" fmla="*/ 8902521 w 8915400"/>
              <a:gd name="connsiteY2" fmla="*/ 2300549 h 2300549"/>
              <a:gd name="connsiteX3" fmla="*/ 0 w 8915400"/>
              <a:gd name="connsiteY3" fmla="*/ 2287670 h 2300549"/>
              <a:gd name="connsiteX4" fmla="*/ 0 w 8915400"/>
              <a:gd name="connsiteY4" fmla="*/ 0 h 230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2300549">
                <a:moveTo>
                  <a:pt x="0" y="0"/>
                </a:moveTo>
                <a:lnTo>
                  <a:pt x="8915400" y="0"/>
                </a:lnTo>
                <a:lnTo>
                  <a:pt x="8902521" y="2300549"/>
                </a:lnTo>
                <a:lnTo>
                  <a:pt x="0" y="2287670"/>
                </a:lnTo>
                <a:lnTo>
                  <a:pt x="0" y="0"/>
                </a:lnTo>
                <a:close/>
              </a:path>
            </a:pathLst>
          </a:custGeom>
          <a:noFill/>
        </p:spPr>
        <p:txBody>
          <a:bodyPr wrap="square" rtlCol="0">
            <a:spAutoFit/>
          </a:bodyPr>
          <a:lstStyle/>
          <a:p>
            <a:pPr>
              <a:lnSpc>
                <a:spcPct val="150000"/>
              </a:lnSpc>
            </a:pPr>
            <a:r>
              <a:rPr lang="en-GB" sz="2400" dirty="0"/>
              <a:t>6. The graph below shows how the reaction is affected when the concentration of hydrochloric acid is doubled when reacting with excess magnesium. Explain why the amount of hydrogen gas doubles and why the rate of reaction doubles. Use collision theory in your response.</a:t>
            </a:r>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892616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5186035"/>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3 </a:t>
            </a:r>
          </a:p>
          <a:p>
            <a:pPr marL="457200" indent="-457200">
              <a:lnSpc>
                <a:spcPct val="150000"/>
              </a:lnSpc>
              <a:buFont typeface="Arial" charset="0"/>
              <a:buChar char="•"/>
            </a:pPr>
            <a:r>
              <a:rPr lang="en-GB" sz="2400" b="1" dirty="0">
                <a:solidFill>
                  <a:schemeClr val="tx1">
                    <a:lumMod val="50000"/>
                    <a:lumOff val="50000"/>
                  </a:schemeClr>
                </a:solidFill>
              </a:rPr>
              <a:t>Catalysts </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3828729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5006320" y="2924944"/>
            <a:ext cx="3960440" cy="3576592"/>
          </a:xfrm>
          <a:prstGeom prst="rect">
            <a:avLst/>
          </a:prstGeom>
        </p:spPr>
      </p:pic>
      <p:sp>
        <p:nvSpPr>
          <p:cNvPr id="2" name="Title 1"/>
          <p:cNvSpPr>
            <a:spLocks noGrp="1"/>
          </p:cNvSpPr>
          <p:nvPr>
            <p:ph type="ctrTitle"/>
          </p:nvPr>
        </p:nvSpPr>
        <p:spPr>
          <a:xfrm>
            <a:off x="1331640" y="35655"/>
            <a:ext cx="7812360" cy="657041"/>
          </a:xfrm>
        </p:spPr>
        <p:txBody>
          <a:bodyPr>
            <a:noAutofit/>
          </a:bodyPr>
          <a:lstStyle/>
          <a:p>
            <a:pPr marL="342900" marR="0" lvl="1" algn="l" defTabSz="342900" rtl="0" eaLnBrk="1" fontAlgn="auto" latinLnBrk="0" hangingPunct="1">
              <a:lnSpc>
                <a:spcPct val="100000"/>
              </a:lnSpc>
              <a:spcBef>
                <a:spcPct val="20000"/>
              </a:spcBef>
              <a:spcAft>
                <a:spcPts val="0"/>
              </a:spcAft>
              <a:buClrTx/>
              <a:buSzTx/>
              <a:tabLst/>
              <a:defRPr/>
            </a:pPr>
            <a:r>
              <a:rPr lang="en-US" dirty="0">
                <a:solidFill>
                  <a:schemeClr val="accent6"/>
                </a:solidFill>
              </a:rPr>
              <a:t>Rates of reactions part 3 </a:t>
            </a:r>
            <a:r>
              <a:rPr lang="en-US" b="1" dirty="0">
                <a:solidFill>
                  <a:schemeClr val="accent6"/>
                </a:solidFill>
              </a:rPr>
              <a:t>– </a:t>
            </a:r>
            <a:r>
              <a:rPr lang="en-US" kern="1200" dirty="0">
                <a:solidFill>
                  <a:schemeClr val="accent6"/>
                </a:solidFill>
                <a:latin typeface="Calibri"/>
                <a:ea typeface=""/>
                <a:cs typeface="News Gothic MT"/>
              </a:rPr>
              <a:t>Factors which affect rates of  reactions - catalysts</a:t>
            </a:r>
            <a:endParaRPr kumimoji="0" lang="en-US"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179512" y="764704"/>
            <a:ext cx="8640960" cy="1015663"/>
          </a:xfrm>
          <a:prstGeom prst="rect">
            <a:avLst/>
          </a:prstGeom>
          <a:noFill/>
          <a:ln w="28575">
            <a:solidFill>
              <a:schemeClr val="accent6"/>
            </a:solidFill>
          </a:ln>
        </p:spPr>
        <p:txBody>
          <a:bodyPr wrap="square" rtlCol="0">
            <a:spAutoFit/>
          </a:bodyPr>
          <a:lstStyle/>
          <a:p>
            <a:pPr algn="ctr"/>
            <a:r>
              <a:rPr lang="en-GB" sz="2000" dirty="0"/>
              <a:t>Catalysts </a:t>
            </a:r>
            <a:r>
              <a:rPr lang="en-GB" sz="2000" b="1" dirty="0">
                <a:solidFill>
                  <a:schemeClr val="accent6">
                    <a:lumMod val="75000"/>
                  </a:schemeClr>
                </a:solidFill>
              </a:rPr>
              <a:t>speed up the rate </a:t>
            </a:r>
            <a:r>
              <a:rPr lang="en-GB" sz="2000" dirty="0"/>
              <a:t>of chemical reactions </a:t>
            </a:r>
            <a:r>
              <a:rPr lang="en-GB" sz="2000" b="1" dirty="0">
                <a:solidFill>
                  <a:schemeClr val="accent6">
                    <a:lumMod val="75000"/>
                  </a:schemeClr>
                </a:solidFill>
              </a:rPr>
              <a:t>without altering the products </a:t>
            </a:r>
            <a:r>
              <a:rPr lang="en-GB" sz="2000" dirty="0"/>
              <a:t>of the reaction, being itself </a:t>
            </a:r>
            <a:r>
              <a:rPr lang="en-GB" sz="2000" b="1" dirty="0">
                <a:solidFill>
                  <a:schemeClr val="accent6">
                    <a:lumMod val="75000"/>
                  </a:schemeClr>
                </a:solidFill>
              </a:rPr>
              <a:t>unchanged chemically and in mass </a:t>
            </a:r>
            <a:r>
              <a:rPr lang="en-GB" sz="2000" dirty="0"/>
              <a:t>at the end of the reaction. </a:t>
            </a:r>
          </a:p>
        </p:txBody>
      </p:sp>
      <p:sp>
        <p:nvSpPr>
          <p:cNvPr id="11" name="TextBox 10"/>
          <p:cNvSpPr txBox="1"/>
          <p:nvPr/>
        </p:nvSpPr>
        <p:spPr>
          <a:xfrm>
            <a:off x="179512" y="1780367"/>
            <a:ext cx="8640960" cy="400110"/>
          </a:xfrm>
          <a:prstGeom prst="rect">
            <a:avLst/>
          </a:prstGeom>
          <a:noFill/>
        </p:spPr>
        <p:txBody>
          <a:bodyPr wrap="square" rtlCol="0">
            <a:spAutoFit/>
          </a:bodyPr>
          <a:lstStyle/>
          <a:p>
            <a:pPr algn="ctr"/>
            <a:r>
              <a:rPr lang="en-GB" sz="2000" dirty="0"/>
              <a:t>This means that the catalyst is still there, unchanged, at the end of the reaction.</a:t>
            </a:r>
          </a:p>
        </p:txBody>
      </p:sp>
      <p:sp>
        <p:nvSpPr>
          <p:cNvPr id="13" name="TextBox 12"/>
          <p:cNvSpPr txBox="1"/>
          <p:nvPr/>
        </p:nvSpPr>
        <p:spPr>
          <a:xfrm>
            <a:off x="179512" y="2414791"/>
            <a:ext cx="8640960" cy="70788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b="1" dirty="0">
                <a:solidFill>
                  <a:schemeClr val="accent6">
                    <a:lumMod val="75000"/>
                  </a:schemeClr>
                </a:solidFill>
              </a:rPr>
              <a:t>Enzymes are biological catalysts</a:t>
            </a:r>
            <a:r>
              <a:rPr lang="en-GB" sz="2000" dirty="0"/>
              <a:t>. Enzymes are used in the production of alcoholic drinks by fermentation.</a:t>
            </a:r>
          </a:p>
        </p:txBody>
      </p:sp>
      <p:sp>
        <p:nvSpPr>
          <p:cNvPr id="14" name="TextBox 13"/>
          <p:cNvSpPr txBox="1"/>
          <p:nvPr/>
        </p:nvSpPr>
        <p:spPr>
          <a:xfrm>
            <a:off x="179512" y="3288322"/>
            <a:ext cx="4824536" cy="1631216"/>
          </a:xfrm>
          <a:prstGeom prst="rect">
            <a:avLst/>
          </a:prstGeom>
          <a:noFill/>
          <a:ln w="28575">
            <a:solidFill>
              <a:schemeClr val="accent6"/>
            </a:solidFill>
          </a:ln>
        </p:spPr>
        <p:txBody>
          <a:bodyPr wrap="square" rtlCol="0">
            <a:spAutoFit/>
          </a:bodyPr>
          <a:lstStyle/>
          <a:p>
            <a:pPr algn="ctr"/>
            <a:r>
              <a:rPr lang="en-GB" sz="2000" dirty="0"/>
              <a:t>Catalysts increase the rate of reaction by </a:t>
            </a:r>
            <a:r>
              <a:rPr lang="en-GB" sz="2000" dirty="0">
                <a:solidFill>
                  <a:schemeClr val="accent6">
                    <a:lumMod val="75000"/>
                  </a:schemeClr>
                </a:solidFill>
              </a:rPr>
              <a:t>providing a different pathway </a:t>
            </a:r>
            <a:r>
              <a:rPr lang="en-GB" sz="2000" dirty="0"/>
              <a:t>for the reaction that has a </a:t>
            </a:r>
            <a:r>
              <a:rPr lang="en-GB" sz="2000" dirty="0">
                <a:solidFill>
                  <a:schemeClr val="accent6">
                    <a:lumMod val="75000"/>
                  </a:schemeClr>
                </a:solidFill>
              </a:rPr>
              <a:t>lower activation energy</a:t>
            </a:r>
            <a:r>
              <a:rPr lang="en-GB" sz="2000" dirty="0"/>
              <a:t>.</a:t>
            </a:r>
          </a:p>
          <a:p>
            <a:pPr algn="ctr"/>
            <a:r>
              <a:rPr lang="en-GB" sz="2000" dirty="0"/>
              <a:t>A </a:t>
            </a:r>
            <a:r>
              <a:rPr lang="en-GB" sz="2000" dirty="0">
                <a:solidFill>
                  <a:schemeClr val="accent6">
                    <a:lumMod val="75000"/>
                  </a:schemeClr>
                </a:solidFill>
              </a:rPr>
              <a:t>reaction profile </a:t>
            </a:r>
            <a:r>
              <a:rPr lang="en-GB" sz="2000" dirty="0"/>
              <a:t>for a catalysed reaction can be drawn as shown on the right.</a:t>
            </a:r>
          </a:p>
        </p:txBody>
      </p:sp>
      <p:sp>
        <p:nvSpPr>
          <p:cNvPr id="15" name="TextBox 14"/>
          <p:cNvSpPr txBox="1"/>
          <p:nvPr/>
        </p:nvSpPr>
        <p:spPr>
          <a:xfrm>
            <a:off x="179512" y="5085184"/>
            <a:ext cx="4824536" cy="1323439"/>
          </a:xfrm>
          <a:prstGeom prst="rect">
            <a:avLst/>
          </a:prstGeom>
          <a:solidFill>
            <a:schemeClr val="accent6"/>
          </a:solidFill>
        </p:spPr>
        <p:txBody>
          <a:bodyPr wrap="square" rtlCol="0">
            <a:spAutoFit/>
          </a:bodyPr>
          <a:lstStyle/>
          <a:p>
            <a:pPr algn="ctr"/>
            <a:r>
              <a:rPr lang="en-GB" sz="2000" dirty="0"/>
              <a:t>You should be able to explain catalytic action in terms of activation energy. For example, “from the reaction profile I can see that the catalyst </a:t>
            </a:r>
            <a:r>
              <a:rPr lang="en-GB" sz="2000" b="1" dirty="0"/>
              <a:t>lowers</a:t>
            </a:r>
            <a:r>
              <a:rPr lang="en-GB" sz="2000" dirty="0"/>
              <a:t> the activation energy”.</a:t>
            </a:r>
          </a:p>
        </p:txBody>
      </p:sp>
    </p:spTree>
    <p:extLst>
      <p:ext uri="{BB962C8B-B14F-4D97-AF65-F5344CB8AC3E}">
        <p14:creationId xmlns:p14="http://schemas.microsoft.com/office/powerpoint/2010/main" val="434794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031873"/>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3 </a:t>
            </a:r>
          </a:p>
          <a:p>
            <a:pPr marL="457200" indent="-457200">
              <a:lnSpc>
                <a:spcPct val="150000"/>
              </a:lnSpc>
              <a:buFont typeface="Arial" charset="0"/>
              <a:buChar char="•"/>
            </a:pPr>
            <a:r>
              <a:rPr lang="en-GB" sz="3200" b="1" dirty="0">
                <a:solidFill>
                  <a:schemeClr val="tx1">
                    <a:lumMod val="50000"/>
                    <a:lumOff val="50000"/>
                  </a:schemeClr>
                </a:solidFill>
              </a:rPr>
              <a:t>Catalysts </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633369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300" kern="1200" dirty="0">
                <a:solidFill>
                  <a:schemeClr val="accent6"/>
                </a:solidFill>
                <a:latin typeface="Calibri"/>
                <a:ea typeface=""/>
                <a:cs typeface="News Gothic MT"/>
              </a:rPr>
              <a:t>Factors which affect rates of  reactions - catalysts</a:t>
            </a:r>
            <a:r>
              <a:rPr lang="en-US" sz="2300" b="1" kern="1200" dirty="0">
                <a:solidFill>
                  <a:schemeClr val="accent6"/>
                </a:solidFill>
                <a:latin typeface="Calibri"/>
                <a:ea typeface=""/>
                <a:cs typeface="News Gothic MT"/>
              </a:rPr>
              <a:t>– </a:t>
            </a:r>
            <a:r>
              <a:rPr lang="en-US" sz="2300" b="1" kern="1200" dirty="0" err="1">
                <a:solidFill>
                  <a:schemeClr val="tx1"/>
                </a:solidFill>
                <a:latin typeface="Calibri"/>
                <a:ea typeface=""/>
                <a:cs typeface="News Gothic MT"/>
              </a:rPr>
              <a:t>QuestionIT</a:t>
            </a:r>
            <a:endParaRPr kumimoji="0" lang="en-US" sz="23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447371"/>
          </a:xfrm>
          <a:prstGeom prst="rect">
            <a:avLst/>
          </a:prstGeom>
          <a:noFill/>
        </p:spPr>
        <p:txBody>
          <a:bodyPr wrap="square" rtlCol="0">
            <a:spAutoFit/>
          </a:bodyPr>
          <a:lstStyle/>
          <a:p>
            <a:pPr marL="457200" indent="-457200">
              <a:buFont typeface="+mj-lt"/>
              <a:buAutoNum type="arabicPeriod"/>
            </a:pPr>
            <a:r>
              <a:rPr lang="en-GB" sz="2400" dirty="0"/>
              <a:t>What is a catalyst?</a:t>
            </a:r>
          </a:p>
          <a:p>
            <a:pPr marL="457200" indent="-457200">
              <a:buFont typeface="+mj-lt"/>
              <a:buAutoNum type="arabicPeriod"/>
            </a:pPr>
            <a:endParaRPr lang="en-GB" sz="2400" dirty="0"/>
          </a:p>
          <a:p>
            <a:pPr marL="457200" indent="-457200">
              <a:buFont typeface="+mj-lt"/>
              <a:buAutoNum type="arabicPeriod"/>
            </a:pPr>
            <a:r>
              <a:rPr lang="en-GB" sz="2400" dirty="0"/>
              <a:t>What is a biological catalyst?</a:t>
            </a:r>
          </a:p>
          <a:p>
            <a:pPr marL="457200" indent="-457200">
              <a:buFont typeface="+mj-lt"/>
              <a:buAutoNum type="arabicPeriod"/>
            </a:pPr>
            <a:endParaRPr lang="en-GB" sz="2400" dirty="0"/>
          </a:p>
          <a:p>
            <a:pPr marL="457200" indent="-457200">
              <a:buFont typeface="+mj-lt"/>
              <a:buAutoNum type="arabicPeriod"/>
            </a:pPr>
            <a:r>
              <a:rPr lang="en-GB" sz="2400" dirty="0"/>
              <a:t>Name a process which makes use of biological catalysts.</a:t>
            </a:r>
          </a:p>
          <a:p>
            <a:pPr marL="457200" indent="-457200">
              <a:buFont typeface="+mj-lt"/>
              <a:buAutoNum type="arabicPeriod"/>
            </a:pPr>
            <a:endParaRPr lang="en-GB" sz="2400" dirty="0"/>
          </a:p>
          <a:p>
            <a:pPr marL="457200" indent="-457200">
              <a:buFont typeface="+mj-lt"/>
              <a:buAutoNum type="arabicPeriod"/>
            </a:pPr>
            <a:r>
              <a:rPr lang="en-GB" sz="2400" dirty="0"/>
              <a:t>How does a catalyst alter the rate of reaction?</a:t>
            </a:r>
            <a:r>
              <a:rPr lang="en-GB" sz="2000" dirty="0"/>
              <a:t> </a:t>
            </a:r>
            <a:endParaRPr lang="en-GB" sz="2000" dirty="0">
              <a:solidFill>
                <a:srgbClr val="00B050"/>
              </a:solidFill>
            </a:endParaRPr>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42707080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300" kern="1200" dirty="0">
                <a:solidFill>
                  <a:schemeClr val="accent6"/>
                </a:solidFill>
                <a:latin typeface="Calibri"/>
                <a:ea typeface=""/>
                <a:cs typeface="News Gothic MT"/>
              </a:rPr>
              <a:t>Factors which affect rates of  reactions - catalysts</a:t>
            </a:r>
            <a:r>
              <a:rPr lang="en-US" sz="2300" b="1" kern="1200" dirty="0">
                <a:solidFill>
                  <a:schemeClr val="accent6"/>
                </a:solidFill>
                <a:latin typeface="Calibri"/>
                <a:ea typeface=""/>
                <a:cs typeface="News Gothic MT"/>
              </a:rPr>
              <a:t>– </a:t>
            </a:r>
            <a:r>
              <a:rPr lang="en-US" sz="2300" b="1" kern="1200" dirty="0" err="1">
                <a:solidFill>
                  <a:schemeClr val="tx1"/>
                </a:solidFill>
                <a:latin typeface="Calibri"/>
                <a:ea typeface=""/>
                <a:cs typeface="News Gothic MT"/>
              </a:rPr>
              <a:t>QuestionIT</a:t>
            </a:r>
            <a:endParaRPr kumimoji="0" lang="en-US" sz="23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417141"/>
          </a:xfrm>
          <a:prstGeom prst="rect">
            <a:avLst/>
          </a:prstGeom>
          <a:noFill/>
        </p:spPr>
        <p:txBody>
          <a:bodyPr wrap="square" rtlCol="0">
            <a:spAutoFit/>
          </a:bodyPr>
          <a:lstStyle/>
          <a:p>
            <a:pPr marL="457200" indent="-457200">
              <a:buFont typeface="+mj-lt"/>
              <a:buAutoNum type="arabicPeriod" startAt="5"/>
            </a:pPr>
            <a:r>
              <a:rPr lang="en-GB" sz="2400" dirty="0"/>
              <a:t>A student carried out three reactions to investigate how quickly oxygen gas was given off by decomposing hydrogen peroxide.    </a:t>
            </a:r>
          </a:p>
          <a:p>
            <a:pPr lvl="1" algn="ctr"/>
            <a:r>
              <a:rPr lang="en-GB" sz="2400" dirty="0"/>
              <a:t> 2H</a:t>
            </a:r>
            <a:r>
              <a:rPr lang="en-GB" sz="2400" baseline="-25000" dirty="0"/>
              <a:t>2</a:t>
            </a:r>
            <a:r>
              <a:rPr lang="en-GB" sz="2400" dirty="0"/>
              <a:t>O</a:t>
            </a:r>
            <a:r>
              <a:rPr lang="en-GB" sz="2400" baseline="-25000" dirty="0"/>
              <a:t>2</a:t>
            </a:r>
            <a:r>
              <a:rPr lang="en-GB" sz="2400" dirty="0"/>
              <a:t> </a:t>
            </a:r>
            <a:r>
              <a:rPr lang="en-GB" sz="2400" dirty="0">
                <a:sym typeface="Wingdings" panose="05000000000000000000" pitchFamily="2" charset="2"/>
              </a:rPr>
              <a:t>  O</a:t>
            </a:r>
            <a:r>
              <a:rPr lang="en-GB" sz="2400" baseline="-25000" dirty="0">
                <a:sym typeface="Wingdings" panose="05000000000000000000" pitchFamily="2" charset="2"/>
              </a:rPr>
              <a:t>2</a:t>
            </a:r>
            <a:r>
              <a:rPr lang="en-GB" sz="2400" dirty="0">
                <a:sym typeface="Wingdings" panose="05000000000000000000" pitchFamily="2" charset="2"/>
              </a:rPr>
              <a:t>  +  2H</a:t>
            </a:r>
            <a:r>
              <a:rPr lang="en-GB" sz="2400" baseline="-25000" dirty="0">
                <a:sym typeface="Wingdings" panose="05000000000000000000" pitchFamily="2" charset="2"/>
              </a:rPr>
              <a:t>2</a:t>
            </a:r>
            <a:r>
              <a:rPr lang="en-GB" sz="2400" dirty="0">
                <a:sym typeface="Wingdings" panose="05000000000000000000" pitchFamily="2" charset="2"/>
              </a:rPr>
              <a:t>O </a:t>
            </a:r>
          </a:p>
          <a:p>
            <a:pPr lvl="1"/>
            <a:r>
              <a:rPr lang="en-GB" sz="2400" dirty="0"/>
              <a:t>Each time she changed the chemical she was adding to see if it was a catalyst. </a:t>
            </a:r>
          </a:p>
          <a:p>
            <a:pPr lvl="1"/>
            <a:r>
              <a:rPr lang="en-GB" sz="2400" dirty="0"/>
              <a:t>Here are her results:</a:t>
            </a:r>
          </a:p>
          <a:p>
            <a:pPr lvl="1"/>
            <a:endParaRPr lang="en-GB" sz="2400" dirty="0"/>
          </a:p>
          <a:p>
            <a:pPr lvl="1"/>
            <a:endParaRPr lang="en-GB" sz="2400" dirty="0"/>
          </a:p>
          <a:p>
            <a:pPr lvl="1"/>
            <a:endParaRPr lang="en-GB" sz="2400" dirty="0"/>
          </a:p>
          <a:p>
            <a:pPr lvl="1"/>
            <a:endParaRPr lang="en-GB" sz="2400" dirty="0"/>
          </a:p>
          <a:p>
            <a:pPr lvl="1"/>
            <a:endParaRPr lang="en-GB" sz="2400" dirty="0"/>
          </a:p>
          <a:p>
            <a:pPr lvl="1"/>
            <a:endParaRPr lang="en-GB" sz="2400" dirty="0"/>
          </a:p>
          <a:p>
            <a:pPr lvl="1"/>
            <a:r>
              <a:rPr lang="en-GB" sz="2400" dirty="0"/>
              <a:t>Which chemical was a catalyst? Explain your answer.</a:t>
            </a:r>
          </a:p>
          <a:p>
            <a:r>
              <a:rPr lang="en-GB" sz="2000" dirty="0"/>
              <a:t>	</a:t>
            </a: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graphicFrame>
        <p:nvGraphicFramePr>
          <p:cNvPr id="3" name="Table 2"/>
          <p:cNvGraphicFramePr>
            <a:graphicFrameLocks noGrp="1"/>
          </p:cNvGraphicFramePr>
          <p:nvPr>
            <p:extLst>
              <p:ext uri="{D42A27DB-BD31-4B8C-83A1-F6EECF244321}">
                <p14:modId xmlns:p14="http://schemas.microsoft.com/office/powerpoint/2010/main" val="126311965"/>
              </p:ext>
            </p:extLst>
          </p:nvPr>
        </p:nvGraphicFramePr>
        <p:xfrm>
          <a:off x="1558787" y="3068960"/>
          <a:ext cx="6096000" cy="1933353"/>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554703">
                <a:tc>
                  <a:txBody>
                    <a:bodyPr/>
                    <a:lstStyle/>
                    <a:p>
                      <a:pPr algn="ctr"/>
                      <a:r>
                        <a:rPr lang="en-GB" sz="1600" b="1" dirty="0">
                          <a:solidFill>
                            <a:schemeClr val="tx1"/>
                          </a:solidFill>
                        </a:rPr>
                        <a:t>Chemical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GB" sz="1600" b="1" dirty="0">
                          <a:solidFill>
                            <a:schemeClr val="tx1"/>
                          </a:solidFill>
                        </a:rPr>
                        <a:t>Time taken to collect 50 cm</a:t>
                      </a:r>
                      <a:r>
                        <a:rPr lang="en-GB" sz="1600" b="1" baseline="30000" dirty="0">
                          <a:solidFill>
                            <a:schemeClr val="tx1"/>
                          </a:solidFill>
                        </a:rPr>
                        <a:t>3</a:t>
                      </a:r>
                      <a:r>
                        <a:rPr lang="en-GB" sz="1600" b="1" dirty="0">
                          <a:solidFill>
                            <a:schemeClr val="tx1"/>
                          </a:solidFill>
                        </a:rPr>
                        <a:t> in seconds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321144">
                <a:tc>
                  <a:txBody>
                    <a:bodyPr/>
                    <a:lstStyle/>
                    <a:p>
                      <a:pPr algn="ctr"/>
                      <a:r>
                        <a:rPr lang="en-GB" sz="1600" b="1" dirty="0">
                          <a:solidFill>
                            <a:schemeClr val="tx1"/>
                          </a:solidFill>
                        </a:rPr>
                        <a:t>Without chemical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821">
                <a:tc>
                  <a:txBody>
                    <a:bodyPr/>
                    <a:lstStyle/>
                    <a:p>
                      <a:pPr algn="ctr"/>
                      <a:r>
                        <a:rPr lang="en-GB" sz="1600" b="1"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21144">
                <a:tc>
                  <a:txBody>
                    <a:bodyPr/>
                    <a:lstStyle/>
                    <a:p>
                      <a:pPr algn="ctr"/>
                      <a:r>
                        <a:rPr lang="en-GB" sz="1600" b="1" dirty="0">
                          <a:solidFill>
                            <a:schemeClr val="tx1"/>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No oxygen given off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48393">
                <a:tc>
                  <a:txBody>
                    <a:bodyPr/>
                    <a:lstStyle/>
                    <a:p>
                      <a:pPr algn="ctr"/>
                      <a:r>
                        <a:rPr lang="en-GB" sz="1600" b="1" dirty="0">
                          <a:solidFill>
                            <a:schemeClr val="tx1"/>
                          </a:solidFill>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03708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300" kern="1200" dirty="0">
                <a:solidFill>
                  <a:schemeClr val="accent6"/>
                </a:solidFill>
                <a:latin typeface="Calibri"/>
                <a:ea typeface=""/>
                <a:cs typeface="News Gothic MT"/>
              </a:rPr>
              <a:t>Factors which affect rates of  reactions - catalysts</a:t>
            </a:r>
            <a:r>
              <a:rPr lang="en-US" sz="2300" b="1" kern="1200" dirty="0">
                <a:solidFill>
                  <a:schemeClr val="accent6"/>
                </a:solidFill>
                <a:latin typeface="Calibri"/>
                <a:ea typeface=""/>
                <a:cs typeface="News Gothic MT"/>
              </a:rPr>
              <a:t>– </a:t>
            </a:r>
            <a:r>
              <a:rPr lang="en-US" sz="2300" b="1" kern="1200" dirty="0" err="1">
                <a:solidFill>
                  <a:schemeClr val="tx1"/>
                </a:solidFill>
                <a:latin typeface="Calibri"/>
                <a:ea typeface=""/>
                <a:cs typeface="News Gothic MT"/>
              </a:rPr>
              <a:t>QuestionIT</a:t>
            </a:r>
            <a:endParaRPr kumimoji="0" lang="en-US" sz="23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062377"/>
          </a:xfrm>
          <a:prstGeom prst="rect">
            <a:avLst/>
          </a:prstGeom>
          <a:noFill/>
        </p:spPr>
        <p:txBody>
          <a:bodyPr wrap="square" rtlCol="0">
            <a:spAutoFit/>
          </a:bodyPr>
          <a:lstStyle/>
          <a:p>
            <a:pPr marL="457200" indent="-457200">
              <a:buFont typeface="+mj-lt"/>
              <a:buAutoNum type="arabicPeriod" startAt="6"/>
            </a:pPr>
            <a:r>
              <a:rPr lang="en-GB" sz="2400" dirty="0"/>
              <a:t>Draw the reaction profile for 2H</a:t>
            </a:r>
            <a:r>
              <a:rPr lang="en-GB" sz="2400" baseline="-25000" dirty="0"/>
              <a:t>2</a:t>
            </a:r>
            <a:r>
              <a:rPr lang="en-GB" sz="2400" dirty="0"/>
              <a:t>O</a:t>
            </a:r>
            <a:r>
              <a:rPr lang="en-GB" sz="2400" baseline="-25000" dirty="0"/>
              <a:t>2</a:t>
            </a:r>
            <a:r>
              <a:rPr lang="en-GB" sz="2400" dirty="0"/>
              <a:t> </a:t>
            </a:r>
            <a:r>
              <a:rPr lang="en-GB" sz="2400" dirty="0">
                <a:sym typeface="Wingdings" panose="05000000000000000000" pitchFamily="2" charset="2"/>
              </a:rPr>
              <a:t>  O</a:t>
            </a:r>
            <a:r>
              <a:rPr lang="en-GB" sz="2400" baseline="-25000" dirty="0">
                <a:sym typeface="Wingdings" panose="05000000000000000000" pitchFamily="2" charset="2"/>
              </a:rPr>
              <a:t>2</a:t>
            </a:r>
            <a:r>
              <a:rPr lang="en-GB" sz="2400" dirty="0">
                <a:sym typeface="Wingdings" panose="05000000000000000000" pitchFamily="2" charset="2"/>
              </a:rPr>
              <a:t>  +  2H</a:t>
            </a:r>
            <a:r>
              <a:rPr lang="en-GB" sz="2400" baseline="-25000" dirty="0">
                <a:sym typeface="Wingdings" panose="05000000000000000000" pitchFamily="2" charset="2"/>
              </a:rPr>
              <a:t>2</a:t>
            </a:r>
            <a:r>
              <a:rPr lang="en-GB" sz="2400" dirty="0">
                <a:sym typeface="Wingdings" panose="05000000000000000000" pitchFamily="2" charset="2"/>
              </a:rPr>
              <a:t>O with and without a catalyst and label the activation energies.</a:t>
            </a:r>
          </a:p>
          <a:p>
            <a:pPr>
              <a:lnSpc>
                <a:spcPct val="150000"/>
              </a:lnSpc>
            </a:pPr>
            <a:r>
              <a:rPr lang="en-GB" sz="2000" dirty="0"/>
              <a:t> </a:t>
            </a:r>
            <a:endParaRPr lang="en-GB" sz="2000" dirty="0">
              <a:solidFill>
                <a:srgbClr val="00B050"/>
              </a:solidFill>
            </a:endParaRPr>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824014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754874"/>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GB" sz="3200" b="1" dirty="0">
                <a:solidFill>
                  <a:schemeClr val="tx1">
                    <a:lumMod val="50000"/>
                    <a:lumOff val="50000"/>
                  </a:schemeClr>
                </a:solidFill>
              </a:rPr>
              <a:t>Rate of reaction</a:t>
            </a:r>
          </a:p>
          <a:p>
            <a:r>
              <a:rPr lang="en-GB" sz="3200" b="1" dirty="0">
                <a:solidFill>
                  <a:schemeClr val="tx1">
                    <a:lumMod val="50000"/>
                    <a:lumOff val="50000"/>
                  </a:schemeClr>
                </a:solidFill>
              </a:rPr>
              <a:t>Part 3 </a:t>
            </a:r>
          </a:p>
          <a:p>
            <a:pPr marL="457200" indent="-457200">
              <a:lnSpc>
                <a:spcPct val="150000"/>
              </a:lnSpc>
              <a:buFont typeface="Arial" charset="0"/>
              <a:buChar char="•"/>
            </a:pPr>
            <a:r>
              <a:rPr lang="en-GB" sz="3200" b="1" dirty="0">
                <a:solidFill>
                  <a:schemeClr val="tx1">
                    <a:lumMod val="50000"/>
                    <a:lumOff val="50000"/>
                  </a:schemeClr>
                </a:solidFill>
              </a:rPr>
              <a:t>Catalysts </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3162510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300" kern="1200" dirty="0">
                <a:solidFill>
                  <a:schemeClr val="accent6"/>
                </a:solidFill>
                <a:latin typeface="Calibri"/>
                <a:ea typeface=""/>
                <a:cs typeface="News Gothic MT"/>
              </a:rPr>
              <a:t>Factors which affect rates of  reactions - catalysts</a:t>
            </a:r>
            <a:r>
              <a:rPr lang="en-US" sz="2300" b="1" kern="1200" dirty="0">
                <a:solidFill>
                  <a:schemeClr val="accent6"/>
                </a:solidFill>
                <a:latin typeface="Calibri"/>
                <a:ea typeface=""/>
                <a:cs typeface="News Gothic MT"/>
              </a:rPr>
              <a:t>– </a:t>
            </a:r>
            <a:r>
              <a:rPr lang="en-US" sz="2300" b="1" kern="1200" dirty="0" err="1">
                <a:solidFill>
                  <a:schemeClr val="tx1"/>
                </a:solidFill>
                <a:latin typeface="Calibri"/>
                <a:ea typeface=""/>
                <a:cs typeface="News Gothic MT"/>
              </a:rPr>
              <a:t>QuestionIT</a:t>
            </a:r>
            <a:endParaRPr kumimoji="0" lang="en-US" sz="23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186035"/>
          </a:xfrm>
          <a:prstGeom prst="rect">
            <a:avLst/>
          </a:prstGeom>
          <a:noFill/>
        </p:spPr>
        <p:txBody>
          <a:bodyPr wrap="square" rtlCol="0">
            <a:spAutoFit/>
          </a:bodyPr>
          <a:lstStyle/>
          <a:p>
            <a:pPr marL="457200" indent="-457200">
              <a:buFont typeface="+mj-lt"/>
              <a:buAutoNum type="arabicPeriod"/>
            </a:pPr>
            <a:r>
              <a:rPr lang="en-GB" sz="2400" dirty="0"/>
              <a:t>What is a catalyst?</a:t>
            </a:r>
          </a:p>
          <a:p>
            <a:pPr lvl="1"/>
            <a:r>
              <a:rPr lang="en-GB" sz="2400" dirty="0">
                <a:solidFill>
                  <a:srgbClr val="00B050"/>
                </a:solidFill>
              </a:rPr>
              <a:t>Speeds up the rate of reaction; does not alter products of reaction; unchanged chemically and in mass at end of reaction.</a:t>
            </a:r>
          </a:p>
          <a:p>
            <a:pPr marL="457200" indent="-457200">
              <a:buFont typeface="+mj-lt"/>
              <a:buAutoNum type="arabicPeriod"/>
            </a:pPr>
            <a:r>
              <a:rPr lang="en-GB" sz="2400" dirty="0"/>
              <a:t>What is a biological catalyst?</a:t>
            </a:r>
          </a:p>
          <a:p>
            <a:pPr lvl="1"/>
            <a:r>
              <a:rPr lang="en-GB" sz="2400" dirty="0">
                <a:solidFill>
                  <a:srgbClr val="00B050"/>
                </a:solidFill>
              </a:rPr>
              <a:t>Enzyme.</a:t>
            </a:r>
          </a:p>
          <a:p>
            <a:pPr marL="457200" indent="-457200">
              <a:buFont typeface="+mj-lt"/>
              <a:buAutoNum type="arabicPeriod"/>
            </a:pPr>
            <a:r>
              <a:rPr lang="en-GB" sz="2400" dirty="0"/>
              <a:t>Name a process which makes use of biological catalysts.</a:t>
            </a:r>
          </a:p>
          <a:p>
            <a:pPr lvl="1"/>
            <a:r>
              <a:rPr lang="en-GB" sz="2400" dirty="0">
                <a:solidFill>
                  <a:srgbClr val="00B050"/>
                </a:solidFill>
              </a:rPr>
              <a:t>Fermentation/ making alcoholic drinks.</a:t>
            </a:r>
          </a:p>
          <a:p>
            <a:pPr marL="457200" indent="-457200">
              <a:buFont typeface="+mj-lt"/>
              <a:buAutoNum type="arabicPeriod"/>
            </a:pPr>
            <a:r>
              <a:rPr lang="en-GB" sz="2400" dirty="0"/>
              <a:t>How does a catalyst alter the rate of reaction?</a:t>
            </a:r>
            <a:r>
              <a:rPr lang="en-GB" sz="2000" dirty="0"/>
              <a:t> </a:t>
            </a:r>
          </a:p>
          <a:p>
            <a:pPr lvl="1"/>
            <a:r>
              <a:rPr lang="en-GB" sz="2400" dirty="0">
                <a:solidFill>
                  <a:srgbClr val="00B050"/>
                </a:solidFill>
              </a:rPr>
              <a:t>Reduces activation energy of reaction.</a:t>
            </a:r>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6997593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400" kern="1200" dirty="0">
                <a:solidFill>
                  <a:schemeClr val="accent6"/>
                </a:solidFill>
                <a:latin typeface="Calibri"/>
                <a:ea typeface=""/>
                <a:cs typeface="News Gothic MT"/>
              </a:rPr>
              <a:t>Factors which affect rates of  reactions - catalysts</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7309693"/>
          </a:xfrm>
          <a:prstGeom prst="rect">
            <a:avLst/>
          </a:prstGeom>
          <a:noFill/>
        </p:spPr>
        <p:txBody>
          <a:bodyPr wrap="square" rtlCol="0">
            <a:spAutoFit/>
          </a:bodyPr>
          <a:lstStyle/>
          <a:p>
            <a:pPr>
              <a:lnSpc>
                <a:spcPct val="150000"/>
              </a:lnSpc>
            </a:pPr>
            <a:r>
              <a:rPr lang="en-GB" sz="2000" dirty="0"/>
              <a:t>5. A student carried out three reactions to investigate how quickly oxygen gas was given off by decomposing hydrogen peroxide.</a:t>
            </a:r>
          </a:p>
          <a:p>
            <a:pPr algn="ctr">
              <a:lnSpc>
                <a:spcPct val="150000"/>
              </a:lnSpc>
            </a:pPr>
            <a:r>
              <a:rPr lang="en-GB" sz="2000" dirty="0"/>
              <a:t>2H</a:t>
            </a:r>
            <a:r>
              <a:rPr lang="en-GB" sz="2000" baseline="-25000" dirty="0"/>
              <a:t>2</a:t>
            </a:r>
            <a:r>
              <a:rPr lang="en-GB" sz="2000" dirty="0"/>
              <a:t>O</a:t>
            </a:r>
            <a:r>
              <a:rPr lang="en-GB" sz="2000" baseline="-25000" dirty="0"/>
              <a:t>2</a:t>
            </a:r>
            <a:r>
              <a:rPr lang="en-GB" sz="2000" dirty="0"/>
              <a:t> </a:t>
            </a:r>
            <a:r>
              <a:rPr lang="en-GB" sz="2000" dirty="0">
                <a:sym typeface="Wingdings" panose="05000000000000000000" pitchFamily="2" charset="2"/>
              </a:rPr>
              <a:t>  O</a:t>
            </a:r>
            <a:r>
              <a:rPr lang="en-GB" sz="2000" baseline="-25000" dirty="0">
                <a:sym typeface="Wingdings" panose="05000000000000000000" pitchFamily="2" charset="2"/>
              </a:rPr>
              <a:t>2</a:t>
            </a:r>
            <a:r>
              <a:rPr lang="en-GB" sz="2000" dirty="0">
                <a:sym typeface="Wingdings" panose="05000000000000000000" pitchFamily="2" charset="2"/>
              </a:rPr>
              <a:t>  +  2H</a:t>
            </a:r>
            <a:r>
              <a:rPr lang="en-GB" sz="2000" baseline="-25000" dirty="0">
                <a:sym typeface="Wingdings" panose="05000000000000000000" pitchFamily="2" charset="2"/>
              </a:rPr>
              <a:t>2</a:t>
            </a:r>
            <a:r>
              <a:rPr lang="en-GB" sz="2000" dirty="0">
                <a:sym typeface="Wingdings" panose="05000000000000000000" pitchFamily="2" charset="2"/>
              </a:rPr>
              <a:t>O</a:t>
            </a:r>
          </a:p>
          <a:p>
            <a:pPr>
              <a:lnSpc>
                <a:spcPct val="150000"/>
              </a:lnSpc>
            </a:pPr>
            <a:r>
              <a:rPr lang="en-GB" sz="2000" dirty="0"/>
              <a:t>Each time she changed the chemical she was adding to see if it was a catalyst. Here are her results.</a:t>
            </a:r>
          </a:p>
          <a:p>
            <a:pPr>
              <a:lnSpc>
                <a:spcPct val="150000"/>
              </a:lnSpc>
            </a:pPr>
            <a:r>
              <a:rPr lang="en-GB" sz="2400" dirty="0">
                <a:solidFill>
                  <a:srgbClr val="00B050"/>
                </a:solidFill>
              </a:rPr>
              <a:t>	</a:t>
            </a:r>
          </a:p>
          <a:p>
            <a:pPr>
              <a:lnSpc>
                <a:spcPct val="150000"/>
              </a:lnSpc>
            </a:pPr>
            <a:endParaRPr lang="en-GB" sz="2400" dirty="0">
              <a:solidFill>
                <a:srgbClr val="00B050"/>
              </a:solidFill>
            </a:endParaRPr>
          </a:p>
          <a:p>
            <a:pPr>
              <a:lnSpc>
                <a:spcPct val="150000"/>
              </a:lnSpc>
            </a:pPr>
            <a:endParaRPr lang="en-GB" sz="2400" dirty="0">
              <a:solidFill>
                <a:srgbClr val="00B050"/>
              </a:solidFill>
            </a:endParaRPr>
          </a:p>
          <a:p>
            <a:pPr>
              <a:lnSpc>
                <a:spcPct val="150000"/>
              </a:lnSpc>
            </a:pPr>
            <a:endParaRPr lang="en-GB" sz="2400" dirty="0"/>
          </a:p>
          <a:p>
            <a:pPr>
              <a:lnSpc>
                <a:spcPct val="150000"/>
              </a:lnSpc>
            </a:pPr>
            <a:r>
              <a:rPr lang="en-GB" sz="2000" dirty="0"/>
              <a:t>Which chemical was a catalyst? Explain your answer.</a:t>
            </a:r>
          </a:p>
          <a:p>
            <a:pPr>
              <a:lnSpc>
                <a:spcPct val="150000"/>
              </a:lnSpc>
            </a:pPr>
            <a:r>
              <a:rPr lang="en-GB" sz="2000" dirty="0"/>
              <a:t>	</a:t>
            </a:r>
            <a:r>
              <a:rPr lang="en-GB" sz="2000" dirty="0">
                <a:solidFill>
                  <a:srgbClr val="00B050"/>
                </a:solidFill>
              </a:rPr>
              <a:t>C, the time taken for the reaction was shorter.</a:t>
            </a:r>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graphicFrame>
        <p:nvGraphicFramePr>
          <p:cNvPr id="3" name="Table 2"/>
          <p:cNvGraphicFramePr>
            <a:graphicFrameLocks noGrp="1"/>
          </p:cNvGraphicFramePr>
          <p:nvPr>
            <p:extLst>
              <p:ext uri="{D42A27DB-BD31-4B8C-83A1-F6EECF244321}">
                <p14:modId xmlns:p14="http://schemas.microsoft.com/office/powerpoint/2010/main" val="2795538750"/>
              </p:ext>
            </p:extLst>
          </p:nvPr>
        </p:nvGraphicFramePr>
        <p:xfrm>
          <a:off x="1524000" y="3068963"/>
          <a:ext cx="6096000" cy="1933353"/>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554703">
                <a:tc>
                  <a:txBody>
                    <a:bodyPr/>
                    <a:lstStyle/>
                    <a:p>
                      <a:pPr algn="ctr"/>
                      <a:r>
                        <a:rPr lang="en-GB" sz="1600" b="1" dirty="0">
                          <a:solidFill>
                            <a:schemeClr val="tx1"/>
                          </a:solidFill>
                        </a:rPr>
                        <a:t>Chemical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GB" sz="1600" b="1" dirty="0">
                          <a:solidFill>
                            <a:schemeClr val="tx1"/>
                          </a:solidFill>
                        </a:rPr>
                        <a:t>Time taken to collect 50 cm3 in seconds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321144">
                <a:tc>
                  <a:txBody>
                    <a:bodyPr/>
                    <a:lstStyle/>
                    <a:p>
                      <a:pPr algn="ctr"/>
                      <a:r>
                        <a:rPr lang="en-GB" sz="1600" b="1" dirty="0">
                          <a:solidFill>
                            <a:schemeClr val="tx1"/>
                          </a:solidFill>
                        </a:rPr>
                        <a:t>Without chemical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821">
                <a:tc>
                  <a:txBody>
                    <a:bodyPr/>
                    <a:lstStyle/>
                    <a:p>
                      <a:pPr algn="ctr"/>
                      <a:r>
                        <a:rPr lang="en-GB" sz="1600" b="1"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21144">
                <a:tc>
                  <a:txBody>
                    <a:bodyPr/>
                    <a:lstStyle/>
                    <a:p>
                      <a:pPr algn="ctr"/>
                      <a:r>
                        <a:rPr lang="en-GB" sz="1600" b="1" dirty="0">
                          <a:solidFill>
                            <a:schemeClr val="tx1"/>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No oxygen given off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48393">
                <a:tc>
                  <a:txBody>
                    <a:bodyPr/>
                    <a:lstStyle/>
                    <a:p>
                      <a:pPr algn="ctr"/>
                      <a:r>
                        <a:rPr lang="en-GB" sz="1600" b="1" dirty="0">
                          <a:solidFill>
                            <a:schemeClr val="tx1"/>
                          </a:solidFill>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600" b="1" dirty="0">
                          <a:solidFill>
                            <a:schemeClr val="tx1"/>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743868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400" kern="1200" dirty="0">
                <a:solidFill>
                  <a:schemeClr val="accent6"/>
                </a:solidFill>
                <a:latin typeface="Calibri"/>
                <a:ea typeface=""/>
                <a:cs typeface="News Gothic MT"/>
              </a:rPr>
              <a:t>Factors which affect rates of  reactions - catalysts</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25423" y="657041"/>
            <a:ext cx="8915400" cy="3247043"/>
          </a:xfrm>
          <a:prstGeom prst="rect">
            <a:avLst/>
          </a:prstGeom>
          <a:noFill/>
        </p:spPr>
        <p:txBody>
          <a:bodyPr wrap="square" rtlCol="0">
            <a:spAutoFit/>
          </a:bodyPr>
          <a:lstStyle/>
          <a:p>
            <a:pPr>
              <a:lnSpc>
                <a:spcPct val="150000"/>
              </a:lnSpc>
            </a:pPr>
            <a:r>
              <a:rPr lang="en-GB" sz="2000" dirty="0"/>
              <a:t>6. Draw the reaction profile for 2H</a:t>
            </a:r>
            <a:r>
              <a:rPr lang="en-GB" sz="2000" baseline="-25000" dirty="0"/>
              <a:t>2</a:t>
            </a:r>
            <a:r>
              <a:rPr lang="en-GB" sz="2000" dirty="0"/>
              <a:t>O</a:t>
            </a:r>
            <a:r>
              <a:rPr lang="en-GB" sz="2000" baseline="-25000" dirty="0"/>
              <a:t>2</a:t>
            </a:r>
            <a:r>
              <a:rPr lang="en-GB" sz="2000" dirty="0"/>
              <a:t> </a:t>
            </a:r>
            <a:r>
              <a:rPr lang="en-GB" sz="2000" dirty="0">
                <a:sym typeface="Wingdings" panose="05000000000000000000" pitchFamily="2" charset="2"/>
              </a:rPr>
              <a:t>  O</a:t>
            </a:r>
            <a:r>
              <a:rPr lang="en-GB" sz="2000" baseline="-25000" dirty="0">
                <a:sym typeface="Wingdings" panose="05000000000000000000" pitchFamily="2" charset="2"/>
              </a:rPr>
              <a:t>2</a:t>
            </a:r>
            <a:r>
              <a:rPr lang="en-GB" sz="2000" dirty="0">
                <a:sym typeface="Wingdings" panose="05000000000000000000" pitchFamily="2" charset="2"/>
              </a:rPr>
              <a:t>  +  2H</a:t>
            </a:r>
            <a:r>
              <a:rPr lang="en-GB" sz="2000" baseline="-25000" dirty="0">
                <a:sym typeface="Wingdings" panose="05000000000000000000" pitchFamily="2" charset="2"/>
              </a:rPr>
              <a:t>2</a:t>
            </a:r>
            <a:r>
              <a:rPr lang="en-GB" sz="2000" dirty="0">
                <a:sym typeface="Wingdings" panose="05000000000000000000" pitchFamily="2" charset="2"/>
              </a:rPr>
              <a:t>O with and without a catalyst and label the activation energies.</a:t>
            </a:r>
          </a:p>
          <a:p>
            <a:pPr marL="457200" indent="-457200">
              <a:lnSpc>
                <a:spcPct val="150000"/>
              </a:lnSpc>
              <a:buAutoNum type="arabicPeriod" startAt="4"/>
            </a:pPr>
            <a:endParaRPr lang="en-GB" sz="2000" dirty="0">
              <a:solidFill>
                <a:srgbClr val="00B050"/>
              </a:solidFill>
            </a:endParaRPr>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pic>
        <p:nvPicPr>
          <p:cNvPr id="3" name="Picture 2"/>
          <p:cNvPicPr>
            <a:picLocks noChangeAspect="1"/>
          </p:cNvPicPr>
          <p:nvPr/>
        </p:nvPicPr>
        <p:blipFill>
          <a:blip r:embed="rId2">
            <a:duotone>
              <a:schemeClr val="accent3">
                <a:shade val="45000"/>
                <a:satMod val="135000"/>
              </a:schemeClr>
              <a:prstClr val="white"/>
            </a:duotone>
          </a:blip>
          <a:stretch>
            <a:fillRect/>
          </a:stretch>
        </p:blipFill>
        <p:spPr>
          <a:xfrm>
            <a:off x="1475656" y="1700212"/>
            <a:ext cx="4868553" cy="3457575"/>
          </a:xfrm>
          <a:prstGeom prst="rect">
            <a:avLst/>
          </a:prstGeom>
        </p:spPr>
      </p:pic>
    </p:spTree>
    <p:extLst>
      <p:ext uri="{BB962C8B-B14F-4D97-AF65-F5344CB8AC3E}">
        <p14:creationId xmlns:p14="http://schemas.microsoft.com/office/powerpoint/2010/main" val="857795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5170646"/>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endParaRPr lang="en-GB" sz="3200" b="1" dirty="0">
              <a:solidFill>
                <a:schemeClr val="tx1">
                  <a:lumMod val="50000"/>
                  <a:lumOff val="50000"/>
                </a:schemeClr>
              </a:solidFill>
            </a:endParaRPr>
          </a:p>
          <a:p>
            <a:r>
              <a:rPr lang="en-GB" sz="3200" b="1" dirty="0">
                <a:solidFill>
                  <a:schemeClr val="tx1">
                    <a:lumMod val="50000"/>
                    <a:lumOff val="50000"/>
                  </a:schemeClr>
                </a:solidFill>
              </a:rPr>
              <a:t>Energy Changes</a:t>
            </a:r>
          </a:p>
          <a:p>
            <a:r>
              <a:rPr lang="en-GB" sz="3200" b="1" dirty="0">
                <a:solidFill>
                  <a:schemeClr val="tx1">
                    <a:lumMod val="50000"/>
                    <a:lumOff val="50000"/>
                  </a:schemeClr>
                </a:solidFill>
              </a:rPr>
              <a:t>- part 1</a:t>
            </a:r>
          </a:p>
          <a:p>
            <a:pPr marL="457200" indent="-457200">
              <a:lnSpc>
                <a:spcPct val="150000"/>
              </a:lnSpc>
              <a:buFont typeface="Arial" charset="0"/>
              <a:buChar char="•"/>
            </a:pPr>
            <a:r>
              <a:rPr lang="en-GB" sz="2400" b="1" dirty="0">
                <a:solidFill>
                  <a:schemeClr val="tx1">
                    <a:lumMod val="50000"/>
                    <a:lumOff val="50000"/>
                  </a:schemeClr>
                </a:solidFill>
              </a:rPr>
              <a:t>Exothermic reactions</a:t>
            </a:r>
          </a:p>
          <a:p>
            <a:pPr marL="457200" indent="-457200">
              <a:lnSpc>
                <a:spcPct val="150000"/>
              </a:lnSpc>
              <a:buFont typeface="Arial" charset="0"/>
              <a:buChar char="•"/>
            </a:pPr>
            <a:r>
              <a:rPr lang="en-GB" sz="2400" b="1" dirty="0">
                <a:solidFill>
                  <a:schemeClr val="tx1">
                    <a:lumMod val="50000"/>
                    <a:lumOff val="50000"/>
                  </a:schemeClr>
                </a:solidFill>
              </a:rPr>
              <a:t>Endothermic reactions</a:t>
            </a: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36712193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Exothermic and endothermic reactions part 1 – </a:t>
            </a: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Exothermic</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a:t>
            </a:r>
            <a:endParaRPr lang="en-GB" sz="2400" b="1" dirty="0">
              <a:solidFill>
                <a:schemeClr val="accent6"/>
              </a:solidFill>
            </a:endParaRPr>
          </a:p>
        </p:txBody>
      </p:sp>
      <p:sp>
        <p:nvSpPr>
          <p:cNvPr id="7" name="TextBox 6"/>
          <p:cNvSpPr txBox="1"/>
          <p:nvPr/>
        </p:nvSpPr>
        <p:spPr>
          <a:xfrm>
            <a:off x="395536" y="797222"/>
            <a:ext cx="8352927" cy="1938992"/>
          </a:xfrm>
          <a:prstGeom prst="rect">
            <a:avLst/>
          </a:prstGeom>
          <a:noFill/>
          <a:ln w="28575">
            <a:solidFill>
              <a:schemeClr val="accent6"/>
            </a:solidFill>
          </a:ln>
        </p:spPr>
        <p:txBody>
          <a:bodyPr wrap="square" rtlCol="0">
            <a:spAutoFit/>
          </a:bodyPr>
          <a:lstStyle/>
          <a:p>
            <a:r>
              <a:rPr lang="en-GB" sz="2400" b="1" dirty="0">
                <a:solidFill>
                  <a:schemeClr val="accent6">
                    <a:lumMod val="75000"/>
                  </a:schemeClr>
                </a:solidFill>
              </a:rPr>
              <a:t>Changes in heat energy </a:t>
            </a:r>
            <a:r>
              <a:rPr lang="en-GB" sz="2400" dirty="0"/>
              <a:t>accompany the following changes:</a:t>
            </a:r>
          </a:p>
          <a:p>
            <a:pPr marL="1257300" lvl="2" indent="-342900">
              <a:buFont typeface="Arial" panose="020B0604020202020204" pitchFamily="34" charset="0"/>
              <a:buChar char="•"/>
            </a:pPr>
            <a:r>
              <a:rPr lang="en-GB" sz="2400" dirty="0"/>
              <a:t>Salts dissolving in water</a:t>
            </a:r>
          </a:p>
          <a:p>
            <a:pPr marL="1257300" lvl="2" indent="-342900">
              <a:buFont typeface="Arial" panose="020B0604020202020204" pitchFamily="34" charset="0"/>
              <a:buChar char="•"/>
            </a:pPr>
            <a:r>
              <a:rPr lang="en-GB" sz="2400" dirty="0"/>
              <a:t>Neutralisation reactions</a:t>
            </a:r>
          </a:p>
          <a:p>
            <a:pPr marL="1257300" lvl="2" indent="-342900">
              <a:buFont typeface="Arial" panose="020B0604020202020204" pitchFamily="34" charset="0"/>
              <a:buChar char="•"/>
            </a:pPr>
            <a:r>
              <a:rPr lang="en-GB" sz="2400" dirty="0"/>
              <a:t>Displacement reactions</a:t>
            </a:r>
          </a:p>
          <a:p>
            <a:pPr marL="1257300" lvl="2" indent="-342900">
              <a:buFont typeface="Arial" panose="020B0604020202020204" pitchFamily="34" charset="0"/>
              <a:buChar char="•"/>
            </a:pPr>
            <a:r>
              <a:rPr lang="en-GB" sz="2400" dirty="0"/>
              <a:t>Precipitation reactions.</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8024" y="3284984"/>
            <a:ext cx="3608548" cy="2157611"/>
          </a:xfrm>
          <a:prstGeom prst="rect">
            <a:avLst/>
          </a:prstGeom>
        </p:spPr>
      </p:pic>
      <p:sp>
        <p:nvSpPr>
          <p:cNvPr id="8" name="TextBox 7"/>
          <p:cNvSpPr txBox="1"/>
          <p:nvPr/>
        </p:nvSpPr>
        <p:spPr>
          <a:xfrm>
            <a:off x="395537" y="3299061"/>
            <a:ext cx="4248472" cy="156966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GB" sz="2400" dirty="0"/>
              <a:t>When these reactions take place in solution, temperature changes can be measured to monitor these heat changes.</a:t>
            </a:r>
          </a:p>
        </p:txBody>
      </p:sp>
    </p:spTree>
    <p:extLst>
      <p:ext uri="{BB962C8B-B14F-4D97-AF65-F5344CB8AC3E}">
        <p14:creationId xmlns:p14="http://schemas.microsoft.com/office/powerpoint/2010/main" val="10318931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Exothermic and endothermic reactions part 1 – </a:t>
            </a: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Exothermic</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a:t>
            </a:r>
            <a:endParaRPr lang="en-GB" sz="2400" b="1" dirty="0">
              <a:solidFill>
                <a:schemeClr val="accent6"/>
              </a:solidFill>
            </a:endParaRPr>
          </a:p>
        </p:txBody>
      </p:sp>
      <p:sp>
        <p:nvSpPr>
          <p:cNvPr id="7" name="TextBox 6"/>
          <p:cNvSpPr txBox="1"/>
          <p:nvPr/>
        </p:nvSpPr>
        <p:spPr>
          <a:xfrm>
            <a:off x="395536" y="797222"/>
            <a:ext cx="8561561" cy="1200329"/>
          </a:xfrm>
          <a:prstGeom prst="rect">
            <a:avLst/>
          </a:prstGeom>
          <a:noFill/>
          <a:ln w="28575">
            <a:solidFill>
              <a:schemeClr val="accent6"/>
            </a:solidFill>
          </a:ln>
        </p:spPr>
        <p:txBody>
          <a:bodyPr wrap="square" rtlCol="0">
            <a:spAutoFit/>
          </a:bodyPr>
          <a:lstStyle/>
          <a:p>
            <a:pPr algn="ctr"/>
            <a:r>
              <a:rPr lang="en-GB" sz="2400" b="1" dirty="0"/>
              <a:t>Energy is </a:t>
            </a:r>
            <a:r>
              <a:rPr lang="en-GB" sz="2400" b="1" dirty="0">
                <a:solidFill>
                  <a:schemeClr val="accent6">
                    <a:lumMod val="75000"/>
                  </a:schemeClr>
                </a:solidFill>
              </a:rPr>
              <a:t>conserved </a:t>
            </a:r>
            <a:r>
              <a:rPr lang="en-GB" sz="2400" b="1" dirty="0"/>
              <a:t>in chemical reactions. The amount of energy in the Universe </a:t>
            </a:r>
            <a:r>
              <a:rPr lang="en-GB" sz="2400" b="1" dirty="0">
                <a:solidFill>
                  <a:schemeClr val="accent6">
                    <a:lumMod val="75000"/>
                  </a:schemeClr>
                </a:solidFill>
              </a:rPr>
              <a:t>at the end </a:t>
            </a:r>
            <a:r>
              <a:rPr lang="en-GB" sz="2400" b="1" dirty="0"/>
              <a:t>of a chemical reaction </a:t>
            </a:r>
            <a:r>
              <a:rPr lang="en-GB" sz="2400" b="1" dirty="0">
                <a:solidFill>
                  <a:schemeClr val="accent6">
                    <a:lumMod val="75000"/>
                  </a:schemeClr>
                </a:solidFill>
              </a:rPr>
              <a:t>is the same as before </a:t>
            </a:r>
            <a:r>
              <a:rPr lang="en-GB" sz="2400" b="1" dirty="0"/>
              <a:t>the reaction takes place.</a:t>
            </a:r>
          </a:p>
        </p:txBody>
      </p:sp>
      <p:sp>
        <p:nvSpPr>
          <p:cNvPr id="3" name="TextBox 2"/>
          <p:cNvSpPr txBox="1"/>
          <p:nvPr/>
        </p:nvSpPr>
        <p:spPr>
          <a:xfrm>
            <a:off x="395536" y="2060848"/>
            <a:ext cx="8280920" cy="584775"/>
          </a:xfrm>
          <a:prstGeom prst="rect">
            <a:avLst/>
          </a:prstGeom>
          <a:noFill/>
        </p:spPr>
        <p:txBody>
          <a:bodyPr wrap="square" rtlCol="0">
            <a:spAutoFit/>
          </a:bodyPr>
          <a:lstStyle/>
          <a:p>
            <a:pPr algn="ctr"/>
            <a:r>
              <a:rPr lang="en-GB" sz="3200" b="1" dirty="0">
                <a:sym typeface="Wingdings" panose="05000000000000000000" pitchFamily="2" charset="2"/>
              </a:rPr>
              <a:t>H</a:t>
            </a:r>
            <a:r>
              <a:rPr lang="en-GB" sz="3200" b="1" baseline="-25000" dirty="0">
                <a:sym typeface="Wingdings" panose="05000000000000000000" pitchFamily="2" charset="2"/>
              </a:rPr>
              <a:t>2</a:t>
            </a:r>
            <a:r>
              <a:rPr lang="en-GB" sz="3200" b="1" dirty="0">
                <a:sym typeface="Wingdings" panose="05000000000000000000" pitchFamily="2" charset="2"/>
              </a:rPr>
              <a:t> (g)  +  Cl</a:t>
            </a:r>
            <a:r>
              <a:rPr lang="en-GB" sz="3200" b="1" baseline="-25000" dirty="0">
                <a:sym typeface="Wingdings" panose="05000000000000000000" pitchFamily="2" charset="2"/>
              </a:rPr>
              <a:t>2</a:t>
            </a:r>
            <a:r>
              <a:rPr lang="en-GB" sz="3200" b="1" dirty="0">
                <a:sym typeface="Wingdings" panose="05000000000000000000" pitchFamily="2" charset="2"/>
              </a:rPr>
              <a:t> (g)    2HCl (g)</a:t>
            </a:r>
            <a:endParaRPr lang="en-GB" sz="3200" dirty="0"/>
          </a:p>
        </p:txBody>
      </p:sp>
      <p:sp>
        <p:nvSpPr>
          <p:cNvPr id="15" name="TextBox 14"/>
          <p:cNvSpPr txBox="1"/>
          <p:nvPr/>
        </p:nvSpPr>
        <p:spPr>
          <a:xfrm>
            <a:off x="395536" y="2708920"/>
            <a:ext cx="8280920" cy="3416320"/>
          </a:xfrm>
          <a:prstGeom prst="rect">
            <a:avLst/>
          </a:prstGeom>
          <a:noFill/>
        </p:spPr>
        <p:txBody>
          <a:bodyPr wrap="square" rtlCol="0">
            <a:spAutoFit/>
          </a:bodyPr>
          <a:lstStyle/>
          <a:p>
            <a:pPr algn="ctr"/>
            <a:r>
              <a:rPr lang="en-GB" sz="2400" b="1" dirty="0"/>
              <a:t>In the above reaction, energy is </a:t>
            </a:r>
            <a:r>
              <a:rPr lang="en-GB" sz="2400" b="1" dirty="0">
                <a:solidFill>
                  <a:schemeClr val="accent6"/>
                </a:solidFill>
              </a:rPr>
              <a:t>given out </a:t>
            </a:r>
            <a:r>
              <a:rPr lang="en-GB" sz="2400" b="1" dirty="0"/>
              <a:t>and it gets hotter. </a:t>
            </a:r>
          </a:p>
          <a:p>
            <a:pPr algn="ctr"/>
            <a:endParaRPr lang="en-GB" sz="2400" b="1" dirty="0"/>
          </a:p>
          <a:p>
            <a:pPr algn="ctr"/>
            <a:r>
              <a:rPr lang="en-GB" sz="2400" b="1" dirty="0"/>
              <a:t>An </a:t>
            </a:r>
            <a:r>
              <a:rPr lang="en-GB" sz="2400" b="1" dirty="0">
                <a:solidFill>
                  <a:schemeClr val="accent6"/>
                </a:solidFill>
              </a:rPr>
              <a:t>exothermic reaction </a:t>
            </a:r>
            <a:r>
              <a:rPr lang="en-GB" sz="2400" b="1" dirty="0"/>
              <a:t>is one that </a:t>
            </a:r>
            <a:r>
              <a:rPr lang="en-GB" sz="2400" b="1" dirty="0">
                <a:solidFill>
                  <a:schemeClr val="accent6"/>
                </a:solidFill>
              </a:rPr>
              <a:t>transfers energy </a:t>
            </a:r>
            <a:r>
              <a:rPr lang="en-GB" sz="2400" b="1" dirty="0"/>
              <a:t>to the surroundings so the temperature of the surroundings </a:t>
            </a:r>
            <a:r>
              <a:rPr lang="en-GB" sz="2400" b="1" dirty="0">
                <a:solidFill>
                  <a:schemeClr val="accent6"/>
                </a:solidFill>
              </a:rPr>
              <a:t>increases</a:t>
            </a:r>
            <a:r>
              <a:rPr lang="en-GB" sz="2400" b="1" dirty="0"/>
              <a:t> – “it gets hotter”.</a:t>
            </a:r>
          </a:p>
          <a:p>
            <a:pPr algn="ctr"/>
            <a:endParaRPr lang="en-GB" sz="2400" b="1" dirty="0"/>
          </a:p>
          <a:p>
            <a:pPr algn="ctr"/>
            <a:r>
              <a:rPr lang="en-GB" sz="2400" b="1" dirty="0"/>
              <a:t>The two </a:t>
            </a:r>
            <a:r>
              <a:rPr lang="en-GB" sz="2400" b="1" dirty="0" err="1"/>
              <a:t>HCl</a:t>
            </a:r>
            <a:r>
              <a:rPr lang="en-GB" sz="2400" b="1" dirty="0"/>
              <a:t> molecules made will not hold as much energy as the H</a:t>
            </a:r>
            <a:r>
              <a:rPr lang="en-GB" sz="2400" b="1" baseline="-25000" dirty="0"/>
              <a:t>2</a:t>
            </a:r>
            <a:r>
              <a:rPr lang="en-GB" sz="2400" b="1" dirty="0"/>
              <a:t> and Cl</a:t>
            </a:r>
            <a:r>
              <a:rPr lang="en-GB" sz="2400" b="1" baseline="-25000" dirty="0"/>
              <a:t>2</a:t>
            </a:r>
            <a:r>
              <a:rPr lang="en-GB" sz="2400" b="1" dirty="0"/>
              <a:t> molecules at the start, so the spare energy is released as heat.</a:t>
            </a:r>
          </a:p>
        </p:txBody>
      </p:sp>
    </p:spTree>
    <p:extLst>
      <p:ext uri="{BB962C8B-B14F-4D97-AF65-F5344CB8AC3E}">
        <p14:creationId xmlns:p14="http://schemas.microsoft.com/office/powerpoint/2010/main" val="20615659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Exothermic and endothermic reactions part 1 – </a:t>
            </a: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Endothermic</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a:t>
            </a:r>
            <a:endParaRPr lang="en-GB" sz="2400" b="1" dirty="0">
              <a:solidFill>
                <a:schemeClr val="accent6"/>
              </a:solidFill>
            </a:endParaRPr>
          </a:p>
        </p:txBody>
      </p:sp>
      <p:sp>
        <p:nvSpPr>
          <p:cNvPr id="7" name="TextBox 6"/>
          <p:cNvSpPr txBox="1"/>
          <p:nvPr/>
        </p:nvSpPr>
        <p:spPr>
          <a:xfrm>
            <a:off x="395536" y="734992"/>
            <a:ext cx="8561561" cy="830997"/>
          </a:xfrm>
          <a:prstGeom prst="rect">
            <a:avLst/>
          </a:prstGeom>
          <a:noFill/>
        </p:spPr>
        <p:txBody>
          <a:bodyPr wrap="square" rtlCol="0">
            <a:spAutoFit/>
          </a:bodyPr>
          <a:lstStyle/>
          <a:p>
            <a:pPr algn="ctr"/>
            <a:r>
              <a:rPr lang="en-GB" sz="2400" b="1" dirty="0"/>
              <a:t>We have already learnt that energy is </a:t>
            </a:r>
            <a:r>
              <a:rPr lang="en-GB" sz="2400" b="1" dirty="0">
                <a:solidFill>
                  <a:schemeClr val="accent6">
                    <a:lumMod val="75000"/>
                  </a:schemeClr>
                </a:solidFill>
              </a:rPr>
              <a:t>conserved </a:t>
            </a:r>
            <a:r>
              <a:rPr lang="en-GB" sz="2400" b="1" dirty="0"/>
              <a:t>in chemical reactions. </a:t>
            </a:r>
          </a:p>
        </p:txBody>
      </p:sp>
      <p:sp>
        <p:nvSpPr>
          <p:cNvPr id="3" name="TextBox 2"/>
          <p:cNvSpPr txBox="1"/>
          <p:nvPr/>
        </p:nvSpPr>
        <p:spPr>
          <a:xfrm>
            <a:off x="251520" y="1565990"/>
            <a:ext cx="8424936" cy="461665"/>
          </a:xfrm>
          <a:prstGeom prst="rect">
            <a:avLst/>
          </a:prstGeom>
          <a:noFill/>
        </p:spPr>
        <p:txBody>
          <a:bodyPr wrap="square" rtlCol="0">
            <a:spAutoFit/>
          </a:bodyPr>
          <a:lstStyle/>
          <a:p>
            <a:pPr algn="ctr"/>
            <a:r>
              <a:rPr lang="en-GB" sz="2400" b="1" dirty="0">
                <a:sym typeface="Wingdings" panose="05000000000000000000" pitchFamily="2" charset="2"/>
              </a:rPr>
              <a:t>2CH</a:t>
            </a:r>
            <a:r>
              <a:rPr lang="en-GB" sz="2400" b="1" baseline="-25000" dirty="0">
                <a:sym typeface="Wingdings" panose="05000000000000000000" pitchFamily="2" charset="2"/>
              </a:rPr>
              <a:t>3</a:t>
            </a:r>
            <a:r>
              <a:rPr lang="en-GB" sz="2400" b="1" dirty="0">
                <a:sym typeface="Wingdings" panose="05000000000000000000" pitchFamily="2" charset="2"/>
              </a:rPr>
              <a:t>COOH(</a:t>
            </a:r>
            <a:r>
              <a:rPr lang="en-GB" sz="2400" b="1" dirty="0" err="1">
                <a:sym typeface="Wingdings" panose="05000000000000000000" pitchFamily="2" charset="2"/>
              </a:rPr>
              <a:t>aq</a:t>
            </a:r>
            <a:r>
              <a:rPr lang="en-GB" sz="2400" b="1" dirty="0">
                <a:sym typeface="Wingdings" panose="05000000000000000000" pitchFamily="2" charset="2"/>
              </a:rPr>
              <a:t>) + Na</a:t>
            </a:r>
            <a:r>
              <a:rPr lang="en-GB" sz="2400" b="1" baseline="-25000" dirty="0">
                <a:sym typeface="Wingdings" panose="05000000000000000000" pitchFamily="2" charset="2"/>
              </a:rPr>
              <a:t>2</a:t>
            </a:r>
            <a:r>
              <a:rPr lang="en-GB" sz="2400" b="1" dirty="0">
                <a:sym typeface="Wingdings" panose="05000000000000000000" pitchFamily="2" charset="2"/>
              </a:rPr>
              <a:t>CO</a:t>
            </a:r>
            <a:r>
              <a:rPr lang="en-GB" sz="2400" b="1" baseline="-25000" dirty="0">
                <a:sym typeface="Wingdings" panose="05000000000000000000" pitchFamily="2" charset="2"/>
              </a:rPr>
              <a:t>3</a:t>
            </a:r>
            <a:r>
              <a:rPr lang="en-GB" sz="2400" b="1" dirty="0">
                <a:sym typeface="Wingdings" panose="05000000000000000000" pitchFamily="2" charset="2"/>
              </a:rPr>
              <a:t>(s)   2CH</a:t>
            </a:r>
            <a:r>
              <a:rPr lang="en-GB" sz="2400" b="1" baseline="-25000" dirty="0">
                <a:sym typeface="Wingdings" panose="05000000000000000000" pitchFamily="2" charset="2"/>
              </a:rPr>
              <a:t>3</a:t>
            </a:r>
            <a:r>
              <a:rPr lang="en-GB" sz="2400" b="1" dirty="0">
                <a:sym typeface="Wingdings" panose="05000000000000000000" pitchFamily="2" charset="2"/>
              </a:rPr>
              <a:t>COONa(</a:t>
            </a:r>
            <a:r>
              <a:rPr lang="en-GB" sz="2400" b="1" dirty="0" err="1">
                <a:sym typeface="Wingdings" panose="05000000000000000000" pitchFamily="2" charset="2"/>
              </a:rPr>
              <a:t>aq</a:t>
            </a:r>
            <a:r>
              <a:rPr lang="en-GB" sz="2400" b="1" dirty="0">
                <a:sym typeface="Wingdings" panose="05000000000000000000" pitchFamily="2" charset="2"/>
              </a:rPr>
              <a:t>) + CO</a:t>
            </a:r>
            <a:r>
              <a:rPr lang="en-GB" sz="2400" b="1" baseline="-25000" dirty="0">
                <a:sym typeface="Wingdings" panose="05000000000000000000" pitchFamily="2" charset="2"/>
              </a:rPr>
              <a:t>2</a:t>
            </a:r>
            <a:r>
              <a:rPr lang="en-GB" sz="2400" b="1" dirty="0">
                <a:sym typeface="Wingdings" panose="05000000000000000000" pitchFamily="2" charset="2"/>
              </a:rPr>
              <a:t>(g) + H</a:t>
            </a:r>
            <a:r>
              <a:rPr lang="en-GB" sz="2400" b="1" baseline="-25000" dirty="0">
                <a:sym typeface="Wingdings" panose="05000000000000000000" pitchFamily="2" charset="2"/>
              </a:rPr>
              <a:t>2</a:t>
            </a:r>
            <a:r>
              <a:rPr lang="en-GB" sz="2400" b="1" dirty="0">
                <a:sym typeface="Wingdings" panose="05000000000000000000" pitchFamily="2" charset="2"/>
              </a:rPr>
              <a:t>O (l)</a:t>
            </a:r>
            <a:endParaRPr lang="en-GB" sz="2400" dirty="0"/>
          </a:p>
        </p:txBody>
      </p:sp>
      <p:sp>
        <p:nvSpPr>
          <p:cNvPr id="15" name="TextBox 14"/>
          <p:cNvSpPr txBox="1"/>
          <p:nvPr/>
        </p:nvSpPr>
        <p:spPr>
          <a:xfrm>
            <a:off x="251520" y="2132856"/>
            <a:ext cx="8424936" cy="3046988"/>
          </a:xfrm>
          <a:prstGeom prst="rect">
            <a:avLst/>
          </a:prstGeom>
          <a:noFill/>
        </p:spPr>
        <p:txBody>
          <a:bodyPr wrap="square" rtlCol="0">
            <a:spAutoFit/>
          </a:bodyPr>
          <a:lstStyle/>
          <a:p>
            <a:pPr algn="ctr"/>
            <a:r>
              <a:rPr lang="en-GB" sz="2400" b="1" dirty="0"/>
              <a:t>In the above reaction, energy is </a:t>
            </a:r>
            <a:r>
              <a:rPr lang="en-GB" sz="2400" b="1" dirty="0">
                <a:solidFill>
                  <a:schemeClr val="accent6"/>
                </a:solidFill>
              </a:rPr>
              <a:t>taken in</a:t>
            </a:r>
            <a:r>
              <a:rPr lang="en-GB" sz="2400" b="1" dirty="0"/>
              <a:t>- it gets </a:t>
            </a:r>
            <a:r>
              <a:rPr lang="en-GB" sz="2400" b="1" dirty="0">
                <a:solidFill>
                  <a:schemeClr val="accent6"/>
                </a:solidFill>
              </a:rPr>
              <a:t>colder</a:t>
            </a:r>
            <a:r>
              <a:rPr lang="en-GB" sz="2400" b="1" dirty="0"/>
              <a:t>. </a:t>
            </a:r>
          </a:p>
          <a:p>
            <a:pPr algn="ctr"/>
            <a:r>
              <a:rPr lang="en-GB" sz="2400" b="1" dirty="0"/>
              <a:t>An </a:t>
            </a:r>
            <a:r>
              <a:rPr lang="en-GB" sz="2400" b="1" dirty="0">
                <a:solidFill>
                  <a:schemeClr val="accent6"/>
                </a:solidFill>
              </a:rPr>
              <a:t>endothermic</a:t>
            </a:r>
            <a:r>
              <a:rPr lang="en-GB" sz="2400" b="1" dirty="0"/>
              <a:t> reaction is one that takes energy from the surroundings so the temperature of the surroundings </a:t>
            </a:r>
            <a:r>
              <a:rPr lang="en-GB" sz="2400" b="1" dirty="0">
                <a:solidFill>
                  <a:schemeClr val="accent6"/>
                </a:solidFill>
              </a:rPr>
              <a:t>decreases</a:t>
            </a:r>
            <a:r>
              <a:rPr lang="en-GB" sz="2400" b="1" dirty="0"/>
              <a:t> – “it gets colder”.</a:t>
            </a:r>
          </a:p>
          <a:p>
            <a:pPr algn="ctr"/>
            <a:r>
              <a:rPr lang="en-GB" sz="2400" b="1" dirty="0"/>
              <a:t>The sodium ethanoate, carbon dioxide and water molecules made will hold </a:t>
            </a:r>
            <a:r>
              <a:rPr lang="en-GB" sz="2400" b="1" dirty="0">
                <a:solidFill>
                  <a:schemeClr val="accent6"/>
                </a:solidFill>
              </a:rPr>
              <a:t>more</a:t>
            </a:r>
            <a:r>
              <a:rPr lang="en-GB" sz="2400" b="1" dirty="0"/>
              <a:t> energy than the ethanoic acid and sodium carbonate molecules at the start, so the energy needed is </a:t>
            </a:r>
          </a:p>
          <a:p>
            <a:pPr algn="ctr"/>
            <a:r>
              <a:rPr lang="en-GB" sz="2400" b="1" dirty="0">
                <a:solidFill>
                  <a:schemeClr val="accent6"/>
                </a:solidFill>
              </a:rPr>
              <a:t>taken in </a:t>
            </a:r>
            <a:r>
              <a:rPr lang="en-GB" sz="2400" b="1" dirty="0"/>
              <a:t>as heat.</a:t>
            </a:r>
          </a:p>
        </p:txBody>
      </p:sp>
      <p:sp>
        <p:nvSpPr>
          <p:cNvPr id="4" name="TextBox 3"/>
          <p:cNvSpPr txBox="1"/>
          <p:nvPr/>
        </p:nvSpPr>
        <p:spPr>
          <a:xfrm>
            <a:off x="251520" y="5301208"/>
            <a:ext cx="6048672" cy="1200329"/>
          </a:xfrm>
          <a:prstGeom prst="rect">
            <a:avLst/>
          </a:prstGeom>
          <a:noFill/>
        </p:spPr>
        <p:txBody>
          <a:bodyPr wrap="square" rtlCol="0">
            <a:spAutoFit/>
          </a:bodyPr>
          <a:lstStyle/>
          <a:p>
            <a:r>
              <a:rPr lang="en-GB" sz="2400" b="1" dirty="0"/>
              <a:t>Other examples of endothermic reactions are: </a:t>
            </a:r>
          </a:p>
          <a:p>
            <a:pPr marL="342900" indent="-342900">
              <a:buFont typeface="Arial" panose="020B0604020202020204" pitchFamily="34" charset="0"/>
              <a:buChar char="•"/>
            </a:pPr>
            <a:r>
              <a:rPr lang="en-GB" sz="2400" b="1" dirty="0">
                <a:solidFill>
                  <a:schemeClr val="accent6"/>
                </a:solidFill>
              </a:rPr>
              <a:t>Thermal decomposition</a:t>
            </a:r>
          </a:p>
          <a:p>
            <a:pPr marL="342900" indent="-342900">
              <a:buFont typeface="Arial" panose="020B0604020202020204" pitchFamily="34" charset="0"/>
              <a:buChar char="•"/>
            </a:pPr>
            <a:r>
              <a:rPr lang="en-GB" sz="2400" b="1" dirty="0">
                <a:solidFill>
                  <a:schemeClr val="accent6"/>
                </a:solidFill>
              </a:rPr>
              <a:t>Sports injury packs</a:t>
            </a: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Tree>
    <p:extLst>
      <p:ext uri="{BB962C8B-B14F-4D97-AF65-F5344CB8AC3E}">
        <p14:creationId xmlns:p14="http://schemas.microsoft.com/office/powerpoint/2010/main" val="3458944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955203"/>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600" b="1" dirty="0">
                <a:solidFill>
                  <a:schemeClr val="tx1">
                    <a:lumMod val="50000"/>
                    <a:lumOff val="50000"/>
                  </a:schemeClr>
                </a:solidFill>
              </a:rPr>
              <a:t>Energy Changes</a:t>
            </a:r>
          </a:p>
          <a:p>
            <a:r>
              <a:rPr lang="en-GB" sz="3600" b="1" dirty="0">
                <a:solidFill>
                  <a:schemeClr val="tx1">
                    <a:lumMod val="50000"/>
                    <a:lumOff val="50000"/>
                  </a:schemeClr>
                </a:solidFill>
              </a:rPr>
              <a:t>Part 1 </a:t>
            </a:r>
          </a:p>
          <a:p>
            <a:endParaRPr lang="en-GB" sz="2800" dirty="0">
              <a:solidFill>
                <a:schemeClr val="tx1">
                  <a:lumMod val="50000"/>
                  <a:lumOff val="50000"/>
                </a:schemeClr>
              </a:solidFill>
            </a:endParaRPr>
          </a:p>
          <a:p>
            <a:pPr marL="457200" indent="-457200">
              <a:lnSpc>
                <a:spcPct val="150000"/>
              </a:lnSpc>
              <a:buFont typeface="Arial" charset="0"/>
              <a:buChar char="•"/>
            </a:pPr>
            <a:r>
              <a:rPr lang="en-GB" sz="2400" b="1" dirty="0">
                <a:solidFill>
                  <a:schemeClr val="tx1">
                    <a:lumMod val="50000"/>
                    <a:lumOff val="50000"/>
                  </a:schemeClr>
                </a:solidFill>
              </a:rPr>
              <a:t>Exothermic reactions</a:t>
            </a:r>
          </a:p>
          <a:p>
            <a:pPr marL="457200" indent="-457200">
              <a:lnSpc>
                <a:spcPct val="150000"/>
              </a:lnSpc>
              <a:buFont typeface="Arial" charset="0"/>
              <a:buChar char="•"/>
            </a:pPr>
            <a:r>
              <a:rPr lang="en-GB" sz="2400" b="1" dirty="0">
                <a:solidFill>
                  <a:schemeClr val="tx1">
                    <a:lumMod val="50000"/>
                    <a:lumOff val="50000"/>
                  </a:schemeClr>
                </a:solidFill>
              </a:rPr>
              <a:t>Endothermic reactions</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968973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Energy Changes part 1 –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078313"/>
          </a:xfrm>
          <a:prstGeom prst="rect">
            <a:avLst/>
          </a:prstGeom>
          <a:noFill/>
        </p:spPr>
        <p:txBody>
          <a:bodyPr wrap="square" rtlCol="0">
            <a:spAutoFit/>
          </a:bodyPr>
          <a:lstStyle/>
          <a:p>
            <a:pPr marL="342900" indent="-342900">
              <a:buFont typeface="+mj-lt"/>
              <a:buAutoNum type="arabicPeriod"/>
            </a:pPr>
            <a:r>
              <a:rPr lang="en-GB" sz="2400" dirty="0"/>
              <a:t>Why is the amount of energy in the universe at the end of a chemical reaction the same as before the reaction takes place?</a:t>
            </a:r>
          </a:p>
          <a:p>
            <a:pPr marL="342900" indent="-342900">
              <a:buFont typeface="+mj-lt"/>
              <a:buAutoNum type="arabicPeriod"/>
            </a:pPr>
            <a:endParaRPr lang="en-GB" sz="2400" dirty="0"/>
          </a:p>
          <a:p>
            <a:pPr marL="342900" indent="-342900">
              <a:buFont typeface="+mj-lt"/>
              <a:buAutoNum type="arabicPeriod"/>
            </a:pPr>
            <a:r>
              <a:rPr lang="en-GB" sz="2400" dirty="0"/>
              <a:t>What is an exothermic reaction?</a:t>
            </a:r>
          </a:p>
          <a:p>
            <a:pPr marL="342900" indent="-342900">
              <a:buFont typeface="+mj-lt"/>
              <a:buAutoNum type="arabicPeriod"/>
            </a:pPr>
            <a:endParaRPr lang="en-GB" sz="2400" dirty="0"/>
          </a:p>
          <a:p>
            <a:pPr marL="342900" indent="-342900">
              <a:buFont typeface="+mj-lt"/>
              <a:buAutoNum type="arabicPeriod"/>
            </a:pPr>
            <a:r>
              <a:rPr lang="en-GB" sz="2400" dirty="0"/>
              <a:t>Give an example of an exothermic reaction.</a:t>
            </a:r>
          </a:p>
          <a:p>
            <a:pPr marL="342900" indent="-342900">
              <a:buFont typeface="+mj-lt"/>
              <a:buAutoNum type="arabicPeriod"/>
            </a:pPr>
            <a:endParaRPr lang="en-GB" sz="2400" dirty="0"/>
          </a:p>
          <a:p>
            <a:pPr marL="342900" indent="-342900">
              <a:buFont typeface="+mj-lt"/>
              <a:buAutoNum type="arabicPeriod"/>
            </a:pPr>
            <a:r>
              <a:rPr lang="en-GB" sz="2400" dirty="0"/>
              <a:t>What is an endothermic reaction?</a:t>
            </a:r>
          </a:p>
          <a:p>
            <a:pPr marL="342900" indent="-342900">
              <a:buFont typeface="+mj-lt"/>
              <a:buAutoNum type="arabicPeriod"/>
            </a:pPr>
            <a:endParaRPr lang="en-GB" sz="2400" dirty="0"/>
          </a:p>
          <a:p>
            <a:pPr marL="342900" indent="-342900">
              <a:buFont typeface="+mj-lt"/>
              <a:buAutoNum type="arabicPeriod"/>
            </a:pPr>
            <a:r>
              <a:rPr lang="en-GB" sz="2400" dirty="0"/>
              <a:t>Give an example of an endothermic reaction.</a:t>
            </a:r>
          </a:p>
          <a:p>
            <a:pPr marL="342900" indent="-342900">
              <a:buFont typeface="+mj-lt"/>
              <a:buAutoNum type="arabicPeriod"/>
            </a:pPr>
            <a:endParaRPr lang="en-GB" sz="2400" dirty="0"/>
          </a:p>
          <a:p>
            <a:pPr marL="342900" indent="-342900">
              <a:buFont typeface="+mj-lt"/>
              <a:buAutoNum type="arabicPeriod"/>
            </a:pPr>
            <a:r>
              <a:rPr lang="en-GB" sz="2400" dirty="0"/>
              <a:t>Give an everyday use of endothermic reactions.</a:t>
            </a:r>
          </a:p>
          <a:p>
            <a:pPr marL="342900" indent="-342900">
              <a:buFont typeface="+mj-lt"/>
              <a:buAutoNum type="arabicPeriod"/>
            </a:pPr>
            <a:endParaRPr lang="en-GB" sz="2000" dirty="0"/>
          </a:p>
          <a:p>
            <a:pPr marL="342900" indent="-342900">
              <a:buFont typeface="+mj-lt"/>
              <a:buAutoNum type="arabicPeriod"/>
            </a:pPr>
            <a:endParaRPr lang="en-GB" sz="1600" dirty="0"/>
          </a:p>
        </p:txBody>
      </p:sp>
    </p:spTree>
    <p:extLst>
      <p:ext uri="{BB962C8B-B14F-4D97-AF65-F5344CB8AC3E}">
        <p14:creationId xmlns:p14="http://schemas.microsoft.com/office/powerpoint/2010/main" val="24351482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Energy Changes part 1 –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94031"/>
          </a:xfrm>
          <a:prstGeom prst="rect">
            <a:avLst/>
          </a:prstGeom>
          <a:noFill/>
        </p:spPr>
        <p:txBody>
          <a:bodyPr wrap="square" rtlCol="0">
            <a:spAutoFit/>
          </a:bodyPr>
          <a:lstStyle/>
          <a:p>
            <a:pPr marL="457200" indent="-457200">
              <a:lnSpc>
                <a:spcPct val="150000"/>
              </a:lnSpc>
              <a:buFont typeface="+mj-lt"/>
              <a:buAutoNum type="arabicPeriod" startAt="7"/>
            </a:pPr>
            <a:r>
              <a:rPr lang="en-GB" sz="2400" dirty="0"/>
              <a:t>How would you know if an exothermic reaction had occurred?</a:t>
            </a:r>
          </a:p>
          <a:p>
            <a:pPr marL="457200" indent="-457200">
              <a:lnSpc>
                <a:spcPct val="150000"/>
              </a:lnSpc>
              <a:buFont typeface="+mj-lt"/>
              <a:buAutoNum type="arabicPeriod" startAt="7"/>
            </a:pPr>
            <a:r>
              <a:rPr lang="en-GB" sz="2400" dirty="0"/>
              <a:t>How would you know if an endothermic reaction had occurred?</a:t>
            </a:r>
          </a:p>
          <a:p>
            <a:pPr marL="457200" indent="-457200">
              <a:lnSpc>
                <a:spcPct val="150000"/>
              </a:lnSpc>
              <a:buFont typeface="+mj-lt"/>
              <a:buAutoNum type="arabicPeriod" startAt="7"/>
            </a:pPr>
            <a:r>
              <a:rPr lang="en-GB" sz="2400" dirty="0"/>
              <a:t>Below is a table of results for four reactions, the temperatures  before and after the reactions are also given.</a:t>
            </a:r>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r>
              <a:rPr lang="en-GB" sz="2400" dirty="0"/>
              <a:t>   a/  Which reaction is endothermic? Explain how you know this.</a:t>
            </a:r>
          </a:p>
          <a:p>
            <a:pPr>
              <a:lnSpc>
                <a:spcPct val="150000"/>
              </a:lnSpc>
            </a:pPr>
            <a:r>
              <a:rPr lang="en-GB" sz="2400" dirty="0"/>
              <a:t>   b/  Which reaction is exothermic? Explain how you know this.</a:t>
            </a:r>
          </a:p>
          <a:p>
            <a:pPr>
              <a:lnSpc>
                <a:spcPct val="150000"/>
              </a:lnSpc>
            </a:pPr>
            <a:endParaRPr lang="en-GB" dirty="0"/>
          </a:p>
          <a:p>
            <a:pPr marL="342900" indent="-342900">
              <a:buFont typeface="+mj-lt"/>
              <a:buAutoNum type="arabicPeriod"/>
            </a:pPr>
            <a:endParaRPr lang="en-GB" sz="1600" dirty="0"/>
          </a:p>
        </p:txBody>
      </p:sp>
      <p:graphicFrame>
        <p:nvGraphicFramePr>
          <p:cNvPr id="5" name="Table 4"/>
          <p:cNvGraphicFramePr>
            <a:graphicFrameLocks noGrp="1"/>
          </p:cNvGraphicFramePr>
          <p:nvPr>
            <p:extLst/>
          </p:nvPr>
        </p:nvGraphicFramePr>
        <p:xfrm>
          <a:off x="899592" y="2996954"/>
          <a:ext cx="6942382" cy="2225040"/>
        </p:xfrm>
        <a:graphic>
          <a:graphicData uri="http://schemas.openxmlformats.org/drawingml/2006/table">
            <a:tbl>
              <a:tblPr firstRow="1" bandRow="1">
                <a:tableStyleId>{5940675A-B579-460E-94D1-54222C63F5DA}</a:tableStyleId>
              </a:tblPr>
              <a:tblGrid>
                <a:gridCol w="1584176">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gridCol w="2693910">
                  <a:extLst>
                    <a:ext uri="{9D8B030D-6E8A-4147-A177-3AD203B41FA5}">
                      <a16:colId xmlns:a16="http://schemas.microsoft.com/office/drawing/2014/main" val="20002"/>
                    </a:ext>
                  </a:extLst>
                </a:gridCol>
              </a:tblGrid>
              <a:tr h="384700">
                <a:tc>
                  <a:txBody>
                    <a:bodyPr/>
                    <a:lstStyle/>
                    <a:p>
                      <a:pPr algn="ctr"/>
                      <a:r>
                        <a:rPr lang="en-GB" sz="2000" dirty="0"/>
                        <a:t>Reaction</a:t>
                      </a:r>
                    </a:p>
                  </a:txBody>
                  <a:tcPr>
                    <a:solidFill>
                      <a:schemeClr val="accent6">
                        <a:lumMod val="75000"/>
                      </a:schemeClr>
                    </a:solidFill>
                  </a:tcPr>
                </a:tc>
                <a:tc>
                  <a:txBody>
                    <a:bodyPr/>
                    <a:lstStyle/>
                    <a:p>
                      <a:pPr algn="ctr"/>
                      <a:r>
                        <a:rPr lang="en-GB" sz="2000" dirty="0"/>
                        <a:t>Temperature at start </a:t>
                      </a:r>
                      <a:r>
                        <a:rPr lang="en-GB" sz="2000" baseline="30000" dirty="0"/>
                        <a:t>O</a:t>
                      </a:r>
                      <a:r>
                        <a:rPr lang="en-GB" sz="2000" dirty="0"/>
                        <a:t>C</a:t>
                      </a:r>
                      <a:r>
                        <a:rPr lang="en-GB" sz="2000" baseline="0" dirty="0"/>
                        <a:t> </a:t>
                      </a:r>
                      <a:endParaRPr lang="en-GB" sz="2000" dirty="0"/>
                    </a:p>
                  </a:txBody>
                  <a:tcPr>
                    <a:solidFill>
                      <a:schemeClr val="accent6">
                        <a:lumMod val="75000"/>
                      </a:schemeClr>
                    </a:solidFill>
                  </a:tcPr>
                </a:tc>
                <a:tc>
                  <a:txBody>
                    <a:bodyPr/>
                    <a:lstStyle/>
                    <a:p>
                      <a:pPr algn="ctr"/>
                      <a:r>
                        <a:rPr lang="en-GB" sz="2000" dirty="0"/>
                        <a:t>Temperature at end </a:t>
                      </a:r>
                      <a:r>
                        <a:rPr lang="en-GB" sz="2000" baseline="30000" dirty="0"/>
                        <a:t>O</a:t>
                      </a:r>
                      <a:r>
                        <a:rPr lang="en-GB" sz="2000" dirty="0"/>
                        <a:t>C</a:t>
                      </a:r>
                    </a:p>
                  </a:txBody>
                  <a:tcPr>
                    <a:solidFill>
                      <a:schemeClr val="accent6">
                        <a:lumMod val="75000"/>
                      </a:schemeClr>
                    </a:solidFill>
                  </a:tcPr>
                </a:tc>
                <a:extLst>
                  <a:ext uri="{0D108BD9-81ED-4DB2-BD59-A6C34878D82A}">
                    <a16:rowId xmlns:a16="http://schemas.microsoft.com/office/drawing/2014/main" val="10000"/>
                  </a:ext>
                </a:extLst>
              </a:tr>
              <a:tr h="443884">
                <a:tc>
                  <a:txBody>
                    <a:bodyPr/>
                    <a:lstStyle/>
                    <a:p>
                      <a:pPr algn="ctr"/>
                      <a:r>
                        <a:rPr lang="en-GB" sz="2400" b="1" dirty="0"/>
                        <a:t>A</a:t>
                      </a:r>
                    </a:p>
                  </a:txBody>
                  <a:tcPr/>
                </a:tc>
                <a:tc>
                  <a:txBody>
                    <a:bodyPr/>
                    <a:lstStyle/>
                    <a:p>
                      <a:pPr algn="ctr"/>
                      <a:r>
                        <a:rPr lang="en-GB" sz="2400" dirty="0"/>
                        <a:t>22</a:t>
                      </a:r>
                    </a:p>
                  </a:txBody>
                  <a:tcPr/>
                </a:tc>
                <a:tc>
                  <a:txBody>
                    <a:bodyPr/>
                    <a:lstStyle/>
                    <a:p>
                      <a:pPr algn="ctr"/>
                      <a:r>
                        <a:rPr lang="en-GB" sz="2400" dirty="0"/>
                        <a:t>28</a:t>
                      </a:r>
                      <a:endParaRPr lang="en-GB" sz="2400" baseline="30000" dirty="0"/>
                    </a:p>
                  </a:txBody>
                  <a:tcPr/>
                </a:tc>
                <a:extLst>
                  <a:ext uri="{0D108BD9-81ED-4DB2-BD59-A6C34878D82A}">
                    <a16:rowId xmlns:a16="http://schemas.microsoft.com/office/drawing/2014/main" val="10001"/>
                  </a:ext>
                </a:extLst>
              </a:tr>
              <a:tr h="443884">
                <a:tc>
                  <a:txBody>
                    <a:bodyPr/>
                    <a:lstStyle/>
                    <a:p>
                      <a:pPr algn="ctr"/>
                      <a:r>
                        <a:rPr lang="en-GB" sz="2400" b="1" dirty="0"/>
                        <a:t>B</a:t>
                      </a:r>
                    </a:p>
                  </a:txBody>
                  <a:tcPr/>
                </a:tc>
                <a:tc>
                  <a:txBody>
                    <a:bodyPr/>
                    <a:lstStyle/>
                    <a:p>
                      <a:pPr algn="ctr"/>
                      <a:r>
                        <a:rPr lang="en-GB" sz="2400" dirty="0"/>
                        <a:t>20</a:t>
                      </a:r>
                    </a:p>
                  </a:txBody>
                  <a:tcPr/>
                </a:tc>
                <a:tc>
                  <a:txBody>
                    <a:bodyPr/>
                    <a:lstStyle/>
                    <a:p>
                      <a:pPr marL="0" marR="0" indent="0" algn="ctr" defTabSz="342900" rtl="0" eaLnBrk="1" fontAlgn="auto" latinLnBrk="0" hangingPunct="1">
                        <a:lnSpc>
                          <a:spcPct val="100000"/>
                        </a:lnSpc>
                        <a:spcBef>
                          <a:spcPts val="0"/>
                        </a:spcBef>
                        <a:spcAft>
                          <a:spcPts val="0"/>
                        </a:spcAft>
                        <a:buClrTx/>
                        <a:buSzTx/>
                        <a:buFontTx/>
                        <a:buNone/>
                        <a:tabLst/>
                        <a:defRPr/>
                      </a:pPr>
                      <a:r>
                        <a:rPr lang="en-GB" sz="2400" dirty="0"/>
                        <a:t>20</a:t>
                      </a:r>
                      <a:endParaRPr lang="en-GB" sz="2400" baseline="30000" dirty="0"/>
                    </a:p>
                  </a:txBody>
                  <a:tcPr/>
                </a:tc>
                <a:extLst>
                  <a:ext uri="{0D108BD9-81ED-4DB2-BD59-A6C34878D82A}">
                    <a16:rowId xmlns:a16="http://schemas.microsoft.com/office/drawing/2014/main" val="10002"/>
                  </a:ext>
                </a:extLst>
              </a:tr>
              <a:tr h="443884">
                <a:tc>
                  <a:txBody>
                    <a:bodyPr/>
                    <a:lstStyle/>
                    <a:p>
                      <a:pPr algn="ctr"/>
                      <a:r>
                        <a:rPr lang="en-GB" sz="2400" b="1" dirty="0"/>
                        <a:t>C</a:t>
                      </a:r>
                    </a:p>
                  </a:txBody>
                  <a:tcPr/>
                </a:tc>
                <a:tc>
                  <a:txBody>
                    <a:bodyPr/>
                    <a:lstStyle/>
                    <a:p>
                      <a:pPr algn="ctr"/>
                      <a:r>
                        <a:rPr lang="en-GB" sz="2400" dirty="0"/>
                        <a:t>21</a:t>
                      </a:r>
                    </a:p>
                  </a:txBody>
                  <a:tcPr/>
                </a:tc>
                <a:tc>
                  <a:txBody>
                    <a:bodyPr/>
                    <a:lstStyle/>
                    <a:p>
                      <a:pPr marL="0" marR="0" indent="0" algn="ctr" defTabSz="342900" rtl="0" eaLnBrk="1" fontAlgn="auto" latinLnBrk="0" hangingPunct="1">
                        <a:lnSpc>
                          <a:spcPct val="100000"/>
                        </a:lnSpc>
                        <a:spcBef>
                          <a:spcPts val="0"/>
                        </a:spcBef>
                        <a:spcAft>
                          <a:spcPts val="0"/>
                        </a:spcAft>
                        <a:buClrTx/>
                        <a:buSzTx/>
                        <a:buFontTx/>
                        <a:buNone/>
                        <a:tabLst/>
                        <a:defRPr/>
                      </a:pPr>
                      <a:r>
                        <a:rPr lang="en-GB" sz="2400" baseline="0" dirty="0"/>
                        <a:t>12</a:t>
                      </a:r>
                    </a:p>
                  </a:txBody>
                  <a:tcPr/>
                </a:tc>
                <a:extLst>
                  <a:ext uri="{0D108BD9-81ED-4DB2-BD59-A6C34878D82A}">
                    <a16:rowId xmlns:a16="http://schemas.microsoft.com/office/drawing/2014/main" val="10003"/>
                  </a:ext>
                </a:extLst>
              </a:tr>
              <a:tr h="443884">
                <a:tc>
                  <a:txBody>
                    <a:bodyPr/>
                    <a:lstStyle/>
                    <a:p>
                      <a:pPr algn="ctr"/>
                      <a:r>
                        <a:rPr lang="en-GB" sz="2400" b="1" dirty="0"/>
                        <a:t>D</a:t>
                      </a:r>
                    </a:p>
                  </a:txBody>
                  <a:tcPr/>
                </a:tc>
                <a:tc>
                  <a:txBody>
                    <a:bodyPr/>
                    <a:lstStyle/>
                    <a:p>
                      <a:pPr algn="ctr"/>
                      <a:r>
                        <a:rPr lang="en-GB" sz="2400" dirty="0"/>
                        <a:t>25</a:t>
                      </a:r>
                    </a:p>
                  </a:txBody>
                  <a:tcPr/>
                </a:tc>
                <a:tc>
                  <a:txBody>
                    <a:bodyPr/>
                    <a:lstStyle/>
                    <a:p>
                      <a:pPr marL="0" marR="0" indent="0" algn="ctr" defTabSz="342900" rtl="0" eaLnBrk="1" fontAlgn="auto" latinLnBrk="0" hangingPunct="1">
                        <a:lnSpc>
                          <a:spcPct val="100000"/>
                        </a:lnSpc>
                        <a:spcBef>
                          <a:spcPts val="0"/>
                        </a:spcBef>
                        <a:spcAft>
                          <a:spcPts val="0"/>
                        </a:spcAft>
                        <a:buClrTx/>
                        <a:buSzTx/>
                        <a:buFontTx/>
                        <a:buNone/>
                        <a:tabLst/>
                        <a:defRPr/>
                      </a:pPr>
                      <a:r>
                        <a:rPr lang="en-GB" sz="2400" dirty="0"/>
                        <a:t>25</a:t>
                      </a:r>
                      <a:endParaRPr lang="en-GB" sz="2400" baseline="300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416345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893647"/>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2800" b="1" dirty="0">
                <a:solidFill>
                  <a:schemeClr val="tx1">
                    <a:lumMod val="50000"/>
                    <a:lumOff val="50000"/>
                  </a:schemeClr>
                </a:solidFill>
              </a:rPr>
              <a:t>Energy Changes</a:t>
            </a:r>
          </a:p>
          <a:p>
            <a:r>
              <a:rPr lang="en-GB" sz="2800" b="1" dirty="0">
                <a:solidFill>
                  <a:schemeClr val="tx1">
                    <a:lumMod val="50000"/>
                    <a:lumOff val="50000"/>
                  </a:schemeClr>
                </a:solidFill>
              </a:rPr>
              <a:t>Part 1 </a:t>
            </a:r>
          </a:p>
          <a:p>
            <a:endParaRPr lang="en-GB" sz="2800" dirty="0">
              <a:solidFill>
                <a:schemeClr val="tx1">
                  <a:lumMod val="50000"/>
                  <a:lumOff val="50000"/>
                </a:schemeClr>
              </a:solidFill>
            </a:endParaRPr>
          </a:p>
          <a:p>
            <a:pPr marL="457200" indent="-457200">
              <a:lnSpc>
                <a:spcPct val="150000"/>
              </a:lnSpc>
              <a:buFont typeface="Arial" charset="0"/>
              <a:buChar char="•"/>
            </a:pPr>
            <a:r>
              <a:rPr lang="en-GB" sz="2800" b="1" dirty="0">
                <a:solidFill>
                  <a:schemeClr val="tx1">
                    <a:lumMod val="50000"/>
                    <a:lumOff val="50000"/>
                  </a:schemeClr>
                </a:solidFill>
              </a:rPr>
              <a:t>Exothermic reactions</a:t>
            </a:r>
          </a:p>
          <a:p>
            <a:pPr marL="457200" indent="-457200">
              <a:lnSpc>
                <a:spcPct val="150000"/>
              </a:lnSpc>
              <a:buFont typeface="Arial" charset="0"/>
              <a:buChar char="•"/>
            </a:pPr>
            <a:r>
              <a:rPr lang="en-GB" sz="2800" b="1" dirty="0">
                <a:solidFill>
                  <a:schemeClr val="tx1">
                    <a:lumMod val="50000"/>
                    <a:lumOff val="50000"/>
                  </a:schemeClr>
                </a:solidFill>
              </a:rPr>
              <a:t>Endothermic reactions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8773072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Energy Changes part 1 –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5509200"/>
          </a:xfrm>
          <a:prstGeom prst="rect">
            <a:avLst/>
          </a:prstGeom>
          <a:noFill/>
        </p:spPr>
        <p:txBody>
          <a:bodyPr wrap="square" rtlCol="0">
            <a:spAutoFit/>
          </a:bodyPr>
          <a:lstStyle/>
          <a:p>
            <a:pPr marL="342900" indent="-342900">
              <a:buFont typeface="+mj-lt"/>
              <a:buAutoNum type="arabicPeriod"/>
            </a:pPr>
            <a:r>
              <a:rPr lang="en-GB" sz="2400" dirty="0"/>
              <a:t>Why is the amount of energy in the universe at the end of a chemical reaction the same as before the reaction takes place?</a:t>
            </a:r>
          </a:p>
          <a:p>
            <a:r>
              <a:rPr lang="en-GB" sz="2400" dirty="0"/>
              <a:t>	</a:t>
            </a:r>
            <a:r>
              <a:rPr lang="en-GB" sz="2400" dirty="0">
                <a:solidFill>
                  <a:srgbClr val="00B050"/>
                </a:solidFill>
              </a:rPr>
              <a:t>Energy is conserved in chemical reactions.</a:t>
            </a:r>
          </a:p>
          <a:p>
            <a:pPr marL="457200" indent="-457200">
              <a:buFont typeface="+mj-lt"/>
              <a:buAutoNum type="arabicPeriod" startAt="2"/>
            </a:pPr>
            <a:r>
              <a:rPr lang="en-GB" sz="2400" dirty="0"/>
              <a:t>What is an exothermic reaction?</a:t>
            </a:r>
          </a:p>
          <a:p>
            <a:r>
              <a:rPr lang="en-GB" sz="2400" dirty="0"/>
              <a:t>	</a:t>
            </a:r>
            <a:r>
              <a:rPr lang="en-GB" sz="2400" dirty="0">
                <a:solidFill>
                  <a:srgbClr val="00B050"/>
                </a:solidFill>
              </a:rPr>
              <a:t>Heat energy is given out.</a:t>
            </a:r>
          </a:p>
          <a:p>
            <a:pPr marL="457200" indent="-457200">
              <a:buFont typeface="+mj-lt"/>
              <a:buAutoNum type="arabicPeriod" startAt="3"/>
            </a:pPr>
            <a:r>
              <a:rPr lang="en-GB" sz="2400" dirty="0"/>
              <a:t>Give an example of an exothermic reaction.</a:t>
            </a:r>
          </a:p>
          <a:p>
            <a:r>
              <a:rPr lang="en-GB" sz="2400" dirty="0"/>
              <a:t>	</a:t>
            </a:r>
            <a:r>
              <a:rPr lang="en-GB" sz="2400" dirty="0">
                <a:solidFill>
                  <a:srgbClr val="00B050"/>
                </a:solidFill>
              </a:rPr>
              <a:t>Combustion/ oxidation/ neutralisation.</a:t>
            </a:r>
          </a:p>
          <a:p>
            <a:pPr marL="457200" indent="-457200">
              <a:buFont typeface="+mj-lt"/>
              <a:buAutoNum type="arabicPeriod" startAt="4"/>
            </a:pPr>
            <a:r>
              <a:rPr lang="en-GB" sz="2400" dirty="0"/>
              <a:t>What is an endothermic reaction?</a:t>
            </a:r>
          </a:p>
          <a:p>
            <a:r>
              <a:rPr lang="en-GB" sz="2400" dirty="0">
                <a:solidFill>
                  <a:srgbClr val="92D050"/>
                </a:solidFill>
              </a:rPr>
              <a:t>	</a:t>
            </a:r>
            <a:r>
              <a:rPr lang="en-GB" sz="2400" dirty="0">
                <a:solidFill>
                  <a:srgbClr val="00B050"/>
                </a:solidFill>
              </a:rPr>
              <a:t>Heat energy is taken in.</a:t>
            </a:r>
          </a:p>
          <a:p>
            <a:pPr marL="457200" indent="-457200">
              <a:buFont typeface="+mj-lt"/>
              <a:buAutoNum type="arabicPeriod" startAt="5"/>
            </a:pPr>
            <a:r>
              <a:rPr lang="en-GB" sz="2400" dirty="0"/>
              <a:t>Give an example of an endothermic reaction.</a:t>
            </a:r>
          </a:p>
          <a:p>
            <a:r>
              <a:rPr lang="en-GB" sz="2400" dirty="0">
                <a:solidFill>
                  <a:srgbClr val="92D050"/>
                </a:solidFill>
              </a:rPr>
              <a:t>	</a:t>
            </a:r>
            <a:r>
              <a:rPr lang="en-GB" sz="2400" dirty="0">
                <a:solidFill>
                  <a:srgbClr val="00B050"/>
                </a:solidFill>
              </a:rPr>
              <a:t>Thermal decomposition</a:t>
            </a:r>
          </a:p>
          <a:p>
            <a:pPr marL="457200" indent="-457200">
              <a:buFont typeface="+mj-lt"/>
              <a:buAutoNum type="arabicPeriod" startAt="6"/>
            </a:pPr>
            <a:r>
              <a:rPr lang="en-GB" sz="2400" dirty="0"/>
              <a:t>Give an everyday use of endothermic reactions.</a:t>
            </a:r>
          </a:p>
          <a:p>
            <a:r>
              <a:rPr lang="en-GB" sz="2400" dirty="0">
                <a:solidFill>
                  <a:srgbClr val="92D050"/>
                </a:solidFill>
              </a:rPr>
              <a:t>	</a:t>
            </a:r>
            <a:r>
              <a:rPr lang="en-GB" sz="2400" dirty="0">
                <a:solidFill>
                  <a:srgbClr val="00B050"/>
                </a:solidFill>
              </a:rPr>
              <a:t>Sports injury packs.</a:t>
            </a:r>
          </a:p>
          <a:p>
            <a:endParaRPr lang="en-GB" sz="2400" dirty="0"/>
          </a:p>
          <a:p>
            <a:pPr marL="342900" indent="-342900">
              <a:buFont typeface="+mj-lt"/>
              <a:buAutoNum type="arabicPeriod" startAt="7"/>
            </a:pPr>
            <a:endParaRPr lang="en-GB" sz="1600" dirty="0"/>
          </a:p>
        </p:txBody>
      </p:sp>
    </p:spTree>
    <p:extLst>
      <p:ext uri="{BB962C8B-B14F-4D97-AF65-F5344CB8AC3E}">
        <p14:creationId xmlns:p14="http://schemas.microsoft.com/office/powerpoint/2010/main" val="39341455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Energy Changes part 1 –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924699"/>
          </a:xfrm>
          <a:prstGeom prst="rect">
            <a:avLst/>
          </a:prstGeom>
          <a:noFill/>
        </p:spPr>
        <p:txBody>
          <a:bodyPr wrap="square" rtlCol="0">
            <a:spAutoFit/>
          </a:bodyPr>
          <a:lstStyle/>
          <a:p>
            <a:pPr marL="457200" indent="-457200">
              <a:lnSpc>
                <a:spcPct val="150000"/>
              </a:lnSpc>
              <a:buFont typeface="+mj-lt"/>
              <a:buAutoNum type="arabicPeriod" startAt="7"/>
            </a:pPr>
            <a:r>
              <a:rPr lang="en-GB" sz="2400" dirty="0"/>
              <a:t>How would you know if an exothermic reaction had occurred?</a:t>
            </a:r>
          </a:p>
          <a:p>
            <a:r>
              <a:rPr lang="en-GB" sz="2400" dirty="0"/>
              <a:t>       </a:t>
            </a:r>
            <a:r>
              <a:rPr lang="en-GB" sz="2400" dirty="0">
                <a:solidFill>
                  <a:srgbClr val="00B050"/>
                </a:solidFill>
              </a:rPr>
              <a:t>The reaction would give out heat/get warmer/ temperature 	increase.</a:t>
            </a:r>
          </a:p>
          <a:p>
            <a:pPr marL="457200" indent="-457200">
              <a:lnSpc>
                <a:spcPct val="150000"/>
              </a:lnSpc>
              <a:buFont typeface="+mj-lt"/>
              <a:buAutoNum type="arabicPeriod" startAt="8"/>
            </a:pPr>
            <a:r>
              <a:rPr lang="en-GB" sz="2400" dirty="0"/>
              <a:t>How would you know if an endothermic reaction had occurred?</a:t>
            </a:r>
          </a:p>
          <a:p>
            <a:pPr>
              <a:lnSpc>
                <a:spcPct val="150000"/>
              </a:lnSpc>
            </a:pPr>
            <a:r>
              <a:rPr lang="en-GB" sz="2400" dirty="0">
                <a:solidFill>
                  <a:srgbClr val="00B050"/>
                </a:solidFill>
              </a:rPr>
              <a:t>      The reaction would take in heat/get colder/ temperature decrease.</a:t>
            </a:r>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2846218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Energy Changes part 1 – </a:t>
            </a:r>
            <a:r>
              <a:rPr lang="en-US" sz="2400" b="1" kern="1200" dirty="0">
                <a:solidFill>
                  <a:schemeClr val="tx1"/>
                </a:solidFill>
                <a:latin typeface="Calibri"/>
              </a:rPr>
              <a:t>Answer</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94031"/>
          </a:xfrm>
          <a:prstGeom prst="rect">
            <a:avLst/>
          </a:prstGeom>
          <a:noFill/>
        </p:spPr>
        <p:txBody>
          <a:bodyPr wrap="square" rtlCol="0">
            <a:spAutoFit/>
          </a:bodyPr>
          <a:lstStyle/>
          <a:p>
            <a:pPr marL="457200" indent="-457200">
              <a:lnSpc>
                <a:spcPct val="150000"/>
              </a:lnSpc>
              <a:buFont typeface="+mj-lt"/>
              <a:buAutoNum type="arabicPeriod" startAt="9"/>
            </a:pPr>
            <a:r>
              <a:rPr lang="en-GB" sz="2400" dirty="0"/>
              <a:t>Below is a table of results for four reactions, the temperatures              before and after the reactions are also given.</a:t>
            </a:r>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r>
              <a:rPr lang="en-GB" sz="2400" dirty="0"/>
              <a:t>   a/ Which reaction is endothermic? Explain how you know this.</a:t>
            </a:r>
          </a:p>
          <a:p>
            <a:pPr>
              <a:lnSpc>
                <a:spcPct val="150000"/>
              </a:lnSpc>
            </a:pPr>
            <a:r>
              <a:rPr lang="en-GB" sz="2400" dirty="0"/>
              <a:t>    </a:t>
            </a:r>
            <a:r>
              <a:rPr lang="en-GB" sz="2400" dirty="0">
                <a:solidFill>
                  <a:srgbClr val="00B050"/>
                </a:solidFill>
              </a:rPr>
              <a:t>Reaction C, it gets colder/temperature falls.</a:t>
            </a:r>
          </a:p>
          <a:p>
            <a:pPr>
              <a:lnSpc>
                <a:spcPct val="150000"/>
              </a:lnSpc>
            </a:pPr>
            <a:r>
              <a:rPr lang="en-GB" sz="2400" dirty="0"/>
              <a:t>   b/ Which reaction is exothermic? Explain how you know this.</a:t>
            </a:r>
          </a:p>
          <a:p>
            <a:pPr>
              <a:lnSpc>
                <a:spcPct val="150000"/>
              </a:lnSpc>
            </a:pPr>
            <a:r>
              <a:rPr lang="en-GB" sz="2400" dirty="0"/>
              <a:t>    </a:t>
            </a:r>
            <a:r>
              <a:rPr lang="en-GB" sz="2400" dirty="0">
                <a:solidFill>
                  <a:srgbClr val="00B050"/>
                </a:solidFill>
              </a:rPr>
              <a:t>Reaction A, it gets warmer/temperature increases.</a:t>
            </a:r>
          </a:p>
          <a:p>
            <a:pPr>
              <a:lnSpc>
                <a:spcPct val="150000"/>
              </a:lnSpc>
            </a:pPr>
            <a:endParaRPr lang="en-GB" dirty="0"/>
          </a:p>
          <a:p>
            <a:pPr marL="342900" indent="-342900">
              <a:buFont typeface="+mj-lt"/>
              <a:buAutoNum type="arabicPeriod"/>
            </a:pPr>
            <a:endParaRPr lang="en-GB" sz="1600" dirty="0"/>
          </a:p>
        </p:txBody>
      </p:sp>
      <p:graphicFrame>
        <p:nvGraphicFramePr>
          <p:cNvPr id="5" name="Table 4"/>
          <p:cNvGraphicFramePr>
            <a:graphicFrameLocks noGrp="1"/>
          </p:cNvGraphicFramePr>
          <p:nvPr>
            <p:extLst/>
          </p:nvPr>
        </p:nvGraphicFramePr>
        <p:xfrm>
          <a:off x="899592" y="1916832"/>
          <a:ext cx="6942382" cy="2225040"/>
        </p:xfrm>
        <a:graphic>
          <a:graphicData uri="http://schemas.openxmlformats.org/drawingml/2006/table">
            <a:tbl>
              <a:tblPr firstRow="1" bandRow="1">
                <a:tableStyleId>{5940675A-B579-460E-94D1-54222C63F5DA}</a:tableStyleId>
              </a:tblPr>
              <a:tblGrid>
                <a:gridCol w="1584176">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gridCol w="2693910">
                  <a:extLst>
                    <a:ext uri="{9D8B030D-6E8A-4147-A177-3AD203B41FA5}">
                      <a16:colId xmlns:a16="http://schemas.microsoft.com/office/drawing/2014/main" val="20002"/>
                    </a:ext>
                  </a:extLst>
                </a:gridCol>
              </a:tblGrid>
              <a:tr h="384700">
                <a:tc>
                  <a:txBody>
                    <a:bodyPr/>
                    <a:lstStyle/>
                    <a:p>
                      <a:pPr algn="ctr"/>
                      <a:r>
                        <a:rPr lang="en-GB" sz="2000" dirty="0"/>
                        <a:t>Reaction</a:t>
                      </a:r>
                    </a:p>
                  </a:txBody>
                  <a:tcPr>
                    <a:solidFill>
                      <a:schemeClr val="accent6">
                        <a:lumMod val="75000"/>
                      </a:schemeClr>
                    </a:solidFill>
                  </a:tcPr>
                </a:tc>
                <a:tc>
                  <a:txBody>
                    <a:bodyPr/>
                    <a:lstStyle/>
                    <a:p>
                      <a:pPr algn="ctr"/>
                      <a:r>
                        <a:rPr lang="en-GB" sz="2000" dirty="0"/>
                        <a:t>Temperature at start </a:t>
                      </a:r>
                      <a:r>
                        <a:rPr lang="en-GB" sz="2000" baseline="30000" dirty="0"/>
                        <a:t>O</a:t>
                      </a:r>
                      <a:r>
                        <a:rPr lang="en-GB" sz="2000" dirty="0"/>
                        <a:t>C</a:t>
                      </a:r>
                      <a:r>
                        <a:rPr lang="en-GB" sz="2000" baseline="0" dirty="0"/>
                        <a:t> </a:t>
                      </a:r>
                      <a:endParaRPr lang="en-GB" sz="2000" dirty="0"/>
                    </a:p>
                  </a:txBody>
                  <a:tcPr>
                    <a:solidFill>
                      <a:schemeClr val="accent6">
                        <a:lumMod val="75000"/>
                      </a:schemeClr>
                    </a:solidFill>
                  </a:tcPr>
                </a:tc>
                <a:tc>
                  <a:txBody>
                    <a:bodyPr/>
                    <a:lstStyle/>
                    <a:p>
                      <a:pPr algn="ctr"/>
                      <a:r>
                        <a:rPr lang="en-GB" sz="2000" dirty="0"/>
                        <a:t>Temperature at end </a:t>
                      </a:r>
                      <a:r>
                        <a:rPr lang="en-GB" sz="2000" baseline="30000" dirty="0"/>
                        <a:t>O</a:t>
                      </a:r>
                      <a:r>
                        <a:rPr lang="en-GB" sz="2000" dirty="0"/>
                        <a:t>C</a:t>
                      </a:r>
                    </a:p>
                  </a:txBody>
                  <a:tcPr>
                    <a:solidFill>
                      <a:schemeClr val="accent6">
                        <a:lumMod val="75000"/>
                      </a:schemeClr>
                    </a:solidFill>
                  </a:tcPr>
                </a:tc>
                <a:extLst>
                  <a:ext uri="{0D108BD9-81ED-4DB2-BD59-A6C34878D82A}">
                    <a16:rowId xmlns:a16="http://schemas.microsoft.com/office/drawing/2014/main" val="10000"/>
                  </a:ext>
                </a:extLst>
              </a:tr>
              <a:tr h="443885">
                <a:tc>
                  <a:txBody>
                    <a:bodyPr/>
                    <a:lstStyle/>
                    <a:p>
                      <a:pPr algn="ctr"/>
                      <a:r>
                        <a:rPr lang="en-GB" sz="2400" b="1" dirty="0"/>
                        <a:t>A</a:t>
                      </a:r>
                    </a:p>
                  </a:txBody>
                  <a:tcPr/>
                </a:tc>
                <a:tc>
                  <a:txBody>
                    <a:bodyPr/>
                    <a:lstStyle/>
                    <a:p>
                      <a:pPr algn="ctr"/>
                      <a:r>
                        <a:rPr lang="en-GB" sz="2400" dirty="0"/>
                        <a:t>22</a:t>
                      </a:r>
                    </a:p>
                  </a:txBody>
                  <a:tcPr/>
                </a:tc>
                <a:tc>
                  <a:txBody>
                    <a:bodyPr/>
                    <a:lstStyle/>
                    <a:p>
                      <a:pPr algn="ctr"/>
                      <a:r>
                        <a:rPr lang="en-GB" sz="2400" dirty="0"/>
                        <a:t>28</a:t>
                      </a:r>
                      <a:endParaRPr lang="en-GB" sz="2400" baseline="30000" dirty="0"/>
                    </a:p>
                  </a:txBody>
                  <a:tcPr/>
                </a:tc>
                <a:extLst>
                  <a:ext uri="{0D108BD9-81ED-4DB2-BD59-A6C34878D82A}">
                    <a16:rowId xmlns:a16="http://schemas.microsoft.com/office/drawing/2014/main" val="10001"/>
                  </a:ext>
                </a:extLst>
              </a:tr>
              <a:tr h="443885">
                <a:tc>
                  <a:txBody>
                    <a:bodyPr/>
                    <a:lstStyle/>
                    <a:p>
                      <a:pPr algn="ctr"/>
                      <a:r>
                        <a:rPr lang="en-GB" sz="2400" b="1" dirty="0"/>
                        <a:t>B</a:t>
                      </a:r>
                    </a:p>
                  </a:txBody>
                  <a:tcPr/>
                </a:tc>
                <a:tc>
                  <a:txBody>
                    <a:bodyPr/>
                    <a:lstStyle/>
                    <a:p>
                      <a:pPr algn="ctr"/>
                      <a:r>
                        <a:rPr lang="en-GB" sz="2400" dirty="0"/>
                        <a:t>20</a:t>
                      </a:r>
                    </a:p>
                  </a:txBody>
                  <a:tcPr/>
                </a:tc>
                <a:tc>
                  <a:txBody>
                    <a:bodyPr/>
                    <a:lstStyle/>
                    <a:p>
                      <a:pPr marL="0" marR="0" indent="0" algn="ctr" defTabSz="342900" rtl="0" eaLnBrk="1" fontAlgn="auto" latinLnBrk="0" hangingPunct="1">
                        <a:lnSpc>
                          <a:spcPct val="100000"/>
                        </a:lnSpc>
                        <a:spcBef>
                          <a:spcPts val="0"/>
                        </a:spcBef>
                        <a:spcAft>
                          <a:spcPts val="0"/>
                        </a:spcAft>
                        <a:buClrTx/>
                        <a:buSzTx/>
                        <a:buFontTx/>
                        <a:buNone/>
                        <a:tabLst/>
                        <a:defRPr/>
                      </a:pPr>
                      <a:r>
                        <a:rPr lang="en-GB" sz="2400" dirty="0"/>
                        <a:t>20</a:t>
                      </a:r>
                      <a:endParaRPr lang="en-GB" sz="2400" baseline="30000" dirty="0"/>
                    </a:p>
                  </a:txBody>
                  <a:tcPr/>
                </a:tc>
                <a:extLst>
                  <a:ext uri="{0D108BD9-81ED-4DB2-BD59-A6C34878D82A}">
                    <a16:rowId xmlns:a16="http://schemas.microsoft.com/office/drawing/2014/main" val="10002"/>
                  </a:ext>
                </a:extLst>
              </a:tr>
              <a:tr h="443885">
                <a:tc>
                  <a:txBody>
                    <a:bodyPr/>
                    <a:lstStyle/>
                    <a:p>
                      <a:pPr algn="ctr"/>
                      <a:r>
                        <a:rPr lang="en-GB" sz="2400" b="1" dirty="0"/>
                        <a:t>C</a:t>
                      </a:r>
                    </a:p>
                  </a:txBody>
                  <a:tcPr/>
                </a:tc>
                <a:tc>
                  <a:txBody>
                    <a:bodyPr/>
                    <a:lstStyle/>
                    <a:p>
                      <a:pPr algn="ctr"/>
                      <a:r>
                        <a:rPr lang="en-GB" sz="2400" dirty="0"/>
                        <a:t>21</a:t>
                      </a:r>
                    </a:p>
                  </a:txBody>
                  <a:tcPr/>
                </a:tc>
                <a:tc>
                  <a:txBody>
                    <a:bodyPr/>
                    <a:lstStyle/>
                    <a:p>
                      <a:pPr marL="0" marR="0" indent="0" algn="ctr" defTabSz="342900" rtl="0" eaLnBrk="1" fontAlgn="auto" latinLnBrk="0" hangingPunct="1">
                        <a:lnSpc>
                          <a:spcPct val="100000"/>
                        </a:lnSpc>
                        <a:spcBef>
                          <a:spcPts val="0"/>
                        </a:spcBef>
                        <a:spcAft>
                          <a:spcPts val="0"/>
                        </a:spcAft>
                        <a:buClrTx/>
                        <a:buSzTx/>
                        <a:buFontTx/>
                        <a:buNone/>
                        <a:tabLst/>
                        <a:defRPr/>
                      </a:pPr>
                      <a:r>
                        <a:rPr lang="en-GB" sz="2400" baseline="0" dirty="0"/>
                        <a:t>12</a:t>
                      </a:r>
                    </a:p>
                  </a:txBody>
                  <a:tcPr/>
                </a:tc>
                <a:extLst>
                  <a:ext uri="{0D108BD9-81ED-4DB2-BD59-A6C34878D82A}">
                    <a16:rowId xmlns:a16="http://schemas.microsoft.com/office/drawing/2014/main" val="10003"/>
                  </a:ext>
                </a:extLst>
              </a:tr>
              <a:tr h="443885">
                <a:tc>
                  <a:txBody>
                    <a:bodyPr/>
                    <a:lstStyle/>
                    <a:p>
                      <a:pPr algn="ctr"/>
                      <a:r>
                        <a:rPr lang="en-GB" sz="2400" b="1" dirty="0"/>
                        <a:t>D</a:t>
                      </a:r>
                    </a:p>
                  </a:txBody>
                  <a:tcPr/>
                </a:tc>
                <a:tc>
                  <a:txBody>
                    <a:bodyPr/>
                    <a:lstStyle/>
                    <a:p>
                      <a:pPr algn="ctr"/>
                      <a:r>
                        <a:rPr lang="en-GB" sz="2400" dirty="0"/>
                        <a:t>25</a:t>
                      </a:r>
                    </a:p>
                  </a:txBody>
                  <a:tcPr/>
                </a:tc>
                <a:tc>
                  <a:txBody>
                    <a:bodyPr/>
                    <a:lstStyle/>
                    <a:p>
                      <a:pPr marL="0" marR="0" indent="0" algn="ctr" defTabSz="342900" rtl="0" eaLnBrk="1" fontAlgn="auto" latinLnBrk="0" hangingPunct="1">
                        <a:lnSpc>
                          <a:spcPct val="100000"/>
                        </a:lnSpc>
                        <a:spcBef>
                          <a:spcPts val="0"/>
                        </a:spcBef>
                        <a:spcAft>
                          <a:spcPts val="0"/>
                        </a:spcAft>
                        <a:buClrTx/>
                        <a:buSzTx/>
                        <a:buFontTx/>
                        <a:buNone/>
                        <a:tabLst/>
                        <a:defRPr/>
                      </a:pPr>
                      <a:r>
                        <a:rPr lang="en-GB" sz="2400" dirty="0"/>
                        <a:t>25</a:t>
                      </a:r>
                      <a:endParaRPr lang="en-GB" sz="2400" baseline="300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102453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7" name="TextBox 6"/>
          <p:cNvSpPr txBox="1"/>
          <p:nvPr/>
        </p:nvSpPr>
        <p:spPr>
          <a:xfrm>
            <a:off x="0" y="980728"/>
            <a:ext cx="6012160" cy="5632311"/>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4400" b="1" dirty="0">
                <a:solidFill>
                  <a:schemeClr val="tx1">
                    <a:lumMod val="50000"/>
                    <a:lumOff val="50000"/>
                  </a:schemeClr>
                </a:solidFill>
              </a:rPr>
              <a:t>Energy Changes</a:t>
            </a:r>
          </a:p>
          <a:p>
            <a:pPr marL="571500" indent="-571500">
              <a:buFontTx/>
              <a:buChar char="-"/>
            </a:pPr>
            <a:r>
              <a:rPr lang="en-GB" sz="4400" b="1" dirty="0">
                <a:solidFill>
                  <a:schemeClr val="tx1">
                    <a:lumMod val="50000"/>
                    <a:lumOff val="50000"/>
                  </a:schemeClr>
                </a:solidFill>
              </a:rPr>
              <a:t>part 2</a:t>
            </a:r>
          </a:p>
          <a:p>
            <a:pPr marL="571500" indent="-571500">
              <a:buFontTx/>
              <a:buChar char="-"/>
            </a:pPr>
            <a:endParaRPr lang="en-GB" sz="4400" b="1" dirty="0">
              <a:solidFill>
                <a:schemeClr val="tx1">
                  <a:lumMod val="50000"/>
                  <a:lumOff val="50000"/>
                </a:schemeClr>
              </a:solidFill>
            </a:endParaRPr>
          </a:p>
          <a:p>
            <a:pPr marL="457200" indent="-457200">
              <a:buFont typeface="Arial" charset="0"/>
              <a:buChar char="•"/>
            </a:pPr>
            <a:r>
              <a:rPr lang="en-GB" sz="2400" b="1" dirty="0">
                <a:solidFill>
                  <a:schemeClr val="tx1">
                    <a:lumMod val="50000"/>
                    <a:lumOff val="50000"/>
                  </a:schemeClr>
                </a:solidFill>
              </a:rPr>
              <a:t>Overall heat energy change for a reaction</a:t>
            </a:r>
          </a:p>
          <a:p>
            <a:pPr marL="457200" indent="-457200">
              <a:buFont typeface="Arial" charset="0"/>
              <a:buChar char="•"/>
            </a:pPr>
            <a:r>
              <a:rPr lang="en-GB" sz="2400" b="1" dirty="0">
                <a:solidFill>
                  <a:schemeClr val="tx1">
                    <a:lumMod val="50000"/>
                    <a:lumOff val="50000"/>
                  </a:schemeClr>
                </a:solidFill>
              </a:rPr>
              <a:t>Calculate energy change (HT)</a:t>
            </a:r>
          </a:p>
          <a:p>
            <a:endParaRPr lang="en-GB" dirty="0"/>
          </a:p>
        </p:txBody>
      </p:sp>
    </p:spTree>
    <p:extLst>
      <p:ext uri="{BB962C8B-B14F-4D97-AF65-F5344CB8AC3E}">
        <p14:creationId xmlns:p14="http://schemas.microsoft.com/office/powerpoint/2010/main" val="2122284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6436" y="-14024"/>
            <a:ext cx="6876256" cy="657041"/>
          </a:xfrm>
        </p:spPr>
        <p:txBody>
          <a:bodyPr>
            <a:noAutofit/>
          </a:bodyPr>
          <a:lstStyle/>
          <a:p>
            <a:pPr marL="342900" lvl="1" algn="r" defTabSz="342900" rtl="0">
              <a:spcBef>
                <a:spcPct val="20000"/>
              </a:spcBef>
            </a:pPr>
            <a:r>
              <a:rPr lang="en-US" sz="2400" b="1" dirty="0">
                <a:solidFill>
                  <a:schemeClr val="accent6"/>
                </a:solidFill>
              </a:rPr>
              <a:t>The energy change of reactions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7" name="TextBox 6"/>
          <p:cNvSpPr txBox="1"/>
          <p:nvPr/>
        </p:nvSpPr>
        <p:spPr>
          <a:xfrm>
            <a:off x="179512" y="2062205"/>
            <a:ext cx="6048672" cy="4401205"/>
          </a:xfrm>
          <a:prstGeom prst="rect">
            <a:avLst/>
          </a:prstGeom>
          <a:noFill/>
          <a:ln w="28575">
            <a:solidFill>
              <a:schemeClr val="accent6"/>
            </a:solidFill>
          </a:ln>
        </p:spPr>
        <p:txBody>
          <a:bodyPr wrap="square" rtlCol="0">
            <a:spAutoFit/>
          </a:bodyPr>
          <a:lstStyle/>
          <a:p>
            <a:r>
              <a:rPr lang="en-GB" sz="2800" dirty="0"/>
              <a:t>The </a:t>
            </a:r>
            <a:r>
              <a:rPr lang="en-GB" sz="2800" b="1" dirty="0">
                <a:solidFill>
                  <a:schemeClr val="accent6">
                    <a:lumMod val="75000"/>
                  </a:schemeClr>
                </a:solidFill>
              </a:rPr>
              <a:t>overall heat energy change </a:t>
            </a:r>
            <a:r>
              <a:rPr lang="en-GB" sz="2800" dirty="0"/>
              <a:t>for a reaction is:</a:t>
            </a:r>
          </a:p>
          <a:p>
            <a:pPr marL="342900" indent="-342900">
              <a:buFont typeface="Arial" panose="020B0604020202020204" pitchFamily="34" charset="0"/>
              <a:buChar char="•"/>
            </a:pPr>
            <a:r>
              <a:rPr lang="en-GB" sz="2800" b="1" dirty="0">
                <a:solidFill>
                  <a:schemeClr val="accent6">
                    <a:lumMod val="75000"/>
                  </a:schemeClr>
                </a:solidFill>
              </a:rPr>
              <a:t>Exothermic</a:t>
            </a:r>
            <a:r>
              <a:rPr lang="en-GB" sz="2800" dirty="0"/>
              <a:t> if more heat is released in forming bonds in the products than is required to break bonds in the reactants.</a:t>
            </a:r>
          </a:p>
          <a:p>
            <a:pPr marL="342900" indent="-342900">
              <a:buFont typeface="Arial" panose="020B0604020202020204" pitchFamily="34" charset="0"/>
              <a:buChar char="•"/>
            </a:pPr>
            <a:r>
              <a:rPr lang="en-GB" sz="2800" b="1" dirty="0">
                <a:solidFill>
                  <a:schemeClr val="accent6">
                    <a:lumMod val="75000"/>
                  </a:schemeClr>
                </a:solidFill>
              </a:rPr>
              <a:t>Endothermic</a:t>
            </a:r>
            <a:r>
              <a:rPr lang="en-GB" sz="2800" dirty="0"/>
              <a:t> if less heat is released in forming the bonds in the products than is required in breaking bonds in the reactants.</a:t>
            </a:r>
          </a:p>
        </p:txBody>
      </p:sp>
      <p:sp>
        <p:nvSpPr>
          <p:cNvPr id="9" name="TextBox 8"/>
          <p:cNvSpPr txBox="1"/>
          <p:nvPr/>
        </p:nvSpPr>
        <p:spPr>
          <a:xfrm>
            <a:off x="1655676" y="788890"/>
            <a:ext cx="5832648" cy="1077218"/>
          </a:xfrm>
          <a:custGeom>
            <a:avLst/>
            <a:gdLst>
              <a:gd name="connsiteX0" fmla="*/ 0 w 8568952"/>
              <a:gd name="connsiteY0" fmla="*/ 0 h 646331"/>
              <a:gd name="connsiteX1" fmla="*/ 8568952 w 8568952"/>
              <a:gd name="connsiteY1" fmla="*/ 0 h 646331"/>
              <a:gd name="connsiteX2" fmla="*/ 8568952 w 8568952"/>
              <a:gd name="connsiteY2" fmla="*/ 646331 h 646331"/>
              <a:gd name="connsiteX3" fmla="*/ 0 w 8568952"/>
              <a:gd name="connsiteY3" fmla="*/ 646331 h 646331"/>
              <a:gd name="connsiteX4" fmla="*/ 0 w 8568952"/>
              <a:gd name="connsiteY4" fmla="*/ 0 h 646331"/>
              <a:gd name="connsiteX0" fmla="*/ 0 w 8568952"/>
              <a:gd name="connsiteY0" fmla="*/ 92990 h 646331"/>
              <a:gd name="connsiteX1" fmla="*/ 8568952 w 8568952"/>
              <a:gd name="connsiteY1" fmla="*/ 0 h 646331"/>
              <a:gd name="connsiteX2" fmla="*/ 8568952 w 8568952"/>
              <a:gd name="connsiteY2" fmla="*/ 646331 h 646331"/>
              <a:gd name="connsiteX3" fmla="*/ 0 w 8568952"/>
              <a:gd name="connsiteY3" fmla="*/ 646331 h 646331"/>
              <a:gd name="connsiteX4" fmla="*/ 0 w 8568952"/>
              <a:gd name="connsiteY4" fmla="*/ 92990 h 646331"/>
              <a:gd name="connsiteX0" fmla="*/ 0 w 8568952"/>
              <a:gd name="connsiteY0" fmla="*/ 1 h 553342"/>
              <a:gd name="connsiteX1" fmla="*/ 8568952 w 8568952"/>
              <a:gd name="connsiteY1" fmla="*/ 0 h 553342"/>
              <a:gd name="connsiteX2" fmla="*/ 8568952 w 8568952"/>
              <a:gd name="connsiteY2" fmla="*/ 553342 h 553342"/>
              <a:gd name="connsiteX3" fmla="*/ 0 w 8568952"/>
              <a:gd name="connsiteY3" fmla="*/ 553342 h 553342"/>
              <a:gd name="connsiteX4" fmla="*/ 0 w 8568952"/>
              <a:gd name="connsiteY4" fmla="*/ 1 h 553342"/>
              <a:gd name="connsiteX0" fmla="*/ 0 w 8568952"/>
              <a:gd name="connsiteY0" fmla="*/ 1 h 630833"/>
              <a:gd name="connsiteX1" fmla="*/ 8568952 w 8568952"/>
              <a:gd name="connsiteY1" fmla="*/ 0 h 630833"/>
              <a:gd name="connsiteX2" fmla="*/ 8568952 w 8568952"/>
              <a:gd name="connsiteY2" fmla="*/ 553342 h 630833"/>
              <a:gd name="connsiteX3" fmla="*/ 15499 w 8568952"/>
              <a:gd name="connsiteY3" fmla="*/ 630833 h 630833"/>
              <a:gd name="connsiteX4" fmla="*/ 0 w 8568952"/>
              <a:gd name="connsiteY4" fmla="*/ 1 h 630833"/>
              <a:gd name="connsiteX0" fmla="*/ 0 w 8568952"/>
              <a:gd name="connsiteY0" fmla="*/ 1 h 630833"/>
              <a:gd name="connsiteX1" fmla="*/ 8568952 w 8568952"/>
              <a:gd name="connsiteY1" fmla="*/ 0 h 630833"/>
              <a:gd name="connsiteX2" fmla="*/ 8568952 w 8568952"/>
              <a:gd name="connsiteY2" fmla="*/ 615336 h 630833"/>
              <a:gd name="connsiteX3" fmla="*/ 15499 w 8568952"/>
              <a:gd name="connsiteY3" fmla="*/ 630833 h 630833"/>
              <a:gd name="connsiteX4" fmla="*/ 0 w 8568952"/>
              <a:gd name="connsiteY4" fmla="*/ 1 h 630833"/>
              <a:gd name="connsiteX0" fmla="*/ 0 w 8568952"/>
              <a:gd name="connsiteY0" fmla="*/ 1 h 630834"/>
              <a:gd name="connsiteX1" fmla="*/ 8568952 w 8568952"/>
              <a:gd name="connsiteY1" fmla="*/ 0 h 630834"/>
              <a:gd name="connsiteX2" fmla="*/ 8568952 w 8568952"/>
              <a:gd name="connsiteY2" fmla="*/ 630834 h 630834"/>
              <a:gd name="connsiteX3" fmla="*/ 15499 w 8568952"/>
              <a:gd name="connsiteY3" fmla="*/ 630833 h 630834"/>
              <a:gd name="connsiteX4" fmla="*/ 0 w 8568952"/>
              <a:gd name="connsiteY4" fmla="*/ 1 h 630834"/>
              <a:gd name="connsiteX0" fmla="*/ 0 w 8568952"/>
              <a:gd name="connsiteY0" fmla="*/ 1 h 630834"/>
              <a:gd name="connsiteX1" fmla="*/ 8568952 w 8568952"/>
              <a:gd name="connsiteY1" fmla="*/ 0 h 630834"/>
              <a:gd name="connsiteX2" fmla="*/ 8568952 w 8568952"/>
              <a:gd name="connsiteY2" fmla="*/ 630834 h 630834"/>
              <a:gd name="connsiteX3" fmla="*/ 0 w 8568952"/>
              <a:gd name="connsiteY3" fmla="*/ 630833 h 630834"/>
              <a:gd name="connsiteX4" fmla="*/ 0 w 8568952"/>
              <a:gd name="connsiteY4" fmla="*/ 1 h 630834"/>
              <a:gd name="connsiteX0" fmla="*/ 12879 w 8568952"/>
              <a:gd name="connsiteY0" fmla="*/ 0 h 1021053"/>
              <a:gd name="connsiteX1" fmla="*/ 8568952 w 8568952"/>
              <a:gd name="connsiteY1" fmla="*/ 390219 h 1021053"/>
              <a:gd name="connsiteX2" fmla="*/ 8568952 w 8568952"/>
              <a:gd name="connsiteY2" fmla="*/ 1021053 h 1021053"/>
              <a:gd name="connsiteX3" fmla="*/ 0 w 8568952"/>
              <a:gd name="connsiteY3" fmla="*/ 1021052 h 1021053"/>
              <a:gd name="connsiteX4" fmla="*/ 12879 w 8568952"/>
              <a:gd name="connsiteY4" fmla="*/ 0 h 1021053"/>
              <a:gd name="connsiteX0" fmla="*/ 12879 w 8568952"/>
              <a:gd name="connsiteY0" fmla="*/ 0 h 1021053"/>
              <a:gd name="connsiteX1" fmla="*/ 8556073 w 8568952"/>
              <a:gd name="connsiteY1" fmla="*/ 0 h 1021053"/>
              <a:gd name="connsiteX2" fmla="*/ 8568952 w 8568952"/>
              <a:gd name="connsiteY2" fmla="*/ 1021053 h 1021053"/>
              <a:gd name="connsiteX3" fmla="*/ 0 w 8568952"/>
              <a:gd name="connsiteY3" fmla="*/ 1021052 h 1021053"/>
              <a:gd name="connsiteX4" fmla="*/ 12879 w 8568952"/>
              <a:gd name="connsiteY4" fmla="*/ 0 h 1021053"/>
              <a:gd name="connsiteX0" fmla="*/ 12879 w 8568952"/>
              <a:gd name="connsiteY0" fmla="*/ 0 h 1021053"/>
              <a:gd name="connsiteX1" fmla="*/ 8556073 w 8568952"/>
              <a:gd name="connsiteY1" fmla="*/ 0 h 1021053"/>
              <a:gd name="connsiteX2" fmla="*/ 8568952 w 8568952"/>
              <a:gd name="connsiteY2" fmla="*/ 1021053 h 1021053"/>
              <a:gd name="connsiteX3" fmla="*/ 0 w 8568952"/>
              <a:gd name="connsiteY3" fmla="*/ 1021052 h 1021053"/>
              <a:gd name="connsiteX4" fmla="*/ 12879 w 8568952"/>
              <a:gd name="connsiteY4" fmla="*/ 0 h 10210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68952" h="1021053">
                <a:moveTo>
                  <a:pt x="12879" y="0"/>
                </a:moveTo>
                <a:lnTo>
                  <a:pt x="8556073" y="0"/>
                </a:lnTo>
                <a:lnTo>
                  <a:pt x="8568952" y="1021053"/>
                </a:lnTo>
                <a:lnTo>
                  <a:pt x="0" y="1021052"/>
                </a:lnTo>
                <a:lnTo>
                  <a:pt x="12879" y="0"/>
                </a:lnTo>
                <a:close/>
              </a:path>
            </a:pathLst>
          </a:custGeom>
          <a:solidFill>
            <a:schemeClr val="accent6"/>
          </a:solidFill>
          <a:ln w="28575">
            <a:solidFill>
              <a:schemeClr val="tx1"/>
            </a:solidFill>
          </a:ln>
        </p:spPr>
        <p:txBody>
          <a:bodyPr wrap="square" rtlCol="0">
            <a:spAutoFit/>
          </a:bodyPr>
          <a:lstStyle/>
          <a:p>
            <a:pPr algn="ctr"/>
            <a:r>
              <a:rPr lang="en-GB" sz="3200" b="1" dirty="0"/>
              <a:t>Breaking</a:t>
            </a:r>
            <a:r>
              <a:rPr lang="en-GB" sz="3200" dirty="0"/>
              <a:t> bonds is </a:t>
            </a:r>
            <a:r>
              <a:rPr lang="en-GB" sz="3200" b="1" dirty="0"/>
              <a:t>endothermic</a:t>
            </a:r>
          </a:p>
          <a:p>
            <a:pPr algn="ctr"/>
            <a:r>
              <a:rPr lang="en-GB" sz="3200" b="1" dirty="0"/>
              <a:t>Making</a:t>
            </a:r>
            <a:r>
              <a:rPr lang="en-GB" sz="3200" dirty="0"/>
              <a:t> bonds is </a:t>
            </a:r>
            <a:r>
              <a:rPr lang="en-GB" sz="3200" b="1" dirty="0"/>
              <a:t>exothermic</a:t>
            </a:r>
          </a:p>
        </p:txBody>
      </p:sp>
      <p:pic>
        <p:nvPicPr>
          <p:cNvPr id="10" name="Picture 9"/>
          <p:cNvPicPr>
            <a:picLocks noChangeAspect="1"/>
          </p:cNvPicPr>
          <p:nvPr/>
        </p:nvPicPr>
        <p:blipFill>
          <a:blip r:embed="rId3"/>
          <a:stretch>
            <a:fillRect/>
          </a:stretch>
        </p:blipFill>
        <p:spPr>
          <a:xfrm>
            <a:off x="6516216" y="2462607"/>
            <a:ext cx="2287954" cy="1800200"/>
          </a:xfrm>
          <a:prstGeom prst="rect">
            <a:avLst/>
          </a:prstGeom>
        </p:spPr>
      </p:pic>
      <p:pic>
        <p:nvPicPr>
          <p:cNvPr id="13" name="Picture 12"/>
          <p:cNvPicPr>
            <a:picLocks noChangeAspect="1"/>
          </p:cNvPicPr>
          <p:nvPr/>
        </p:nvPicPr>
        <p:blipFill>
          <a:blip r:embed="rId4"/>
          <a:stretch>
            <a:fillRect/>
          </a:stretch>
        </p:blipFill>
        <p:spPr>
          <a:xfrm>
            <a:off x="6516216" y="4437112"/>
            <a:ext cx="2287954" cy="1831178"/>
          </a:xfrm>
          <a:prstGeom prst="rect">
            <a:avLst/>
          </a:prstGeom>
        </p:spPr>
      </p:pic>
    </p:spTree>
    <p:extLst>
      <p:ext uri="{BB962C8B-B14F-4D97-AF65-F5344CB8AC3E}">
        <p14:creationId xmlns:p14="http://schemas.microsoft.com/office/powerpoint/2010/main" val="23694679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83768" y="-32700"/>
            <a:ext cx="6660232" cy="941420"/>
          </a:xfrm>
        </p:spPr>
        <p:txBody>
          <a:bodyPr>
            <a:noAutofit/>
          </a:bodyPr>
          <a:lstStyle/>
          <a:p>
            <a:pPr marL="342900" lvl="1" algn="r" defTabSz="342900" rtl="0">
              <a:spcBef>
                <a:spcPct val="20000"/>
              </a:spcBef>
            </a:pPr>
            <a:r>
              <a:rPr lang="en-US" sz="2400" b="1" dirty="0">
                <a:solidFill>
                  <a:schemeClr val="accent6"/>
                </a:solidFill>
              </a:rPr>
              <a:t>The energy change of reactions (HT 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251520" y="908719"/>
            <a:ext cx="8640960" cy="4893647"/>
          </a:xfrm>
          <a:custGeom>
            <a:avLst/>
            <a:gdLst>
              <a:gd name="connsiteX0" fmla="*/ 0 w 8640960"/>
              <a:gd name="connsiteY0" fmla="*/ 0 h 2123658"/>
              <a:gd name="connsiteX1" fmla="*/ 8640960 w 8640960"/>
              <a:gd name="connsiteY1" fmla="*/ 0 h 2123658"/>
              <a:gd name="connsiteX2" fmla="*/ 8640960 w 8640960"/>
              <a:gd name="connsiteY2" fmla="*/ 2123658 h 2123658"/>
              <a:gd name="connsiteX3" fmla="*/ 0 w 8640960"/>
              <a:gd name="connsiteY3" fmla="*/ 2123658 h 2123658"/>
              <a:gd name="connsiteX4" fmla="*/ 0 w 8640960"/>
              <a:gd name="connsiteY4" fmla="*/ 0 h 2123658"/>
              <a:gd name="connsiteX0" fmla="*/ 0 w 8640960"/>
              <a:gd name="connsiteY0" fmla="*/ 0 h 2123658"/>
              <a:gd name="connsiteX1" fmla="*/ 8640960 w 8640960"/>
              <a:gd name="connsiteY1" fmla="*/ 0 h 2123658"/>
              <a:gd name="connsiteX2" fmla="*/ 8640960 w 8640960"/>
              <a:gd name="connsiteY2" fmla="*/ 2123658 h 2123658"/>
              <a:gd name="connsiteX3" fmla="*/ 15498 w 8640960"/>
              <a:gd name="connsiteY3" fmla="*/ 1658709 h 2123658"/>
              <a:gd name="connsiteX4" fmla="*/ 0 w 8640960"/>
              <a:gd name="connsiteY4" fmla="*/ 0 h 2123658"/>
              <a:gd name="connsiteX0" fmla="*/ 0 w 8640960"/>
              <a:gd name="connsiteY0" fmla="*/ 0 h 1658709"/>
              <a:gd name="connsiteX1" fmla="*/ 8640960 w 8640960"/>
              <a:gd name="connsiteY1" fmla="*/ 0 h 1658709"/>
              <a:gd name="connsiteX2" fmla="*/ 8609963 w 8640960"/>
              <a:gd name="connsiteY2" fmla="*/ 1658709 h 1658709"/>
              <a:gd name="connsiteX3" fmla="*/ 15498 w 8640960"/>
              <a:gd name="connsiteY3" fmla="*/ 1658709 h 1658709"/>
              <a:gd name="connsiteX4" fmla="*/ 0 w 8640960"/>
              <a:gd name="connsiteY4" fmla="*/ 0 h 1658709"/>
              <a:gd name="connsiteX0" fmla="*/ 0 w 8640960"/>
              <a:gd name="connsiteY0" fmla="*/ 0 h 1658709"/>
              <a:gd name="connsiteX1" fmla="*/ 8640960 w 8640960"/>
              <a:gd name="connsiteY1" fmla="*/ 0 h 1658709"/>
              <a:gd name="connsiteX2" fmla="*/ 8609963 w 8640960"/>
              <a:gd name="connsiteY2" fmla="*/ 1658709 h 1658709"/>
              <a:gd name="connsiteX3" fmla="*/ 0 w 8640960"/>
              <a:gd name="connsiteY3" fmla="*/ 1658709 h 1658709"/>
              <a:gd name="connsiteX4" fmla="*/ 0 w 8640960"/>
              <a:gd name="connsiteY4" fmla="*/ 0 h 1658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0960" h="1658709">
                <a:moveTo>
                  <a:pt x="0" y="0"/>
                </a:moveTo>
                <a:lnTo>
                  <a:pt x="8640960" y="0"/>
                </a:lnTo>
                <a:lnTo>
                  <a:pt x="8609963" y="1658709"/>
                </a:lnTo>
                <a:lnTo>
                  <a:pt x="0" y="1658709"/>
                </a:lnTo>
                <a:lnTo>
                  <a:pt x="0" y="0"/>
                </a:lnTo>
                <a:close/>
              </a:path>
            </a:pathLst>
          </a:custGeom>
          <a:noFill/>
        </p:spPr>
        <p:txBody>
          <a:bodyPr wrap="square" rtlCol="0">
            <a:spAutoFit/>
          </a:bodyPr>
          <a:lstStyle/>
          <a:p>
            <a:r>
              <a:rPr lang="en-GB" sz="2400" b="1" dirty="0"/>
              <a:t>For the reaction of methane with oxygen we can write out the balanced symbol equation:</a:t>
            </a:r>
          </a:p>
          <a:p>
            <a:endParaRPr lang="en-GB" sz="2400" b="1" dirty="0"/>
          </a:p>
          <a:p>
            <a:pPr algn="ctr"/>
            <a:r>
              <a:rPr lang="en-GB" sz="2400" b="1" dirty="0"/>
              <a:t>CH</a:t>
            </a:r>
            <a:r>
              <a:rPr lang="en-GB" sz="2400" b="1" baseline="-25000" dirty="0"/>
              <a:t>4</a:t>
            </a:r>
            <a:r>
              <a:rPr lang="en-GB" sz="2400" b="1" dirty="0"/>
              <a:t>  +  2O</a:t>
            </a:r>
            <a:r>
              <a:rPr lang="en-GB" sz="2400" b="1" baseline="-25000" dirty="0"/>
              <a:t>2</a:t>
            </a:r>
            <a:r>
              <a:rPr lang="en-GB" sz="2400" b="1" dirty="0"/>
              <a:t> </a:t>
            </a:r>
            <a:r>
              <a:rPr lang="en-GB" sz="2400" b="1" dirty="0">
                <a:sym typeface="Wingdings" panose="05000000000000000000" pitchFamily="2" charset="2"/>
              </a:rPr>
              <a:t>  CO</a:t>
            </a:r>
            <a:r>
              <a:rPr lang="en-GB" sz="2400" b="1" baseline="-25000" dirty="0">
                <a:sym typeface="Wingdings" panose="05000000000000000000" pitchFamily="2" charset="2"/>
              </a:rPr>
              <a:t>2</a:t>
            </a:r>
            <a:r>
              <a:rPr lang="en-GB" sz="2400" b="1" dirty="0">
                <a:sym typeface="Wingdings" panose="05000000000000000000" pitchFamily="2" charset="2"/>
              </a:rPr>
              <a:t>  +  2H</a:t>
            </a:r>
            <a:r>
              <a:rPr lang="en-GB" sz="2400" b="1" baseline="-25000" dirty="0">
                <a:sym typeface="Wingdings" panose="05000000000000000000" pitchFamily="2" charset="2"/>
              </a:rPr>
              <a:t>2</a:t>
            </a:r>
            <a:r>
              <a:rPr lang="en-GB" sz="2400" b="1" dirty="0">
                <a:sym typeface="Wingdings" panose="05000000000000000000" pitchFamily="2" charset="2"/>
              </a:rPr>
              <a:t>O</a:t>
            </a:r>
            <a:r>
              <a:rPr lang="en-GB" sz="2400" b="1" dirty="0"/>
              <a:t> </a:t>
            </a:r>
          </a:p>
          <a:p>
            <a:endParaRPr lang="en-GB" sz="2400" dirty="0"/>
          </a:p>
          <a:p>
            <a:r>
              <a:rPr lang="en-GB" sz="2400" b="1" dirty="0"/>
              <a:t>We can draw out the bonds between the atoms e.g. </a:t>
            </a:r>
          </a:p>
          <a:p>
            <a:endParaRPr lang="en-GB" sz="2400" b="1" dirty="0"/>
          </a:p>
          <a:p>
            <a:endParaRPr lang="en-GB" sz="2400" b="1" dirty="0"/>
          </a:p>
          <a:p>
            <a:endParaRPr lang="en-GB" sz="2400" b="1" dirty="0"/>
          </a:p>
          <a:p>
            <a:endParaRPr lang="en-GB" sz="2400" b="1" dirty="0"/>
          </a:p>
          <a:p>
            <a:endParaRPr lang="en-GB" sz="2400" b="1" dirty="0"/>
          </a:p>
          <a:p>
            <a:r>
              <a:rPr lang="en-GB" sz="2400" b="1" dirty="0"/>
              <a:t>Each line represents a bond, two lines represent a </a:t>
            </a:r>
            <a:r>
              <a:rPr lang="en-GB" sz="2400" b="1" dirty="0">
                <a:solidFill>
                  <a:schemeClr val="accent6">
                    <a:lumMod val="75000"/>
                  </a:schemeClr>
                </a:solidFill>
              </a:rPr>
              <a:t>double bond </a:t>
            </a:r>
            <a:r>
              <a:rPr lang="en-GB" sz="2400" b="1" dirty="0"/>
              <a:t>e.g. in the oxygen molecule.</a:t>
            </a:r>
          </a:p>
        </p:txBody>
      </p:sp>
      <p:pic>
        <p:nvPicPr>
          <p:cNvPr id="5" name="Picture 4"/>
          <p:cNvPicPr>
            <a:picLocks noChangeAspect="1"/>
          </p:cNvPicPr>
          <p:nvPr/>
        </p:nvPicPr>
        <p:blipFill>
          <a:blip r:embed="rId3"/>
          <a:stretch>
            <a:fillRect/>
          </a:stretch>
        </p:blipFill>
        <p:spPr>
          <a:xfrm>
            <a:off x="2089708" y="3140968"/>
            <a:ext cx="4964584" cy="1584176"/>
          </a:xfrm>
          <a:prstGeom prst="rect">
            <a:avLst/>
          </a:prstGeom>
        </p:spPr>
      </p:pic>
    </p:spTree>
    <p:extLst>
      <p:ext uri="{BB962C8B-B14F-4D97-AF65-F5344CB8AC3E}">
        <p14:creationId xmlns:p14="http://schemas.microsoft.com/office/powerpoint/2010/main" val="14281333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6436" y="-14024"/>
            <a:ext cx="6876256" cy="657041"/>
          </a:xfrm>
        </p:spPr>
        <p:txBody>
          <a:bodyPr>
            <a:noAutofit/>
          </a:bodyPr>
          <a:lstStyle/>
          <a:p>
            <a:pPr marL="342900" lvl="1" algn="r" defTabSz="342900" rtl="0">
              <a:spcBef>
                <a:spcPct val="20000"/>
              </a:spcBef>
            </a:pPr>
            <a:r>
              <a:rPr lang="en-US" sz="2400" b="1" dirty="0">
                <a:solidFill>
                  <a:schemeClr val="accent6"/>
                </a:solidFill>
              </a:rPr>
              <a:t>The energy change of reactions (HT 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7" name="TextBox 6"/>
          <p:cNvSpPr txBox="1"/>
          <p:nvPr/>
        </p:nvSpPr>
        <p:spPr>
          <a:xfrm>
            <a:off x="179512" y="836712"/>
            <a:ext cx="8640960" cy="1154162"/>
          </a:xfrm>
          <a:prstGeom prst="rect">
            <a:avLst/>
          </a:prstGeom>
          <a:noFill/>
          <a:ln w="28575">
            <a:solidFill>
              <a:schemeClr val="accent6"/>
            </a:solidFill>
          </a:ln>
        </p:spPr>
        <p:txBody>
          <a:bodyPr wrap="square" rtlCol="0">
            <a:spAutoFit/>
          </a:bodyPr>
          <a:lstStyle/>
          <a:p>
            <a:r>
              <a:rPr lang="en-GB" sz="2300" b="1" dirty="0"/>
              <a:t>During a </a:t>
            </a:r>
            <a:r>
              <a:rPr lang="en-GB" sz="2300" b="1" dirty="0">
                <a:solidFill>
                  <a:schemeClr val="accent6">
                    <a:lumMod val="75000"/>
                  </a:schemeClr>
                </a:solidFill>
              </a:rPr>
              <a:t>chemical reaction:</a:t>
            </a:r>
          </a:p>
          <a:p>
            <a:pPr marL="285750" indent="-285750">
              <a:buFont typeface="Arial" panose="020B0604020202020204" pitchFamily="34" charset="0"/>
              <a:buChar char="•"/>
            </a:pPr>
            <a:r>
              <a:rPr lang="en-GB" sz="2300" b="1" dirty="0"/>
              <a:t>Energy must be supplied to </a:t>
            </a:r>
            <a:r>
              <a:rPr lang="en-GB" sz="2300" b="1" dirty="0">
                <a:solidFill>
                  <a:schemeClr val="accent6">
                    <a:lumMod val="75000"/>
                  </a:schemeClr>
                </a:solidFill>
              </a:rPr>
              <a:t>break bonds </a:t>
            </a:r>
            <a:r>
              <a:rPr lang="en-GB" sz="2300" b="1" dirty="0"/>
              <a:t>in the reactants</a:t>
            </a:r>
          </a:p>
          <a:p>
            <a:pPr marL="285750" indent="-285750">
              <a:buFont typeface="Arial" panose="020B0604020202020204" pitchFamily="34" charset="0"/>
              <a:buChar char="•"/>
            </a:pPr>
            <a:r>
              <a:rPr lang="en-GB" sz="2300" b="1" dirty="0"/>
              <a:t>Energy is released to </a:t>
            </a:r>
            <a:r>
              <a:rPr lang="en-GB" sz="2300" b="1" dirty="0">
                <a:solidFill>
                  <a:schemeClr val="accent6">
                    <a:lumMod val="75000"/>
                  </a:schemeClr>
                </a:solidFill>
              </a:rPr>
              <a:t>form bonds </a:t>
            </a:r>
            <a:r>
              <a:rPr lang="en-GB" sz="2300" b="1" dirty="0"/>
              <a:t>in the products.</a:t>
            </a:r>
          </a:p>
        </p:txBody>
      </p:sp>
      <p:sp>
        <p:nvSpPr>
          <p:cNvPr id="8" name="TextBox 7"/>
          <p:cNvSpPr txBox="1"/>
          <p:nvPr/>
        </p:nvSpPr>
        <p:spPr>
          <a:xfrm>
            <a:off x="179512" y="2204864"/>
            <a:ext cx="8640960" cy="800219"/>
          </a:xfrm>
          <a:custGeom>
            <a:avLst/>
            <a:gdLst>
              <a:gd name="connsiteX0" fmla="*/ 0 w 8640960"/>
              <a:gd name="connsiteY0" fmla="*/ 0 h 1508105"/>
              <a:gd name="connsiteX1" fmla="*/ 8640960 w 8640960"/>
              <a:gd name="connsiteY1" fmla="*/ 0 h 1508105"/>
              <a:gd name="connsiteX2" fmla="*/ 8640960 w 8640960"/>
              <a:gd name="connsiteY2" fmla="*/ 1508105 h 1508105"/>
              <a:gd name="connsiteX3" fmla="*/ 0 w 8640960"/>
              <a:gd name="connsiteY3" fmla="*/ 1508105 h 1508105"/>
              <a:gd name="connsiteX4" fmla="*/ 0 w 8640960"/>
              <a:gd name="connsiteY4" fmla="*/ 0 h 1508105"/>
              <a:gd name="connsiteX0" fmla="*/ 0 w 8640960"/>
              <a:gd name="connsiteY0" fmla="*/ 0 h 1508105"/>
              <a:gd name="connsiteX1" fmla="*/ 8640960 w 8640960"/>
              <a:gd name="connsiteY1" fmla="*/ 0 h 1508105"/>
              <a:gd name="connsiteX2" fmla="*/ 8640960 w 8640960"/>
              <a:gd name="connsiteY2" fmla="*/ 1508105 h 1508105"/>
              <a:gd name="connsiteX3" fmla="*/ 0 w 8640960"/>
              <a:gd name="connsiteY3" fmla="*/ 748252 h 1508105"/>
              <a:gd name="connsiteX4" fmla="*/ 0 w 8640960"/>
              <a:gd name="connsiteY4" fmla="*/ 0 h 1508105"/>
              <a:gd name="connsiteX0" fmla="*/ 0 w 8640960"/>
              <a:gd name="connsiteY0" fmla="*/ 0 h 748252"/>
              <a:gd name="connsiteX1" fmla="*/ 8640960 w 8640960"/>
              <a:gd name="connsiteY1" fmla="*/ 0 h 748252"/>
              <a:gd name="connsiteX2" fmla="*/ 8628081 w 8640960"/>
              <a:gd name="connsiteY2" fmla="*/ 735372 h 748252"/>
              <a:gd name="connsiteX3" fmla="*/ 0 w 8640960"/>
              <a:gd name="connsiteY3" fmla="*/ 748252 h 748252"/>
              <a:gd name="connsiteX4" fmla="*/ 0 w 8640960"/>
              <a:gd name="connsiteY4" fmla="*/ 0 h 748252"/>
              <a:gd name="connsiteX0" fmla="*/ 0 w 8640960"/>
              <a:gd name="connsiteY0" fmla="*/ 0 h 748252"/>
              <a:gd name="connsiteX1" fmla="*/ 8640960 w 8640960"/>
              <a:gd name="connsiteY1" fmla="*/ 0 h 748252"/>
              <a:gd name="connsiteX2" fmla="*/ 8628081 w 8640960"/>
              <a:gd name="connsiteY2" fmla="*/ 748251 h 748252"/>
              <a:gd name="connsiteX3" fmla="*/ 0 w 8640960"/>
              <a:gd name="connsiteY3" fmla="*/ 748252 h 748252"/>
              <a:gd name="connsiteX4" fmla="*/ 0 w 8640960"/>
              <a:gd name="connsiteY4" fmla="*/ 0 h 748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0960" h="748252">
                <a:moveTo>
                  <a:pt x="0" y="0"/>
                </a:moveTo>
                <a:lnTo>
                  <a:pt x="8640960" y="0"/>
                </a:lnTo>
                <a:lnTo>
                  <a:pt x="8628081" y="748251"/>
                </a:lnTo>
                <a:lnTo>
                  <a:pt x="0" y="748252"/>
                </a:lnTo>
                <a:lnTo>
                  <a:pt x="0" y="0"/>
                </a:lnTo>
                <a:close/>
              </a:path>
            </a:pathLst>
          </a:custGeom>
          <a:noFill/>
          <a:ln w="28575">
            <a:solidFill>
              <a:schemeClr val="accent6"/>
            </a:solidFill>
          </a:ln>
        </p:spPr>
        <p:txBody>
          <a:bodyPr wrap="square" rtlCol="0">
            <a:spAutoFit/>
          </a:bodyPr>
          <a:lstStyle/>
          <a:p>
            <a:pPr algn="ctr"/>
            <a:r>
              <a:rPr lang="en-GB" sz="2300" b="1" dirty="0"/>
              <a:t>The energy needed to break bonds and the energy released when bonds are formed can be calculated from </a:t>
            </a:r>
            <a:r>
              <a:rPr lang="en-GB" sz="2300" b="1" dirty="0">
                <a:solidFill>
                  <a:schemeClr val="accent6">
                    <a:lumMod val="75000"/>
                  </a:schemeClr>
                </a:solidFill>
              </a:rPr>
              <a:t>bond energies</a:t>
            </a:r>
            <a:r>
              <a:rPr lang="en-GB" sz="2300" b="1" dirty="0"/>
              <a:t>.</a:t>
            </a:r>
          </a:p>
        </p:txBody>
      </p:sp>
      <p:graphicFrame>
        <p:nvGraphicFramePr>
          <p:cNvPr id="11" name="Table 10"/>
          <p:cNvGraphicFramePr>
            <a:graphicFrameLocks noGrp="1"/>
          </p:cNvGraphicFramePr>
          <p:nvPr>
            <p:extLst>
              <p:ext uri="{D42A27DB-BD31-4B8C-83A1-F6EECF244321}">
                <p14:modId xmlns:p14="http://schemas.microsoft.com/office/powerpoint/2010/main" val="3893525205"/>
              </p:ext>
            </p:extLst>
          </p:nvPr>
        </p:nvGraphicFramePr>
        <p:xfrm>
          <a:off x="395536" y="3501008"/>
          <a:ext cx="4608512" cy="2294341"/>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20000"/>
                    </a:ext>
                  </a:extLst>
                </a:gridCol>
                <a:gridCol w="2304256">
                  <a:extLst>
                    <a:ext uri="{9D8B030D-6E8A-4147-A177-3AD203B41FA5}">
                      <a16:colId xmlns:a16="http://schemas.microsoft.com/office/drawing/2014/main" val="20001"/>
                    </a:ext>
                  </a:extLst>
                </a:gridCol>
              </a:tblGrid>
              <a:tr h="636199">
                <a:tc>
                  <a:txBody>
                    <a:bodyPr/>
                    <a:lstStyle/>
                    <a:p>
                      <a:pPr algn="ctr"/>
                      <a:r>
                        <a:rPr lang="en-GB" sz="2000" dirty="0">
                          <a:solidFill>
                            <a:schemeClr val="tx1"/>
                          </a:solidFill>
                        </a:rPr>
                        <a:t>Bond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GB" sz="2000" dirty="0">
                          <a:solidFill>
                            <a:schemeClr val="tx1"/>
                          </a:solidFill>
                        </a:rPr>
                        <a:t>Bond Energy  kJ/</a:t>
                      </a:r>
                      <a:r>
                        <a:rPr lang="en-GB" sz="2000" dirty="0" err="1">
                          <a:solidFill>
                            <a:schemeClr val="tx1"/>
                          </a:solidFill>
                        </a:rPr>
                        <a:t>mol</a:t>
                      </a:r>
                      <a:endParaRPr lang="en-GB"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359591">
                <a:tc>
                  <a:txBody>
                    <a:bodyPr/>
                    <a:lstStyle/>
                    <a:p>
                      <a:pPr algn="ctr"/>
                      <a:r>
                        <a:rPr lang="en-GB" sz="2000" b="1" dirty="0"/>
                        <a:t>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b="1" dirty="0"/>
                        <a:t>411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59591">
                <a:tc>
                  <a:txBody>
                    <a:bodyPr/>
                    <a:lstStyle/>
                    <a:p>
                      <a:pPr algn="ctr"/>
                      <a:r>
                        <a:rPr lang="en-GB" sz="2000" b="1" dirty="0"/>
                        <a:t>O=O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b="1" dirty="0"/>
                        <a:t>494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59591">
                <a:tc>
                  <a:txBody>
                    <a:bodyPr/>
                    <a:lstStyle/>
                    <a:p>
                      <a:pPr algn="ctr"/>
                      <a:r>
                        <a:rPr lang="en-GB" sz="2000" b="1" dirty="0"/>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b="1" dirty="0"/>
                        <a:t>799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04581">
                <a:tc>
                  <a:txBody>
                    <a:bodyPr/>
                    <a:lstStyle/>
                    <a:p>
                      <a:pPr algn="ctr"/>
                      <a:r>
                        <a:rPr lang="en-GB" sz="2000" b="1" dirty="0"/>
                        <a:t>O-H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b="1" dirty="0"/>
                        <a:t>459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5193419" y="3219073"/>
            <a:ext cx="3600400" cy="3046988"/>
          </a:xfrm>
          <a:prstGeom prst="rect">
            <a:avLst/>
          </a:prstGeom>
          <a:noFill/>
        </p:spPr>
        <p:txBody>
          <a:bodyPr wrap="square" rtlCol="0">
            <a:spAutoFit/>
          </a:bodyPr>
          <a:lstStyle/>
          <a:p>
            <a:r>
              <a:rPr lang="en-GB" sz="2400" b="1" dirty="0"/>
              <a:t>This means that 411kJ/</a:t>
            </a:r>
            <a:r>
              <a:rPr lang="en-GB" sz="2400" b="1" dirty="0" err="1"/>
              <a:t>mol</a:t>
            </a:r>
            <a:r>
              <a:rPr lang="en-GB" sz="2400" b="1" dirty="0"/>
              <a:t> of energy needs to be put in to break the carbon-hydrogen bond. </a:t>
            </a:r>
          </a:p>
          <a:p>
            <a:r>
              <a:rPr lang="en-GB" sz="2400" b="1" dirty="0"/>
              <a:t>It also means that 459 kJ/</a:t>
            </a:r>
            <a:r>
              <a:rPr lang="en-GB" sz="2400" b="1" dirty="0" err="1"/>
              <a:t>mol</a:t>
            </a:r>
            <a:r>
              <a:rPr lang="en-GB" sz="2400" b="1" dirty="0"/>
              <a:t> is given out when the oxygen hydrogen bond is made in water. </a:t>
            </a:r>
          </a:p>
        </p:txBody>
      </p:sp>
    </p:spTree>
    <p:extLst>
      <p:ext uri="{BB962C8B-B14F-4D97-AF65-F5344CB8AC3E}">
        <p14:creationId xmlns:p14="http://schemas.microsoft.com/office/powerpoint/2010/main" val="24198053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6436" y="-14024"/>
            <a:ext cx="6876256" cy="657041"/>
          </a:xfrm>
        </p:spPr>
        <p:txBody>
          <a:bodyPr>
            <a:noAutofit/>
          </a:bodyPr>
          <a:lstStyle/>
          <a:p>
            <a:pPr marL="342900" lvl="1" algn="r" defTabSz="342900" rtl="0">
              <a:spcBef>
                <a:spcPct val="20000"/>
              </a:spcBef>
            </a:pPr>
            <a:r>
              <a:rPr lang="en-US" sz="2400" b="1" dirty="0">
                <a:solidFill>
                  <a:schemeClr val="accent6"/>
                </a:solidFill>
              </a:rPr>
              <a:t>The energy change of reactions (HT 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836712"/>
            <a:ext cx="8640960" cy="1015663"/>
          </a:xfrm>
          <a:prstGeom prst="rect">
            <a:avLst/>
          </a:prstGeom>
          <a:noFill/>
          <a:ln w="28575">
            <a:solidFill>
              <a:schemeClr val="accent6"/>
            </a:solidFill>
          </a:ln>
        </p:spPr>
        <p:txBody>
          <a:bodyPr wrap="square" rtlCol="0">
            <a:spAutoFit/>
          </a:bodyPr>
          <a:lstStyle/>
          <a:p>
            <a:r>
              <a:rPr lang="en-GB" sz="2000" b="1" dirty="0"/>
              <a:t>The </a:t>
            </a:r>
            <a:r>
              <a:rPr lang="en-GB" sz="2000" b="1" dirty="0">
                <a:solidFill>
                  <a:schemeClr val="accent6"/>
                </a:solidFill>
              </a:rPr>
              <a:t>difference</a:t>
            </a:r>
            <a:r>
              <a:rPr lang="en-GB" sz="2000" b="1" dirty="0"/>
              <a:t> between the sum of the energy needed to break bonds in the reactants and the sum of the energy released when bonds in the products are formed is the </a:t>
            </a:r>
            <a:r>
              <a:rPr lang="en-GB" sz="2000" b="1" dirty="0">
                <a:solidFill>
                  <a:schemeClr val="accent6"/>
                </a:solidFill>
              </a:rPr>
              <a:t>overall energy change</a:t>
            </a:r>
            <a:r>
              <a:rPr lang="en-GB" sz="2000" b="1" dirty="0"/>
              <a:t> of the reaction.</a:t>
            </a:r>
          </a:p>
        </p:txBody>
      </p:sp>
      <p:sp>
        <p:nvSpPr>
          <p:cNvPr id="4" name="TextBox 3"/>
          <p:cNvSpPr txBox="1"/>
          <p:nvPr/>
        </p:nvSpPr>
        <p:spPr>
          <a:xfrm>
            <a:off x="179512" y="1984207"/>
            <a:ext cx="8640960" cy="446812"/>
          </a:xfrm>
          <a:custGeom>
            <a:avLst/>
            <a:gdLst>
              <a:gd name="connsiteX0" fmla="*/ 0 w 8640960"/>
              <a:gd name="connsiteY0" fmla="*/ 0 h 923330"/>
              <a:gd name="connsiteX1" fmla="*/ 8640960 w 8640960"/>
              <a:gd name="connsiteY1" fmla="*/ 0 h 923330"/>
              <a:gd name="connsiteX2" fmla="*/ 8640960 w 8640960"/>
              <a:gd name="connsiteY2" fmla="*/ 923330 h 923330"/>
              <a:gd name="connsiteX3" fmla="*/ 0 w 8640960"/>
              <a:gd name="connsiteY3" fmla="*/ 923330 h 923330"/>
              <a:gd name="connsiteX4" fmla="*/ 0 w 8640960"/>
              <a:gd name="connsiteY4" fmla="*/ 0 h 923330"/>
              <a:gd name="connsiteX0" fmla="*/ 0 w 8640960"/>
              <a:gd name="connsiteY0" fmla="*/ 0 h 1283939"/>
              <a:gd name="connsiteX1" fmla="*/ 8640960 w 8640960"/>
              <a:gd name="connsiteY1" fmla="*/ 360609 h 1283939"/>
              <a:gd name="connsiteX2" fmla="*/ 8640960 w 8640960"/>
              <a:gd name="connsiteY2" fmla="*/ 1283939 h 1283939"/>
              <a:gd name="connsiteX3" fmla="*/ 0 w 8640960"/>
              <a:gd name="connsiteY3" fmla="*/ 1283939 h 1283939"/>
              <a:gd name="connsiteX4" fmla="*/ 0 w 8640960"/>
              <a:gd name="connsiteY4" fmla="*/ 0 h 1283939"/>
              <a:gd name="connsiteX0" fmla="*/ 0 w 8640960"/>
              <a:gd name="connsiteY0" fmla="*/ 0 h 1283939"/>
              <a:gd name="connsiteX1" fmla="*/ 8640960 w 8640960"/>
              <a:gd name="connsiteY1" fmla="*/ 12879 h 1283939"/>
              <a:gd name="connsiteX2" fmla="*/ 8640960 w 8640960"/>
              <a:gd name="connsiteY2" fmla="*/ 1283939 h 1283939"/>
              <a:gd name="connsiteX3" fmla="*/ 0 w 8640960"/>
              <a:gd name="connsiteY3" fmla="*/ 1283939 h 1283939"/>
              <a:gd name="connsiteX4" fmla="*/ 0 w 8640960"/>
              <a:gd name="connsiteY4" fmla="*/ 0 h 1283939"/>
              <a:gd name="connsiteX0" fmla="*/ 0 w 8640960"/>
              <a:gd name="connsiteY0" fmla="*/ 0 h 1283939"/>
              <a:gd name="connsiteX1" fmla="*/ 8640960 w 8640960"/>
              <a:gd name="connsiteY1" fmla="*/ 12879 h 1283939"/>
              <a:gd name="connsiteX2" fmla="*/ 8640960 w 8640960"/>
              <a:gd name="connsiteY2" fmla="*/ 1283939 h 1283939"/>
              <a:gd name="connsiteX3" fmla="*/ 12879 w 8640960"/>
              <a:gd name="connsiteY3" fmla="*/ 446812 h 1283939"/>
              <a:gd name="connsiteX4" fmla="*/ 0 w 8640960"/>
              <a:gd name="connsiteY4" fmla="*/ 0 h 1283939"/>
              <a:gd name="connsiteX0" fmla="*/ 0 w 8640960"/>
              <a:gd name="connsiteY0" fmla="*/ 0 h 472570"/>
              <a:gd name="connsiteX1" fmla="*/ 8640960 w 8640960"/>
              <a:gd name="connsiteY1" fmla="*/ 12879 h 472570"/>
              <a:gd name="connsiteX2" fmla="*/ 8640960 w 8640960"/>
              <a:gd name="connsiteY2" fmla="*/ 472570 h 472570"/>
              <a:gd name="connsiteX3" fmla="*/ 12879 w 8640960"/>
              <a:gd name="connsiteY3" fmla="*/ 446812 h 472570"/>
              <a:gd name="connsiteX4" fmla="*/ 0 w 8640960"/>
              <a:gd name="connsiteY4" fmla="*/ 0 h 472570"/>
              <a:gd name="connsiteX0" fmla="*/ 0 w 8640960"/>
              <a:gd name="connsiteY0" fmla="*/ 0 h 446812"/>
              <a:gd name="connsiteX1" fmla="*/ 8640960 w 8640960"/>
              <a:gd name="connsiteY1" fmla="*/ 12879 h 446812"/>
              <a:gd name="connsiteX2" fmla="*/ 8640960 w 8640960"/>
              <a:gd name="connsiteY2" fmla="*/ 446812 h 446812"/>
              <a:gd name="connsiteX3" fmla="*/ 12879 w 8640960"/>
              <a:gd name="connsiteY3" fmla="*/ 446812 h 446812"/>
              <a:gd name="connsiteX4" fmla="*/ 0 w 8640960"/>
              <a:gd name="connsiteY4" fmla="*/ 0 h 446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0960" h="446812">
                <a:moveTo>
                  <a:pt x="0" y="0"/>
                </a:moveTo>
                <a:lnTo>
                  <a:pt x="8640960" y="12879"/>
                </a:lnTo>
                <a:lnTo>
                  <a:pt x="8640960" y="446812"/>
                </a:lnTo>
                <a:lnTo>
                  <a:pt x="12879" y="446812"/>
                </a:lnTo>
                <a:lnTo>
                  <a:pt x="0" y="0"/>
                </a:lnTo>
                <a:close/>
              </a:path>
            </a:pathLst>
          </a:custGeom>
          <a:noFill/>
        </p:spPr>
        <p:txBody>
          <a:bodyPr wrap="square" rtlCol="0">
            <a:spAutoFit/>
          </a:bodyPr>
          <a:lstStyle/>
          <a:p>
            <a:r>
              <a:rPr lang="en-GB" b="1" u="sng" dirty="0"/>
              <a:t>Worked example</a:t>
            </a:r>
          </a:p>
          <a:p>
            <a:endParaRPr lang="en-GB" dirty="0"/>
          </a:p>
          <a:p>
            <a:endParaRPr lang="en-GB" dirty="0"/>
          </a:p>
        </p:txBody>
      </p:sp>
      <p:pic>
        <p:nvPicPr>
          <p:cNvPr id="7" name="Picture 6"/>
          <p:cNvPicPr>
            <a:picLocks noChangeAspect="1"/>
          </p:cNvPicPr>
          <p:nvPr/>
        </p:nvPicPr>
        <p:blipFill>
          <a:blip r:embed="rId3"/>
          <a:stretch>
            <a:fillRect/>
          </a:stretch>
        </p:blipFill>
        <p:spPr>
          <a:xfrm>
            <a:off x="1907704" y="1984207"/>
            <a:ext cx="5832648" cy="1141997"/>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2507948242"/>
              </p:ext>
            </p:extLst>
          </p:nvPr>
        </p:nvGraphicFramePr>
        <p:xfrm>
          <a:off x="210384" y="3105474"/>
          <a:ext cx="8640960" cy="3326496"/>
        </p:xfrm>
        <a:graphic>
          <a:graphicData uri="http://schemas.openxmlformats.org/drawingml/2006/table">
            <a:tbl>
              <a:tblPr firstRow="1" bandRow="1">
                <a:tableStyleId>{5C22544A-7EE6-4342-B048-85BDC9FD1C3A}</a:tableStyleId>
              </a:tblPr>
              <a:tblGrid>
                <a:gridCol w="4320480">
                  <a:extLst>
                    <a:ext uri="{9D8B030D-6E8A-4147-A177-3AD203B41FA5}">
                      <a16:colId xmlns:a16="http://schemas.microsoft.com/office/drawing/2014/main" val="20000"/>
                    </a:ext>
                  </a:extLst>
                </a:gridCol>
                <a:gridCol w="4320480">
                  <a:extLst>
                    <a:ext uri="{9D8B030D-6E8A-4147-A177-3AD203B41FA5}">
                      <a16:colId xmlns:a16="http://schemas.microsoft.com/office/drawing/2014/main" val="20001"/>
                    </a:ext>
                  </a:extLst>
                </a:gridCol>
              </a:tblGrid>
              <a:tr h="446136">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2000" b="1" dirty="0">
                          <a:solidFill>
                            <a:schemeClr val="tx1"/>
                          </a:solidFill>
                        </a:rPr>
                        <a:t>For the reactants</a:t>
                      </a:r>
                    </a:p>
                  </a:txBody>
                  <a:tcPr anchor="ctr">
                    <a:lnB w="12700" cap="flat" cmpd="sng" algn="ctr">
                      <a:solidFill>
                        <a:schemeClr val="tx1"/>
                      </a:solidFill>
                      <a:prstDash val="solid"/>
                      <a:round/>
                      <a:headEnd type="none" w="med" len="med"/>
                      <a:tailEnd type="none" w="med" len="med"/>
                    </a:lnB>
                    <a:solidFill>
                      <a:schemeClr val="accent6"/>
                    </a:solidFill>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2000" b="1" dirty="0">
                          <a:solidFill>
                            <a:schemeClr val="tx1"/>
                          </a:solidFill>
                        </a:rPr>
                        <a:t>For the products</a:t>
                      </a:r>
                    </a:p>
                  </a:txBody>
                  <a:tcPr anchor="ctr">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684076">
                <a:tc>
                  <a:txBody>
                    <a:bodyPr/>
                    <a:lstStyle/>
                    <a:p>
                      <a:pPr algn="ctr"/>
                      <a:r>
                        <a:rPr lang="en-GB" sz="1800" b="1" dirty="0"/>
                        <a:t>There are four C-H bonds so </a:t>
                      </a:r>
                    </a:p>
                    <a:p>
                      <a:pPr marL="0" indent="0" algn="ctr">
                        <a:buNone/>
                      </a:pPr>
                      <a:r>
                        <a:rPr lang="en-GB" sz="1800" b="1" dirty="0"/>
                        <a:t>4 x 411kJ/</a:t>
                      </a:r>
                      <a:r>
                        <a:rPr lang="en-GB" sz="1800" b="1" dirty="0" err="1"/>
                        <a:t>mol</a:t>
                      </a:r>
                      <a:r>
                        <a:rPr lang="en-GB" sz="1800" b="1" dirty="0"/>
                        <a:t> = 1,644kJ/</a:t>
                      </a:r>
                      <a:r>
                        <a:rPr lang="en-GB" sz="1800" b="1" dirty="0" err="1"/>
                        <a:t>mol</a:t>
                      </a:r>
                      <a:endParaRPr lang="en-GB" sz="1800" b="1" dirty="0"/>
                    </a:p>
                    <a:p>
                      <a:pPr algn="ctr"/>
                      <a:endParaRPr lang="en-GB"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GB" sz="1800" b="1" dirty="0"/>
                        <a:t>There are two C=O bonds so </a:t>
                      </a:r>
                    </a:p>
                    <a:p>
                      <a:pPr marL="0" indent="0" algn="ctr">
                        <a:buNone/>
                      </a:pPr>
                      <a:r>
                        <a:rPr lang="en-GB" sz="1800" b="1" dirty="0"/>
                        <a:t>2 x 799kJ/</a:t>
                      </a:r>
                      <a:r>
                        <a:rPr lang="en-GB" sz="1800" b="1" dirty="0" err="1"/>
                        <a:t>mol</a:t>
                      </a:r>
                      <a:r>
                        <a:rPr lang="en-GB" sz="1800" b="1" dirty="0"/>
                        <a:t> = 1,598kJ/</a:t>
                      </a:r>
                      <a:r>
                        <a:rPr lang="en-GB" sz="1800" b="1" dirty="0" err="1"/>
                        <a:t>mol</a:t>
                      </a:r>
                      <a:endParaRPr lang="en-GB" sz="1800" b="1" dirty="0"/>
                    </a:p>
                    <a:p>
                      <a:pPr algn="ctr"/>
                      <a:endParaRPr lang="en-GB"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1"/>
                  </a:ext>
                </a:extLst>
              </a:tr>
              <a:tr h="684076">
                <a:tc>
                  <a:txBody>
                    <a:bodyPr/>
                    <a:lstStyle/>
                    <a:p>
                      <a:pPr algn="ctr"/>
                      <a:r>
                        <a:rPr lang="en-GB" sz="1800" b="1" dirty="0"/>
                        <a:t>There are two O=O bonds so </a:t>
                      </a:r>
                    </a:p>
                    <a:p>
                      <a:pPr marL="0" indent="0" algn="ctr">
                        <a:buNone/>
                      </a:pPr>
                      <a:r>
                        <a:rPr lang="en-GB" sz="1800" b="1" dirty="0"/>
                        <a:t>2 x  494kJ/</a:t>
                      </a:r>
                      <a:r>
                        <a:rPr lang="en-GB" sz="1800" b="1" dirty="0" err="1"/>
                        <a:t>mol</a:t>
                      </a:r>
                      <a:r>
                        <a:rPr lang="en-GB" sz="1800" b="1" dirty="0"/>
                        <a:t> = 988kJ/</a:t>
                      </a:r>
                      <a:r>
                        <a:rPr lang="en-GB" sz="1800" b="1" dirty="0" err="1"/>
                        <a:t>mol</a:t>
                      </a:r>
                      <a:endParaRPr lang="en-GB"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GB" sz="1800" b="1" dirty="0"/>
                        <a:t>There are four O-H bonds so</a:t>
                      </a:r>
                    </a:p>
                    <a:p>
                      <a:pPr marL="0" indent="0" algn="ctr">
                        <a:buNone/>
                      </a:pPr>
                      <a:r>
                        <a:rPr lang="en-GB" sz="1800" b="1" dirty="0"/>
                        <a:t>4 x 459kJ/</a:t>
                      </a:r>
                      <a:r>
                        <a:rPr lang="en-GB" sz="1800" b="1" dirty="0" err="1"/>
                        <a:t>mol</a:t>
                      </a:r>
                      <a:r>
                        <a:rPr lang="en-GB" sz="1800" b="1" dirty="0"/>
                        <a:t> = 1,836kJ/</a:t>
                      </a:r>
                      <a:r>
                        <a:rPr lang="en-GB" sz="1800" b="1" dirty="0" err="1"/>
                        <a:t>mol</a:t>
                      </a:r>
                      <a:endParaRPr lang="en-GB" sz="1800" b="1" dirty="0"/>
                    </a:p>
                    <a:p>
                      <a:pPr algn="ctr"/>
                      <a:endParaRPr lang="en-GB"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2"/>
                  </a:ext>
                </a:extLst>
              </a:tr>
              <a:tr h="922015">
                <a:tc>
                  <a:txBody>
                    <a:bodyPr/>
                    <a:lstStyle/>
                    <a:p>
                      <a:pPr algn="ctr"/>
                      <a:r>
                        <a:rPr lang="en-GB" sz="1800" b="1" dirty="0"/>
                        <a:t>The sum of these is </a:t>
                      </a:r>
                    </a:p>
                    <a:p>
                      <a:pPr algn="ctr"/>
                      <a:r>
                        <a:rPr lang="en-GB" sz="1800" b="1" dirty="0"/>
                        <a:t> the energy supplied to break the bonds in the reactants</a:t>
                      </a:r>
                    </a:p>
                    <a:p>
                      <a:pPr algn="ctr"/>
                      <a:r>
                        <a:rPr lang="en-GB" sz="1800" b="1" dirty="0"/>
                        <a:t> 1,644 + 988 = </a:t>
                      </a:r>
                      <a:r>
                        <a:rPr lang="en-GB" sz="1800" b="1" dirty="0">
                          <a:solidFill>
                            <a:schemeClr val="tx1"/>
                          </a:solidFill>
                        </a:rPr>
                        <a:t>2,632kJ/</a:t>
                      </a:r>
                      <a:r>
                        <a:rPr lang="en-GB" sz="1800" b="1" dirty="0" err="1">
                          <a:solidFill>
                            <a:schemeClr val="tx1"/>
                          </a:solidFill>
                        </a:rPr>
                        <a:t>mol</a:t>
                      </a:r>
                      <a:r>
                        <a:rPr lang="en-GB" sz="1800" b="1"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GB" sz="1800" b="1" dirty="0"/>
                        <a:t>The sum of these is</a:t>
                      </a:r>
                    </a:p>
                    <a:p>
                      <a:pPr marL="0" indent="0" algn="ctr">
                        <a:buNone/>
                      </a:pPr>
                      <a:r>
                        <a:rPr lang="en-GB" sz="1800" b="1" dirty="0"/>
                        <a:t> the energy released when bonds in the products are formed  </a:t>
                      </a:r>
                    </a:p>
                    <a:p>
                      <a:pPr marL="0" indent="0" algn="ctr">
                        <a:buNone/>
                      </a:pPr>
                      <a:r>
                        <a:rPr lang="en-GB" sz="1800" b="1" dirty="0"/>
                        <a:t>1,598 + 1,836 = </a:t>
                      </a:r>
                      <a:r>
                        <a:rPr lang="en-GB" sz="1800" b="1" dirty="0">
                          <a:solidFill>
                            <a:schemeClr val="tx1"/>
                          </a:solidFill>
                        </a:rPr>
                        <a:t>3,434kJ/</a:t>
                      </a:r>
                      <a:r>
                        <a:rPr lang="en-GB" sz="1800" b="1" dirty="0" err="1">
                          <a:solidFill>
                            <a:schemeClr val="tx1"/>
                          </a:solidFill>
                        </a:rPr>
                        <a:t>mol</a:t>
                      </a:r>
                      <a:r>
                        <a:rPr lang="en-GB" sz="1800" b="1" dirty="0">
                          <a:solidFill>
                            <a:schemeClr val="tx1"/>
                          </a:solidFill>
                        </a:rPr>
                        <a:t> </a:t>
                      </a:r>
                    </a:p>
                    <a:p>
                      <a:pPr algn="ctr"/>
                      <a:endParaRPr lang="en-GB"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970604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6436" y="-14024"/>
            <a:ext cx="6876256" cy="657041"/>
          </a:xfrm>
        </p:spPr>
        <p:txBody>
          <a:bodyPr>
            <a:noAutofit/>
          </a:bodyPr>
          <a:lstStyle/>
          <a:p>
            <a:pPr marL="342900" lvl="1" algn="r" defTabSz="342900" rtl="0">
              <a:spcBef>
                <a:spcPct val="20000"/>
              </a:spcBef>
            </a:pPr>
            <a:r>
              <a:rPr lang="en-US" sz="2400" b="1" dirty="0">
                <a:solidFill>
                  <a:schemeClr val="accent6"/>
                </a:solidFill>
              </a:rPr>
              <a:t>The energy change of reactions (HT 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179512" y="1628800"/>
            <a:ext cx="8568952" cy="3216265"/>
          </a:xfrm>
          <a:custGeom>
            <a:avLst/>
            <a:gdLst>
              <a:gd name="connsiteX0" fmla="*/ 0 w 8568952"/>
              <a:gd name="connsiteY0" fmla="*/ 0 h 3970318"/>
              <a:gd name="connsiteX1" fmla="*/ 8568952 w 8568952"/>
              <a:gd name="connsiteY1" fmla="*/ 0 h 3970318"/>
              <a:gd name="connsiteX2" fmla="*/ 8568952 w 8568952"/>
              <a:gd name="connsiteY2" fmla="*/ 3970318 h 3970318"/>
              <a:gd name="connsiteX3" fmla="*/ 0 w 8568952"/>
              <a:gd name="connsiteY3" fmla="*/ 3970318 h 3970318"/>
              <a:gd name="connsiteX4" fmla="*/ 0 w 8568952"/>
              <a:gd name="connsiteY4" fmla="*/ 0 h 3970318"/>
              <a:gd name="connsiteX0" fmla="*/ 0 w 8568952"/>
              <a:gd name="connsiteY0" fmla="*/ 0 h 3970318"/>
              <a:gd name="connsiteX1" fmla="*/ 8568952 w 8568952"/>
              <a:gd name="connsiteY1" fmla="*/ 0 h 3970318"/>
              <a:gd name="connsiteX2" fmla="*/ 8568952 w 8568952"/>
              <a:gd name="connsiteY2" fmla="*/ 3970318 h 3970318"/>
              <a:gd name="connsiteX3" fmla="*/ 0 w 8568952"/>
              <a:gd name="connsiteY3" fmla="*/ 3443376 h 3970318"/>
              <a:gd name="connsiteX4" fmla="*/ 0 w 8568952"/>
              <a:gd name="connsiteY4" fmla="*/ 0 h 3970318"/>
              <a:gd name="connsiteX0" fmla="*/ 0 w 8568952"/>
              <a:gd name="connsiteY0" fmla="*/ 0 h 3443376"/>
              <a:gd name="connsiteX1" fmla="*/ 8568952 w 8568952"/>
              <a:gd name="connsiteY1" fmla="*/ 0 h 3443376"/>
              <a:gd name="connsiteX2" fmla="*/ 8553454 w 8568952"/>
              <a:gd name="connsiteY2" fmla="*/ 3381382 h 3443376"/>
              <a:gd name="connsiteX3" fmla="*/ 0 w 8568952"/>
              <a:gd name="connsiteY3" fmla="*/ 3443376 h 3443376"/>
              <a:gd name="connsiteX4" fmla="*/ 0 w 8568952"/>
              <a:gd name="connsiteY4" fmla="*/ 0 h 3443376"/>
              <a:gd name="connsiteX0" fmla="*/ 0 w 8568952"/>
              <a:gd name="connsiteY0" fmla="*/ 0 h 3474372"/>
              <a:gd name="connsiteX1" fmla="*/ 8568952 w 8568952"/>
              <a:gd name="connsiteY1" fmla="*/ 0 h 3474372"/>
              <a:gd name="connsiteX2" fmla="*/ 8553454 w 8568952"/>
              <a:gd name="connsiteY2" fmla="*/ 3474372 h 3474372"/>
              <a:gd name="connsiteX3" fmla="*/ 0 w 8568952"/>
              <a:gd name="connsiteY3" fmla="*/ 3443376 h 3474372"/>
              <a:gd name="connsiteX4" fmla="*/ 0 w 8568952"/>
              <a:gd name="connsiteY4" fmla="*/ 0 h 3474372"/>
              <a:gd name="connsiteX0" fmla="*/ 0 w 8568952"/>
              <a:gd name="connsiteY0" fmla="*/ 0 h 3458874"/>
              <a:gd name="connsiteX1" fmla="*/ 8568952 w 8568952"/>
              <a:gd name="connsiteY1" fmla="*/ 0 h 3458874"/>
              <a:gd name="connsiteX2" fmla="*/ 8553454 w 8568952"/>
              <a:gd name="connsiteY2" fmla="*/ 3458874 h 3458874"/>
              <a:gd name="connsiteX3" fmla="*/ 0 w 8568952"/>
              <a:gd name="connsiteY3" fmla="*/ 3443376 h 3458874"/>
              <a:gd name="connsiteX4" fmla="*/ 0 w 8568952"/>
              <a:gd name="connsiteY4" fmla="*/ 0 h 3458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68952" h="3458874">
                <a:moveTo>
                  <a:pt x="0" y="0"/>
                </a:moveTo>
                <a:lnTo>
                  <a:pt x="8568952" y="0"/>
                </a:lnTo>
                <a:lnTo>
                  <a:pt x="8553454" y="3458874"/>
                </a:lnTo>
                <a:lnTo>
                  <a:pt x="0" y="3443376"/>
                </a:lnTo>
                <a:lnTo>
                  <a:pt x="0" y="0"/>
                </a:lnTo>
                <a:close/>
              </a:path>
            </a:pathLst>
          </a:custGeom>
          <a:noFill/>
        </p:spPr>
        <p:txBody>
          <a:bodyPr wrap="square" rtlCol="0">
            <a:spAutoFit/>
          </a:bodyPr>
          <a:lstStyle/>
          <a:p>
            <a:endParaRPr lang="en-GB" sz="800" b="1" dirty="0"/>
          </a:p>
          <a:p>
            <a:r>
              <a:rPr lang="en-GB" sz="2100" b="1" dirty="0"/>
              <a:t>Overall energy change   =      energy needed to     –       energy released as 		                                      break the bonds	          bonds are made</a:t>
            </a:r>
          </a:p>
          <a:p>
            <a:endParaRPr lang="en-GB" sz="1100" b="1" dirty="0"/>
          </a:p>
          <a:p>
            <a:r>
              <a:rPr lang="en-GB" sz="2100" b="1" dirty="0"/>
              <a:t>			 =        2,632kJ/</a:t>
            </a:r>
            <a:r>
              <a:rPr lang="en-GB" sz="2100" b="1" dirty="0" err="1"/>
              <a:t>mol</a:t>
            </a:r>
            <a:r>
              <a:rPr lang="en-GB" sz="2100" b="1" dirty="0"/>
              <a:t>             -            3,434kJ/</a:t>
            </a:r>
            <a:r>
              <a:rPr lang="en-GB" sz="2100" b="1" dirty="0" err="1"/>
              <a:t>mol</a:t>
            </a:r>
            <a:endParaRPr lang="en-GB" sz="2100" b="1" dirty="0"/>
          </a:p>
          <a:p>
            <a:endParaRPr lang="en-GB" sz="1100" b="1" dirty="0"/>
          </a:p>
          <a:p>
            <a:r>
              <a:rPr lang="en-GB" sz="2100" b="1" dirty="0"/>
              <a:t>Overall energy change   =      - 802kJ/</a:t>
            </a:r>
            <a:r>
              <a:rPr lang="en-GB" sz="2100" b="1" dirty="0" err="1"/>
              <a:t>mol</a:t>
            </a:r>
            <a:endParaRPr lang="en-GB" sz="2100" b="1" dirty="0"/>
          </a:p>
          <a:p>
            <a:endParaRPr lang="en-GB" sz="1100" b="1" dirty="0"/>
          </a:p>
          <a:p>
            <a:r>
              <a:rPr lang="en-GB" sz="2100" b="1" dirty="0"/>
              <a:t>This is an </a:t>
            </a:r>
            <a:r>
              <a:rPr lang="en-GB" sz="2100" b="1" dirty="0">
                <a:solidFill>
                  <a:schemeClr val="accent6"/>
                </a:solidFill>
              </a:rPr>
              <a:t>exothermic</a:t>
            </a:r>
            <a:r>
              <a:rPr lang="en-GB" sz="2100" b="1" dirty="0"/>
              <a:t> reaction, so the sum of the difference between the calculations is </a:t>
            </a:r>
            <a:r>
              <a:rPr lang="en-GB" sz="2100" b="1" dirty="0">
                <a:solidFill>
                  <a:schemeClr val="accent6"/>
                </a:solidFill>
              </a:rPr>
              <a:t>negative.</a:t>
            </a:r>
            <a:r>
              <a:rPr lang="en-GB" sz="2100" b="1" dirty="0"/>
              <a:t> For an </a:t>
            </a:r>
            <a:r>
              <a:rPr lang="en-GB" sz="2100" b="1" dirty="0">
                <a:solidFill>
                  <a:schemeClr val="accent6"/>
                </a:solidFill>
              </a:rPr>
              <a:t>endothermic</a:t>
            </a:r>
            <a:r>
              <a:rPr lang="en-GB" sz="2100" b="1" dirty="0"/>
              <a:t> reaction it would be </a:t>
            </a:r>
            <a:r>
              <a:rPr lang="en-GB" sz="2100" b="1" dirty="0">
                <a:solidFill>
                  <a:schemeClr val="accent6"/>
                </a:solidFill>
              </a:rPr>
              <a:t>positive</a:t>
            </a:r>
            <a:r>
              <a:rPr lang="en-GB" sz="2100" b="1" dirty="0"/>
              <a:t>.</a:t>
            </a:r>
          </a:p>
          <a:p>
            <a:endParaRPr lang="en-GB" b="1" dirty="0"/>
          </a:p>
          <a:p>
            <a:r>
              <a:rPr lang="en-GB" b="1" dirty="0"/>
              <a:t>  </a:t>
            </a:r>
          </a:p>
        </p:txBody>
      </p:sp>
      <p:sp>
        <p:nvSpPr>
          <p:cNvPr id="9" name="TextBox 8"/>
          <p:cNvSpPr txBox="1"/>
          <p:nvPr/>
        </p:nvSpPr>
        <p:spPr>
          <a:xfrm>
            <a:off x="179512" y="4845065"/>
            <a:ext cx="8568952" cy="738664"/>
          </a:xfrm>
          <a:custGeom>
            <a:avLst/>
            <a:gdLst>
              <a:gd name="connsiteX0" fmla="*/ 0 w 8568952"/>
              <a:gd name="connsiteY0" fmla="*/ 0 h 646331"/>
              <a:gd name="connsiteX1" fmla="*/ 8568952 w 8568952"/>
              <a:gd name="connsiteY1" fmla="*/ 0 h 646331"/>
              <a:gd name="connsiteX2" fmla="*/ 8568952 w 8568952"/>
              <a:gd name="connsiteY2" fmla="*/ 646331 h 646331"/>
              <a:gd name="connsiteX3" fmla="*/ 0 w 8568952"/>
              <a:gd name="connsiteY3" fmla="*/ 646331 h 646331"/>
              <a:gd name="connsiteX4" fmla="*/ 0 w 8568952"/>
              <a:gd name="connsiteY4" fmla="*/ 0 h 646331"/>
              <a:gd name="connsiteX0" fmla="*/ 0 w 8568952"/>
              <a:gd name="connsiteY0" fmla="*/ 92990 h 646331"/>
              <a:gd name="connsiteX1" fmla="*/ 8568952 w 8568952"/>
              <a:gd name="connsiteY1" fmla="*/ 0 h 646331"/>
              <a:gd name="connsiteX2" fmla="*/ 8568952 w 8568952"/>
              <a:gd name="connsiteY2" fmla="*/ 646331 h 646331"/>
              <a:gd name="connsiteX3" fmla="*/ 0 w 8568952"/>
              <a:gd name="connsiteY3" fmla="*/ 646331 h 646331"/>
              <a:gd name="connsiteX4" fmla="*/ 0 w 8568952"/>
              <a:gd name="connsiteY4" fmla="*/ 92990 h 646331"/>
              <a:gd name="connsiteX0" fmla="*/ 0 w 8568952"/>
              <a:gd name="connsiteY0" fmla="*/ 1 h 553342"/>
              <a:gd name="connsiteX1" fmla="*/ 8568952 w 8568952"/>
              <a:gd name="connsiteY1" fmla="*/ 0 h 553342"/>
              <a:gd name="connsiteX2" fmla="*/ 8568952 w 8568952"/>
              <a:gd name="connsiteY2" fmla="*/ 553342 h 553342"/>
              <a:gd name="connsiteX3" fmla="*/ 0 w 8568952"/>
              <a:gd name="connsiteY3" fmla="*/ 553342 h 553342"/>
              <a:gd name="connsiteX4" fmla="*/ 0 w 8568952"/>
              <a:gd name="connsiteY4" fmla="*/ 1 h 553342"/>
              <a:gd name="connsiteX0" fmla="*/ 0 w 8568952"/>
              <a:gd name="connsiteY0" fmla="*/ 1 h 630833"/>
              <a:gd name="connsiteX1" fmla="*/ 8568952 w 8568952"/>
              <a:gd name="connsiteY1" fmla="*/ 0 h 630833"/>
              <a:gd name="connsiteX2" fmla="*/ 8568952 w 8568952"/>
              <a:gd name="connsiteY2" fmla="*/ 553342 h 630833"/>
              <a:gd name="connsiteX3" fmla="*/ 15499 w 8568952"/>
              <a:gd name="connsiteY3" fmla="*/ 630833 h 630833"/>
              <a:gd name="connsiteX4" fmla="*/ 0 w 8568952"/>
              <a:gd name="connsiteY4" fmla="*/ 1 h 630833"/>
              <a:gd name="connsiteX0" fmla="*/ 0 w 8568952"/>
              <a:gd name="connsiteY0" fmla="*/ 1 h 630833"/>
              <a:gd name="connsiteX1" fmla="*/ 8568952 w 8568952"/>
              <a:gd name="connsiteY1" fmla="*/ 0 h 630833"/>
              <a:gd name="connsiteX2" fmla="*/ 8568952 w 8568952"/>
              <a:gd name="connsiteY2" fmla="*/ 615336 h 630833"/>
              <a:gd name="connsiteX3" fmla="*/ 15499 w 8568952"/>
              <a:gd name="connsiteY3" fmla="*/ 630833 h 630833"/>
              <a:gd name="connsiteX4" fmla="*/ 0 w 8568952"/>
              <a:gd name="connsiteY4" fmla="*/ 1 h 630833"/>
              <a:gd name="connsiteX0" fmla="*/ 0 w 8568952"/>
              <a:gd name="connsiteY0" fmla="*/ 1 h 630834"/>
              <a:gd name="connsiteX1" fmla="*/ 8568952 w 8568952"/>
              <a:gd name="connsiteY1" fmla="*/ 0 h 630834"/>
              <a:gd name="connsiteX2" fmla="*/ 8568952 w 8568952"/>
              <a:gd name="connsiteY2" fmla="*/ 630834 h 630834"/>
              <a:gd name="connsiteX3" fmla="*/ 15499 w 8568952"/>
              <a:gd name="connsiteY3" fmla="*/ 630833 h 630834"/>
              <a:gd name="connsiteX4" fmla="*/ 0 w 8568952"/>
              <a:gd name="connsiteY4" fmla="*/ 1 h 630834"/>
              <a:gd name="connsiteX0" fmla="*/ 0 w 8568952"/>
              <a:gd name="connsiteY0" fmla="*/ 1 h 630834"/>
              <a:gd name="connsiteX1" fmla="*/ 8568952 w 8568952"/>
              <a:gd name="connsiteY1" fmla="*/ 0 h 630834"/>
              <a:gd name="connsiteX2" fmla="*/ 8568952 w 8568952"/>
              <a:gd name="connsiteY2" fmla="*/ 630834 h 630834"/>
              <a:gd name="connsiteX3" fmla="*/ 0 w 8568952"/>
              <a:gd name="connsiteY3" fmla="*/ 630833 h 630834"/>
              <a:gd name="connsiteX4" fmla="*/ 0 w 8568952"/>
              <a:gd name="connsiteY4" fmla="*/ 1 h 630834"/>
              <a:gd name="connsiteX0" fmla="*/ 12879 w 8568952"/>
              <a:gd name="connsiteY0" fmla="*/ 0 h 1021053"/>
              <a:gd name="connsiteX1" fmla="*/ 8568952 w 8568952"/>
              <a:gd name="connsiteY1" fmla="*/ 390219 h 1021053"/>
              <a:gd name="connsiteX2" fmla="*/ 8568952 w 8568952"/>
              <a:gd name="connsiteY2" fmla="*/ 1021053 h 1021053"/>
              <a:gd name="connsiteX3" fmla="*/ 0 w 8568952"/>
              <a:gd name="connsiteY3" fmla="*/ 1021052 h 1021053"/>
              <a:gd name="connsiteX4" fmla="*/ 12879 w 8568952"/>
              <a:gd name="connsiteY4" fmla="*/ 0 h 1021053"/>
              <a:gd name="connsiteX0" fmla="*/ 12879 w 8568952"/>
              <a:gd name="connsiteY0" fmla="*/ 0 h 1021053"/>
              <a:gd name="connsiteX1" fmla="*/ 8556073 w 8568952"/>
              <a:gd name="connsiteY1" fmla="*/ 0 h 1021053"/>
              <a:gd name="connsiteX2" fmla="*/ 8568952 w 8568952"/>
              <a:gd name="connsiteY2" fmla="*/ 1021053 h 1021053"/>
              <a:gd name="connsiteX3" fmla="*/ 0 w 8568952"/>
              <a:gd name="connsiteY3" fmla="*/ 1021052 h 1021053"/>
              <a:gd name="connsiteX4" fmla="*/ 12879 w 8568952"/>
              <a:gd name="connsiteY4" fmla="*/ 0 h 1021053"/>
              <a:gd name="connsiteX0" fmla="*/ 12879 w 8568952"/>
              <a:gd name="connsiteY0" fmla="*/ 0 h 1021053"/>
              <a:gd name="connsiteX1" fmla="*/ 8556073 w 8568952"/>
              <a:gd name="connsiteY1" fmla="*/ 0 h 1021053"/>
              <a:gd name="connsiteX2" fmla="*/ 8568952 w 8568952"/>
              <a:gd name="connsiteY2" fmla="*/ 1021053 h 1021053"/>
              <a:gd name="connsiteX3" fmla="*/ 0 w 8568952"/>
              <a:gd name="connsiteY3" fmla="*/ 1021052 h 1021053"/>
              <a:gd name="connsiteX4" fmla="*/ 12879 w 8568952"/>
              <a:gd name="connsiteY4" fmla="*/ 0 h 10210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68952" h="1021053">
                <a:moveTo>
                  <a:pt x="12879" y="0"/>
                </a:moveTo>
                <a:lnTo>
                  <a:pt x="8556073" y="0"/>
                </a:lnTo>
                <a:lnTo>
                  <a:pt x="8568952" y="1021053"/>
                </a:lnTo>
                <a:lnTo>
                  <a:pt x="0" y="1021052"/>
                </a:lnTo>
                <a:lnTo>
                  <a:pt x="12879" y="0"/>
                </a:lnTo>
                <a:close/>
              </a:path>
            </a:pathLst>
          </a:custGeom>
          <a:solidFill>
            <a:schemeClr val="accent6"/>
          </a:solidFill>
          <a:ln w="28575">
            <a:solidFill>
              <a:schemeClr val="tx1"/>
            </a:solidFill>
          </a:ln>
        </p:spPr>
        <p:txBody>
          <a:bodyPr wrap="square" rtlCol="0">
            <a:spAutoFit/>
          </a:bodyPr>
          <a:lstStyle/>
          <a:p>
            <a:pPr algn="ctr"/>
            <a:r>
              <a:rPr lang="en-GB" sz="2100" b="1" dirty="0"/>
              <a:t>Students should be able to calculate the energy transferred in chemical reactions using bond energies supplied.</a:t>
            </a:r>
          </a:p>
        </p:txBody>
      </p:sp>
    </p:spTree>
    <p:extLst>
      <p:ext uri="{BB962C8B-B14F-4D97-AF65-F5344CB8AC3E}">
        <p14:creationId xmlns:p14="http://schemas.microsoft.com/office/powerpoint/2010/main" val="42110423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5232202"/>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4800" b="1" dirty="0">
                <a:solidFill>
                  <a:schemeClr val="tx1">
                    <a:lumMod val="50000"/>
                    <a:lumOff val="50000"/>
                  </a:schemeClr>
                </a:solidFill>
              </a:rPr>
              <a:t>Energy Changes</a:t>
            </a:r>
          </a:p>
          <a:p>
            <a:r>
              <a:rPr lang="en-GB" sz="4800" b="1" dirty="0">
                <a:solidFill>
                  <a:schemeClr val="tx1">
                    <a:lumMod val="50000"/>
                    <a:lumOff val="50000"/>
                  </a:schemeClr>
                </a:solidFill>
              </a:rPr>
              <a:t>- part 2</a:t>
            </a:r>
          </a:p>
          <a:p>
            <a:pPr marL="457200" indent="-457200">
              <a:buFont typeface="Arial" charset="0"/>
              <a:buChar char="•"/>
            </a:pPr>
            <a:r>
              <a:rPr lang="en-GB" sz="2800" b="1" dirty="0">
                <a:solidFill>
                  <a:schemeClr val="tx1">
                    <a:lumMod val="50000"/>
                    <a:lumOff val="50000"/>
                  </a:schemeClr>
                </a:solidFill>
              </a:rPr>
              <a:t>Overall heat energy change for a reaction</a:t>
            </a:r>
          </a:p>
          <a:p>
            <a:pPr marL="457200" indent="-457200">
              <a:buFont typeface="Arial" charset="0"/>
              <a:buChar char="•"/>
            </a:pPr>
            <a:r>
              <a:rPr lang="en-GB" sz="2800" b="1" dirty="0">
                <a:solidFill>
                  <a:schemeClr val="tx1">
                    <a:lumMod val="50000"/>
                    <a:lumOff val="50000"/>
                  </a:schemeClr>
                </a:solidFill>
              </a:rPr>
              <a:t>Calculate energy change (HT)</a:t>
            </a: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35686060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Energy Changes part 2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4339650"/>
          </a:xfrm>
          <a:prstGeom prst="rect">
            <a:avLst/>
          </a:prstGeom>
          <a:noFill/>
        </p:spPr>
        <p:txBody>
          <a:bodyPr wrap="square" rtlCol="0">
            <a:spAutoFit/>
          </a:bodyPr>
          <a:lstStyle/>
          <a:p>
            <a:pPr marL="457200" indent="-457200">
              <a:lnSpc>
                <a:spcPct val="200000"/>
              </a:lnSpc>
              <a:buFont typeface="+mj-lt"/>
              <a:buAutoNum type="arabicPeriod"/>
            </a:pPr>
            <a:r>
              <a:rPr lang="en-GB" sz="2300" dirty="0"/>
              <a:t>During a chemical reaction energy is needed to…</a:t>
            </a:r>
          </a:p>
          <a:p>
            <a:pPr marL="457200" indent="-457200">
              <a:lnSpc>
                <a:spcPct val="200000"/>
              </a:lnSpc>
              <a:buFont typeface="+mj-lt"/>
              <a:buAutoNum type="arabicPeriod"/>
            </a:pPr>
            <a:r>
              <a:rPr lang="en-GB" sz="2300" dirty="0"/>
              <a:t>In a chemical reaction energy is released when…</a:t>
            </a:r>
          </a:p>
          <a:p>
            <a:pPr marL="457200" indent="-457200">
              <a:lnSpc>
                <a:spcPct val="200000"/>
              </a:lnSpc>
              <a:buFont typeface="+mj-lt"/>
              <a:buAutoNum type="arabicPeriod"/>
            </a:pPr>
            <a:r>
              <a:rPr lang="en-GB" sz="2300" dirty="0"/>
              <a:t>What are bond energies used to calculate?</a:t>
            </a:r>
          </a:p>
          <a:p>
            <a:pPr marL="457200" indent="-457200">
              <a:lnSpc>
                <a:spcPct val="200000"/>
              </a:lnSpc>
              <a:buFont typeface="+mj-lt"/>
              <a:buAutoNum type="arabicPeriod"/>
            </a:pPr>
            <a:r>
              <a:rPr lang="en-GB" sz="2300" dirty="0"/>
              <a:t>How do you calculate the overall energy change of a reaction?</a:t>
            </a:r>
          </a:p>
          <a:p>
            <a:pPr marL="457200" indent="-457200">
              <a:lnSpc>
                <a:spcPct val="200000"/>
              </a:lnSpc>
              <a:buFont typeface="+mj-lt"/>
              <a:buAutoNum type="arabicPeriod"/>
            </a:pPr>
            <a:r>
              <a:rPr lang="en-GB" sz="2300" dirty="0"/>
              <a:t>Is bond making exothermic or endothermic? Why?</a:t>
            </a:r>
          </a:p>
          <a:p>
            <a:pPr marL="457200" indent="-457200">
              <a:lnSpc>
                <a:spcPct val="200000"/>
              </a:lnSpc>
              <a:buFont typeface="+mj-lt"/>
              <a:buAutoNum type="arabicPeriod"/>
            </a:pPr>
            <a:r>
              <a:rPr lang="en-GB" sz="2300" dirty="0"/>
              <a:t>Is bond breaking exothermic or endothermic? Why?</a:t>
            </a:r>
          </a:p>
        </p:txBody>
      </p:sp>
    </p:spTree>
    <p:extLst>
      <p:ext uri="{BB962C8B-B14F-4D97-AF65-F5344CB8AC3E}">
        <p14:creationId xmlns:p14="http://schemas.microsoft.com/office/powerpoint/2010/main" val="22592739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The energy change of reactions (HT only)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557947"/>
            <a:ext cx="8915400" cy="3539430"/>
          </a:xfrm>
          <a:prstGeom prst="rect">
            <a:avLst/>
          </a:prstGeom>
          <a:noFill/>
        </p:spPr>
        <p:txBody>
          <a:bodyPr wrap="square" rtlCol="0">
            <a:spAutoFit/>
          </a:bodyPr>
          <a:lstStyle/>
          <a:p>
            <a:endParaRPr lang="en-GB" sz="3200" dirty="0"/>
          </a:p>
          <a:p>
            <a:pPr marL="457200" indent="-457200">
              <a:buFont typeface="+mj-lt"/>
              <a:buAutoNum type="arabicPeriod" startAt="7"/>
            </a:pPr>
            <a:r>
              <a:rPr lang="en-GB" sz="2400" dirty="0"/>
              <a:t>The bond energy between a hydrogen and a nitrogen atom is 386 kJ/</a:t>
            </a:r>
            <a:r>
              <a:rPr lang="en-GB" sz="2400" dirty="0" err="1"/>
              <a:t>mol</a:t>
            </a:r>
            <a:r>
              <a:rPr lang="en-GB" sz="2400" dirty="0"/>
              <a:t>, the bond energy between two hydrogen atoms is 432 kJ/</a:t>
            </a:r>
            <a:r>
              <a:rPr lang="en-GB" sz="2400" dirty="0" err="1"/>
              <a:t>mol</a:t>
            </a:r>
            <a:r>
              <a:rPr lang="en-GB" sz="2400" dirty="0"/>
              <a:t> and the bond energy between two nitrogen atoms is 942kJ/mol. Using these bond energies, calculate the overall energy change for the following reaction.</a:t>
            </a:r>
          </a:p>
          <a:p>
            <a:endParaRPr lang="en-GB" sz="2800" dirty="0"/>
          </a:p>
          <a:p>
            <a:pPr algn="ctr"/>
            <a:r>
              <a:rPr lang="en-GB" sz="2400" b="1" dirty="0"/>
              <a:t>2NH</a:t>
            </a:r>
            <a:r>
              <a:rPr lang="en-GB" sz="2400" b="1" baseline="-25000" dirty="0"/>
              <a:t>3</a:t>
            </a:r>
            <a:r>
              <a:rPr lang="en-GB" sz="2400" b="1" dirty="0"/>
              <a:t> </a:t>
            </a:r>
            <a:r>
              <a:rPr lang="en-GB" sz="2400" b="1" dirty="0">
                <a:sym typeface="Wingdings" panose="05000000000000000000" pitchFamily="2" charset="2"/>
              </a:rPr>
              <a:t>  </a:t>
            </a:r>
            <a:r>
              <a:rPr lang="en-GB" sz="2400" b="1" dirty="0"/>
              <a:t>  N</a:t>
            </a:r>
            <a:r>
              <a:rPr lang="en-GB" sz="2400" b="1" baseline="-25000" dirty="0"/>
              <a:t>2</a:t>
            </a:r>
            <a:r>
              <a:rPr lang="en-GB" sz="2400" b="1" dirty="0"/>
              <a:t>   +   3H</a:t>
            </a:r>
            <a:r>
              <a:rPr lang="en-GB" sz="2400" b="1" baseline="-25000" dirty="0"/>
              <a:t>2</a:t>
            </a:r>
          </a:p>
          <a:p>
            <a:r>
              <a:rPr lang="en-GB" sz="2000" b="1" dirty="0"/>
              <a:t> </a:t>
            </a:r>
          </a:p>
        </p:txBody>
      </p:sp>
      <p:sp>
        <p:nvSpPr>
          <p:cNvPr id="32" name="TextBox 31"/>
          <p:cNvSpPr txBox="1"/>
          <p:nvPr/>
        </p:nvSpPr>
        <p:spPr>
          <a:xfrm>
            <a:off x="149088" y="5201422"/>
            <a:ext cx="8684264" cy="1015663"/>
          </a:xfrm>
          <a:custGeom>
            <a:avLst/>
            <a:gdLst>
              <a:gd name="connsiteX0" fmla="*/ 0 w 8671385"/>
              <a:gd name="connsiteY0" fmla="*/ 0 h 503158"/>
              <a:gd name="connsiteX1" fmla="*/ 8671385 w 8671385"/>
              <a:gd name="connsiteY1" fmla="*/ 0 h 503158"/>
              <a:gd name="connsiteX2" fmla="*/ 8671385 w 8671385"/>
              <a:gd name="connsiteY2" fmla="*/ 503158 h 503158"/>
              <a:gd name="connsiteX3" fmla="*/ 0 w 8671385"/>
              <a:gd name="connsiteY3" fmla="*/ 503158 h 503158"/>
              <a:gd name="connsiteX4" fmla="*/ 0 w 8671385"/>
              <a:gd name="connsiteY4" fmla="*/ 0 h 503158"/>
              <a:gd name="connsiteX0" fmla="*/ 0 w 8671385"/>
              <a:gd name="connsiteY0" fmla="*/ 0 h 734977"/>
              <a:gd name="connsiteX1" fmla="*/ 8671385 w 8671385"/>
              <a:gd name="connsiteY1" fmla="*/ 231819 h 734977"/>
              <a:gd name="connsiteX2" fmla="*/ 8671385 w 8671385"/>
              <a:gd name="connsiteY2" fmla="*/ 734977 h 734977"/>
              <a:gd name="connsiteX3" fmla="*/ 0 w 8671385"/>
              <a:gd name="connsiteY3" fmla="*/ 734977 h 734977"/>
              <a:gd name="connsiteX4" fmla="*/ 0 w 8671385"/>
              <a:gd name="connsiteY4" fmla="*/ 0 h 734977"/>
              <a:gd name="connsiteX0" fmla="*/ 0 w 8684264"/>
              <a:gd name="connsiteY0" fmla="*/ 12880 h 747857"/>
              <a:gd name="connsiteX1" fmla="*/ 8684264 w 8684264"/>
              <a:gd name="connsiteY1" fmla="*/ 0 h 747857"/>
              <a:gd name="connsiteX2" fmla="*/ 8671385 w 8684264"/>
              <a:gd name="connsiteY2" fmla="*/ 747857 h 747857"/>
              <a:gd name="connsiteX3" fmla="*/ 0 w 8684264"/>
              <a:gd name="connsiteY3" fmla="*/ 747857 h 747857"/>
              <a:gd name="connsiteX4" fmla="*/ 0 w 8684264"/>
              <a:gd name="connsiteY4" fmla="*/ 12880 h 747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4264" h="747857">
                <a:moveTo>
                  <a:pt x="0" y="12880"/>
                </a:moveTo>
                <a:lnTo>
                  <a:pt x="8684264" y="0"/>
                </a:lnTo>
                <a:lnTo>
                  <a:pt x="8671385" y="747857"/>
                </a:lnTo>
                <a:lnTo>
                  <a:pt x="0" y="747857"/>
                </a:lnTo>
                <a:lnTo>
                  <a:pt x="0" y="12880"/>
                </a:lnTo>
                <a:close/>
              </a:path>
            </a:pathLst>
          </a:custGeom>
          <a:noFill/>
        </p:spPr>
        <p:txBody>
          <a:bodyPr wrap="square" rtlCol="0">
            <a:spAutoFit/>
          </a:bodyPr>
          <a:lstStyle/>
          <a:p>
            <a:pPr marL="457200" indent="-457200">
              <a:buFont typeface="+mj-lt"/>
              <a:buAutoNum type="arabicPeriod" startAt="8"/>
            </a:pPr>
            <a:r>
              <a:rPr lang="en-GB" sz="2400" dirty="0"/>
              <a:t>Is the reaction exothermic or endothermic? Explain your answer</a:t>
            </a:r>
            <a:r>
              <a:rPr lang="en-GB" b="1" dirty="0"/>
              <a:t>.</a:t>
            </a:r>
          </a:p>
          <a:p>
            <a:endParaRPr lang="en-GB" dirty="0"/>
          </a:p>
          <a:p>
            <a:r>
              <a:rPr lang="en-GB" dirty="0"/>
              <a:t>       </a:t>
            </a:r>
            <a:endParaRPr lang="en-GB" dirty="0">
              <a:solidFill>
                <a:srgbClr val="00B050"/>
              </a:solidFill>
            </a:endParaRPr>
          </a:p>
        </p:txBody>
      </p:sp>
    </p:spTree>
    <p:extLst>
      <p:ext uri="{BB962C8B-B14F-4D97-AF65-F5344CB8AC3E}">
        <p14:creationId xmlns:p14="http://schemas.microsoft.com/office/powerpoint/2010/main" val="17067487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509200"/>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4800" b="1" dirty="0">
                <a:solidFill>
                  <a:schemeClr val="tx1">
                    <a:lumMod val="50000"/>
                    <a:lumOff val="50000"/>
                  </a:schemeClr>
                </a:solidFill>
              </a:rPr>
              <a:t>Energy Changes</a:t>
            </a:r>
          </a:p>
          <a:p>
            <a:r>
              <a:rPr lang="en-GB" sz="4800" b="1" dirty="0">
                <a:solidFill>
                  <a:schemeClr val="tx1">
                    <a:lumMod val="50000"/>
                    <a:lumOff val="50000"/>
                  </a:schemeClr>
                </a:solidFill>
              </a:rPr>
              <a:t>- part 2</a:t>
            </a:r>
          </a:p>
          <a:p>
            <a:pPr marL="457200" indent="-457200">
              <a:buFont typeface="Arial" charset="0"/>
              <a:buChar char="•"/>
            </a:pPr>
            <a:r>
              <a:rPr lang="en-GB" sz="2800" b="1" dirty="0">
                <a:solidFill>
                  <a:schemeClr val="tx1">
                    <a:lumMod val="50000"/>
                    <a:lumOff val="50000"/>
                  </a:schemeClr>
                </a:solidFill>
              </a:rPr>
              <a:t>Overall heat energy change for a reaction</a:t>
            </a:r>
          </a:p>
          <a:p>
            <a:pPr marL="457200" indent="-457200">
              <a:buFont typeface="Arial" charset="0"/>
              <a:buChar char="•"/>
            </a:pPr>
            <a:r>
              <a:rPr lang="en-GB" sz="2800" b="1" dirty="0">
                <a:solidFill>
                  <a:schemeClr val="tx1">
                    <a:lumMod val="50000"/>
                    <a:lumOff val="50000"/>
                  </a:schemeClr>
                </a:solidFill>
              </a:rPr>
              <a:t>Calculate energy change (HT)</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3171225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Energy Changes part 2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5493812"/>
          </a:xfrm>
          <a:prstGeom prst="rect">
            <a:avLst/>
          </a:prstGeom>
          <a:noFill/>
        </p:spPr>
        <p:txBody>
          <a:bodyPr wrap="square" rtlCol="0">
            <a:spAutoFit/>
          </a:bodyPr>
          <a:lstStyle/>
          <a:p>
            <a:pPr marL="457200" indent="-457200">
              <a:buFont typeface="+mj-lt"/>
              <a:buAutoNum type="arabicPeriod"/>
            </a:pPr>
            <a:r>
              <a:rPr lang="en-GB" sz="2300" dirty="0"/>
              <a:t>During a chemical reaction energy is needed to…</a:t>
            </a:r>
          </a:p>
          <a:p>
            <a:pPr lvl="1"/>
            <a:r>
              <a:rPr lang="en-GB" sz="2400" dirty="0">
                <a:solidFill>
                  <a:srgbClr val="00B050"/>
                </a:solidFill>
              </a:rPr>
              <a:t>break bonds in the reactants.</a:t>
            </a:r>
            <a:endParaRPr lang="en-GB" sz="2300" dirty="0"/>
          </a:p>
          <a:p>
            <a:pPr marL="457200" indent="-457200">
              <a:buFont typeface="+mj-lt"/>
              <a:buAutoNum type="arabicPeriod"/>
            </a:pPr>
            <a:r>
              <a:rPr lang="en-GB" sz="2300" dirty="0"/>
              <a:t>In a chemical reaction energy is released when…</a:t>
            </a:r>
          </a:p>
          <a:p>
            <a:pPr lvl="1"/>
            <a:r>
              <a:rPr lang="en-GB" sz="2400" dirty="0">
                <a:solidFill>
                  <a:srgbClr val="00B050"/>
                </a:solidFill>
              </a:rPr>
              <a:t>bonds in the products are formed.</a:t>
            </a:r>
            <a:endParaRPr lang="en-GB" sz="2300" dirty="0"/>
          </a:p>
          <a:p>
            <a:pPr marL="457200" indent="-457200">
              <a:buFont typeface="+mj-lt"/>
              <a:buAutoNum type="arabicPeriod"/>
            </a:pPr>
            <a:r>
              <a:rPr lang="en-GB" sz="2300" dirty="0"/>
              <a:t>What are bond energies used to calculate?</a:t>
            </a:r>
          </a:p>
          <a:p>
            <a:pPr lvl="1"/>
            <a:r>
              <a:rPr lang="en-GB" sz="2400" dirty="0">
                <a:solidFill>
                  <a:srgbClr val="00B050"/>
                </a:solidFill>
              </a:rPr>
              <a:t>The energy change in a reaction.</a:t>
            </a:r>
            <a:endParaRPr lang="en-GB" sz="2300" dirty="0"/>
          </a:p>
          <a:p>
            <a:pPr marL="457200" indent="-457200">
              <a:buFont typeface="+mj-lt"/>
              <a:buAutoNum type="arabicPeriod"/>
            </a:pPr>
            <a:r>
              <a:rPr lang="en-GB" sz="2300" dirty="0"/>
              <a:t>How do you calculate the overall energy change of a reaction?</a:t>
            </a:r>
          </a:p>
          <a:p>
            <a:pPr lvl="1"/>
            <a:r>
              <a:rPr lang="en-GB" sz="2400" dirty="0">
                <a:solidFill>
                  <a:srgbClr val="00B050"/>
                </a:solidFill>
              </a:rPr>
              <a:t>Difference between: sum of energy needed to break bonds in the reactants and the sum of the energy released when the products are formed.</a:t>
            </a:r>
            <a:endParaRPr lang="en-GB" sz="2300" dirty="0"/>
          </a:p>
          <a:p>
            <a:pPr marL="457200" indent="-457200">
              <a:buFont typeface="+mj-lt"/>
              <a:buAutoNum type="arabicPeriod"/>
            </a:pPr>
            <a:r>
              <a:rPr lang="en-GB" sz="2300" dirty="0"/>
              <a:t>Is bond making exothermic or endothermic? Why?</a:t>
            </a:r>
          </a:p>
          <a:p>
            <a:pPr lvl="1"/>
            <a:r>
              <a:rPr lang="en-GB" sz="2300" dirty="0">
                <a:solidFill>
                  <a:srgbClr val="00B050"/>
                </a:solidFill>
              </a:rPr>
              <a:t>Exothermic; energy is given out.</a:t>
            </a:r>
            <a:endParaRPr lang="en-GB" sz="2300" dirty="0"/>
          </a:p>
          <a:p>
            <a:pPr marL="457200" indent="-457200">
              <a:buFont typeface="+mj-lt"/>
              <a:buAutoNum type="arabicPeriod"/>
            </a:pPr>
            <a:r>
              <a:rPr lang="en-GB" sz="2300" dirty="0"/>
              <a:t>Is bond breaking exothermic or endothermic? Why?</a:t>
            </a:r>
          </a:p>
          <a:p>
            <a:pPr lvl="1"/>
            <a:r>
              <a:rPr lang="en-GB" sz="2300" dirty="0">
                <a:solidFill>
                  <a:srgbClr val="00B050"/>
                </a:solidFill>
              </a:rPr>
              <a:t>Endothermic; energy is taken in.</a:t>
            </a:r>
            <a:endParaRPr lang="en-GB" sz="2300" dirty="0"/>
          </a:p>
          <a:p>
            <a:pPr lvl="1"/>
            <a:endParaRPr lang="en-GB" sz="2300" dirty="0"/>
          </a:p>
        </p:txBody>
      </p:sp>
    </p:spTree>
    <p:extLst>
      <p:ext uri="{BB962C8B-B14F-4D97-AF65-F5344CB8AC3E}">
        <p14:creationId xmlns:p14="http://schemas.microsoft.com/office/powerpoint/2010/main" val="12207736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The energy change of reactions (HT only)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557947"/>
            <a:ext cx="8915400" cy="2369880"/>
          </a:xfrm>
          <a:prstGeom prst="rect">
            <a:avLst/>
          </a:prstGeom>
          <a:noFill/>
        </p:spPr>
        <p:txBody>
          <a:bodyPr wrap="square" rtlCol="0">
            <a:spAutoFit/>
          </a:bodyPr>
          <a:lstStyle/>
          <a:p>
            <a:endParaRPr lang="en-GB" sz="2400" dirty="0"/>
          </a:p>
          <a:p>
            <a:pPr marL="342900" indent="-342900">
              <a:buFont typeface="+mj-lt"/>
              <a:buAutoNum type="arabicPeriod" startAt="7"/>
            </a:pPr>
            <a:r>
              <a:rPr lang="en-GB" sz="2000" dirty="0"/>
              <a:t>The bond energy between a hydrogen and a nitrogen atom is 386 kJ/</a:t>
            </a:r>
            <a:r>
              <a:rPr lang="en-GB" sz="2000" dirty="0" err="1"/>
              <a:t>mol</a:t>
            </a:r>
            <a:r>
              <a:rPr lang="en-GB" sz="2000" dirty="0"/>
              <a:t>, the bond  energy between two hydrogen atoms is 432 kJ/</a:t>
            </a:r>
            <a:r>
              <a:rPr lang="en-GB" sz="2000" dirty="0" err="1"/>
              <a:t>mol</a:t>
            </a:r>
            <a:r>
              <a:rPr lang="en-GB" sz="2000" dirty="0"/>
              <a:t> and the bond energy between two nitrogen atoms is 942kJ/mol. Using these bond energies calculate the overall energy change for the following reaction.</a:t>
            </a:r>
            <a:endParaRPr lang="en-GB" sz="2400" dirty="0"/>
          </a:p>
          <a:p>
            <a:r>
              <a:rPr lang="en-GB" sz="2000" dirty="0"/>
              <a:t>                                                  2NH</a:t>
            </a:r>
            <a:r>
              <a:rPr lang="en-GB" sz="2000" baseline="-25000" dirty="0"/>
              <a:t>3</a:t>
            </a:r>
            <a:r>
              <a:rPr lang="en-GB" sz="2000" dirty="0"/>
              <a:t> </a:t>
            </a:r>
            <a:r>
              <a:rPr lang="en-GB" sz="2000" dirty="0">
                <a:sym typeface="Wingdings" panose="05000000000000000000" pitchFamily="2" charset="2"/>
              </a:rPr>
              <a:t>  </a:t>
            </a:r>
            <a:r>
              <a:rPr lang="en-GB" sz="2000" dirty="0"/>
              <a:t>  N</a:t>
            </a:r>
            <a:r>
              <a:rPr lang="en-GB" sz="2000" baseline="-25000" dirty="0"/>
              <a:t>2</a:t>
            </a:r>
            <a:r>
              <a:rPr lang="en-GB" sz="2000" dirty="0"/>
              <a:t>   +   3H</a:t>
            </a:r>
            <a:r>
              <a:rPr lang="en-GB" sz="2000" baseline="-25000" dirty="0"/>
              <a:t>2</a:t>
            </a:r>
          </a:p>
          <a:p>
            <a:r>
              <a:rPr lang="en-GB" sz="2000" b="1" dirty="0"/>
              <a:t> </a:t>
            </a:r>
          </a:p>
        </p:txBody>
      </p:sp>
      <p:sp>
        <p:nvSpPr>
          <p:cNvPr id="31" name="TextBox 30"/>
          <p:cNvSpPr txBox="1"/>
          <p:nvPr/>
        </p:nvSpPr>
        <p:spPr>
          <a:xfrm>
            <a:off x="454666" y="4290766"/>
            <a:ext cx="8162661" cy="1181114"/>
          </a:xfrm>
          <a:custGeom>
            <a:avLst/>
            <a:gdLst>
              <a:gd name="connsiteX0" fmla="*/ 0 w 8136904"/>
              <a:gd name="connsiteY0" fmla="*/ 0 h 1477328"/>
              <a:gd name="connsiteX1" fmla="*/ 8136904 w 8136904"/>
              <a:gd name="connsiteY1" fmla="*/ 0 h 1477328"/>
              <a:gd name="connsiteX2" fmla="*/ 8136904 w 8136904"/>
              <a:gd name="connsiteY2" fmla="*/ 1477328 h 1477328"/>
              <a:gd name="connsiteX3" fmla="*/ 0 w 8136904"/>
              <a:gd name="connsiteY3" fmla="*/ 1477328 h 1477328"/>
              <a:gd name="connsiteX4" fmla="*/ 0 w 8136904"/>
              <a:gd name="connsiteY4" fmla="*/ 0 h 1477328"/>
              <a:gd name="connsiteX0" fmla="*/ 0 w 8149782"/>
              <a:gd name="connsiteY0" fmla="*/ 0 h 1786421"/>
              <a:gd name="connsiteX1" fmla="*/ 8149782 w 8149782"/>
              <a:gd name="connsiteY1" fmla="*/ 309093 h 1786421"/>
              <a:gd name="connsiteX2" fmla="*/ 8149782 w 8149782"/>
              <a:gd name="connsiteY2" fmla="*/ 1786421 h 1786421"/>
              <a:gd name="connsiteX3" fmla="*/ 12878 w 8149782"/>
              <a:gd name="connsiteY3" fmla="*/ 1786421 h 1786421"/>
              <a:gd name="connsiteX4" fmla="*/ 0 w 8149782"/>
              <a:gd name="connsiteY4" fmla="*/ 0 h 1786421"/>
              <a:gd name="connsiteX0" fmla="*/ 0 w 8149782"/>
              <a:gd name="connsiteY0" fmla="*/ 0 h 1786421"/>
              <a:gd name="connsiteX1" fmla="*/ 8149782 w 8149782"/>
              <a:gd name="connsiteY1" fmla="*/ 0 h 1786421"/>
              <a:gd name="connsiteX2" fmla="*/ 8149782 w 8149782"/>
              <a:gd name="connsiteY2" fmla="*/ 1786421 h 1786421"/>
              <a:gd name="connsiteX3" fmla="*/ 12878 w 8149782"/>
              <a:gd name="connsiteY3" fmla="*/ 1786421 h 1786421"/>
              <a:gd name="connsiteX4" fmla="*/ 0 w 8149782"/>
              <a:gd name="connsiteY4" fmla="*/ 0 h 1786421"/>
              <a:gd name="connsiteX0" fmla="*/ 0 w 8162661"/>
              <a:gd name="connsiteY0" fmla="*/ 0 h 1786421"/>
              <a:gd name="connsiteX1" fmla="*/ 8149782 w 8162661"/>
              <a:gd name="connsiteY1" fmla="*/ 0 h 1786421"/>
              <a:gd name="connsiteX2" fmla="*/ 8162661 w 8162661"/>
              <a:gd name="connsiteY2" fmla="*/ 1219751 h 1786421"/>
              <a:gd name="connsiteX3" fmla="*/ 12878 w 8162661"/>
              <a:gd name="connsiteY3" fmla="*/ 1786421 h 1786421"/>
              <a:gd name="connsiteX4" fmla="*/ 0 w 8162661"/>
              <a:gd name="connsiteY4" fmla="*/ 0 h 1786421"/>
              <a:gd name="connsiteX0" fmla="*/ 0 w 8162661"/>
              <a:gd name="connsiteY0" fmla="*/ 0 h 1219751"/>
              <a:gd name="connsiteX1" fmla="*/ 8149782 w 8162661"/>
              <a:gd name="connsiteY1" fmla="*/ 0 h 1219751"/>
              <a:gd name="connsiteX2" fmla="*/ 8162661 w 8162661"/>
              <a:gd name="connsiteY2" fmla="*/ 1219751 h 1219751"/>
              <a:gd name="connsiteX3" fmla="*/ 12878 w 8162661"/>
              <a:gd name="connsiteY3" fmla="*/ 1206872 h 1219751"/>
              <a:gd name="connsiteX4" fmla="*/ 0 w 8162661"/>
              <a:gd name="connsiteY4" fmla="*/ 0 h 1219751"/>
              <a:gd name="connsiteX0" fmla="*/ 0 w 8162661"/>
              <a:gd name="connsiteY0" fmla="*/ 170134 h 1219751"/>
              <a:gd name="connsiteX1" fmla="*/ 8149782 w 8162661"/>
              <a:gd name="connsiteY1" fmla="*/ 0 h 1219751"/>
              <a:gd name="connsiteX2" fmla="*/ 8162661 w 8162661"/>
              <a:gd name="connsiteY2" fmla="*/ 1219751 h 1219751"/>
              <a:gd name="connsiteX3" fmla="*/ 12878 w 8162661"/>
              <a:gd name="connsiteY3" fmla="*/ 1206872 h 1219751"/>
              <a:gd name="connsiteX4" fmla="*/ 0 w 8162661"/>
              <a:gd name="connsiteY4" fmla="*/ 170134 h 1219751"/>
              <a:gd name="connsiteX0" fmla="*/ 0 w 8162661"/>
              <a:gd name="connsiteY0" fmla="*/ 10633 h 1060250"/>
              <a:gd name="connsiteX1" fmla="*/ 8149782 w 8162661"/>
              <a:gd name="connsiteY1" fmla="*/ 0 h 1060250"/>
              <a:gd name="connsiteX2" fmla="*/ 8162661 w 8162661"/>
              <a:gd name="connsiteY2" fmla="*/ 1060250 h 1060250"/>
              <a:gd name="connsiteX3" fmla="*/ 12878 w 8162661"/>
              <a:gd name="connsiteY3" fmla="*/ 1047371 h 1060250"/>
              <a:gd name="connsiteX4" fmla="*/ 0 w 8162661"/>
              <a:gd name="connsiteY4" fmla="*/ 10633 h 1060250"/>
              <a:gd name="connsiteX0" fmla="*/ 0 w 8162661"/>
              <a:gd name="connsiteY0" fmla="*/ 0 h 1049617"/>
              <a:gd name="connsiteX1" fmla="*/ 8149782 w 8162661"/>
              <a:gd name="connsiteY1" fmla="*/ 10634 h 1049617"/>
              <a:gd name="connsiteX2" fmla="*/ 8162661 w 8162661"/>
              <a:gd name="connsiteY2" fmla="*/ 1049617 h 1049617"/>
              <a:gd name="connsiteX3" fmla="*/ 12878 w 8162661"/>
              <a:gd name="connsiteY3" fmla="*/ 1036738 h 1049617"/>
              <a:gd name="connsiteX4" fmla="*/ 0 w 8162661"/>
              <a:gd name="connsiteY4" fmla="*/ 0 h 1049617"/>
              <a:gd name="connsiteX0" fmla="*/ 0 w 8162661"/>
              <a:gd name="connsiteY0" fmla="*/ 0 h 1049617"/>
              <a:gd name="connsiteX1" fmla="*/ 8149782 w 8162661"/>
              <a:gd name="connsiteY1" fmla="*/ 95701 h 1049617"/>
              <a:gd name="connsiteX2" fmla="*/ 8162661 w 8162661"/>
              <a:gd name="connsiteY2" fmla="*/ 1049617 h 1049617"/>
              <a:gd name="connsiteX3" fmla="*/ 12878 w 8162661"/>
              <a:gd name="connsiteY3" fmla="*/ 1036738 h 1049617"/>
              <a:gd name="connsiteX4" fmla="*/ 0 w 8162661"/>
              <a:gd name="connsiteY4" fmla="*/ 0 h 1049617"/>
              <a:gd name="connsiteX0" fmla="*/ 0 w 8162661"/>
              <a:gd name="connsiteY0" fmla="*/ 10633 h 953916"/>
              <a:gd name="connsiteX1" fmla="*/ 8149782 w 8162661"/>
              <a:gd name="connsiteY1" fmla="*/ 0 h 953916"/>
              <a:gd name="connsiteX2" fmla="*/ 8162661 w 8162661"/>
              <a:gd name="connsiteY2" fmla="*/ 953916 h 953916"/>
              <a:gd name="connsiteX3" fmla="*/ 12878 w 8162661"/>
              <a:gd name="connsiteY3" fmla="*/ 941037 h 953916"/>
              <a:gd name="connsiteX4" fmla="*/ 0 w 8162661"/>
              <a:gd name="connsiteY4" fmla="*/ 10633 h 953916"/>
              <a:gd name="connsiteX0" fmla="*/ 0 w 8162661"/>
              <a:gd name="connsiteY0" fmla="*/ 10633 h 962303"/>
              <a:gd name="connsiteX1" fmla="*/ 8149782 w 8162661"/>
              <a:gd name="connsiteY1" fmla="*/ 0 h 962303"/>
              <a:gd name="connsiteX2" fmla="*/ 8162661 w 8162661"/>
              <a:gd name="connsiteY2" fmla="*/ 953916 h 962303"/>
              <a:gd name="connsiteX3" fmla="*/ 12878 w 8162661"/>
              <a:gd name="connsiteY3" fmla="*/ 962303 h 962303"/>
              <a:gd name="connsiteX4" fmla="*/ 0 w 8162661"/>
              <a:gd name="connsiteY4" fmla="*/ 10633 h 962303"/>
              <a:gd name="connsiteX0" fmla="*/ 0 w 8162661"/>
              <a:gd name="connsiteY0" fmla="*/ 10633 h 975182"/>
              <a:gd name="connsiteX1" fmla="*/ 8149782 w 8162661"/>
              <a:gd name="connsiteY1" fmla="*/ 0 h 975182"/>
              <a:gd name="connsiteX2" fmla="*/ 8162661 w 8162661"/>
              <a:gd name="connsiteY2" fmla="*/ 975182 h 975182"/>
              <a:gd name="connsiteX3" fmla="*/ 12878 w 8162661"/>
              <a:gd name="connsiteY3" fmla="*/ 962303 h 975182"/>
              <a:gd name="connsiteX4" fmla="*/ 0 w 8162661"/>
              <a:gd name="connsiteY4" fmla="*/ 10633 h 975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2661" h="975182">
                <a:moveTo>
                  <a:pt x="0" y="10633"/>
                </a:moveTo>
                <a:lnTo>
                  <a:pt x="8149782" y="0"/>
                </a:lnTo>
                <a:lnTo>
                  <a:pt x="8162661" y="975182"/>
                </a:lnTo>
                <a:lnTo>
                  <a:pt x="12878" y="962303"/>
                </a:lnTo>
                <a:cubicBezTo>
                  <a:pt x="8585" y="366829"/>
                  <a:pt x="4293" y="606107"/>
                  <a:pt x="0" y="10633"/>
                </a:cubicBezTo>
                <a:close/>
              </a:path>
            </a:pathLst>
          </a:custGeom>
          <a:noFill/>
        </p:spPr>
        <p:txBody>
          <a:bodyPr wrap="square" rtlCol="0">
            <a:spAutoFit/>
          </a:bodyPr>
          <a:lstStyle/>
          <a:p>
            <a:r>
              <a:rPr lang="en-GB" dirty="0">
                <a:solidFill>
                  <a:srgbClr val="00B050"/>
                </a:solidFill>
              </a:rPr>
              <a:t>Overall energy change   =      energy needed to     –       energy released as 		         		break the bonds	            bonds are made</a:t>
            </a:r>
          </a:p>
          <a:p>
            <a:r>
              <a:rPr lang="en-GB" dirty="0">
                <a:solidFill>
                  <a:srgbClr val="00B050"/>
                </a:solidFill>
              </a:rPr>
              <a:t>			 2,316kJ/</a:t>
            </a:r>
            <a:r>
              <a:rPr lang="en-GB" dirty="0" err="1">
                <a:solidFill>
                  <a:srgbClr val="00B050"/>
                </a:solidFill>
              </a:rPr>
              <a:t>mol</a:t>
            </a:r>
            <a:r>
              <a:rPr lang="en-GB" dirty="0">
                <a:solidFill>
                  <a:srgbClr val="00B050"/>
                </a:solidFill>
              </a:rPr>
              <a:t>            -            2,238kJ/</a:t>
            </a:r>
            <a:r>
              <a:rPr lang="en-GB" dirty="0" err="1">
                <a:solidFill>
                  <a:srgbClr val="00B050"/>
                </a:solidFill>
              </a:rPr>
              <a:t>mol</a:t>
            </a:r>
            <a:endParaRPr lang="en-GB" dirty="0">
              <a:solidFill>
                <a:srgbClr val="00B050"/>
              </a:solidFill>
            </a:endParaRPr>
          </a:p>
          <a:p>
            <a:r>
              <a:rPr lang="en-GB" dirty="0">
                <a:solidFill>
                  <a:srgbClr val="00B050"/>
                </a:solidFill>
              </a:rPr>
              <a:t>Overall energy change   =  + 78kJ/</a:t>
            </a:r>
            <a:r>
              <a:rPr lang="en-GB" dirty="0" err="1">
                <a:solidFill>
                  <a:srgbClr val="00B050"/>
                </a:solidFill>
              </a:rPr>
              <a:t>mol</a:t>
            </a:r>
            <a:endParaRPr lang="en-GB" dirty="0">
              <a:solidFill>
                <a:srgbClr val="00B050"/>
              </a:solidFill>
            </a:endParaRPr>
          </a:p>
          <a:p>
            <a:endParaRPr lang="en-GB" dirty="0"/>
          </a:p>
        </p:txBody>
      </p:sp>
      <p:sp>
        <p:nvSpPr>
          <p:cNvPr id="32" name="TextBox 31"/>
          <p:cNvSpPr txBox="1"/>
          <p:nvPr/>
        </p:nvSpPr>
        <p:spPr>
          <a:xfrm>
            <a:off x="136209" y="5543557"/>
            <a:ext cx="8697143" cy="954107"/>
          </a:xfrm>
          <a:custGeom>
            <a:avLst/>
            <a:gdLst>
              <a:gd name="connsiteX0" fmla="*/ 0 w 8671385"/>
              <a:gd name="connsiteY0" fmla="*/ 0 h 503158"/>
              <a:gd name="connsiteX1" fmla="*/ 8671385 w 8671385"/>
              <a:gd name="connsiteY1" fmla="*/ 0 h 503158"/>
              <a:gd name="connsiteX2" fmla="*/ 8671385 w 8671385"/>
              <a:gd name="connsiteY2" fmla="*/ 503158 h 503158"/>
              <a:gd name="connsiteX3" fmla="*/ 0 w 8671385"/>
              <a:gd name="connsiteY3" fmla="*/ 503158 h 503158"/>
              <a:gd name="connsiteX4" fmla="*/ 0 w 8671385"/>
              <a:gd name="connsiteY4" fmla="*/ 0 h 503158"/>
              <a:gd name="connsiteX0" fmla="*/ 0 w 8671385"/>
              <a:gd name="connsiteY0" fmla="*/ 0 h 734977"/>
              <a:gd name="connsiteX1" fmla="*/ 8671385 w 8671385"/>
              <a:gd name="connsiteY1" fmla="*/ 231819 h 734977"/>
              <a:gd name="connsiteX2" fmla="*/ 8671385 w 8671385"/>
              <a:gd name="connsiteY2" fmla="*/ 734977 h 734977"/>
              <a:gd name="connsiteX3" fmla="*/ 0 w 8671385"/>
              <a:gd name="connsiteY3" fmla="*/ 734977 h 734977"/>
              <a:gd name="connsiteX4" fmla="*/ 0 w 8671385"/>
              <a:gd name="connsiteY4" fmla="*/ 0 h 734977"/>
              <a:gd name="connsiteX0" fmla="*/ 0 w 8684264"/>
              <a:gd name="connsiteY0" fmla="*/ 12880 h 747857"/>
              <a:gd name="connsiteX1" fmla="*/ 8684264 w 8684264"/>
              <a:gd name="connsiteY1" fmla="*/ 0 h 747857"/>
              <a:gd name="connsiteX2" fmla="*/ 8671385 w 8684264"/>
              <a:gd name="connsiteY2" fmla="*/ 747857 h 747857"/>
              <a:gd name="connsiteX3" fmla="*/ 0 w 8684264"/>
              <a:gd name="connsiteY3" fmla="*/ 747857 h 747857"/>
              <a:gd name="connsiteX4" fmla="*/ 0 w 8684264"/>
              <a:gd name="connsiteY4" fmla="*/ 12880 h 747857"/>
              <a:gd name="connsiteX0" fmla="*/ 12878 w 8697142"/>
              <a:gd name="connsiteY0" fmla="*/ 12880 h 966915"/>
              <a:gd name="connsiteX1" fmla="*/ 8697142 w 8697142"/>
              <a:gd name="connsiteY1" fmla="*/ 0 h 966915"/>
              <a:gd name="connsiteX2" fmla="*/ 8684263 w 8697142"/>
              <a:gd name="connsiteY2" fmla="*/ 747857 h 966915"/>
              <a:gd name="connsiteX3" fmla="*/ 0 w 8697142"/>
              <a:gd name="connsiteY3" fmla="*/ 966915 h 966915"/>
              <a:gd name="connsiteX4" fmla="*/ 12878 w 8697142"/>
              <a:gd name="connsiteY4" fmla="*/ 12880 h 966915"/>
              <a:gd name="connsiteX0" fmla="*/ 12878 w 8697142"/>
              <a:gd name="connsiteY0" fmla="*/ 12880 h 966915"/>
              <a:gd name="connsiteX1" fmla="*/ 8697142 w 8697142"/>
              <a:gd name="connsiteY1" fmla="*/ 0 h 966915"/>
              <a:gd name="connsiteX2" fmla="*/ 8684263 w 8697142"/>
              <a:gd name="connsiteY2" fmla="*/ 956484 h 966915"/>
              <a:gd name="connsiteX3" fmla="*/ 0 w 8697142"/>
              <a:gd name="connsiteY3" fmla="*/ 966915 h 966915"/>
              <a:gd name="connsiteX4" fmla="*/ 12878 w 8697142"/>
              <a:gd name="connsiteY4" fmla="*/ 12880 h 966915"/>
              <a:gd name="connsiteX0" fmla="*/ 12878 w 8697142"/>
              <a:gd name="connsiteY0" fmla="*/ 12880 h 966916"/>
              <a:gd name="connsiteX1" fmla="*/ 8697142 w 8697142"/>
              <a:gd name="connsiteY1" fmla="*/ 0 h 966916"/>
              <a:gd name="connsiteX2" fmla="*/ 8684263 w 8697142"/>
              <a:gd name="connsiteY2" fmla="*/ 966916 h 966916"/>
              <a:gd name="connsiteX3" fmla="*/ 0 w 8697142"/>
              <a:gd name="connsiteY3" fmla="*/ 966915 h 966916"/>
              <a:gd name="connsiteX4" fmla="*/ 12878 w 8697142"/>
              <a:gd name="connsiteY4" fmla="*/ 12880 h 966916"/>
              <a:gd name="connsiteX0" fmla="*/ 0 w 8697142"/>
              <a:gd name="connsiteY0" fmla="*/ 315388 h 966916"/>
              <a:gd name="connsiteX1" fmla="*/ 8697142 w 8697142"/>
              <a:gd name="connsiteY1" fmla="*/ 0 h 966916"/>
              <a:gd name="connsiteX2" fmla="*/ 8684263 w 8697142"/>
              <a:gd name="connsiteY2" fmla="*/ 966916 h 966916"/>
              <a:gd name="connsiteX3" fmla="*/ 0 w 8697142"/>
              <a:gd name="connsiteY3" fmla="*/ 966915 h 966916"/>
              <a:gd name="connsiteX4" fmla="*/ 0 w 8697142"/>
              <a:gd name="connsiteY4" fmla="*/ 315388 h 966916"/>
              <a:gd name="connsiteX0" fmla="*/ 0 w 8697142"/>
              <a:gd name="connsiteY0" fmla="*/ 23311 h 674839"/>
              <a:gd name="connsiteX1" fmla="*/ 8697142 w 8697142"/>
              <a:gd name="connsiteY1" fmla="*/ 0 h 674839"/>
              <a:gd name="connsiteX2" fmla="*/ 8684263 w 8697142"/>
              <a:gd name="connsiteY2" fmla="*/ 674839 h 674839"/>
              <a:gd name="connsiteX3" fmla="*/ 0 w 8697142"/>
              <a:gd name="connsiteY3" fmla="*/ 674838 h 674839"/>
              <a:gd name="connsiteX4" fmla="*/ 0 w 8697142"/>
              <a:gd name="connsiteY4" fmla="*/ 23311 h 674839"/>
              <a:gd name="connsiteX0" fmla="*/ 0 w 8697142"/>
              <a:gd name="connsiteY0" fmla="*/ 0 h 651528"/>
              <a:gd name="connsiteX1" fmla="*/ 8697142 w 8697142"/>
              <a:gd name="connsiteY1" fmla="*/ 7982 h 651528"/>
              <a:gd name="connsiteX2" fmla="*/ 8684263 w 8697142"/>
              <a:gd name="connsiteY2" fmla="*/ 651528 h 651528"/>
              <a:gd name="connsiteX3" fmla="*/ 0 w 8697142"/>
              <a:gd name="connsiteY3" fmla="*/ 651527 h 651528"/>
              <a:gd name="connsiteX4" fmla="*/ 0 w 8697142"/>
              <a:gd name="connsiteY4" fmla="*/ 0 h 651528"/>
              <a:gd name="connsiteX0" fmla="*/ 0 w 8697142"/>
              <a:gd name="connsiteY0" fmla="*/ 12881 h 664409"/>
              <a:gd name="connsiteX1" fmla="*/ 8697142 w 8697142"/>
              <a:gd name="connsiteY1" fmla="*/ 0 h 664409"/>
              <a:gd name="connsiteX2" fmla="*/ 8684263 w 8697142"/>
              <a:gd name="connsiteY2" fmla="*/ 664409 h 664409"/>
              <a:gd name="connsiteX3" fmla="*/ 0 w 8697142"/>
              <a:gd name="connsiteY3" fmla="*/ 664408 h 664409"/>
              <a:gd name="connsiteX4" fmla="*/ 0 w 8697142"/>
              <a:gd name="connsiteY4" fmla="*/ 12881 h 664409"/>
              <a:gd name="connsiteX0" fmla="*/ 0 w 8697142"/>
              <a:gd name="connsiteY0" fmla="*/ 2450 h 653978"/>
              <a:gd name="connsiteX1" fmla="*/ 8697142 w 8697142"/>
              <a:gd name="connsiteY1" fmla="*/ 0 h 653978"/>
              <a:gd name="connsiteX2" fmla="*/ 8684263 w 8697142"/>
              <a:gd name="connsiteY2" fmla="*/ 653978 h 653978"/>
              <a:gd name="connsiteX3" fmla="*/ 0 w 8697142"/>
              <a:gd name="connsiteY3" fmla="*/ 653977 h 653978"/>
              <a:gd name="connsiteX4" fmla="*/ 0 w 8697142"/>
              <a:gd name="connsiteY4" fmla="*/ 2450 h 653978"/>
              <a:gd name="connsiteX0" fmla="*/ 0 w 8697142"/>
              <a:gd name="connsiteY0" fmla="*/ 2450 h 726997"/>
              <a:gd name="connsiteX1" fmla="*/ 8697142 w 8697142"/>
              <a:gd name="connsiteY1" fmla="*/ 0 h 726997"/>
              <a:gd name="connsiteX2" fmla="*/ 8684263 w 8697142"/>
              <a:gd name="connsiteY2" fmla="*/ 726997 h 726997"/>
              <a:gd name="connsiteX3" fmla="*/ 0 w 8697142"/>
              <a:gd name="connsiteY3" fmla="*/ 653977 h 726997"/>
              <a:gd name="connsiteX4" fmla="*/ 0 w 8697142"/>
              <a:gd name="connsiteY4" fmla="*/ 2450 h 726997"/>
              <a:gd name="connsiteX0" fmla="*/ 0 w 8697142"/>
              <a:gd name="connsiteY0" fmla="*/ 2450 h 726997"/>
              <a:gd name="connsiteX1" fmla="*/ 8697142 w 8697142"/>
              <a:gd name="connsiteY1" fmla="*/ 0 h 726997"/>
              <a:gd name="connsiteX2" fmla="*/ 8684263 w 8697142"/>
              <a:gd name="connsiteY2" fmla="*/ 726997 h 726997"/>
              <a:gd name="connsiteX3" fmla="*/ 0 w 8697142"/>
              <a:gd name="connsiteY3" fmla="*/ 716565 h 726997"/>
              <a:gd name="connsiteX4" fmla="*/ 0 w 8697142"/>
              <a:gd name="connsiteY4" fmla="*/ 2450 h 726997"/>
              <a:gd name="connsiteX0" fmla="*/ 0 w 8697142"/>
              <a:gd name="connsiteY0" fmla="*/ 2450 h 726997"/>
              <a:gd name="connsiteX1" fmla="*/ 8697142 w 8697142"/>
              <a:gd name="connsiteY1" fmla="*/ 0 h 726997"/>
              <a:gd name="connsiteX2" fmla="*/ 8684263 w 8697142"/>
              <a:gd name="connsiteY2" fmla="*/ 726997 h 726997"/>
              <a:gd name="connsiteX3" fmla="*/ 0 w 8697142"/>
              <a:gd name="connsiteY3" fmla="*/ 726996 h 726997"/>
              <a:gd name="connsiteX4" fmla="*/ 0 w 8697142"/>
              <a:gd name="connsiteY4" fmla="*/ 2450 h 726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7142" h="726997">
                <a:moveTo>
                  <a:pt x="0" y="2450"/>
                </a:moveTo>
                <a:lnTo>
                  <a:pt x="8697142" y="0"/>
                </a:lnTo>
                <a:lnTo>
                  <a:pt x="8684263" y="726997"/>
                </a:lnTo>
                <a:lnTo>
                  <a:pt x="0" y="726996"/>
                </a:lnTo>
                <a:lnTo>
                  <a:pt x="0" y="2450"/>
                </a:lnTo>
                <a:close/>
              </a:path>
            </a:pathLst>
          </a:custGeom>
          <a:noFill/>
        </p:spPr>
        <p:txBody>
          <a:bodyPr wrap="square" rtlCol="0">
            <a:spAutoFit/>
          </a:bodyPr>
          <a:lstStyle/>
          <a:p>
            <a:pPr marL="342900" indent="-342900">
              <a:buFont typeface="+mj-lt"/>
              <a:buAutoNum type="arabicPeriod" startAt="8"/>
            </a:pPr>
            <a:r>
              <a:rPr lang="en-GB" sz="2000" dirty="0"/>
              <a:t>Is the reaction exothermic or endothermic? Explain your answer.</a:t>
            </a:r>
          </a:p>
          <a:p>
            <a:endParaRPr lang="en-GB" dirty="0"/>
          </a:p>
          <a:p>
            <a:r>
              <a:rPr lang="en-GB" dirty="0"/>
              <a:t>       </a:t>
            </a:r>
            <a:r>
              <a:rPr lang="en-GB" dirty="0">
                <a:solidFill>
                  <a:srgbClr val="00B050"/>
                </a:solidFill>
              </a:rPr>
              <a:t>The reaction is endothermic as the overall energy change is positive.</a:t>
            </a:r>
          </a:p>
        </p:txBody>
      </p:sp>
      <p:graphicFrame>
        <p:nvGraphicFramePr>
          <p:cNvPr id="3" name="Table 2"/>
          <p:cNvGraphicFramePr>
            <a:graphicFrameLocks noGrp="1"/>
          </p:cNvGraphicFramePr>
          <p:nvPr>
            <p:extLst/>
          </p:nvPr>
        </p:nvGraphicFramePr>
        <p:xfrm>
          <a:off x="611560" y="2492896"/>
          <a:ext cx="7704856" cy="177546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gridCol w="4824536">
                  <a:extLst>
                    <a:ext uri="{9D8B030D-6E8A-4147-A177-3AD203B41FA5}">
                      <a16:colId xmlns:a16="http://schemas.microsoft.com/office/drawing/2014/main" val="20001"/>
                    </a:ext>
                  </a:extLst>
                </a:gridCol>
              </a:tblGrid>
              <a:tr h="1452115">
                <a:tc>
                  <a:txBody>
                    <a:bodyPr/>
                    <a:lstStyle/>
                    <a:p>
                      <a:pPr algn="ctr"/>
                      <a:r>
                        <a:rPr lang="en-GB" sz="1700" b="0" dirty="0">
                          <a:solidFill>
                            <a:srgbClr val="00B050"/>
                          </a:solidFill>
                        </a:rPr>
                        <a:t>F</a:t>
                      </a:r>
                      <a:r>
                        <a:rPr lang="en-GB" sz="1600" b="0" dirty="0">
                          <a:solidFill>
                            <a:srgbClr val="00B050"/>
                          </a:solidFill>
                        </a:rPr>
                        <a:t>or the reactants</a:t>
                      </a:r>
                    </a:p>
                    <a:p>
                      <a:pPr algn="ctr"/>
                      <a:r>
                        <a:rPr lang="en-GB" sz="1600" b="0" dirty="0">
                          <a:solidFill>
                            <a:srgbClr val="00B050"/>
                          </a:solidFill>
                        </a:rPr>
                        <a:t>There are three nitrogen to hydrogen bonds in each molecule and there are two molecules so</a:t>
                      </a:r>
                    </a:p>
                    <a:p>
                      <a:pPr algn="ctr"/>
                      <a:r>
                        <a:rPr lang="en-GB" sz="1600" b="0" dirty="0">
                          <a:solidFill>
                            <a:srgbClr val="00B050"/>
                          </a:solidFill>
                        </a:rPr>
                        <a:t>386kJ/</a:t>
                      </a:r>
                      <a:r>
                        <a:rPr lang="en-GB" sz="1600" b="0" dirty="0" err="1">
                          <a:solidFill>
                            <a:srgbClr val="00B050"/>
                          </a:solidFill>
                        </a:rPr>
                        <a:t>mol</a:t>
                      </a:r>
                      <a:r>
                        <a:rPr lang="en-GB" sz="1600" b="0" dirty="0">
                          <a:solidFill>
                            <a:srgbClr val="00B050"/>
                          </a:solidFill>
                        </a:rPr>
                        <a:t> x 6 = </a:t>
                      </a:r>
                      <a:r>
                        <a:rPr lang="en-GB" sz="1600" b="1" dirty="0">
                          <a:solidFill>
                            <a:srgbClr val="00B050"/>
                          </a:solidFill>
                        </a:rPr>
                        <a:t>2,316kJ/</a:t>
                      </a:r>
                      <a:r>
                        <a:rPr lang="en-GB" sz="1600" b="1" dirty="0" err="1">
                          <a:solidFill>
                            <a:srgbClr val="00B050"/>
                          </a:solidFill>
                        </a:rPr>
                        <a:t>mol</a:t>
                      </a:r>
                      <a:endParaRPr lang="en-GB" sz="1600" b="1" dirty="0">
                        <a:solidFill>
                          <a:srgbClr val="00B050"/>
                        </a:solidFill>
                      </a:endParaRPr>
                    </a:p>
                    <a:p>
                      <a:endParaRPr lang="en-GB" dirty="0">
                        <a:solidFill>
                          <a:schemeClr val="accent6"/>
                        </a:solidFill>
                      </a:endParaRPr>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GB" sz="1600" b="0" dirty="0">
                          <a:solidFill>
                            <a:srgbClr val="00B050"/>
                          </a:solidFill>
                        </a:rPr>
                        <a:t>For the products</a:t>
                      </a:r>
                    </a:p>
                    <a:p>
                      <a:pPr algn="ctr"/>
                      <a:r>
                        <a:rPr lang="en-GB" sz="1600" b="0" dirty="0">
                          <a:solidFill>
                            <a:srgbClr val="00B050"/>
                          </a:solidFill>
                        </a:rPr>
                        <a:t>There are three hydrogen to hydrogen bonds      (432kJ/</a:t>
                      </a:r>
                      <a:r>
                        <a:rPr lang="en-GB" sz="1600" b="0" dirty="0" err="1">
                          <a:solidFill>
                            <a:srgbClr val="00B050"/>
                          </a:solidFill>
                        </a:rPr>
                        <a:t>mol</a:t>
                      </a:r>
                      <a:r>
                        <a:rPr lang="en-GB" sz="1600" b="0" dirty="0">
                          <a:solidFill>
                            <a:srgbClr val="00B050"/>
                          </a:solidFill>
                        </a:rPr>
                        <a:t>)</a:t>
                      </a:r>
                      <a:r>
                        <a:rPr lang="en-GB" sz="1600" b="0" baseline="0" dirty="0">
                          <a:solidFill>
                            <a:srgbClr val="00B050"/>
                          </a:solidFill>
                        </a:rPr>
                        <a:t> and one nitrogen to nitrogen triple bond </a:t>
                      </a:r>
                      <a:r>
                        <a:rPr lang="en-GB" sz="1600" b="0" dirty="0">
                          <a:solidFill>
                            <a:srgbClr val="00B050"/>
                          </a:solidFill>
                        </a:rPr>
                        <a:t> so </a:t>
                      </a:r>
                    </a:p>
                    <a:p>
                      <a:pPr algn="ctr"/>
                      <a:r>
                        <a:rPr lang="en-GB" sz="1600" b="0" dirty="0">
                          <a:solidFill>
                            <a:srgbClr val="00B050"/>
                          </a:solidFill>
                        </a:rPr>
                        <a:t>3 x 432kJ/</a:t>
                      </a:r>
                      <a:r>
                        <a:rPr lang="en-GB" sz="1600" b="0" dirty="0" err="1">
                          <a:solidFill>
                            <a:srgbClr val="00B050"/>
                          </a:solidFill>
                        </a:rPr>
                        <a:t>mol</a:t>
                      </a:r>
                      <a:r>
                        <a:rPr lang="en-GB" sz="1600" b="0" dirty="0">
                          <a:solidFill>
                            <a:srgbClr val="00B050"/>
                          </a:solidFill>
                        </a:rPr>
                        <a:t> + 942kJ/</a:t>
                      </a:r>
                      <a:r>
                        <a:rPr lang="en-GB" sz="1600" b="0" dirty="0" err="1">
                          <a:solidFill>
                            <a:srgbClr val="00B050"/>
                          </a:solidFill>
                        </a:rPr>
                        <a:t>mol</a:t>
                      </a:r>
                      <a:r>
                        <a:rPr lang="en-GB" sz="1600" b="0" dirty="0">
                          <a:solidFill>
                            <a:srgbClr val="00B050"/>
                          </a:solidFill>
                        </a:rPr>
                        <a:t> </a:t>
                      </a:r>
                    </a:p>
                    <a:p>
                      <a:pPr algn="ctr"/>
                      <a:r>
                        <a:rPr lang="en-GB" sz="1600" b="0" dirty="0">
                          <a:solidFill>
                            <a:srgbClr val="00B050"/>
                          </a:solidFill>
                        </a:rPr>
                        <a:t>= </a:t>
                      </a:r>
                      <a:r>
                        <a:rPr lang="en-GB" sz="1600" b="1" dirty="0">
                          <a:solidFill>
                            <a:srgbClr val="00B050"/>
                          </a:solidFill>
                        </a:rPr>
                        <a:t>2,238kJ/</a:t>
                      </a:r>
                      <a:r>
                        <a:rPr lang="en-GB" sz="1600" b="1" dirty="0" err="1">
                          <a:solidFill>
                            <a:srgbClr val="00B050"/>
                          </a:solidFill>
                        </a:rPr>
                        <a:t>mol</a:t>
                      </a:r>
                      <a:endParaRPr lang="en-GB" sz="1600" b="1" dirty="0">
                        <a:solidFill>
                          <a:srgbClr val="00B050"/>
                        </a:solidFill>
                      </a:endParaRPr>
                    </a:p>
                    <a:p>
                      <a:endParaRPr lang="en-GB" dirty="0">
                        <a:solidFill>
                          <a:schemeClr val="accent6"/>
                        </a:solidFill>
                      </a:endParaRPr>
                    </a:p>
                  </a:txBody>
                  <a:tcPr>
                    <a:lnL w="12700" cap="flat" cmpd="sng" algn="ctr">
                      <a:noFill/>
                      <a:prstDash val="solid"/>
                      <a:round/>
                      <a:headEnd type="none" w="med" len="med"/>
                      <a:tailEnd type="none" w="med" len="med"/>
                    </a:lnL>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1434704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4708981"/>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600" b="1" dirty="0">
                <a:solidFill>
                  <a:schemeClr val="tx1">
                    <a:lumMod val="50000"/>
                    <a:lumOff val="50000"/>
                  </a:schemeClr>
                </a:solidFill>
              </a:rPr>
              <a:t>Energy Changes</a:t>
            </a:r>
          </a:p>
          <a:p>
            <a:r>
              <a:rPr lang="en-GB" sz="3600" b="1" dirty="0">
                <a:solidFill>
                  <a:schemeClr val="tx1">
                    <a:lumMod val="50000"/>
                    <a:lumOff val="50000"/>
                  </a:schemeClr>
                </a:solidFill>
              </a:rPr>
              <a:t>Part 3 </a:t>
            </a:r>
          </a:p>
          <a:p>
            <a:pPr marL="457200" indent="-457200">
              <a:buFont typeface="Arial" charset="0"/>
              <a:buChar char="•"/>
            </a:pPr>
            <a:r>
              <a:rPr lang="en-US" sz="2400" b="1" dirty="0">
                <a:solidFill>
                  <a:schemeClr val="tx1">
                    <a:lumMod val="50000"/>
                    <a:lumOff val="50000"/>
                  </a:schemeClr>
                </a:solidFill>
              </a:rPr>
              <a:t>Activation energy</a:t>
            </a:r>
          </a:p>
          <a:p>
            <a:pPr marL="457200" indent="-457200">
              <a:buFont typeface="Arial" charset="0"/>
              <a:buChar char="•"/>
            </a:pPr>
            <a:r>
              <a:rPr lang="en-US" sz="2400" b="1" dirty="0">
                <a:solidFill>
                  <a:schemeClr val="tx1">
                    <a:lumMod val="50000"/>
                    <a:lumOff val="50000"/>
                  </a:schemeClr>
                </a:solidFill>
              </a:rPr>
              <a:t>Reaction profiles</a:t>
            </a: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17985084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Energy Changes part 2 – Reaction profiles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264398" y="769970"/>
            <a:ext cx="8628082" cy="707886"/>
          </a:xfrm>
          <a:custGeom>
            <a:avLst/>
            <a:gdLst>
              <a:gd name="connsiteX0" fmla="*/ 0 w 8640960"/>
              <a:gd name="connsiteY0" fmla="*/ 0 h 830997"/>
              <a:gd name="connsiteX1" fmla="*/ 8640960 w 8640960"/>
              <a:gd name="connsiteY1" fmla="*/ 0 h 830997"/>
              <a:gd name="connsiteX2" fmla="*/ 8640960 w 8640960"/>
              <a:gd name="connsiteY2" fmla="*/ 830997 h 830997"/>
              <a:gd name="connsiteX3" fmla="*/ 0 w 8640960"/>
              <a:gd name="connsiteY3" fmla="*/ 830997 h 830997"/>
              <a:gd name="connsiteX4" fmla="*/ 0 w 8640960"/>
              <a:gd name="connsiteY4" fmla="*/ 0 h 830997"/>
              <a:gd name="connsiteX0" fmla="*/ 12878 w 8640960"/>
              <a:gd name="connsiteY0" fmla="*/ 90152 h 830997"/>
              <a:gd name="connsiteX1" fmla="*/ 8640960 w 8640960"/>
              <a:gd name="connsiteY1" fmla="*/ 0 h 830997"/>
              <a:gd name="connsiteX2" fmla="*/ 8640960 w 8640960"/>
              <a:gd name="connsiteY2" fmla="*/ 830997 h 830997"/>
              <a:gd name="connsiteX3" fmla="*/ 0 w 8640960"/>
              <a:gd name="connsiteY3" fmla="*/ 830997 h 830997"/>
              <a:gd name="connsiteX4" fmla="*/ 12878 w 8640960"/>
              <a:gd name="connsiteY4" fmla="*/ 90152 h 830997"/>
              <a:gd name="connsiteX0" fmla="*/ 12878 w 8640960"/>
              <a:gd name="connsiteY0" fmla="*/ 25757 h 766602"/>
              <a:gd name="connsiteX1" fmla="*/ 8640960 w 8640960"/>
              <a:gd name="connsiteY1" fmla="*/ 0 h 766602"/>
              <a:gd name="connsiteX2" fmla="*/ 8640960 w 8640960"/>
              <a:gd name="connsiteY2" fmla="*/ 766602 h 766602"/>
              <a:gd name="connsiteX3" fmla="*/ 0 w 8640960"/>
              <a:gd name="connsiteY3" fmla="*/ 766602 h 766602"/>
              <a:gd name="connsiteX4" fmla="*/ 12878 w 8640960"/>
              <a:gd name="connsiteY4" fmla="*/ 25757 h 766602"/>
              <a:gd name="connsiteX0" fmla="*/ 12878 w 8640960"/>
              <a:gd name="connsiteY0" fmla="*/ 12879 h 753724"/>
              <a:gd name="connsiteX1" fmla="*/ 8640960 w 8640960"/>
              <a:gd name="connsiteY1" fmla="*/ 0 h 753724"/>
              <a:gd name="connsiteX2" fmla="*/ 8640960 w 8640960"/>
              <a:gd name="connsiteY2" fmla="*/ 753724 h 753724"/>
              <a:gd name="connsiteX3" fmla="*/ 0 w 8640960"/>
              <a:gd name="connsiteY3" fmla="*/ 753724 h 753724"/>
              <a:gd name="connsiteX4" fmla="*/ 12878 w 8640960"/>
              <a:gd name="connsiteY4" fmla="*/ 12879 h 753724"/>
              <a:gd name="connsiteX0" fmla="*/ 0 w 8628082"/>
              <a:gd name="connsiteY0" fmla="*/ 12879 h 753724"/>
              <a:gd name="connsiteX1" fmla="*/ 8628082 w 8628082"/>
              <a:gd name="connsiteY1" fmla="*/ 0 h 753724"/>
              <a:gd name="connsiteX2" fmla="*/ 8628082 w 8628082"/>
              <a:gd name="connsiteY2" fmla="*/ 753724 h 753724"/>
              <a:gd name="connsiteX3" fmla="*/ 0 w 8628082"/>
              <a:gd name="connsiteY3" fmla="*/ 753724 h 753724"/>
              <a:gd name="connsiteX4" fmla="*/ 0 w 8628082"/>
              <a:gd name="connsiteY4" fmla="*/ 12879 h 75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8082" h="753724">
                <a:moveTo>
                  <a:pt x="0" y="12879"/>
                </a:moveTo>
                <a:lnTo>
                  <a:pt x="8628082" y="0"/>
                </a:lnTo>
                <a:lnTo>
                  <a:pt x="8628082" y="753724"/>
                </a:lnTo>
                <a:lnTo>
                  <a:pt x="0" y="753724"/>
                </a:lnTo>
                <a:lnTo>
                  <a:pt x="0" y="12879"/>
                </a:lnTo>
                <a:close/>
              </a:path>
            </a:pathLst>
          </a:custGeom>
          <a:noFill/>
          <a:ln w="28575">
            <a:solidFill>
              <a:schemeClr val="accent6"/>
            </a:solidFill>
          </a:ln>
        </p:spPr>
        <p:txBody>
          <a:bodyPr wrap="square" rtlCol="0">
            <a:spAutoFit/>
          </a:bodyPr>
          <a:lstStyle/>
          <a:p>
            <a:pPr algn="ctr"/>
            <a:r>
              <a:rPr lang="en-GB" sz="2000" b="1" dirty="0"/>
              <a:t>Chemical reactions can only occur when reacting particles collide with each other </a:t>
            </a:r>
            <a:r>
              <a:rPr lang="en-GB" sz="2000" b="1" dirty="0">
                <a:solidFill>
                  <a:schemeClr val="accent6">
                    <a:lumMod val="75000"/>
                  </a:schemeClr>
                </a:solidFill>
              </a:rPr>
              <a:t>with</a:t>
            </a:r>
            <a:r>
              <a:rPr lang="en-GB" sz="2000" b="1" dirty="0"/>
              <a:t> sufficient energy.</a:t>
            </a:r>
          </a:p>
        </p:txBody>
      </p:sp>
      <p:sp>
        <p:nvSpPr>
          <p:cNvPr id="7" name="TextBox 6"/>
          <p:cNvSpPr txBox="1"/>
          <p:nvPr/>
        </p:nvSpPr>
        <p:spPr>
          <a:xfrm>
            <a:off x="241394" y="3031852"/>
            <a:ext cx="8610498" cy="707886"/>
          </a:xfrm>
          <a:custGeom>
            <a:avLst/>
            <a:gdLst>
              <a:gd name="connsiteX0" fmla="*/ 0 w 8640960"/>
              <a:gd name="connsiteY0" fmla="*/ 0 h 461665"/>
              <a:gd name="connsiteX1" fmla="*/ 8640960 w 8640960"/>
              <a:gd name="connsiteY1" fmla="*/ 0 h 461665"/>
              <a:gd name="connsiteX2" fmla="*/ 8640960 w 8640960"/>
              <a:gd name="connsiteY2" fmla="*/ 461665 h 461665"/>
              <a:gd name="connsiteX3" fmla="*/ 0 w 8640960"/>
              <a:gd name="connsiteY3" fmla="*/ 461665 h 461665"/>
              <a:gd name="connsiteX4" fmla="*/ 0 w 8640960"/>
              <a:gd name="connsiteY4" fmla="*/ 0 h 461665"/>
              <a:gd name="connsiteX0" fmla="*/ 0 w 8640960"/>
              <a:gd name="connsiteY0" fmla="*/ 128789 h 461665"/>
              <a:gd name="connsiteX1" fmla="*/ 8640960 w 8640960"/>
              <a:gd name="connsiteY1" fmla="*/ 0 h 461665"/>
              <a:gd name="connsiteX2" fmla="*/ 8640960 w 8640960"/>
              <a:gd name="connsiteY2" fmla="*/ 461665 h 461665"/>
              <a:gd name="connsiteX3" fmla="*/ 0 w 8640960"/>
              <a:gd name="connsiteY3" fmla="*/ 461665 h 461665"/>
              <a:gd name="connsiteX4" fmla="*/ 0 w 8640960"/>
              <a:gd name="connsiteY4" fmla="*/ 128789 h 461665"/>
              <a:gd name="connsiteX0" fmla="*/ 0 w 8640960"/>
              <a:gd name="connsiteY0" fmla="*/ 0 h 332876"/>
              <a:gd name="connsiteX1" fmla="*/ 8628081 w 8640960"/>
              <a:gd name="connsiteY1" fmla="*/ 0 h 332876"/>
              <a:gd name="connsiteX2" fmla="*/ 8640960 w 8640960"/>
              <a:gd name="connsiteY2" fmla="*/ 332876 h 332876"/>
              <a:gd name="connsiteX3" fmla="*/ 0 w 8640960"/>
              <a:gd name="connsiteY3" fmla="*/ 332876 h 332876"/>
              <a:gd name="connsiteX4" fmla="*/ 0 w 8640960"/>
              <a:gd name="connsiteY4" fmla="*/ 0 h 332876"/>
              <a:gd name="connsiteX0" fmla="*/ 0 w 8640960"/>
              <a:gd name="connsiteY0" fmla="*/ 0 h 680606"/>
              <a:gd name="connsiteX1" fmla="*/ 8628081 w 8640960"/>
              <a:gd name="connsiteY1" fmla="*/ 0 h 680606"/>
              <a:gd name="connsiteX2" fmla="*/ 8640960 w 8640960"/>
              <a:gd name="connsiteY2" fmla="*/ 332876 h 680606"/>
              <a:gd name="connsiteX3" fmla="*/ 0 w 8640960"/>
              <a:gd name="connsiteY3" fmla="*/ 680606 h 680606"/>
              <a:gd name="connsiteX4" fmla="*/ 0 w 8640960"/>
              <a:gd name="connsiteY4" fmla="*/ 0 h 680606"/>
              <a:gd name="connsiteX0" fmla="*/ 0 w 8640960"/>
              <a:gd name="connsiteY0" fmla="*/ 0 h 680606"/>
              <a:gd name="connsiteX1" fmla="*/ 8628081 w 8640960"/>
              <a:gd name="connsiteY1" fmla="*/ 0 h 680606"/>
              <a:gd name="connsiteX2" fmla="*/ 8640960 w 8640960"/>
              <a:gd name="connsiteY2" fmla="*/ 654848 h 680606"/>
              <a:gd name="connsiteX3" fmla="*/ 0 w 8640960"/>
              <a:gd name="connsiteY3" fmla="*/ 680606 h 680606"/>
              <a:gd name="connsiteX4" fmla="*/ 0 w 8640960"/>
              <a:gd name="connsiteY4" fmla="*/ 0 h 680606"/>
              <a:gd name="connsiteX0" fmla="*/ 0 w 8628082"/>
              <a:gd name="connsiteY0" fmla="*/ 0 h 680606"/>
              <a:gd name="connsiteX1" fmla="*/ 8628081 w 8628082"/>
              <a:gd name="connsiteY1" fmla="*/ 0 h 680606"/>
              <a:gd name="connsiteX2" fmla="*/ 8628082 w 8628082"/>
              <a:gd name="connsiteY2" fmla="*/ 680606 h 680606"/>
              <a:gd name="connsiteX3" fmla="*/ 0 w 8628082"/>
              <a:gd name="connsiteY3" fmla="*/ 680606 h 680606"/>
              <a:gd name="connsiteX4" fmla="*/ 0 w 8628082"/>
              <a:gd name="connsiteY4" fmla="*/ 0 h 680606"/>
              <a:gd name="connsiteX0" fmla="*/ 9236 w 8637318"/>
              <a:gd name="connsiteY0" fmla="*/ 0 h 1240073"/>
              <a:gd name="connsiteX1" fmla="*/ 8637317 w 8637318"/>
              <a:gd name="connsiteY1" fmla="*/ 0 h 1240073"/>
              <a:gd name="connsiteX2" fmla="*/ 8637318 w 8637318"/>
              <a:gd name="connsiteY2" fmla="*/ 680606 h 1240073"/>
              <a:gd name="connsiteX3" fmla="*/ 0 w 8637318"/>
              <a:gd name="connsiteY3" fmla="*/ 1240073 h 1240073"/>
              <a:gd name="connsiteX4" fmla="*/ 9236 w 8637318"/>
              <a:gd name="connsiteY4" fmla="*/ 0 h 1240073"/>
              <a:gd name="connsiteX0" fmla="*/ 9236 w 8637317"/>
              <a:gd name="connsiteY0" fmla="*/ 0 h 1248952"/>
              <a:gd name="connsiteX1" fmla="*/ 8637317 w 8637317"/>
              <a:gd name="connsiteY1" fmla="*/ 0 h 1248952"/>
              <a:gd name="connsiteX2" fmla="*/ 8609609 w 8637317"/>
              <a:gd name="connsiteY2" fmla="*/ 1248952 h 1248952"/>
              <a:gd name="connsiteX3" fmla="*/ 0 w 8637317"/>
              <a:gd name="connsiteY3" fmla="*/ 1240073 h 1248952"/>
              <a:gd name="connsiteX4" fmla="*/ 9236 w 8637317"/>
              <a:gd name="connsiteY4" fmla="*/ 0 h 1248952"/>
              <a:gd name="connsiteX0" fmla="*/ 9236 w 8609609"/>
              <a:gd name="connsiteY0" fmla="*/ 0 h 1248952"/>
              <a:gd name="connsiteX1" fmla="*/ 8591136 w 8609609"/>
              <a:gd name="connsiteY1" fmla="*/ 532825 h 1248952"/>
              <a:gd name="connsiteX2" fmla="*/ 8609609 w 8609609"/>
              <a:gd name="connsiteY2" fmla="*/ 1248952 h 1248952"/>
              <a:gd name="connsiteX3" fmla="*/ 0 w 8609609"/>
              <a:gd name="connsiteY3" fmla="*/ 1240073 h 1248952"/>
              <a:gd name="connsiteX4" fmla="*/ 9236 w 8609609"/>
              <a:gd name="connsiteY4" fmla="*/ 0 h 1248952"/>
              <a:gd name="connsiteX0" fmla="*/ 9236 w 8609609"/>
              <a:gd name="connsiteY0" fmla="*/ 0 h 751649"/>
              <a:gd name="connsiteX1" fmla="*/ 8591136 w 8609609"/>
              <a:gd name="connsiteY1" fmla="*/ 35522 h 751649"/>
              <a:gd name="connsiteX2" fmla="*/ 8609609 w 8609609"/>
              <a:gd name="connsiteY2" fmla="*/ 751649 h 751649"/>
              <a:gd name="connsiteX3" fmla="*/ 0 w 8609609"/>
              <a:gd name="connsiteY3" fmla="*/ 742770 h 751649"/>
              <a:gd name="connsiteX4" fmla="*/ 9236 w 8609609"/>
              <a:gd name="connsiteY4" fmla="*/ 0 h 751649"/>
              <a:gd name="connsiteX0" fmla="*/ 888 w 8610498"/>
              <a:gd name="connsiteY0" fmla="*/ 0 h 716128"/>
              <a:gd name="connsiteX1" fmla="*/ 8592025 w 8610498"/>
              <a:gd name="connsiteY1" fmla="*/ 1 h 716128"/>
              <a:gd name="connsiteX2" fmla="*/ 8610498 w 8610498"/>
              <a:gd name="connsiteY2" fmla="*/ 716128 h 716128"/>
              <a:gd name="connsiteX3" fmla="*/ 889 w 8610498"/>
              <a:gd name="connsiteY3" fmla="*/ 707249 h 716128"/>
              <a:gd name="connsiteX4" fmla="*/ 888 w 8610498"/>
              <a:gd name="connsiteY4" fmla="*/ 0 h 716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10498" h="716128">
                <a:moveTo>
                  <a:pt x="888" y="0"/>
                </a:moveTo>
                <a:lnTo>
                  <a:pt x="8592025" y="1"/>
                </a:lnTo>
                <a:cubicBezTo>
                  <a:pt x="8592025" y="226870"/>
                  <a:pt x="8610498" y="489259"/>
                  <a:pt x="8610498" y="716128"/>
                </a:cubicBezTo>
                <a:lnTo>
                  <a:pt x="889" y="707249"/>
                </a:lnTo>
                <a:cubicBezTo>
                  <a:pt x="3968" y="293891"/>
                  <a:pt x="-2191" y="413358"/>
                  <a:pt x="888" y="0"/>
                </a:cubicBezTo>
                <a:close/>
              </a:path>
            </a:pathLst>
          </a:custGeom>
          <a:noFill/>
          <a:ln w="28575">
            <a:solidFill>
              <a:schemeClr val="accent6"/>
            </a:solidFill>
          </a:ln>
        </p:spPr>
        <p:txBody>
          <a:bodyPr wrap="square" rtlCol="0">
            <a:spAutoFit/>
          </a:bodyPr>
          <a:lstStyle/>
          <a:p>
            <a:pPr algn="ctr"/>
            <a:r>
              <a:rPr lang="en-GB" sz="2000" b="1" dirty="0"/>
              <a:t>The </a:t>
            </a:r>
            <a:r>
              <a:rPr lang="en-GB" sz="2000" b="1" dirty="0">
                <a:solidFill>
                  <a:schemeClr val="accent6">
                    <a:lumMod val="75000"/>
                  </a:schemeClr>
                </a:solidFill>
              </a:rPr>
              <a:t>minimum</a:t>
            </a:r>
            <a:r>
              <a:rPr lang="en-GB" sz="2000" b="1" dirty="0"/>
              <a:t> amount of energy that particles must have to react is called the </a:t>
            </a:r>
            <a:r>
              <a:rPr lang="en-GB" sz="2000" b="1" dirty="0">
                <a:solidFill>
                  <a:schemeClr val="accent6">
                    <a:lumMod val="75000"/>
                  </a:schemeClr>
                </a:solidFill>
              </a:rPr>
              <a:t>activation energy</a:t>
            </a:r>
          </a:p>
        </p:txBody>
      </p:sp>
      <p:sp>
        <p:nvSpPr>
          <p:cNvPr id="3" name="TextBox 2"/>
          <p:cNvSpPr txBox="1"/>
          <p:nvPr/>
        </p:nvSpPr>
        <p:spPr>
          <a:xfrm>
            <a:off x="251520" y="5330581"/>
            <a:ext cx="6777988" cy="1114041"/>
          </a:xfrm>
          <a:custGeom>
            <a:avLst/>
            <a:gdLst>
              <a:gd name="connsiteX0" fmla="*/ 0 w 6768752"/>
              <a:gd name="connsiteY0" fmla="*/ 0 h 1477328"/>
              <a:gd name="connsiteX1" fmla="*/ 6768752 w 6768752"/>
              <a:gd name="connsiteY1" fmla="*/ 0 h 1477328"/>
              <a:gd name="connsiteX2" fmla="*/ 6768752 w 6768752"/>
              <a:gd name="connsiteY2" fmla="*/ 1477328 h 1477328"/>
              <a:gd name="connsiteX3" fmla="*/ 0 w 6768752"/>
              <a:gd name="connsiteY3" fmla="*/ 1477328 h 1477328"/>
              <a:gd name="connsiteX4" fmla="*/ 0 w 6768752"/>
              <a:gd name="connsiteY4" fmla="*/ 0 h 1477328"/>
              <a:gd name="connsiteX0" fmla="*/ 0 w 6781631"/>
              <a:gd name="connsiteY0" fmla="*/ 115909 h 1477328"/>
              <a:gd name="connsiteX1" fmla="*/ 6781631 w 6781631"/>
              <a:gd name="connsiteY1" fmla="*/ 0 h 1477328"/>
              <a:gd name="connsiteX2" fmla="*/ 6781631 w 6781631"/>
              <a:gd name="connsiteY2" fmla="*/ 1477328 h 1477328"/>
              <a:gd name="connsiteX3" fmla="*/ 12879 w 6781631"/>
              <a:gd name="connsiteY3" fmla="*/ 1477328 h 1477328"/>
              <a:gd name="connsiteX4" fmla="*/ 0 w 6781631"/>
              <a:gd name="connsiteY4" fmla="*/ 115909 h 1477328"/>
              <a:gd name="connsiteX0" fmla="*/ 0 w 6781631"/>
              <a:gd name="connsiteY0" fmla="*/ 0 h 1361419"/>
              <a:gd name="connsiteX1" fmla="*/ 6781631 w 6781631"/>
              <a:gd name="connsiteY1" fmla="*/ 25759 h 1361419"/>
              <a:gd name="connsiteX2" fmla="*/ 6781631 w 6781631"/>
              <a:gd name="connsiteY2" fmla="*/ 1361419 h 1361419"/>
              <a:gd name="connsiteX3" fmla="*/ 12879 w 6781631"/>
              <a:gd name="connsiteY3" fmla="*/ 1361419 h 1361419"/>
              <a:gd name="connsiteX4" fmla="*/ 0 w 6781631"/>
              <a:gd name="connsiteY4" fmla="*/ 0 h 1361419"/>
              <a:gd name="connsiteX0" fmla="*/ 0 w 6781631"/>
              <a:gd name="connsiteY0" fmla="*/ 0 h 1361419"/>
              <a:gd name="connsiteX1" fmla="*/ 6781631 w 6781631"/>
              <a:gd name="connsiteY1" fmla="*/ 1 h 1361419"/>
              <a:gd name="connsiteX2" fmla="*/ 6781631 w 6781631"/>
              <a:gd name="connsiteY2" fmla="*/ 1361419 h 1361419"/>
              <a:gd name="connsiteX3" fmla="*/ 12879 w 6781631"/>
              <a:gd name="connsiteY3" fmla="*/ 1361419 h 1361419"/>
              <a:gd name="connsiteX4" fmla="*/ 0 w 6781631"/>
              <a:gd name="connsiteY4" fmla="*/ 0 h 1361419"/>
              <a:gd name="connsiteX0" fmla="*/ 0 w 6768752"/>
              <a:gd name="connsiteY0" fmla="*/ 0 h 1361419"/>
              <a:gd name="connsiteX1" fmla="*/ 6768752 w 6768752"/>
              <a:gd name="connsiteY1" fmla="*/ 1 h 1361419"/>
              <a:gd name="connsiteX2" fmla="*/ 6768752 w 6768752"/>
              <a:gd name="connsiteY2" fmla="*/ 1361419 h 1361419"/>
              <a:gd name="connsiteX3" fmla="*/ 0 w 6768752"/>
              <a:gd name="connsiteY3" fmla="*/ 1361419 h 1361419"/>
              <a:gd name="connsiteX4" fmla="*/ 0 w 6768752"/>
              <a:gd name="connsiteY4" fmla="*/ 0 h 1361419"/>
              <a:gd name="connsiteX0" fmla="*/ 0 w 6768752"/>
              <a:gd name="connsiteY0" fmla="*/ 69541 h 1361418"/>
              <a:gd name="connsiteX1" fmla="*/ 6768752 w 6768752"/>
              <a:gd name="connsiteY1" fmla="*/ 0 h 1361418"/>
              <a:gd name="connsiteX2" fmla="*/ 6768752 w 6768752"/>
              <a:gd name="connsiteY2" fmla="*/ 1361418 h 1361418"/>
              <a:gd name="connsiteX3" fmla="*/ 0 w 6768752"/>
              <a:gd name="connsiteY3" fmla="*/ 1361418 h 1361418"/>
              <a:gd name="connsiteX4" fmla="*/ 0 w 6768752"/>
              <a:gd name="connsiteY4" fmla="*/ 69541 h 1361418"/>
              <a:gd name="connsiteX0" fmla="*/ 0 w 6768752"/>
              <a:gd name="connsiteY0" fmla="*/ 0 h 1291877"/>
              <a:gd name="connsiteX1" fmla="*/ 6768752 w 6768752"/>
              <a:gd name="connsiteY1" fmla="*/ 8694 h 1291877"/>
              <a:gd name="connsiteX2" fmla="*/ 6768752 w 6768752"/>
              <a:gd name="connsiteY2" fmla="*/ 1291877 h 1291877"/>
              <a:gd name="connsiteX3" fmla="*/ 0 w 6768752"/>
              <a:gd name="connsiteY3" fmla="*/ 1291877 h 1291877"/>
              <a:gd name="connsiteX4" fmla="*/ 0 w 6768752"/>
              <a:gd name="connsiteY4" fmla="*/ 0 h 1291877"/>
              <a:gd name="connsiteX0" fmla="*/ 9237 w 6768752"/>
              <a:gd name="connsiteY0" fmla="*/ 382482 h 1283183"/>
              <a:gd name="connsiteX1" fmla="*/ 6768752 w 6768752"/>
              <a:gd name="connsiteY1" fmla="*/ 0 h 1283183"/>
              <a:gd name="connsiteX2" fmla="*/ 6768752 w 6768752"/>
              <a:gd name="connsiteY2" fmla="*/ 1283183 h 1283183"/>
              <a:gd name="connsiteX3" fmla="*/ 0 w 6768752"/>
              <a:gd name="connsiteY3" fmla="*/ 1283183 h 1283183"/>
              <a:gd name="connsiteX4" fmla="*/ 9237 w 6768752"/>
              <a:gd name="connsiteY4" fmla="*/ 382482 h 1283183"/>
              <a:gd name="connsiteX0" fmla="*/ 9237 w 6768752"/>
              <a:gd name="connsiteY0" fmla="*/ 0 h 900701"/>
              <a:gd name="connsiteX1" fmla="*/ 6768752 w 6768752"/>
              <a:gd name="connsiteY1" fmla="*/ 34773 h 900701"/>
              <a:gd name="connsiteX2" fmla="*/ 6768752 w 6768752"/>
              <a:gd name="connsiteY2" fmla="*/ 900701 h 900701"/>
              <a:gd name="connsiteX3" fmla="*/ 0 w 6768752"/>
              <a:gd name="connsiteY3" fmla="*/ 900701 h 900701"/>
              <a:gd name="connsiteX4" fmla="*/ 9237 w 6768752"/>
              <a:gd name="connsiteY4" fmla="*/ 0 h 900701"/>
              <a:gd name="connsiteX0" fmla="*/ 9237 w 6768752"/>
              <a:gd name="connsiteY0" fmla="*/ 0 h 900701"/>
              <a:gd name="connsiteX1" fmla="*/ 6768752 w 6768752"/>
              <a:gd name="connsiteY1" fmla="*/ 17387 h 900701"/>
              <a:gd name="connsiteX2" fmla="*/ 6768752 w 6768752"/>
              <a:gd name="connsiteY2" fmla="*/ 900701 h 900701"/>
              <a:gd name="connsiteX3" fmla="*/ 0 w 6768752"/>
              <a:gd name="connsiteY3" fmla="*/ 900701 h 900701"/>
              <a:gd name="connsiteX4" fmla="*/ 9237 w 6768752"/>
              <a:gd name="connsiteY4" fmla="*/ 0 h 900701"/>
              <a:gd name="connsiteX0" fmla="*/ 9237 w 6768752"/>
              <a:gd name="connsiteY0" fmla="*/ 0 h 900701"/>
              <a:gd name="connsiteX1" fmla="*/ 6768752 w 6768752"/>
              <a:gd name="connsiteY1" fmla="*/ 8693 h 900701"/>
              <a:gd name="connsiteX2" fmla="*/ 6768752 w 6768752"/>
              <a:gd name="connsiteY2" fmla="*/ 900701 h 900701"/>
              <a:gd name="connsiteX3" fmla="*/ 0 w 6768752"/>
              <a:gd name="connsiteY3" fmla="*/ 900701 h 900701"/>
              <a:gd name="connsiteX4" fmla="*/ 9237 w 6768752"/>
              <a:gd name="connsiteY4" fmla="*/ 0 h 900701"/>
              <a:gd name="connsiteX0" fmla="*/ 9237 w 6777988"/>
              <a:gd name="connsiteY0" fmla="*/ 0 h 1048478"/>
              <a:gd name="connsiteX1" fmla="*/ 6768752 w 6777988"/>
              <a:gd name="connsiteY1" fmla="*/ 8693 h 1048478"/>
              <a:gd name="connsiteX2" fmla="*/ 6777988 w 6777988"/>
              <a:gd name="connsiteY2" fmla="*/ 1048478 h 1048478"/>
              <a:gd name="connsiteX3" fmla="*/ 0 w 6777988"/>
              <a:gd name="connsiteY3" fmla="*/ 900701 h 1048478"/>
              <a:gd name="connsiteX4" fmla="*/ 9237 w 6777988"/>
              <a:gd name="connsiteY4" fmla="*/ 0 h 1048478"/>
              <a:gd name="connsiteX0" fmla="*/ 9237 w 6777988"/>
              <a:gd name="connsiteY0" fmla="*/ 0 h 1048478"/>
              <a:gd name="connsiteX1" fmla="*/ 6768752 w 6777988"/>
              <a:gd name="connsiteY1" fmla="*/ 8693 h 1048478"/>
              <a:gd name="connsiteX2" fmla="*/ 6777988 w 6777988"/>
              <a:gd name="connsiteY2" fmla="*/ 1048478 h 1048478"/>
              <a:gd name="connsiteX3" fmla="*/ 0 w 6777988"/>
              <a:gd name="connsiteY3" fmla="*/ 1013706 h 1048478"/>
              <a:gd name="connsiteX4" fmla="*/ 9237 w 6777988"/>
              <a:gd name="connsiteY4" fmla="*/ 0 h 104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7988" h="1048478">
                <a:moveTo>
                  <a:pt x="9237" y="0"/>
                </a:moveTo>
                <a:lnTo>
                  <a:pt x="6768752" y="8693"/>
                </a:lnTo>
                <a:cubicBezTo>
                  <a:pt x="6771831" y="355288"/>
                  <a:pt x="6774909" y="701883"/>
                  <a:pt x="6777988" y="1048478"/>
                </a:cubicBezTo>
                <a:lnTo>
                  <a:pt x="0" y="1013706"/>
                </a:lnTo>
                <a:lnTo>
                  <a:pt x="9237" y="0"/>
                </a:lnTo>
                <a:close/>
              </a:path>
            </a:pathLst>
          </a:custGeom>
          <a:noFill/>
        </p:spPr>
        <p:txBody>
          <a:bodyPr wrap="square" rtlCol="0">
            <a:spAutoFit/>
          </a:bodyPr>
          <a:lstStyle/>
          <a:p>
            <a:r>
              <a:rPr lang="en-GB" sz="2000" b="1" dirty="0"/>
              <a:t>When we look at this reaction we see the following.</a:t>
            </a:r>
          </a:p>
          <a:p>
            <a:pPr algn="ctr"/>
            <a:endParaRPr lang="en-GB" sz="2200" b="1" dirty="0"/>
          </a:p>
          <a:p>
            <a:pPr algn="ctr"/>
            <a:r>
              <a:rPr lang="en-GB" sz="2200" b="1" dirty="0"/>
              <a:t>CH</a:t>
            </a:r>
            <a:r>
              <a:rPr lang="en-GB" sz="2200" b="1" baseline="-25000" dirty="0"/>
              <a:t>4</a:t>
            </a:r>
            <a:r>
              <a:rPr lang="en-GB" sz="2200" b="1" dirty="0"/>
              <a:t>  +  2O</a:t>
            </a:r>
            <a:r>
              <a:rPr lang="en-GB" sz="2200" b="1" baseline="-25000" dirty="0"/>
              <a:t>2</a:t>
            </a:r>
            <a:r>
              <a:rPr lang="en-GB" sz="2200" b="1" dirty="0"/>
              <a:t> </a:t>
            </a:r>
            <a:r>
              <a:rPr lang="en-GB" sz="2200" b="1" dirty="0">
                <a:sym typeface="Wingdings" panose="05000000000000000000" pitchFamily="2" charset="2"/>
              </a:rPr>
              <a:t>  CO</a:t>
            </a:r>
            <a:r>
              <a:rPr lang="en-GB" sz="2200" b="1" baseline="-25000" dirty="0">
                <a:sym typeface="Wingdings" panose="05000000000000000000" pitchFamily="2" charset="2"/>
              </a:rPr>
              <a:t>2</a:t>
            </a:r>
            <a:r>
              <a:rPr lang="en-GB" sz="2200" b="1" dirty="0">
                <a:sym typeface="Wingdings" panose="05000000000000000000" pitchFamily="2" charset="2"/>
              </a:rPr>
              <a:t>  +  2H</a:t>
            </a:r>
            <a:r>
              <a:rPr lang="en-GB" sz="2200" b="1" baseline="-25000" dirty="0">
                <a:sym typeface="Wingdings" panose="05000000000000000000" pitchFamily="2" charset="2"/>
              </a:rPr>
              <a:t>2</a:t>
            </a:r>
            <a:r>
              <a:rPr lang="en-GB" sz="2200" b="1" dirty="0">
                <a:sym typeface="Wingdings" panose="05000000000000000000" pitchFamily="2" charset="2"/>
              </a:rPr>
              <a:t>O</a:t>
            </a:r>
            <a:r>
              <a:rPr lang="en-GB" sz="2200" b="1" dirty="0"/>
              <a:t> </a:t>
            </a:r>
          </a:p>
          <a:p>
            <a:pPr algn="ctr"/>
            <a:endParaRPr lang="en-GB" sz="2400" b="1" dirty="0"/>
          </a:p>
        </p:txBody>
      </p:sp>
      <p:sp>
        <p:nvSpPr>
          <p:cNvPr id="6" name="TextBox 5"/>
          <p:cNvSpPr txBox="1"/>
          <p:nvPr/>
        </p:nvSpPr>
        <p:spPr>
          <a:xfrm>
            <a:off x="242284" y="3879700"/>
            <a:ext cx="8651084" cy="1323439"/>
          </a:xfrm>
          <a:custGeom>
            <a:avLst/>
            <a:gdLst>
              <a:gd name="connsiteX0" fmla="*/ 0 w 8640960"/>
              <a:gd name="connsiteY0" fmla="*/ 0 h 1323439"/>
              <a:gd name="connsiteX1" fmla="*/ 8640960 w 8640960"/>
              <a:gd name="connsiteY1" fmla="*/ 0 h 1323439"/>
              <a:gd name="connsiteX2" fmla="*/ 8640960 w 8640960"/>
              <a:gd name="connsiteY2" fmla="*/ 1323439 h 1323439"/>
              <a:gd name="connsiteX3" fmla="*/ 0 w 8640960"/>
              <a:gd name="connsiteY3" fmla="*/ 1323439 h 1323439"/>
              <a:gd name="connsiteX4" fmla="*/ 0 w 8640960"/>
              <a:gd name="connsiteY4" fmla="*/ 0 h 1323439"/>
              <a:gd name="connsiteX0" fmla="*/ 0 w 8640960"/>
              <a:gd name="connsiteY0" fmla="*/ 0 h 1480457"/>
              <a:gd name="connsiteX1" fmla="*/ 8640960 w 8640960"/>
              <a:gd name="connsiteY1" fmla="*/ 0 h 1480457"/>
              <a:gd name="connsiteX2" fmla="*/ 8640960 w 8640960"/>
              <a:gd name="connsiteY2" fmla="*/ 1323439 h 1480457"/>
              <a:gd name="connsiteX3" fmla="*/ 0 w 8640960"/>
              <a:gd name="connsiteY3" fmla="*/ 1480457 h 1480457"/>
              <a:gd name="connsiteX4" fmla="*/ 0 w 8640960"/>
              <a:gd name="connsiteY4" fmla="*/ 0 h 1480457"/>
              <a:gd name="connsiteX0" fmla="*/ 0 w 8640960"/>
              <a:gd name="connsiteY0" fmla="*/ 0 h 1489694"/>
              <a:gd name="connsiteX1" fmla="*/ 8640960 w 8640960"/>
              <a:gd name="connsiteY1" fmla="*/ 0 h 1489694"/>
              <a:gd name="connsiteX2" fmla="*/ 8640960 w 8640960"/>
              <a:gd name="connsiteY2" fmla="*/ 1489694 h 1489694"/>
              <a:gd name="connsiteX3" fmla="*/ 0 w 8640960"/>
              <a:gd name="connsiteY3" fmla="*/ 1480457 h 1489694"/>
              <a:gd name="connsiteX4" fmla="*/ 0 w 8640960"/>
              <a:gd name="connsiteY4" fmla="*/ 0 h 1489694"/>
              <a:gd name="connsiteX0" fmla="*/ 0 w 8640960"/>
              <a:gd name="connsiteY0" fmla="*/ 0 h 1480457"/>
              <a:gd name="connsiteX1" fmla="*/ 8640960 w 8640960"/>
              <a:gd name="connsiteY1" fmla="*/ 0 h 1480457"/>
              <a:gd name="connsiteX2" fmla="*/ 8640960 w 8640960"/>
              <a:gd name="connsiteY2" fmla="*/ 1471221 h 1480457"/>
              <a:gd name="connsiteX3" fmla="*/ 0 w 8640960"/>
              <a:gd name="connsiteY3" fmla="*/ 1480457 h 1480457"/>
              <a:gd name="connsiteX4" fmla="*/ 0 w 8640960"/>
              <a:gd name="connsiteY4" fmla="*/ 0 h 1480457"/>
              <a:gd name="connsiteX0" fmla="*/ 0 w 8640960"/>
              <a:gd name="connsiteY0" fmla="*/ 0 h 1489693"/>
              <a:gd name="connsiteX1" fmla="*/ 8640960 w 8640960"/>
              <a:gd name="connsiteY1" fmla="*/ 0 h 1489693"/>
              <a:gd name="connsiteX2" fmla="*/ 8640960 w 8640960"/>
              <a:gd name="connsiteY2" fmla="*/ 1489693 h 1489693"/>
              <a:gd name="connsiteX3" fmla="*/ 0 w 8640960"/>
              <a:gd name="connsiteY3" fmla="*/ 1480457 h 1489693"/>
              <a:gd name="connsiteX4" fmla="*/ 0 w 8640960"/>
              <a:gd name="connsiteY4" fmla="*/ 0 h 1489693"/>
              <a:gd name="connsiteX0" fmla="*/ 0 w 8640960"/>
              <a:gd name="connsiteY0" fmla="*/ 0 h 1489693"/>
              <a:gd name="connsiteX1" fmla="*/ 8640960 w 8640960"/>
              <a:gd name="connsiteY1" fmla="*/ 0 h 1489693"/>
              <a:gd name="connsiteX2" fmla="*/ 8640960 w 8640960"/>
              <a:gd name="connsiteY2" fmla="*/ 1489693 h 1489693"/>
              <a:gd name="connsiteX3" fmla="*/ 0 w 8640960"/>
              <a:gd name="connsiteY3" fmla="*/ 1480457 h 1489693"/>
              <a:gd name="connsiteX4" fmla="*/ 0 w 8640960"/>
              <a:gd name="connsiteY4" fmla="*/ 0 h 1489693"/>
              <a:gd name="connsiteX0" fmla="*/ 9237 w 8640960"/>
              <a:gd name="connsiteY0" fmla="*/ 378691 h 1489693"/>
              <a:gd name="connsiteX1" fmla="*/ 8640960 w 8640960"/>
              <a:gd name="connsiteY1" fmla="*/ 0 h 1489693"/>
              <a:gd name="connsiteX2" fmla="*/ 8640960 w 8640960"/>
              <a:gd name="connsiteY2" fmla="*/ 1489693 h 1489693"/>
              <a:gd name="connsiteX3" fmla="*/ 0 w 8640960"/>
              <a:gd name="connsiteY3" fmla="*/ 1480457 h 1489693"/>
              <a:gd name="connsiteX4" fmla="*/ 9237 w 8640960"/>
              <a:gd name="connsiteY4" fmla="*/ 378691 h 1489693"/>
              <a:gd name="connsiteX0" fmla="*/ 9237 w 8650196"/>
              <a:gd name="connsiteY0" fmla="*/ 0 h 1111002"/>
              <a:gd name="connsiteX1" fmla="*/ 8650196 w 8650196"/>
              <a:gd name="connsiteY1" fmla="*/ 18473 h 1111002"/>
              <a:gd name="connsiteX2" fmla="*/ 8640960 w 8650196"/>
              <a:gd name="connsiteY2" fmla="*/ 1111002 h 1111002"/>
              <a:gd name="connsiteX3" fmla="*/ 0 w 8650196"/>
              <a:gd name="connsiteY3" fmla="*/ 1101766 h 1111002"/>
              <a:gd name="connsiteX4" fmla="*/ 9237 w 8650196"/>
              <a:gd name="connsiteY4" fmla="*/ 0 h 1111002"/>
              <a:gd name="connsiteX0" fmla="*/ 9237 w 8641848"/>
              <a:gd name="connsiteY0" fmla="*/ 0 h 1111002"/>
              <a:gd name="connsiteX1" fmla="*/ 8640960 w 8641848"/>
              <a:gd name="connsiteY1" fmla="*/ 1 h 1111002"/>
              <a:gd name="connsiteX2" fmla="*/ 8640960 w 8641848"/>
              <a:gd name="connsiteY2" fmla="*/ 1111002 h 1111002"/>
              <a:gd name="connsiteX3" fmla="*/ 0 w 8641848"/>
              <a:gd name="connsiteY3" fmla="*/ 1101766 h 1111002"/>
              <a:gd name="connsiteX4" fmla="*/ 9237 w 8641848"/>
              <a:gd name="connsiteY4" fmla="*/ 0 h 1111002"/>
              <a:gd name="connsiteX0" fmla="*/ 0 w 8651084"/>
              <a:gd name="connsiteY0" fmla="*/ 0 h 1111002"/>
              <a:gd name="connsiteX1" fmla="*/ 8650196 w 8651084"/>
              <a:gd name="connsiteY1" fmla="*/ 1 h 1111002"/>
              <a:gd name="connsiteX2" fmla="*/ 8650196 w 8651084"/>
              <a:gd name="connsiteY2" fmla="*/ 1111002 h 1111002"/>
              <a:gd name="connsiteX3" fmla="*/ 9236 w 8651084"/>
              <a:gd name="connsiteY3" fmla="*/ 1101766 h 1111002"/>
              <a:gd name="connsiteX4" fmla="*/ 0 w 8651084"/>
              <a:gd name="connsiteY4" fmla="*/ 0 h 1111002"/>
              <a:gd name="connsiteX0" fmla="*/ 0 w 8651084"/>
              <a:gd name="connsiteY0" fmla="*/ 0 h 1111002"/>
              <a:gd name="connsiteX1" fmla="*/ 8650196 w 8651084"/>
              <a:gd name="connsiteY1" fmla="*/ 1 h 1111002"/>
              <a:gd name="connsiteX2" fmla="*/ 8650196 w 8651084"/>
              <a:gd name="connsiteY2" fmla="*/ 1111002 h 1111002"/>
              <a:gd name="connsiteX3" fmla="*/ 9236 w 8651084"/>
              <a:gd name="connsiteY3" fmla="*/ 1101766 h 1111002"/>
              <a:gd name="connsiteX4" fmla="*/ 0 w 8651084"/>
              <a:gd name="connsiteY4" fmla="*/ 0 h 111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1084" h="1111002">
                <a:moveTo>
                  <a:pt x="0" y="0"/>
                </a:moveTo>
                <a:lnTo>
                  <a:pt x="8650196" y="1"/>
                </a:lnTo>
                <a:cubicBezTo>
                  <a:pt x="8647117" y="364177"/>
                  <a:pt x="8653275" y="746826"/>
                  <a:pt x="8650196" y="1111002"/>
                </a:cubicBezTo>
                <a:lnTo>
                  <a:pt x="9236" y="1101766"/>
                </a:lnTo>
                <a:cubicBezTo>
                  <a:pt x="6157" y="734511"/>
                  <a:pt x="3079" y="367255"/>
                  <a:pt x="0" y="0"/>
                </a:cubicBezTo>
                <a:close/>
              </a:path>
            </a:pathLst>
          </a:custGeom>
          <a:noFill/>
        </p:spPr>
        <p:txBody>
          <a:bodyPr wrap="square" rtlCol="0">
            <a:spAutoFit/>
          </a:bodyPr>
          <a:lstStyle/>
          <a:p>
            <a:r>
              <a:rPr lang="en-GB" sz="2000" b="1" dirty="0"/>
              <a:t>You have given a reaction its </a:t>
            </a:r>
            <a:r>
              <a:rPr lang="en-GB" sz="2000" b="1" dirty="0">
                <a:solidFill>
                  <a:schemeClr val="accent6">
                    <a:lumMod val="75000"/>
                  </a:schemeClr>
                </a:solidFill>
              </a:rPr>
              <a:t>activation energy </a:t>
            </a:r>
            <a:r>
              <a:rPr lang="en-GB" sz="2000" b="1" dirty="0"/>
              <a:t>when you have used a lit spill to light a Bunsen burner. Without the </a:t>
            </a:r>
            <a:r>
              <a:rPr lang="en-GB" sz="2000" b="1" dirty="0">
                <a:solidFill>
                  <a:schemeClr val="accent6">
                    <a:lumMod val="75000"/>
                  </a:schemeClr>
                </a:solidFill>
              </a:rPr>
              <a:t>activation energy </a:t>
            </a:r>
            <a:r>
              <a:rPr lang="en-GB" sz="2000" b="1" dirty="0"/>
              <a:t>from the lit spill, the methane gas and oxygen in the air will not </a:t>
            </a:r>
            <a:r>
              <a:rPr lang="en-GB" sz="2000" b="1" dirty="0">
                <a:solidFill>
                  <a:schemeClr val="accent6">
                    <a:lumMod val="75000"/>
                  </a:schemeClr>
                </a:solidFill>
              </a:rPr>
              <a:t>combust</a:t>
            </a:r>
            <a:r>
              <a:rPr lang="en-GB" sz="2000" b="1" dirty="0"/>
              <a:t> and release the heat energy.</a:t>
            </a:r>
            <a:endParaRPr lang="en-GB" sz="2000" dirty="0"/>
          </a:p>
        </p:txBody>
      </p:sp>
      <p:pic>
        <p:nvPicPr>
          <p:cNvPr id="10" name="Picture 9"/>
          <p:cNvPicPr>
            <a:picLocks noChangeAspect="1"/>
          </p:cNvPicPr>
          <p:nvPr/>
        </p:nvPicPr>
        <p:blipFill>
          <a:blip r:embed="rId2"/>
          <a:stretch>
            <a:fillRect/>
          </a:stretch>
        </p:blipFill>
        <p:spPr>
          <a:xfrm>
            <a:off x="1439652" y="1555130"/>
            <a:ext cx="6264696" cy="1373706"/>
          </a:xfrm>
          <a:prstGeom prst="rect">
            <a:avLst/>
          </a:prstGeom>
        </p:spPr>
      </p:pic>
    </p:spTree>
    <p:extLst>
      <p:ext uri="{BB962C8B-B14F-4D97-AF65-F5344CB8AC3E}">
        <p14:creationId xmlns:p14="http://schemas.microsoft.com/office/powerpoint/2010/main" val="5742292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67744" y="35655"/>
            <a:ext cx="6876256"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Energy Changes part 2 – Reaction profiles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251520" y="692696"/>
            <a:ext cx="8568952" cy="1569660"/>
          </a:xfrm>
          <a:prstGeom prst="rect">
            <a:avLst/>
          </a:prstGeom>
          <a:noFill/>
        </p:spPr>
        <p:txBody>
          <a:bodyPr wrap="square" rtlCol="0">
            <a:spAutoFit/>
          </a:bodyPr>
          <a:lstStyle/>
          <a:p>
            <a:pPr algn="ctr"/>
            <a:r>
              <a:rPr lang="en-GB" sz="2400" b="1" dirty="0"/>
              <a:t>CH</a:t>
            </a:r>
            <a:r>
              <a:rPr lang="en-GB" sz="2400" b="1" baseline="-25000" dirty="0"/>
              <a:t>4</a:t>
            </a:r>
            <a:r>
              <a:rPr lang="en-GB" sz="2400" b="1" dirty="0"/>
              <a:t>  +  2O</a:t>
            </a:r>
            <a:r>
              <a:rPr lang="en-GB" sz="2400" b="1" baseline="-25000" dirty="0"/>
              <a:t>2</a:t>
            </a:r>
            <a:r>
              <a:rPr lang="en-GB" sz="2400" b="1" dirty="0"/>
              <a:t> </a:t>
            </a:r>
            <a:r>
              <a:rPr lang="en-GB" sz="2400" b="1" dirty="0">
                <a:sym typeface="Wingdings" panose="05000000000000000000" pitchFamily="2" charset="2"/>
              </a:rPr>
              <a:t>  CO</a:t>
            </a:r>
            <a:r>
              <a:rPr lang="en-GB" sz="2400" b="1" baseline="-25000" dirty="0">
                <a:sym typeface="Wingdings" panose="05000000000000000000" pitchFamily="2" charset="2"/>
              </a:rPr>
              <a:t>2</a:t>
            </a:r>
            <a:r>
              <a:rPr lang="en-GB" sz="2400" b="1" dirty="0">
                <a:sym typeface="Wingdings" panose="05000000000000000000" pitchFamily="2" charset="2"/>
              </a:rPr>
              <a:t>  +  2H</a:t>
            </a:r>
            <a:r>
              <a:rPr lang="en-GB" sz="2400" b="1" baseline="-25000" dirty="0">
                <a:sym typeface="Wingdings" panose="05000000000000000000" pitchFamily="2" charset="2"/>
              </a:rPr>
              <a:t>2</a:t>
            </a:r>
            <a:r>
              <a:rPr lang="en-GB" sz="2400" b="1" dirty="0">
                <a:sym typeface="Wingdings" panose="05000000000000000000" pitchFamily="2" charset="2"/>
              </a:rPr>
              <a:t>O</a:t>
            </a:r>
            <a:r>
              <a:rPr lang="en-GB" sz="2400" b="1" dirty="0"/>
              <a:t> </a:t>
            </a:r>
          </a:p>
          <a:p>
            <a:pPr algn="ctr"/>
            <a:r>
              <a:rPr lang="en-GB" sz="2400" b="1" dirty="0"/>
              <a:t>We know this reaction is </a:t>
            </a:r>
            <a:r>
              <a:rPr lang="en-GB" sz="2400" b="1" dirty="0">
                <a:solidFill>
                  <a:schemeClr val="accent6">
                    <a:lumMod val="75000"/>
                  </a:schemeClr>
                </a:solidFill>
              </a:rPr>
              <a:t>exothermic;</a:t>
            </a:r>
            <a:r>
              <a:rPr lang="en-GB" sz="2400" b="1" dirty="0"/>
              <a:t> this means energy is released. So the CH</a:t>
            </a:r>
            <a:r>
              <a:rPr lang="en-GB" sz="2400" b="1" baseline="-25000" dirty="0"/>
              <a:t>4</a:t>
            </a:r>
            <a:r>
              <a:rPr lang="en-GB" sz="2400" b="1" dirty="0"/>
              <a:t> and 2O</a:t>
            </a:r>
            <a:r>
              <a:rPr lang="en-GB" sz="2400" b="1" baseline="-25000" dirty="0"/>
              <a:t>2 ,</a:t>
            </a:r>
            <a:r>
              <a:rPr lang="en-GB" sz="2400" b="1" dirty="0"/>
              <a:t> the reactants, must have more energy than the products, </a:t>
            </a:r>
            <a:r>
              <a:rPr lang="en-GB" sz="2400" b="1" dirty="0">
                <a:sym typeface="Wingdings" panose="05000000000000000000" pitchFamily="2" charset="2"/>
              </a:rPr>
              <a:t>CO</a:t>
            </a:r>
            <a:r>
              <a:rPr lang="en-GB" sz="2400" b="1" baseline="-25000" dirty="0">
                <a:sym typeface="Wingdings" panose="05000000000000000000" pitchFamily="2" charset="2"/>
              </a:rPr>
              <a:t>2</a:t>
            </a:r>
            <a:r>
              <a:rPr lang="en-GB" sz="2400" b="1" dirty="0">
                <a:sym typeface="Wingdings" panose="05000000000000000000" pitchFamily="2" charset="2"/>
              </a:rPr>
              <a:t> and  2H</a:t>
            </a:r>
            <a:r>
              <a:rPr lang="en-GB" sz="2400" b="1" baseline="-25000" dirty="0">
                <a:sym typeface="Wingdings" panose="05000000000000000000" pitchFamily="2" charset="2"/>
              </a:rPr>
              <a:t>2</a:t>
            </a:r>
            <a:r>
              <a:rPr lang="en-GB" sz="2400" b="1" dirty="0">
                <a:sym typeface="Wingdings" panose="05000000000000000000" pitchFamily="2" charset="2"/>
              </a:rPr>
              <a:t>O</a:t>
            </a:r>
            <a:r>
              <a:rPr lang="en-GB" sz="2400" b="1" dirty="0"/>
              <a:t>  </a:t>
            </a:r>
          </a:p>
        </p:txBody>
      </p:sp>
      <p:sp>
        <p:nvSpPr>
          <p:cNvPr id="7" name="TextBox 6"/>
          <p:cNvSpPr txBox="1"/>
          <p:nvPr/>
        </p:nvSpPr>
        <p:spPr>
          <a:xfrm>
            <a:off x="251520" y="2348880"/>
            <a:ext cx="8568952" cy="1569660"/>
          </a:xfrm>
          <a:prstGeom prst="rect">
            <a:avLst/>
          </a:prstGeom>
          <a:noFill/>
        </p:spPr>
        <p:txBody>
          <a:bodyPr wrap="square" rtlCol="0">
            <a:spAutoFit/>
          </a:bodyPr>
          <a:lstStyle/>
          <a:p>
            <a:pPr algn="ctr"/>
            <a:r>
              <a:rPr lang="en-GB" sz="2400" b="1" dirty="0"/>
              <a:t>We can show this as a </a:t>
            </a:r>
            <a:r>
              <a:rPr lang="en-GB" sz="2400" b="1" dirty="0">
                <a:solidFill>
                  <a:schemeClr val="accent6">
                    <a:lumMod val="75000"/>
                  </a:schemeClr>
                </a:solidFill>
              </a:rPr>
              <a:t>reaction profile. </a:t>
            </a:r>
            <a:r>
              <a:rPr lang="en-GB" sz="2400" b="1" dirty="0"/>
              <a:t>On it we need to include the formulae or names of the products and reactants. We also need to show the relative energies of the reactants and products e.g.</a:t>
            </a:r>
          </a:p>
        </p:txBody>
      </p:sp>
      <p:pic>
        <p:nvPicPr>
          <p:cNvPr id="4" name="Picture 3"/>
          <p:cNvPicPr>
            <a:picLocks noChangeAspect="1"/>
          </p:cNvPicPr>
          <p:nvPr/>
        </p:nvPicPr>
        <p:blipFill>
          <a:blip r:embed="rId2"/>
          <a:stretch>
            <a:fillRect/>
          </a:stretch>
        </p:blipFill>
        <p:spPr>
          <a:xfrm>
            <a:off x="2339751" y="3635732"/>
            <a:ext cx="4392489" cy="2745595"/>
          </a:xfrm>
          <a:prstGeom prst="rect">
            <a:avLst/>
          </a:prstGeom>
        </p:spPr>
      </p:pic>
    </p:spTree>
    <p:extLst>
      <p:ext uri="{BB962C8B-B14F-4D97-AF65-F5344CB8AC3E}">
        <p14:creationId xmlns:p14="http://schemas.microsoft.com/office/powerpoint/2010/main" val="28437833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67744" y="0"/>
            <a:ext cx="6876256" cy="657041"/>
          </a:xfrm>
        </p:spPr>
        <p:txBody>
          <a:bodyPr>
            <a:noAutofit/>
          </a:bodyPr>
          <a:lstStyle/>
          <a:p>
            <a:pPr marL="342900" lvl="1" algn="r" defTabSz="342900" rtl="0">
              <a:spcBef>
                <a:spcPct val="20000"/>
              </a:spcBef>
            </a:pPr>
            <a:r>
              <a:rPr lang="en-US" sz="2400" b="1" dirty="0">
                <a:solidFill>
                  <a:schemeClr val="accent6"/>
                </a:solidFill>
              </a:rPr>
              <a:t>Energy Changes part 2 – Reaction profiles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179512" y="836712"/>
            <a:ext cx="8640960" cy="1200329"/>
          </a:xfrm>
          <a:prstGeom prst="rect">
            <a:avLst/>
          </a:prstGeom>
          <a:noFill/>
          <a:ln w="28575">
            <a:solidFill>
              <a:srgbClr val="FFC000"/>
            </a:solidFill>
          </a:ln>
        </p:spPr>
        <p:txBody>
          <a:bodyPr wrap="square" rtlCol="0">
            <a:spAutoFit/>
          </a:bodyPr>
          <a:lstStyle/>
          <a:p>
            <a:pPr algn="ctr"/>
            <a:r>
              <a:rPr lang="en-GB" sz="2400" b="1" dirty="0"/>
              <a:t>More information needs to be included in the reaction profile. </a:t>
            </a:r>
          </a:p>
          <a:p>
            <a:pPr algn="ctr"/>
            <a:r>
              <a:rPr lang="en-GB" sz="2400" b="1" dirty="0"/>
              <a:t>This will show the </a:t>
            </a:r>
            <a:r>
              <a:rPr lang="en-GB" sz="2400" b="1" dirty="0">
                <a:solidFill>
                  <a:schemeClr val="accent6">
                    <a:lumMod val="75000"/>
                  </a:schemeClr>
                </a:solidFill>
              </a:rPr>
              <a:t>activation energy </a:t>
            </a:r>
            <a:r>
              <a:rPr lang="en-GB" sz="2400" b="1" dirty="0"/>
              <a:t>of the reaction. It is shown by a curved line rising above the reactants energy.</a:t>
            </a:r>
          </a:p>
        </p:txBody>
      </p:sp>
      <p:sp>
        <p:nvSpPr>
          <p:cNvPr id="7" name="TextBox 6"/>
          <p:cNvSpPr txBox="1"/>
          <p:nvPr/>
        </p:nvSpPr>
        <p:spPr>
          <a:xfrm>
            <a:off x="179512" y="2276872"/>
            <a:ext cx="4608512" cy="369332"/>
          </a:xfrm>
          <a:prstGeom prst="rect">
            <a:avLst/>
          </a:prstGeom>
          <a:noFill/>
        </p:spPr>
        <p:txBody>
          <a:bodyPr wrap="square" rtlCol="0">
            <a:spAutoFit/>
          </a:bodyPr>
          <a:lstStyle/>
          <a:p>
            <a:endParaRPr lang="en-GB" dirty="0"/>
          </a:p>
        </p:txBody>
      </p:sp>
      <p:pic>
        <p:nvPicPr>
          <p:cNvPr id="3" name="Picture 2"/>
          <p:cNvPicPr>
            <a:picLocks noChangeAspect="1"/>
          </p:cNvPicPr>
          <p:nvPr/>
        </p:nvPicPr>
        <p:blipFill>
          <a:blip r:embed="rId2"/>
          <a:stretch>
            <a:fillRect/>
          </a:stretch>
        </p:blipFill>
        <p:spPr>
          <a:xfrm>
            <a:off x="179513" y="2216712"/>
            <a:ext cx="4248472" cy="3732568"/>
          </a:xfrm>
          <a:prstGeom prst="rect">
            <a:avLst/>
          </a:prstGeom>
        </p:spPr>
      </p:pic>
      <p:pic>
        <p:nvPicPr>
          <p:cNvPr id="4" name="Picture 3"/>
          <p:cNvPicPr>
            <a:picLocks noChangeAspect="1"/>
          </p:cNvPicPr>
          <p:nvPr/>
        </p:nvPicPr>
        <p:blipFill>
          <a:blip r:embed="rId3"/>
          <a:stretch>
            <a:fillRect/>
          </a:stretch>
        </p:blipFill>
        <p:spPr>
          <a:xfrm>
            <a:off x="4427985" y="2276872"/>
            <a:ext cx="4392487" cy="3672408"/>
          </a:xfrm>
          <a:prstGeom prst="rect">
            <a:avLst/>
          </a:prstGeom>
        </p:spPr>
      </p:pic>
    </p:spTree>
    <p:extLst>
      <p:ext uri="{BB962C8B-B14F-4D97-AF65-F5344CB8AC3E}">
        <p14:creationId xmlns:p14="http://schemas.microsoft.com/office/powerpoint/2010/main" val="26478875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67744" y="0"/>
            <a:ext cx="6876256" cy="657041"/>
          </a:xfrm>
        </p:spPr>
        <p:txBody>
          <a:bodyPr>
            <a:noAutofit/>
          </a:bodyPr>
          <a:lstStyle/>
          <a:p>
            <a:pPr marL="342900" lvl="1" algn="r" defTabSz="342900" rtl="0">
              <a:spcBef>
                <a:spcPct val="20000"/>
              </a:spcBef>
            </a:pPr>
            <a:r>
              <a:rPr lang="en-US" sz="2400" b="1" dirty="0">
                <a:solidFill>
                  <a:schemeClr val="accent6"/>
                </a:solidFill>
              </a:rPr>
              <a:t>Energy Changes part 2 – Reaction profiles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179512" y="836712"/>
            <a:ext cx="8640960" cy="461665"/>
          </a:xfrm>
          <a:prstGeom prst="rect">
            <a:avLst/>
          </a:prstGeom>
          <a:noFill/>
          <a:ln w="28575">
            <a:solidFill>
              <a:srgbClr val="FFC000"/>
            </a:solidFill>
          </a:ln>
        </p:spPr>
        <p:txBody>
          <a:bodyPr wrap="square" rtlCol="0">
            <a:spAutoFit/>
          </a:bodyPr>
          <a:lstStyle/>
          <a:p>
            <a:pPr algn="ctr"/>
            <a:r>
              <a:rPr lang="en-GB" sz="2400" b="1" dirty="0"/>
              <a:t>We can now see the overall change in energy within the reaction.</a:t>
            </a:r>
          </a:p>
        </p:txBody>
      </p:sp>
      <p:sp>
        <p:nvSpPr>
          <p:cNvPr id="3" name="TextBox 2"/>
          <p:cNvSpPr txBox="1"/>
          <p:nvPr/>
        </p:nvSpPr>
        <p:spPr>
          <a:xfrm>
            <a:off x="179512" y="5517232"/>
            <a:ext cx="8640960" cy="830997"/>
          </a:xfrm>
          <a:prstGeom prst="rect">
            <a:avLst/>
          </a:prstGeom>
          <a:noFill/>
          <a:ln w="28575">
            <a:solidFill>
              <a:schemeClr val="accent6"/>
            </a:solidFill>
          </a:ln>
        </p:spPr>
        <p:txBody>
          <a:bodyPr wrap="square" rtlCol="0">
            <a:spAutoFit/>
          </a:bodyPr>
          <a:lstStyle/>
          <a:p>
            <a:pPr algn="ctr"/>
            <a:r>
              <a:rPr lang="en-GB" sz="2400" b="1" dirty="0"/>
              <a:t>The </a:t>
            </a:r>
            <a:r>
              <a:rPr lang="en-GB" sz="2400" b="1" dirty="0">
                <a:solidFill>
                  <a:schemeClr val="accent6">
                    <a:lumMod val="75000"/>
                  </a:schemeClr>
                </a:solidFill>
              </a:rPr>
              <a:t>products</a:t>
            </a:r>
            <a:r>
              <a:rPr lang="en-GB" sz="2400" b="1" dirty="0"/>
              <a:t> have </a:t>
            </a:r>
            <a:r>
              <a:rPr lang="en-GB" sz="2400" b="1" dirty="0">
                <a:solidFill>
                  <a:schemeClr val="accent6">
                    <a:lumMod val="75000"/>
                  </a:schemeClr>
                </a:solidFill>
              </a:rPr>
              <a:t>less energy </a:t>
            </a:r>
            <a:r>
              <a:rPr lang="en-GB" sz="2400" b="1" dirty="0"/>
              <a:t>than the </a:t>
            </a:r>
            <a:r>
              <a:rPr lang="en-GB" sz="2400" b="1" dirty="0">
                <a:solidFill>
                  <a:schemeClr val="accent6">
                    <a:lumMod val="75000"/>
                  </a:schemeClr>
                </a:solidFill>
              </a:rPr>
              <a:t>reactants. </a:t>
            </a:r>
            <a:r>
              <a:rPr lang="en-GB" sz="2400" b="1" dirty="0"/>
              <a:t>This will have been lost as heat as the reaction is exothermic. </a:t>
            </a:r>
          </a:p>
        </p:txBody>
      </p:sp>
      <p:pic>
        <p:nvPicPr>
          <p:cNvPr id="5" name="Picture 4"/>
          <p:cNvPicPr>
            <a:picLocks noChangeAspect="1"/>
          </p:cNvPicPr>
          <p:nvPr/>
        </p:nvPicPr>
        <p:blipFill>
          <a:blip r:embed="rId2"/>
          <a:stretch>
            <a:fillRect/>
          </a:stretch>
        </p:blipFill>
        <p:spPr>
          <a:xfrm>
            <a:off x="1763688" y="1847380"/>
            <a:ext cx="5688632" cy="3669852"/>
          </a:xfrm>
          <a:prstGeom prst="rect">
            <a:avLst/>
          </a:prstGeom>
        </p:spPr>
      </p:pic>
    </p:spTree>
    <p:extLst>
      <p:ext uri="{BB962C8B-B14F-4D97-AF65-F5344CB8AC3E}">
        <p14:creationId xmlns:p14="http://schemas.microsoft.com/office/powerpoint/2010/main" val="35009913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153370" y="2467929"/>
            <a:ext cx="4848225" cy="3003054"/>
          </a:xfrm>
          <a:prstGeom prst="rect">
            <a:avLst/>
          </a:prstGeom>
        </p:spPr>
      </p:pic>
      <p:sp>
        <p:nvSpPr>
          <p:cNvPr id="2" name="Title 1"/>
          <p:cNvSpPr>
            <a:spLocks noGrp="1"/>
          </p:cNvSpPr>
          <p:nvPr>
            <p:ph type="ctrTitle"/>
          </p:nvPr>
        </p:nvSpPr>
        <p:spPr>
          <a:xfrm>
            <a:off x="2267744" y="0"/>
            <a:ext cx="6876256" cy="657041"/>
          </a:xfrm>
        </p:spPr>
        <p:txBody>
          <a:bodyPr>
            <a:noAutofit/>
          </a:bodyPr>
          <a:lstStyle/>
          <a:p>
            <a:pPr marL="342900" lvl="1" algn="r" defTabSz="342900" rtl="0">
              <a:spcBef>
                <a:spcPct val="20000"/>
              </a:spcBef>
            </a:pPr>
            <a:r>
              <a:rPr lang="en-US" sz="2400" b="1" dirty="0">
                <a:solidFill>
                  <a:schemeClr val="accent6"/>
                </a:solidFill>
              </a:rPr>
              <a:t>Energy Changes part 2 – Reaction profiles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179512" y="836712"/>
            <a:ext cx="8640960" cy="1631216"/>
          </a:xfrm>
          <a:prstGeom prst="rect">
            <a:avLst/>
          </a:prstGeom>
          <a:noFill/>
          <a:ln w="19050">
            <a:solidFill>
              <a:schemeClr val="bg1"/>
            </a:solidFill>
          </a:ln>
        </p:spPr>
        <p:txBody>
          <a:bodyPr wrap="square" rtlCol="0">
            <a:spAutoFit/>
          </a:bodyPr>
          <a:lstStyle/>
          <a:p>
            <a:pPr algn="ctr"/>
            <a:r>
              <a:rPr lang="en-GB" sz="2400" b="1" dirty="0"/>
              <a:t>We saw earlier that the following reaction was </a:t>
            </a:r>
            <a:r>
              <a:rPr lang="en-GB" sz="2400" b="1" dirty="0">
                <a:solidFill>
                  <a:schemeClr val="accent6">
                    <a:lumMod val="75000"/>
                  </a:schemeClr>
                </a:solidFill>
              </a:rPr>
              <a:t>endothermic:</a:t>
            </a:r>
          </a:p>
          <a:p>
            <a:pPr algn="ctr"/>
            <a:r>
              <a:rPr lang="en-GB" sz="1400" b="1" dirty="0"/>
              <a:t> </a:t>
            </a:r>
          </a:p>
          <a:p>
            <a:pPr algn="ctr"/>
            <a:r>
              <a:rPr lang="en-GB" sz="2400" b="1" dirty="0">
                <a:sym typeface="Wingdings" panose="05000000000000000000" pitchFamily="2" charset="2"/>
              </a:rPr>
              <a:t>2CH</a:t>
            </a:r>
            <a:r>
              <a:rPr lang="en-GB" sz="2400" b="1" baseline="-25000" dirty="0">
                <a:sym typeface="Wingdings" panose="05000000000000000000" pitchFamily="2" charset="2"/>
              </a:rPr>
              <a:t>3</a:t>
            </a:r>
            <a:r>
              <a:rPr lang="en-GB" sz="2400" b="1" dirty="0">
                <a:sym typeface="Wingdings" panose="05000000000000000000" pitchFamily="2" charset="2"/>
              </a:rPr>
              <a:t>COOH(</a:t>
            </a:r>
            <a:r>
              <a:rPr lang="en-GB" sz="2400" b="1" dirty="0" err="1">
                <a:sym typeface="Wingdings" panose="05000000000000000000" pitchFamily="2" charset="2"/>
              </a:rPr>
              <a:t>aq</a:t>
            </a:r>
            <a:r>
              <a:rPr lang="en-GB" sz="2400" b="1" dirty="0">
                <a:sym typeface="Wingdings" panose="05000000000000000000" pitchFamily="2" charset="2"/>
              </a:rPr>
              <a:t>) + Na</a:t>
            </a:r>
            <a:r>
              <a:rPr lang="en-GB" sz="2400" b="1" baseline="-25000" dirty="0">
                <a:sym typeface="Wingdings" panose="05000000000000000000" pitchFamily="2" charset="2"/>
              </a:rPr>
              <a:t>2</a:t>
            </a:r>
            <a:r>
              <a:rPr lang="en-GB" sz="2400" b="1" dirty="0">
                <a:sym typeface="Wingdings" panose="05000000000000000000" pitchFamily="2" charset="2"/>
              </a:rPr>
              <a:t>CO</a:t>
            </a:r>
            <a:r>
              <a:rPr lang="en-GB" sz="2400" b="1" baseline="-25000" dirty="0">
                <a:sym typeface="Wingdings" panose="05000000000000000000" pitchFamily="2" charset="2"/>
              </a:rPr>
              <a:t>3</a:t>
            </a:r>
            <a:r>
              <a:rPr lang="en-GB" sz="2400" b="1" dirty="0">
                <a:sym typeface="Wingdings" panose="05000000000000000000" pitchFamily="2" charset="2"/>
              </a:rPr>
              <a:t>(s)   2CH</a:t>
            </a:r>
            <a:r>
              <a:rPr lang="en-GB" sz="2400" b="1" baseline="-25000" dirty="0">
                <a:sym typeface="Wingdings" panose="05000000000000000000" pitchFamily="2" charset="2"/>
              </a:rPr>
              <a:t>3</a:t>
            </a:r>
            <a:r>
              <a:rPr lang="en-GB" sz="2400" b="1" dirty="0">
                <a:sym typeface="Wingdings" panose="05000000000000000000" pitchFamily="2" charset="2"/>
              </a:rPr>
              <a:t>COONa(</a:t>
            </a:r>
            <a:r>
              <a:rPr lang="en-GB" sz="2400" b="1" dirty="0" err="1">
                <a:sym typeface="Wingdings" panose="05000000000000000000" pitchFamily="2" charset="2"/>
              </a:rPr>
              <a:t>aq</a:t>
            </a:r>
            <a:r>
              <a:rPr lang="en-GB" sz="2400" b="1" dirty="0">
                <a:sym typeface="Wingdings" panose="05000000000000000000" pitchFamily="2" charset="2"/>
              </a:rPr>
              <a:t>) + CO</a:t>
            </a:r>
            <a:r>
              <a:rPr lang="en-GB" sz="2400" b="1" baseline="-25000" dirty="0">
                <a:sym typeface="Wingdings" panose="05000000000000000000" pitchFamily="2" charset="2"/>
              </a:rPr>
              <a:t>2</a:t>
            </a:r>
            <a:r>
              <a:rPr lang="en-GB" sz="2400" b="1" dirty="0">
                <a:sym typeface="Wingdings" panose="05000000000000000000" pitchFamily="2" charset="2"/>
              </a:rPr>
              <a:t>(g) + H</a:t>
            </a:r>
            <a:r>
              <a:rPr lang="en-GB" sz="2400" b="1" baseline="-25000" dirty="0">
                <a:sym typeface="Wingdings" panose="05000000000000000000" pitchFamily="2" charset="2"/>
              </a:rPr>
              <a:t>2</a:t>
            </a:r>
            <a:r>
              <a:rPr lang="en-GB" sz="2400" b="1" dirty="0">
                <a:sym typeface="Wingdings" panose="05000000000000000000" pitchFamily="2" charset="2"/>
              </a:rPr>
              <a:t>O (l)</a:t>
            </a:r>
          </a:p>
          <a:p>
            <a:pPr algn="ctr"/>
            <a:r>
              <a:rPr lang="en-GB" sz="1400" dirty="0"/>
              <a:t> </a:t>
            </a:r>
          </a:p>
          <a:p>
            <a:pPr algn="ctr"/>
            <a:r>
              <a:rPr lang="en-GB" sz="2400" b="1" dirty="0"/>
              <a:t>What would the </a:t>
            </a:r>
            <a:r>
              <a:rPr lang="en-GB" sz="2400" b="1" dirty="0">
                <a:solidFill>
                  <a:schemeClr val="accent6">
                    <a:lumMod val="75000"/>
                  </a:schemeClr>
                </a:solidFill>
              </a:rPr>
              <a:t>reaction profile </a:t>
            </a:r>
            <a:r>
              <a:rPr lang="en-GB" sz="2400" b="1" dirty="0"/>
              <a:t>look like for this reaction?</a:t>
            </a:r>
          </a:p>
        </p:txBody>
      </p:sp>
      <p:sp>
        <p:nvSpPr>
          <p:cNvPr id="3" name="TextBox 2"/>
          <p:cNvSpPr txBox="1"/>
          <p:nvPr/>
        </p:nvSpPr>
        <p:spPr>
          <a:xfrm>
            <a:off x="179512" y="5470982"/>
            <a:ext cx="8795943" cy="830997"/>
          </a:xfrm>
          <a:custGeom>
            <a:avLst/>
            <a:gdLst>
              <a:gd name="connsiteX0" fmla="*/ 0 w 8640960"/>
              <a:gd name="connsiteY0" fmla="*/ 0 h 1200329"/>
              <a:gd name="connsiteX1" fmla="*/ 8640960 w 8640960"/>
              <a:gd name="connsiteY1" fmla="*/ 0 h 1200329"/>
              <a:gd name="connsiteX2" fmla="*/ 8640960 w 8640960"/>
              <a:gd name="connsiteY2" fmla="*/ 1200329 h 1200329"/>
              <a:gd name="connsiteX3" fmla="*/ 0 w 8640960"/>
              <a:gd name="connsiteY3" fmla="*/ 1200329 h 1200329"/>
              <a:gd name="connsiteX4" fmla="*/ 0 w 8640960"/>
              <a:gd name="connsiteY4" fmla="*/ 0 h 1200329"/>
              <a:gd name="connsiteX0" fmla="*/ 0 w 8640960"/>
              <a:gd name="connsiteY0" fmla="*/ 0 h 1696275"/>
              <a:gd name="connsiteX1" fmla="*/ 8640960 w 8640960"/>
              <a:gd name="connsiteY1" fmla="*/ 495946 h 1696275"/>
              <a:gd name="connsiteX2" fmla="*/ 8640960 w 8640960"/>
              <a:gd name="connsiteY2" fmla="*/ 1696275 h 1696275"/>
              <a:gd name="connsiteX3" fmla="*/ 0 w 8640960"/>
              <a:gd name="connsiteY3" fmla="*/ 1696275 h 1696275"/>
              <a:gd name="connsiteX4" fmla="*/ 0 w 8640960"/>
              <a:gd name="connsiteY4" fmla="*/ 0 h 1696275"/>
              <a:gd name="connsiteX0" fmla="*/ 0 w 8640960"/>
              <a:gd name="connsiteY0" fmla="*/ 0 h 1696275"/>
              <a:gd name="connsiteX1" fmla="*/ 8640960 w 8640960"/>
              <a:gd name="connsiteY1" fmla="*/ 30996 h 1696275"/>
              <a:gd name="connsiteX2" fmla="*/ 8640960 w 8640960"/>
              <a:gd name="connsiteY2" fmla="*/ 1696275 h 1696275"/>
              <a:gd name="connsiteX3" fmla="*/ 0 w 8640960"/>
              <a:gd name="connsiteY3" fmla="*/ 1696275 h 1696275"/>
              <a:gd name="connsiteX4" fmla="*/ 0 w 8640960"/>
              <a:gd name="connsiteY4" fmla="*/ 0 h 1696275"/>
              <a:gd name="connsiteX0" fmla="*/ 0 w 8656459"/>
              <a:gd name="connsiteY0" fmla="*/ 0 h 1696275"/>
              <a:gd name="connsiteX1" fmla="*/ 8640960 w 8656459"/>
              <a:gd name="connsiteY1" fmla="*/ 30996 h 1696275"/>
              <a:gd name="connsiteX2" fmla="*/ 8656459 w 8656459"/>
              <a:gd name="connsiteY2" fmla="*/ 1262323 h 1696275"/>
              <a:gd name="connsiteX3" fmla="*/ 0 w 8656459"/>
              <a:gd name="connsiteY3" fmla="*/ 1696275 h 1696275"/>
              <a:gd name="connsiteX4" fmla="*/ 0 w 8656459"/>
              <a:gd name="connsiteY4" fmla="*/ 0 h 1696275"/>
              <a:gd name="connsiteX0" fmla="*/ 0 w 8656459"/>
              <a:gd name="connsiteY0" fmla="*/ 0 h 1262323"/>
              <a:gd name="connsiteX1" fmla="*/ 8640960 w 8656459"/>
              <a:gd name="connsiteY1" fmla="*/ 30996 h 1262323"/>
              <a:gd name="connsiteX2" fmla="*/ 8656459 w 8656459"/>
              <a:gd name="connsiteY2" fmla="*/ 1262323 h 1262323"/>
              <a:gd name="connsiteX3" fmla="*/ 15498 w 8656459"/>
              <a:gd name="connsiteY3" fmla="*/ 1262322 h 1262323"/>
              <a:gd name="connsiteX4" fmla="*/ 0 w 8656459"/>
              <a:gd name="connsiteY4" fmla="*/ 0 h 1262323"/>
              <a:gd name="connsiteX0" fmla="*/ 1 w 8640961"/>
              <a:gd name="connsiteY0" fmla="*/ 511445 h 1231327"/>
              <a:gd name="connsiteX1" fmla="*/ 8625462 w 8640961"/>
              <a:gd name="connsiteY1" fmla="*/ 0 h 1231327"/>
              <a:gd name="connsiteX2" fmla="*/ 8640961 w 8640961"/>
              <a:gd name="connsiteY2" fmla="*/ 1231327 h 1231327"/>
              <a:gd name="connsiteX3" fmla="*/ 0 w 8640961"/>
              <a:gd name="connsiteY3" fmla="*/ 1231326 h 1231327"/>
              <a:gd name="connsiteX4" fmla="*/ 1 w 8640961"/>
              <a:gd name="connsiteY4" fmla="*/ 511445 h 1231327"/>
              <a:gd name="connsiteX0" fmla="*/ 1 w 8640961"/>
              <a:gd name="connsiteY0" fmla="*/ 1 h 719883"/>
              <a:gd name="connsiteX1" fmla="*/ 8625462 w 8640961"/>
              <a:gd name="connsiteY1" fmla="*/ 0 h 719883"/>
              <a:gd name="connsiteX2" fmla="*/ 8640961 w 8640961"/>
              <a:gd name="connsiteY2" fmla="*/ 719883 h 719883"/>
              <a:gd name="connsiteX3" fmla="*/ 0 w 8640961"/>
              <a:gd name="connsiteY3" fmla="*/ 719882 h 719883"/>
              <a:gd name="connsiteX4" fmla="*/ 1 w 8640961"/>
              <a:gd name="connsiteY4" fmla="*/ 1 h 719883"/>
              <a:gd name="connsiteX0" fmla="*/ 1 w 8640961"/>
              <a:gd name="connsiteY0" fmla="*/ 123987 h 843869"/>
              <a:gd name="connsiteX1" fmla="*/ 8625462 w 8640961"/>
              <a:gd name="connsiteY1" fmla="*/ 0 h 843869"/>
              <a:gd name="connsiteX2" fmla="*/ 8640961 w 8640961"/>
              <a:gd name="connsiteY2" fmla="*/ 843869 h 843869"/>
              <a:gd name="connsiteX3" fmla="*/ 0 w 8640961"/>
              <a:gd name="connsiteY3" fmla="*/ 843868 h 843869"/>
              <a:gd name="connsiteX4" fmla="*/ 1 w 8640961"/>
              <a:gd name="connsiteY4" fmla="*/ 123987 h 843869"/>
              <a:gd name="connsiteX0" fmla="*/ 30998 w 8640961"/>
              <a:gd name="connsiteY0" fmla="*/ 0 h 859367"/>
              <a:gd name="connsiteX1" fmla="*/ 8625462 w 8640961"/>
              <a:gd name="connsiteY1" fmla="*/ 15498 h 859367"/>
              <a:gd name="connsiteX2" fmla="*/ 8640961 w 8640961"/>
              <a:gd name="connsiteY2" fmla="*/ 859367 h 859367"/>
              <a:gd name="connsiteX3" fmla="*/ 0 w 8640961"/>
              <a:gd name="connsiteY3" fmla="*/ 859366 h 859367"/>
              <a:gd name="connsiteX4" fmla="*/ 30998 w 8640961"/>
              <a:gd name="connsiteY4" fmla="*/ 0 h 859367"/>
              <a:gd name="connsiteX0" fmla="*/ 30998 w 8764947"/>
              <a:gd name="connsiteY0" fmla="*/ 0 h 859367"/>
              <a:gd name="connsiteX1" fmla="*/ 8625462 w 8764947"/>
              <a:gd name="connsiteY1" fmla="*/ 15498 h 859367"/>
              <a:gd name="connsiteX2" fmla="*/ 8764947 w 8764947"/>
              <a:gd name="connsiteY2" fmla="*/ 859367 h 859367"/>
              <a:gd name="connsiteX3" fmla="*/ 0 w 8764947"/>
              <a:gd name="connsiteY3" fmla="*/ 859366 h 859367"/>
              <a:gd name="connsiteX4" fmla="*/ 30998 w 8764947"/>
              <a:gd name="connsiteY4" fmla="*/ 0 h 859367"/>
              <a:gd name="connsiteX0" fmla="*/ 30998 w 8780445"/>
              <a:gd name="connsiteY0" fmla="*/ 0 h 859367"/>
              <a:gd name="connsiteX1" fmla="*/ 8780445 w 8780445"/>
              <a:gd name="connsiteY1" fmla="*/ 61993 h 859367"/>
              <a:gd name="connsiteX2" fmla="*/ 8764947 w 8780445"/>
              <a:gd name="connsiteY2" fmla="*/ 859367 h 859367"/>
              <a:gd name="connsiteX3" fmla="*/ 0 w 8780445"/>
              <a:gd name="connsiteY3" fmla="*/ 859366 h 859367"/>
              <a:gd name="connsiteX4" fmla="*/ 30998 w 8780445"/>
              <a:gd name="connsiteY4" fmla="*/ 0 h 859367"/>
              <a:gd name="connsiteX0" fmla="*/ 30998 w 8780445"/>
              <a:gd name="connsiteY0" fmla="*/ 0 h 859367"/>
              <a:gd name="connsiteX1" fmla="*/ 8780445 w 8780445"/>
              <a:gd name="connsiteY1" fmla="*/ 30996 h 859367"/>
              <a:gd name="connsiteX2" fmla="*/ 8764947 w 8780445"/>
              <a:gd name="connsiteY2" fmla="*/ 859367 h 859367"/>
              <a:gd name="connsiteX3" fmla="*/ 0 w 8780445"/>
              <a:gd name="connsiteY3" fmla="*/ 859366 h 859367"/>
              <a:gd name="connsiteX4" fmla="*/ 30998 w 8780445"/>
              <a:gd name="connsiteY4" fmla="*/ 0 h 859367"/>
              <a:gd name="connsiteX0" fmla="*/ 30998 w 8780445"/>
              <a:gd name="connsiteY0" fmla="*/ 0 h 859367"/>
              <a:gd name="connsiteX1" fmla="*/ 8780445 w 8780445"/>
              <a:gd name="connsiteY1" fmla="*/ 0 h 859367"/>
              <a:gd name="connsiteX2" fmla="*/ 8764947 w 8780445"/>
              <a:gd name="connsiteY2" fmla="*/ 859367 h 859367"/>
              <a:gd name="connsiteX3" fmla="*/ 0 w 8780445"/>
              <a:gd name="connsiteY3" fmla="*/ 859366 h 859367"/>
              <a:gd name="connsiteX4" fmla="*/ 30998 w 8780445"/>
              <a:gd name="connsiteY4" fmla="*/ 0 h 859367"/>
              <a:gd name="connsiteX0" fmla="*/ 30998 w 8780445"/>
              <a:gd name="connsiteY0" fmla="*/ 0 h 859367"/>
              <a:gd name="connsiteX1" fmla="*/ 8780445 w 8780445"/>
              <a:gd name="connsiteY1" fmla="*/ 46495 h 859367"/>
              <a:gd name="connsiteX2" fmla="*/ 8764947 w 8780445"/>
              <a:gd name="connsiteY2" fmla="*/ 859367 h 859367"/>
              <a:gd name="connsiteX3" fmla="*/ 0 w 8780445"/>
              <a:gd name="connsiteY3" fmla="*/ 859366 h 859367"/>
              <a:gd name="connsiteX4" fmla="*/ 30998 w 8780445"/>
              <a:gd name="connsiteY4" fmla="*/ 0 h 859367"/>
              <a:gd name="connsiteX0" fmla="*/ 5286 w 8780445"/>
              <a:gd name="connsiteY0" fmla="*/ 0 h 832965"/>
              <a:gd name="connsiteX1" fmla="*/ 8780445 w 8780445"/>
              <a:gd name="connsiteY1" fmla="*/ 20093 h 832965"/>
              <a:gd name="connsiteX2" fmla="*/ 8764947 w 8780445"/>
              <a:gd name="connsiteY2" fmla="*/ 832965 h 832965"/>
              <a:gd name="connsiteX3" fmla="*/ 0 w 8780445"/>
              <a:gd name="connsiteY3" fmla="*/ 832964 h 832965"/>
              <a:gd name="connsiteX4" fmla="*/ 5286 w 8780445"/>
              <a:gd name="connsiteY4" fmla="*/ 0 h 832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0445" h="832965">
                <a:moveTo>
                  <a:pt x="5286" y="0"/>
                </a:moveTo>
                <a:lnTo>
                  <a:pt x="8780445" y="20093"/>
                </a:lnTo>
                <a:lnTo>
                  <a:pt x="8764947" y="832965"/>
                </a:lnTo>
                <a:lnTo>
                  <a:pt x="0" y="832964"/>
                </a:lnTo>
                <a:cubicBezTo>
                  <a:pt x="0" y="593004"/>
                  <a:pt x="5286" y="239960"/>
                  <a:pt x="5286" y="0"/>
                </a:cubicBezTo>
                <a:close/>
              </a:path>
            </a:pathLst>
          </a:custGeom>
          <a:noFill/>
          <a:ln w="28575">
            <a:solidFill>
              <a:schemeClr val="accent6"/>
            </a:solidFill>
          </a:ln>
        </p:spPr>
        <p:txBody>
          <a:bodyPr wrap="square" rtlCol="0">
            <a:spAutoFit/>
          </a:bodyPr>
          <a:lstStyle/>
          <a:p>
            <a:r>
              <a:rPr lang="en-GB" sz="2400" b="1" dirty="0"/>
              <a:t>We can see that the </a:t>
            </a:r>
            <a:r>
              <a:rPr lang="en-GB" sz="2400" b="1" dirty="0">
                <a:solidFill>
                  <a:schemeClr val="accent6">
                    <a:lumMod val="75000"/>
                  </a:schemeClr>
                </a:solidFill>
              </a:rPr>
              <a:t>products</a:t>
            </a:r>
            <a:r>
              <a:rPr lang="en-GB" sz="2400" b="1" dirty="0"/>
              <a:t> have </a:t>
            </a:r>
            <a:r>
              <a:rPr lang="en-GB" sz="2400" b="1" dirty="0">
                <a:solidFill>
                  <a:schemeClr val="accent6">
                    <a:lumMod val="75000"/>
                  </a:schemeClr>
                </a:solidFill>
              </a:rPr>
              <a:t>more energy </a:t>
            </a:r>
            <a:r>
              <a:rPr lang="en-GB" sz="2400" b="1" dirty="0"/>
              <a:t>than the </a:t>
            </a:r>
            <a:r>
              <a:rPr lang="en-GB" sz="2400" b="1" dirty="0">
                <a:solidFill>
                  <a:schemeClr val="accent6">
                    <a:lumMod val="75000"/>
                  </a:schemeClr>
                </a:solidFill>
              </a:rPr>
              <a:t>reactants</a:t>
            </a:r>
            <a:r>
              <a:rPr lang="en-GB" sz="2400" b="1" dirty="0">
                <a:solidFill>
                  <a:schemeClr val="accent6"/>
                </a:solidFill>
              </a:rPr>
              <a:t>.</a:t>
            </a:r>
            <a:r>
              <a:rPr lang="en-GB" sz="2400" b="1" dirty="0"/>
              <a:t> This will have been taken in as heat energy; it feels colder. </a:t>
            </a:r>
          </a:p>
        </p:txBody>
      </p:sp>
    </p:spTree>
    <p:extLst>
      <p:ext uri="{BB962C8B-B14F-4D97-AF65-F5344CB8AC3E}">
        <p14:creationId xmlns:p14="http://schemas.microsoft.com/office/powerpoint/2010/main" val="3274067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616648"/>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4800" b="1" dirty="0">
                <a:solidFill>
                  <a:schemeClr val="tx1">
                    <a:lumMod val="50000"/>
                    <a:lumOff val="50000"/>
                  </a:schemeClr>
                </a:solidFill>
              </a:rPr>
              <a:t>Energy Changes</a:t>
            </a:r>
          </a:p>
          <a:p>
            <a:r>
              <a:rPr lang="en-GB" sz="4800" b="1" dirty="0">
                <a:solidFill>
                  <a:schemeClr val="tx1">
                    <a:lumMod val="50000"/>
                    <a:lumOff val="50000"/>
                  </a:schemeClr>
                </a:solidFill>
              </a:rPr>
              <a:t>Part 3 </a:t>
            </a:r>
          </a:p>
          <a:p>
            <a:pPr marL="457200" indent="-457200">
              <a:buFont typeface="Arial" charset="0"/>
              <a:buChar char="•"/>
            </a:pPr>
            <a:r>
              <a:rPr lang="en-US" sz="3600" b="1" dirty="0">
                <a:solidFill>
                  <a:schemeClr val="tx1">
                    <a:lumMod val="50000"/>
                    <a:lumOff val="50000"/>
                  </a:schemeClr>
                </a:solidFill>
              </a:rPr>
              <a:t>Activation energy</a:t>
            </a:r>
          </a:p>
          <a:p>
            <a:pPr marL="457200" indent="-457200">
              <a:buFont typeface="Arial" charset="0"/>
              <a:buChar char="•"/>
            </a:pPr>
            <a:r>
              <a:rPr lang="en-US" sz="3600" b="1" dirty="0">
                <a:solidFill>
                  <a:schemeClr val="tx1">
                    <a:lumMod val="50000"/>
                    <a:lumOff val="50000"/>
                  </a:schemeClr>
                </a:solidFill>
              </a:rPr>
              <a:t>Reaction profiles</a:t>
            </a:r>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176680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Energy Changes part 2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3532634"/>
          </a:xfrm>
          <a:prstGeom prst="rect">
            <a:avLst/>
          </a:prstGeom>
          <a:noFill/>
        </p:spPr>
        <p:txBody>
          <a:bodyPr wrap="square" rtlCol="0">
            <a:spAutoFit/>
          </a:bodyPr>
          <a:lstStyle/>
          <a:p>
            <a:pPr marL="457200" indent="-457200">
              <a:lnSpc>
                <a:spcPct val="200000"/>
              </a:lnSpc>
              <a:buFont typeface="+mj-lt"/>
              <a:buAutoNum type="arabicPeriod"/>
            </a:pPr>
            <a:r>
              <a:rPr lang="en-GB" sz="2300" dirty="0"/>
              <a:t>What needs to happen for a reaction to take place?</a:t>
            </a:r>
          </a:p>
          <a:p>
            <a:pPr marL="457200" indent="-457200">
              <a:lnSpc>
                <a:spcPct val="200000"/>
              </a:lnSpc>
              <a:buFont typeface="+mj-lt"/>
              <a:buAutoNum type="arabicPeriod"/>
            </a:pPr>
            <a:r>
              <a:rPr lang="en-GB" sz="2300" dirty="0"/>
              <a:t>What is meant by the term activation energy?</a:t>
            </a:r>
          </a:p>
          <a:p>
            <a:pPr marL="457200" indent="-457200">
              <a:lnSpc>
                <a:spcPct val="200000"/>
              </a:lnSpc>
              <a:buFont typeface="+mj-lt"/>
              <a:buAutoNum type="arabicPeriod"/>
            </a:pPr>
            <a:r>
              <a:rPr lang="en-GB" sz="2300" dirty="0"/>
              <a:t>What can a reaction profile be used to show?</a:t>
            </a:r>
          </a:p>
          <a:p>
            <a:pPr marL="457200" indent="-457200">
              <a:lnSpc>
                <a:spcPct val="200000"/>
              </a:lnSpc>
              <a:buFont typeface="+mj-lt"/>
              <a:buAutoNum type="arabicPeriod"/>
            </a:pPr>
            <a:r>
              <a:rPr lang="en-GB" sz="2300" dirty="0"/>
              <a:t>What is an exothermic reaction?</a:t>
            </a:r>
          </a:p>
          <a:p>
            <a:pPr marL="457200" indent="-457200">
              <a:lnSpc>
                <a:spcPct val="200000"/>
              </a:lnSpc>
              <a:buFont typeface="+mj-lt"/>
              <a:buAutoNum type="arabicPeriod"/>
            </a:pPr>
            <a:r>
              <a:rPr lang="en-GB" sz="2300" dirty="0"/>
              <a:t>What is an endothermic reaction?</a:t>
            </a:r>
          </a:p>
        </p:txBody>
      </p:sp>
    </p:spTree>
    <p:extLst>
      <p:ext uri="{BB962C8B-B14F-4D97-AF65-F5344CB8AC3E}">
        <p14:creationId xmlns:p14="http://schemas.microsoft.com/office/powerpoint/2010/main" val="17849911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Energy Changes part 2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3" name="TextBox 2"/>
          <p:cNvSpPr txBox="1"/>
          <p:nvPr/>
        </p:nvSpPr>
        <p:spPr>
          <a:xfrm>
            <a:off x="149087" y="980728"/>
            <a:ext cx="8915400" cy="1862048"/>
          </a:xfrm>
          <a:prstGeom prst="rect">
            <a:avLst/>
          </a:prstGeom>
          <a:noFill/>
        </p:spPr>
        <p:txBody>
          <a:bodyPr wrap="square" rtlCol="0">
            <a:spAutoFit/>
          </a:bodyPr>
          <a:lstStyle/>
          <a:p>
            <a:pPr marL="457200" indent="-457200">
              <a:buFont typeface="+mj-lt"/>
              <a:buAutoNum type="arabicPeriod" startAt="6"/>
            </a:pPr>
            <a:r>
              <a:rPr lang="en-GB" sz="2300" dirty="0"/>
              <a:t>On the reaction profile below, what is shown by the letters? </a:t>
            </a:r>
          </a:p>
          <a:p>
            <a:r>
              <a:rPr lang="en-GB" sz="2300" dirty="0"/>
              <a:t>	A</a:t>
            </a:r>
          </a:p>
          <a:p>
            <a:r>
              <a:rPr lang="en-GB" sz="2300" dirty="0"/>
              <a:t>	B</a:t>
            </a:r>
          </a:p>
          <a:p>
            <a:r>
              <a:rPr lang="en-GB" sz="2300" dirty="0"/>
              <a:t>	C</a:t>
            </a:r>
          </a:p>
          <a:p>
            <a:r>
              <a:rPr lang="en-GB" sz="2300" dirty="0"/>
              <a:t>	D</a:t>
            </a:r>
          </a:p>
        </p:txBody>
      </p:sp>
      <p:pic>
        <p:nvPicPr>
          <p:cNvPr id="5" name="Picture 4"/>
          <p:cNvPicPr>
            <a:picLocks noChangeAspect="1"/>
          </p:cNvPicPr>
          <p:nvPr/>
        </p:nvPicPr>
        <p:blipFill>
          <a:blip r:embed="rId2"/>
          <a:stretch>
            <a:fillRect/>
          </a:stretch>
        </p:blipFill>
        <p:spPr>
          <a:xfrm>
            <a:off x="1870483" y="2604547"/>
            <a:ext cx="5472608" cy="3905359"/>
          </a:xfrm>
          <a:prstGeom prst="rect">
            <a:avLst/>
          </a:prstGeom>
        </p:spPr>
      </p:pic>
    </p:spTree>
    <p:extLst>
      <p:ext uri="{BB962C8B-B14F-4D97-AF65-F5344CB8AC3E}">
        <p14:creationId xmlns:p14="http://schemas.microsoft.com/office/powerpoint/2010/main" val="33770825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893647"/>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4800" b="1" dirty="0">
                <a:solidFill>
                  <a:schemeClr val="tx1">
                    <a:lumMod val="50000"/>
                    <a:lumOff val="50000"/>
                  </a:schemeClr>
                </a:solidFill>
              </a:rPr>
              <a:t>Energy Changes</a:t>
            </a:r>
          </a:p>
          <a:p>
            <a:r>
              <a:rPr lang="en-GB" sz="4800" b="1" dirty="0">
                <a:solidFill>
                  <a:schemeClr val="tx1">
                    <a:lumMod val="50000"/>
                    <a:lumOff val="50000"/>
                  </a:schemeClr>
                </a:solidFill>
              </a:rPr>
              <a:t>Part 3 </a:t>
            </a:r>
          </a:p>
          <a:p>
            <a:pPr marL="457200" indent="-457200">
              <a:buFont typeface="Arial" charset="0"/>
              <a:buChar char="•"/>
            </a:pPr>
            <a:r>
              <a:rPr lang="en-US" sz="3600" b="1" dirty="0">
                <a:solidFill>
                  <a:schemeClr val="tx1">
                    <a:lumMod val="50000"/>
                    <a:lumOff val="50000"/>
                  </a:schemeClr>
                </a:solidFill>
              </a:rPr>
              <a:t>Activation energy</a:t>
            </a:r>
          </a:p>
          <a:p>
            <a:pPr marL="457200" indent="-457200">
              <a:buFont typeface="Arial" charset="0"/>
              <a:buChar char="•"/>
            </a:pPr>
            <a:r>
              <a:rPr lang="en-US" sz="3600" b="1" dirty="0">
                <a:solidFill>
                  <a:schemeClr val="tx1">
                    <a:lumMod val="50000"/>
                    <a:lumOff val="50000"/>
                  </a:schemeClr>
                </a:solidFill>
              </a:rPr>
              <a:t>Reaction profiles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5976" y="704918"/>
            <a:ext cx="4608512" cy="5257800"/>
          </a:xfrm>
          <a:prstGeom prst="rect">
            <a:avLst/>
          </a:prstGeom>
        </p:spPr>
      </p:pic>
    </p:spTree>
    <p:extLst>
      <p:ext uri="{BB962C8B-B14F-4D97-AF65-F5344CB8AC3E}">
        <p14:creationId xmlns:p14="http://schemas.microsoft.com/office/powerpoint/2010/main" val="7931981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Energy Changes part 2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4154984"/>
          </a:xfrm>
          <a:prstGeom prst="rect">
            <a:avLst/>
          </a:prstGeom>
          <a:noFill/>
        </p:spPr>
        <p:txBody>
          <a:bodyPr wrap="square" rtlCol="0">
            <a:spAutoFit/>
          </a:bodyPr>
          <a:lstStyle/>
          <a:p>
            <a:pPr marL="457200" indent="-457200">
              <a:buFont typeface="+mj-lt"/>
              <a:buAutoNum type="arabicPeriod"/>
            </a:pPr>
            <a:r>
              <a:rPr lang="en-GB" sz="2400" dirty="0"/>
              <a:t>What needs to happen for a reaction to take place?</a:t>
            </a:r>
          </a:p>
          <a:p>
            <a:pPr lvl="1"/>
            <a:r>
              <a:rPr lang="en-GB" sz="2400" dirty="0">
                <a:solidFill>
                  <a:srgbClr val="00B050"/>
                </a:solidFill>
              </a:rPr>
              <a:t>Reacting particles collide with sufficient energy.</a:t>
            </a:r>
            <a:endParaRPr lang="en-GB" sz="2400" dirty="0"/>
          </a:p>
          <a:p>
            <a:pPr marL="457200" indent="-457200">
              <a:buFont typeface="+mj-lt"/>
              <a:buAutoNum type="arabicPeriod"/>
            </a:pPr>
            <a:r>
              <a:rPr lang="en-GB" sz="2400" dirty="0"/>
              <a:t>What is meant by the term activation energy?</a:t>
            </a:r>
          </a:p>
          <a:p>
            <a:pPr lvl="1"/>
            <a:r>
              <a:rPr lang="en-GB" sz="2400" dirty="0">
                <a:solidFill>
                  <a:srgbClr val="00B050"/>
                </a:solidFill>
              </a:rPr>
              <a:t>Minimum amount of energy particles need in order to react.</a:t>
            </a:r>
            <a:endParaRPr lang="en-GB" sz="2400" dirty="0"/>
          </a:p>
          <a:p>
            <a:pPr marL="457200" indent="-457200">
              <a:buFont typeface="+mj-lt"/>
              <a:buAutoNum type="arabicPeriod"/>
            </a:pPr>
            <a:r>
              <a:rPr lang="en-GB" sz="2400" dirty="0"/>
              <a:t>What can a reaction profile be used to show?</a:t>
            </a:r>
          </a:p>
          <a:p>
            <a:pPr lvl="1"/>
            <a:r>
              <a:rPr lang="en-GB" sz="2400" dirty="0">
                <a:solidFill>
                  <a:srgbClr val="00B050"/>
                </a:solidFill>
              </a:rPr>
              <a:t>Relative energies of reactants and products, activation energy and energy change of a reaction.</a:t>
            </a:r>
            <a:endParaRPr lang="en-GB" sz="2400" dirty="0"/>
          </a:p>
          <a:p>
            <a:pPr marL="457200" indent="-457200">
              <a:buFont typeface="+mj-lt"/>
              <a:buAutoNum type="arabicPeriod"/>
            </a:pPr>
            <a:r>
              <a:rPr lang="en-GB" sz="2400" dirty="0"/>
              <a:t>What is an exothermic reaction?</a:t>
            </a:r>
          </a:p>
          <a:p>
            <a:pPr lvl="1"/>
            <a:r>
              <a:rPr lang="en-GB" sz="2400" dirty="0">
                <a:solidFill>
                  <a:srgbClr val="00B050"/>
                </a:solidFill>
              </a:rPr>
              <a:t>Heat energy given out.</a:t>
            </a:r>
          </a:p>
          <a:p>
            <a:pPr marL="457200" indent="-457200">
              <a:buFont typeface="+mj-lt"/>
              <a:buAutoNum type="arabicPeriod"/>
            </a:pPr>
            <a:r>
              <a:rPr lang="en-GB" sz="2400" dirty="0"/>
              <a:t>What is an endothermic reaction?</a:t>
            </a:r>
          </a:p>
          <a:p>
            <a:pPr lvl="1"/>
            <a:r>
              <a:rPr lang="en-GB" sz="2400" dirty="0">
                <a:solidFill>
                  <a:srgbClr val="00B050"/>
                </a:solidFill>
              </a:rPr>
              <a:t>Heat energy taken in.</a:t>
            </a:r>
            <a:endParaRPr lang="en-GB" sz="2400" dirty="0"/>
          </a:p>
        </p:txBody>
      </p:sp>
    </p:spTree>
    <p:extLst>
      <p:ext uri="{BB962C8B-B14F-4D97-AF65-F5344CB8AC3E}">
        <p14:creationId xmlns:p14="http://schemas.microsoft.com/office/powerpoint/2010/main" val="7540966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Energy Changes part 2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3" name="TextBox 2"/>
          <p:cNvSpPr txBox="1"/>
          <p:nvPr/>
        </p:nvSpPr>
        <p:spPr>
          <a:xfrm>
            <a:off x="149087" y="810164"/>
            <a:ext cx="8915400" cy="1862048"/>
          </a:xfrm>
          <a:prstGeom prst="rect">
            <a:avLst/>
          </a:prstGeom>
          <a:noFill/>
        </p:spPr>
        <p:txBody>
          <a:bodyPr wrap="square" rtlCol="0">
            <a:spAutoFit/>
          </a:bodyPr>
          <a:lstStyle/>
          <a:p>
            <a:pPr marL="457200" indent="-457200">
              <a:buFont typeface="+mj-lt"/>
              <a:buAutoNum type="arabicPeriod" startAt="6"/>
            </a:pPr>
            <a:r>
              <a:rPr lang="en-GB" sz="2300" dirty="0"/>
              <a:t>On the reaction profile below what is shown by the letters? </a:t>
            </a:r>
          </a:p>
          <a:p>
            <a:r>
              <a:rPr lang="en-GB" sz="2300" dirty="0"/>
              <a:t>	A 	</a:t>
            </a:r>
            <a:r>
              <a:rPr lang="en-GB" sz="2300" dirty="0">
                <a:solidFill>
                  <a:srgbClr val="00B050"/>
                </a:solidFill>
              </a:rPr>
              <a:t>Reactants</a:t>
            </a:r>
          </a:p>
          <a:p>
            <a:r>
              <a:rPr lang="en-GB" sz="2300" dirty="0"/>
              <a:t>	B	</a:t>
            </a:r>
            <a:r>
              <a:rPr lang="en-GB" sz="2300" dirty="0">
                <a:solidFill>
                  <a:srgbClr val="00B050"/>
                </a:solidFill>
              </a:rPr>
              <a:t>Products</a:t>
            </a:r>
          </a:p>
          <a:p>
            <a:r>
              <a:rPr lang="en-GB" sz="2300" dirty="0"/>
              <a:t>	C	</a:t>
            </a:r>
            <a:r>
              <a:rPr lang="en-GB" sz="2300" dirty="0">
                <a:solidFill>
                  <a:srgbClr val="00B050"/>
                </a:solidFill>
              </a:rPr>
              <a:t>Activation energy</a:t>
            </a:r>
          </a:p>
          <a:p>
            <a:r>
              <a:rPr lang="en-GB" sz="2300" dirty="0"/>
              <a:t>	D	</a:t>
            </a:r>
            <a:r>
              <a:rPr lang="en-GB" sz="2300" dirty="0">
                <a:solidFill>
                  <a:srgbClr val="00B050"/>
                </a:solidFill>
              </a:rPr>
              <a:t>Overall energy change/that the reaction is exothermic</a:t>
            </a:r>
          </a:p>
        </p:txBody>
      </p:sp>
      <p:pic>
        <p:nvPicPr>
          <p:cNvPr id="5" name="Picture 4"/>
          <p:cNvPicPr>
            <a:picLocks noChangeAspect="1"/>
          </p:cNvPicPr>
          <p:nvPr/>
        </p:nvPicPr>
        <p:blipFill>
          <a:blip r:embed="rId2"/>
          <a:stretch>
            <a:fillRect/>
          </a:stretch>
        </p:blipFill>
        <p:spPr>
          <a:xfrm>
            <a:off x="2554559" y="2798036"/>
            <a:ext cx="4104456" cy="2659018"/>
          </a:xfrm>
          <a:prstGeom prst="rect">
            <a:avLst/>
          </a:prstGeom>
        </p:spPr>
      </p:pic>
    </p:spTree>
    <p:extLst>
      <p:ext uri="{BB962C8B-B14F-4D97-AF65-F5344CB8AC3E}">
        <p14:creationId xmlns:p14="http://schemas.microsoft.com/office/powerpoint/2010/main" val="325288553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13007</TotalTime>
  <Words>6524</Words>
  <Application>Microsoft Office PowerPoint</Application>
  <PresentationFormat>On-screen Show (4:3)</PresentationFormat>
  <Paragraphs>705</Paragraphs>
  <Slides>70</Slides>
  <Notes>31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70</vt:i4>
      </vt:variant>
    </vt:vector>
  </HeadingPairs>
  <TitlesOfParts>
    <vt:vector size="83" baseType="lpstr">
      <vt:lpstr>Arial</vt:lpstr>
      <vt:lpstr>Beirut</vt:lpstr>
      <vt:lpstr>Calibri</vt:lpstr>
      <vt:lpstr>Calibri Light</vt:lpstr>
      <vt:lpstr>Gill Sans</vt:lpstr>
      <vt:lpstr>Lato Medium</vt:lpstr>
      <vt:lpstr>Mangal</vt:lpstr>
      <vt:lpstr>News Gothic MT</vt:lpstr>
      <vt:lpstr>Times New Roman</vt:lpstr>
      <vt:lpstr>Wingdings</vt:lpstr>
      <vt:lpstr>1_Office Theme</vt:lpstr>
      <vt:lpstr>Custom Design</vt:lpstr>
      <vt:lpstr>PIXL Sci</vt:lpstr>
      <vt:lpstr>PowerPoint Presentation</vt:lpstr>
      <vt:lpstr>Overview   Rates of reaction and energy changes</vt:lpstr>
      <vt:lpstr>PowerPoint Presentation</vt:lpstr>
      <vt:lpstr>Rate of reactions part 1 – Calculating rates of reactions</vt:lpstr>
      <vt:lpstr>Rate of reactions part 1 – Calculating rates of reactions</vt:lpstr>
      <vt:lpstr>PowerPoint Presentation</vt:lpstr>
      <vt:lpstr>Calculating rates of reactions – QuestionIT</vt:lpstr>
      <vt:lpstr>Calculating rates of reactions – QuestionIT</vt:lpstr>
      <vt:lpstr>Calculating rates of reactions – QuestionIT</vt:lpstr>
      <vt:lpstr>PowerPoint Presentation</vt:lpstr>
      <vt:lpstr>Calculating rates of reactions – QuestionIT</vt:lpstr>
      <vt:lpstr>Calculating rates of reactions – AnswerIT</vt:lpstr>
      <vt:lpstr>Factors which affect the rates of reactions – AnswerIT</vt:lpstr>
      <vt:lpstr>PowerPoint Presentation</vt:lpstr>
      <vt:lpstr>Rates of reactions part 2 – Factors which affect rates of  reactions</vt:lpstr>
      <vt:lpstr>Rates of reactions part 2 – Factors which affect rates of  reactions</vt:lpstr>
      <vt:lpstr>Rates of reactions part 2 – Factors which affect rates of  reactions</vt:lpstr>
      <vt:lpstr>PowerPoint Presentation</vt:lpstr>
      <vt:lpstr>Factors which affect rates of  reactions – QuestionIT</vt:lpstr>
      <vt:lpstr>Factors which affect rates of  reactions – QuestionIT</vt:lpstr>
      <vt:lpstr>Factors which affect the rates of reactions – QuestionIT</vt:lpstr>
      <vt:lpstr>PowerPoint Presentation</vt:lpstr>
      <vt:lpstr>Factors which affect rates of  reactions – QuestionIT</vt:lpstr>
      <vt:lpstr>Factors which affect rates of  reactions – AnswerIT</vt:lpstr>
      <vt:lpstr>Factors which affect the rates of reactions – AnswerIT</vt:lpstr>
      <vt:lpstr>PowerPoint Presentation</vt:lpstr>
      <vt:lpstr>Rates of reactions part 3 – Factors which affect rates of  reactions - catalysts</vt:lpstr>
      <vt:lpstr>PowerPoint Presentation</vt:lpstr>
      <vt:lpstr>Factors which affect rates of  reactions - catalysts– QuestionIT</vt:lpstr>
      <vt:lpstr>Factors which affect rates of  reactions - catalysts– QuestionIT</vt:lpstr>
      <vt:lpstr>Factors which affect rates of  reactions - catalysts– QuestionIT</vt:lpstr>
      <vt:lpstr>PowerPoint Presentation</vt:lpstr>
      <vt:lpstr>Factors which affect rates of  reactions - catalysts– QuestionIT</vt:lpstr>
      <vt:lpstr>Factors which affect rates of  reactions - catalysts– AnswerIT</vt:lpstr>
      <vt:lpstr>Factors which affect rates of  reactions - catalysts– AnswerIT</vt:lpstr>
      <vt:lpstr>PowerPoint Presentation</vt:lpstr>
      <vt:lpstr>Exothermic and endothermic reactions part 1 – Exothermic reactions</vt:lpstr>
      <vt:lpstr>Exothermic and endothermic reactions part 1 – Exothermic reactions</vt:lpstr>
      <vt:lpstr>Exothermic and endothermic reactions part 1 – Endothermic reactions</vt:lpstr>
      <vt:lpstr>PowerPoint Presentation</vt:lpstr>
      <vt:lpstr>Energy Changes part 1 – QuestionIT</vt:lpstr>
      <vt:lpstr>Energy Changes part 1 – QuestionIT</vt:lpstr>
      <vt:lpstr>PowerPoint Presentation</vt:lpstr>
      <vt:lpstr>Energy Changes part 1 – QuestionIT</vt:lpstr>
      <vt:lpstr>Energy Changes part 1 – AnswerIT</vt:lpstr>
      <vt:lpstr>Energy Changes part 1 – AnswerIT</vt:lpstr>
      <vt:lpstr>PowerPoint Presentation</vt:lpstr>
      <vt:lpstr>The energy change of reactions</vt:lpstr>
      <vt:lpstr>The energy change of reactions (HT only)</vt:lpstr>
      <vt:lpstr>The energy change of reactions (HT only)</vt:lpstr>
      <vt:lpstr>The energy change of reactions (HT only)</vt:lpstr>
      <vt:lpstr>The energy change of reactions (HT only)</vt:lpstr>
      <vt:lpstr>PowerPoint Presentation</vt:lpstr>
      <vt:lpstr>Energy Changes part 2 QuestionIT</vt:lpstr>
      <vt:lpstr>The energy change of reactions (HT only) QuestionIT</vt:lpstr>
      <vt:lpstr>PowerPoint Presentation</vt:lpstr>
      <vt:lpstr>Energy Changes part 2 QuestionIT</vt:lpstr>
      <vt:lpstr>The energy change of reactions (HT only) AnswerIT</vt:lpstr>
      <vt:lpstr>PowerPoint Presentation</vt:lpstr>
      <vt:lpstr>Energy Changes part 2 – Reaction profiles</vt:lpstr>
      <vt:lpstr>Energy Changes part 2 – Reaction profiles</vt:lpstr>
      <vt:lpstr>Energy Changes part 2 – Reaction profiles</vt:lpstr>
      <vt:lpstr>Energy Changes part 2 – Reaction profiles</vt:lpstr>
      <vt:lpstr>Energy Changes part 2 – Reaction profiles</vt:lpstr>
      <vt:lpstr>PowerPoint Presentation</vt:lpstr>
      <vt:lpstr>Energy Changes part 2 QuestionIT</vt:lpstr>
      <vt:lpstr>Energy Changes part 2 QuestionIT</vt:lpstr>
      <vt:lpstr>PowerPoint Presentation</vt:lpstr>
      <vt:lpstr>Energy Changes part 2 QuestionIT</vt:lpstr>
      <vt:lpstr>Energy Changes part 2 AnswerIT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Vicki Pugh</cp:lastModifiedBy>
  <cp:revision>420</cp:revision>
  <cp:lastPrinted>2017-05-23T14:15:43Z</cp:lastPrinted>
  <dcterms:created xsi:type="dcterms:W3CDTF">2016-03-05T09:38:04Z</dcterms:created>
  <dcterms:modified xsi:type="dcterms:W3CDTF">2018-02-09T20:44:39Z</dcterms:modified>
</cp:coreProperties>
</file>