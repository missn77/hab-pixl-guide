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4"/>
  </p:notesMasterIdLst>
  <p:sldIdLst>
    <p:sldId id="256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407"/>
    <p:restoredTop sz="95833"/>
  </p:normalViewPr>
  <p:slideViewPr>
    <p:cSldViewPr snapToGrid="0" snapToObjects="1">
      <p:cViewPr varScale="1">
        <p:scale>
          <a:sx n="86" d="100"/>
          <a:sy n="86" d="100"/>
        </p:scale>
        <p:origin x="96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00B4FC-DE72-B04E-881B-39948BCD13FE}" type="datetimeFigureOut">
              <a:rPr lang="en-GB" smtClean="0"/>
              <a:t>12/03/2018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FD04F4-2695-714D-9F3D-51394D3EE3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1387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1562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0119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t>12/03/2018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ounded Rectangle 7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t>12/03/2018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ounded Rectangle 6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08B80-D4A0-3548-B9B8-BE81C52EC421}" type="datetimeFigureOut">
              <a:rPr lang="en-GB" smtClean="0"/>
              <a:t>12/03/2018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9DC77-15E7-A540-8773-3C582D5B9B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5712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526" y="249660"/>
            <a:ext cx="8522947" cy="635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42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06623" y="2391126"/>
            <a:ext cx="2694872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>
                <a:latin typeface="Nanum Brush Script" charset="-127"/>
                <a:ea typeface="Nanum Brush Script" charset="-127"/>
                <a:cs typeface="Nanum Brush Script" charset="-127"/>
              </a:rPr>
              <a:t>Edexcel GCSE Chemical changes</a:t>
            </a:r>
            <a:endParaRPr lang="en-GB" sz="2800" dirty="0" smtClean="0">
              <a:latin typeface="Nanum Brush Script" charset="-127"/>
              <a:ea typeface="Nanum Brush Script" charset="-127"/>
              <a:cs typeface="Nanum Brush Script" charset="-127"/>
            </a:endParaRPr>
          </a:p>
          <a:p>
            <a:pPr algn="ctr"/>
            <a:r>
              <a:rPr lang="en-GB" sz="2800" dirty="0" smtClean="0">
                <a:latin typeface="Nanum Brush Script" charset="-127"/>
                <a:ea typeface="Nanum Brush Script" charset="-127"/>
                <a:cs typeface="Nanum Brush Script" charset="-127"/>
              </a:rPr>
              <a:t> </a:t>
            </a:r>
            <a:r>
              <a:rPr lang="en-GB" sz="4000" dirty="0" err="1" smtClean="0">
                <a:solidFill>
                  <a:schemeClr val="accent2">
                    <a:lumMod val="75000"/>
                  </a:schemeClr>
                </a:solidFill>
                <a:latin typeface="Nanum Brush Script" charset="-127"/>
                <a:ea typeface="Nanum Brush Script" charset="-127"/>
                <a:cs typeface="Nanum Brush Script" charset="-127"/>
              </a:rPr>
              <a:t>T</a:t>
            </a:r>
            <a:r>
              <a:rPr lang="en-GB" sz="2000" dirty="0" err="1" smtClean="0">
                <a:latin typeface="Nanum Brush Script" charset="-127"/>
                <a:ea typeface="Nanum Brush Script" charset="-127"/>
                <a:cs typeface="Nanum Brush Script" charset="-127"/>
              </a:rPr>
              <a:t>hink</a:t>
            </a:r>
            <a:r>
              <a:rPr lang="en-GB" sz="2400" dirty="0" err="1" smtClean="0">
                <a:solidFill>
                  <a:schemeClr val="accent2">
                    <a:lumMod val="75000"/>
                  </a:schemeClr>
                </a:solidFill>
                <a:latin typeface="Nanum Brush Script" charset="-127"/>
                <a:ea typeface="Nanum Brush Script" charset="-127"/>
                <a:cs typeface="Nanum Brush Script" charset="-127"/>
              </a:rPr>
              <a:t>IT</a:t>
            </a:r>
            <a:r>
              <a:rPr lang="en-GB" sz="2000" dirty="0" smtClean="0">
                <a:latin typeface="Nanum Brush Script" charset="-127"/>
                <a:ea typeface="Nanum Brush Script" charset="-127"/>
                <a:cs typeface="Nanum Brush Script" charset="-127"/>
              </a:rPr>
              <a:t>! </a:t>
            </a:r>
            <a:endParaRPr lang="en-GB" sz="4400" dirty="0">
              <a:latin typeface="Nanum Brush Script" charset="-127"/>
              <a:ea typeface="Nanum Brush Script" charset="-127"/>
              <a:cs typeface="Nanum Brush Script" charset="-127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121041" y="152724"/>
            <a:ext cx="2875672" cy="201897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200" b="1" kern="0" dirty="0" smtClean="0">
                <a:solidFill>
                  <a:srgbClr val="000000"/>
                </a:solidFill>
                <a:ea typeface="Chalkduster"/>
                <a:cs typeface="Chalkduster"/>
              </a:rPr>
              <a:t>Practical:</a:t>
            </a:r>
            <a:endParaRPr lang="en-GB" sz="1200" b="1" dirty="0" smtClean="0">
              <a:latin typeface="Chalkduster" charset="0"/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r>
              <a:rPr lang="en-GB" sz="1100" dirty="0" smtClean="0">
                <a:ea typeface="Chalkduster" charset="0"/>
                <a:cs typeface="Chalkduster" charset="0"/>
              </a:rPr>
              <a:t>Explain why, if soluble salts are prepared from an acid and an insoluble reactant: excess of the reactant is added; the excess reactant is removed; the solution remaining is only salt and water.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 smtClean="0">
                <a:ea typeface="Chalkduster" charset="0"/>
                <a:cs typeface="Chalkduster" charset="0"/>
              </a:rPr>
              <a:t>Explain why, if soluble salts are prepared from an acid and a soluble reactant: titration must be used; the acid and the soluble reactant are then mixed in the correct proportions.</a:t>
            </a:r>
            <a:endParaRPr lang="en-GB" sz="1100" dirty="0" smtClean="0">
              <a:ea typeface="Chalkduster" charset="0"/>
              <a:cs typeface="Chalkduster" charset="0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153222" y="152725"/>
            <a:ext cx="2926990" cy="201897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Reactions of Metals with Acids</a:t>
            </a:r>
            <a:r>
              <a:rPr lang="en-GB" sz="1200" b="1" dirty="0" smtClean="0">
                <a:solidFill>
                  <a:srgbClr val="000000"/>
                </a:solidFill>
                <a:ea typeface="Chalkduster"/>
                <a:cs typeface="Chalkduster"/>
              </a:rPr>
              <a:t>:</a:t>
            </a:r>
            <a:endParaRPr lang="en-GB" sz="1200" b="1" dirty="0">
              <a:solidFill>
                <a:srgbClr val="000000"/>
              </a:solidFill>
              <a:effectLst>
                <a:outerShdw dist="38096" dir="2700000">
                  <a:srgbClr val="000000"/>
                </a:outerShdw>
              </a:effectLst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Explain why copper </a:t>
            </a:r>
            <a:r>
              <a:rPr lang="en-GB" sz="1100" dirty="0" err="1">
                <a:solidFill>
                  <a:srgbClr val="000000"/>
                </a:solidFill>
                <a:ea typeface="Chalkduster"/>
                <a:cs typeface="Chalkduster"/>
              </a:rPr>
              <a:t>sulfate</a:t>
            </a: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 cannot be made by adding copper metal to sulfuric acid.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Explain why potassium chloride should not be made by reacting potassium metal with hydrochloric acid.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(HT only) Explain why the reaction between zinc and hydrochloric acid is a redox reaction.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endParaRPr lang="en-GB" sz="1200" dirty="0" smtClean="0">
              <a:ea typeface="Chalkduster" charset="0"/>
              <a:cs typeface="Chalkduster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121041" y="2234553"/>
            <a:ext cx="2886402" cy="237092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Electrolysis: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Explain</a:t>
            </a: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 the differences between the electrolysis of molten sodium chloride and the electrolysis of sodium chloride solution.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To carry out the electrolysis of water, sulfuric acid is added.  How does the addition of sulfuric acid produce a conducting solution?</a:t>
            </a:r>
            <a:endParaRPr lang="en-GB" sz="11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b="1" dirty="0">
                <a:solidFill>
                  <a:srgbClr val="000000"/>
                </a:solidFill>
                <a:ea typeface="Chalkduster"/>
                <a:cs typeface="Chalkduster"/>
              </a:rPr>
              <a:t>(HT only) </a:t>
            </a: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Describe the electrolysis of lithium fluoride solution using half equations</a:t>
            </a:r>
            <a:r>
              <a:rPr lang="en-GB" sz="1100" dirty="0" smtClean="0">
                <a:solidFill>
                  <a:srgbClr val="000000"/>
                </a:solidFill>
                <a:ea typeface="Chalkduster"/>
                <a:cs typeface="Chalkduster"/>
              </a:rPr>
              <a:t>.</a:t>
            </a:r>
            <a:endParaRPr lang="en-GB" sz="1100" dirty="0" smtClean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121041" y="4684293"/>
            <a:ext cx="2875672" cy="201378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Electrolysis: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Explain why ionic substances only conduct electricity when molten or in an aqueous solution.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Suggest why aluminium knives and forks used to be more precious than gold in the 19th century.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b="1" kern="0" dirty="0">
                <a:solidFill>
                  <a:srgbClr val="000000"/>
                </a:solidFill>
                <a:ea typeface="Chalkduster"/>
                <a:cs typeface="Chalkduster"/>
              </a:rPr>
              <a:t>(</a:t>
            </a:r>
            <a:r>
              <a:rPr lang="en-GB" sz="1100" b="1" dirty="0">
                <a:solidFill>
                  <a:srgbClr val="000000"/>
                </a:solidFill>
                <a:ea typeface="Chalkduster"/>
                <a:cs typeface="Chalkduster"/>
              </a:rPr>
              <a:t>HT only) </a:t>
            </a: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Explain using half equations which ions are oxidised and which ions are reduced in the electrolysis of aluminium oxide</a:t>
            </a:r>
            <a:r>
              <a:rPr lang="en-GB" sz="1100" dirty="0" smtClean="0">
                <a:solidFill>
                  <a:srgbClr val="000000"/>
                </a:solidFill>
                <a:ea typeface="Chalkduster"/>
                <a:cs typeface="Chalkduster"/>
              </a:rPr>
              <a:t>.</a:t>
            </a:r>
            <a:endParaRPr lang="en-GB" sz="1200" dirty="0" smtClean="0">
              <a:latin typeface="Chalkduster" charset="0"/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145556" y="4684294"/>
            <a:ext cx="2934656" cy="200967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Salts: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How could scientists identify an unknown chemical as being a carbonate?</a:t>
            </a:r>
            <a:endParaRPr lang="en-GB" sz="11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Explain a method to show how  lithium chloride can be synthesised in the laboratory.</a:t>
            </a:r>
            <a:endParaRPr lang="en-GB" sz="1100" kern="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A sample of copper sulphate crystals was accidently contaminated with sand.  </a:t>
            </a: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Describe the method to regain the pure copper sulphate crystal back again.</a:t>
            </a: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 </a:t>
            </a:r>
          </a:p>
          <a:p>
            <a:r>
              <a:rPr lang="en-GB" sz="1200" dirty="0" smtClean="0">
                <a:latin typeface="Chalkduster" charset="0"/>
                <a:ea typeface="Chalkduster" charset="0"/>
                <a:cs typeface="Chalkduster" charset="0"/>
              </a:rPr>
              <a:t>:</a:t>
            </a:r>
            <a:endParaRPr lang="en-GB" sz="1200" dirty="0" smtClean="0">
              <a:latin typeface="Chalkduster" charset="0"/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200" dirty="0" smtClean="0">
              <a:ea typeface="Chalkduster" charset="0"/>
              <a:cs typeface="Chalkduster" charset="0"/>
            </a:endParaRPr>
          </a:p>
          <a:p>
            <a:endParaRPr lang="en-GB" sz="1200" dirty="0" smtClean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93290" y="4684293"/>
            <a:ext cx="2861220" cy="200301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Identification of common gases</a:t>
            </a:r>
            <a:r>
              <a:rPr lang="en-GB" sz="1200" b="1" dirty="0" smtClean="0">
                <a:solidFill>
                  <a:srgbClr val="000000"/>
                </a:solidFill>
                <a:ea typeface="Chalkduster"/>
                <a:cs typeface="Chalkduster"/>
              </a:rPr>
              <a:t>:</a:t>
            </a: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200" b="1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A lit splint is put into a test tube of an unknown gas, the splint goes out. Describe how you could prove that the gas is carbon dioxide.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Which two gases cannot be in the test tube? Explain your answer.</a:t>
            </a:r>
          </a:p>
          <a:p>
            <a:endParaRPr lang="en-GB" sz="1200" dirty="0" smtClean="0">
              <a:latin typeface="Chalkduster" charset="0"/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153222" y="2234553"/>
            <a:ext cx="2921202" cy="237092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 smtClean="0">
                <a:solidFill>
                  <a:srgbClr val="000000"/>
                </a:solidFill>
                <a:ea typeface="Chalkduster"/>
                <a:cs typeface="Chalkduster"/>
              </a:rPr>
              <a:t>Titrations:</a:t>
            </a:r>
            <a:endParaRPr lang="en-GB" sz="1200" b="1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800" b="1" dirty="0">
              <a:solidFill>
                <a:srgbClr val="000000"/>
              </a:solidFill>
              <a:effectLst>
                <a:outerShdw dist="38096" dir="2700000">
                  <a:srgbClr val="000000"/>
                </a:outerShdw>
              </a:effectLst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alibri" pitchFamily="34"/>
              </a:rPr>
              <a:t>Describe how to accurately calculate the reacting volumes of strong </a:t>
            </a:r>
            <a:r>
              <a:rPr lang="en-GB" sz="1100" kern="0" dirty="0">
                <a:solidFill>
                  <a:srgbClr val="000000"/>
                </a:solidFill>
                <a:ea typeface="Chalkduster"/>
                <a:cs typeface="Calibri" pitchFamily="34"/>
              </a:rPr>
              <a:t>hydrochloric acid</a:t>
            </a:r>
            <a:r>
              <a:rPr lang="en-GB" sz="1100" dirty="0">
                <a:solidFill>
                  <a:srgbClr val="000000"/>
                </a:solidFill>
                <a:ea typeface="Chalkduster"/>
                <a:cs typeface="Calibri" pitchFamily="34"/>
              </a:rPr>
              <a:t> and strong sodium hydroxide solution.</a:t>
            </a: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alibri" pitchFamily="34"/>
              </a:rPr>
              <a:t>Explain how to calculate the concentration of sodium hydroxide solution needed  if </a:t>
            </a:r>
            <a:r>
              <a:rPr lang="en-GB" sz="1100" dirty="0">
                <a:solidFill>
                  <a:srgbClr val="000000"/>
                </a:solidFill>
              </a:rPr>
              <a:t>27.5 cm</a:t>
            </a:r>
            <a:r>
              <a:rPr lang="en-GB" sz="1100" baseline="30000" dirty="0">
                <a:solidFill>
                  <a:srgbClr val="000000"/>
                </a:solidFill>
              </a:rPr>
              <a:t>3</a:t>
            </a:r>
            <a:r>
              <a:rPr lang="en-GB" sz="1100" dirty="0">
                <a:solidFill>
                  <a:srgbClr val="000000"/>
                </a:solidFill>
              </a:rPr>
              <a:t> of 0.2 </a:t>
            </a:r>
            <a:r>
              <a:rPr lang="en-GB" sz="1100" dirty="0" err="1">
                <a:solidFill>
                  <a:srgbClr val="000000"/>
                </a:solidFill>
              </a:rPr>
              <a:t>mol</a:t>
            </a:r>
            <a:r>
              <a:rPr lang="en-GB" sz="1100" dirty="0">
                <a:solidFill>
                  <a:srgbClr val="000000"/>
                </a:solidFill>
              </a:rPr>
              <a:t>/dm</a:t>
            </a:r>
            <a:r>
              <a:rPr lang="en-GB" sz="1100" baseline="30000" dirty="0">
                <a:solidFill>
                  <a:srgbClr val="000000"/>
                </a:solidFill>
              </a:rPr>
              <a:t>3</a:t>
            </a:r>
            <a:r>
              <a:rPr lang="en-GB" sz="1100" dirty="0">
                <a:solidFill>
                  <a:srgbClr val="000000"/>
                </a:solidFill>
              </a:rPr>
              <a:t> hydrochloric acid is required to titrate 25.0 cm</a:t>
            </a:r>
            <a:r>
              <a:rPr lang="en-GB" sz="1100" baseline="30000" dirty="0">
                <a:solidFill>
                  <a:srgbClr val="000000"/>
                </a:solidFill>
              </a:rPr>
              <a:t>3</a:t>
            </a:r>
            <a:r>
              <a:rPr lang="en-GB" sz="1100" dirty="0">
                <a:solidFill>
                  <a:srgbClr val="000000"/>
                </a:solidFill>
              </a:rPr>
              <a:t> of sodium hydroxide solution. </a:t>
            </a:r>
            <a:endParaRPr lang="en-GB" sz="1100" dirty="0">
              <a:solidFill>
                <a:srgbClr val="000000"/>
              </a:solidFill>
              <a:ea typeface="Chalkduster"/>
              <a:cs typeface="Calibri" pitchFamily="34"/>
            </a:endParaRPr>
          </a:p>
          <a:p>
            <a:r>
              <a:rPr lang="en-GB" sz="1200" dirty="0" smtClean="0">
                <a:latin typeface="Chalkduster" charset="0"/>
                <a:ea typeface="Chalkduster" charset="0"/>
                <a:cs typeface="Chalkduster" charset="0"/>
              </a:rPr>
              <a:t>:</a:t>
            </a:r>
            <a:endParaRPr lang="en-GB" sz="1200" dirty="0" smtClean="0">
              <a:latin typeface="Chalkduster" charset="0"/>
              <a:ea typeface="Chalkduster" charset="0"/>
              <a:cs typeface="Chalkduster" charset="0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3161206" y="152724"/>
            <a:ext cx="2893304" cy="20818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kern="0" dirty="0" smtClean="0">
                <a:solidFill>
                  <a:srgbClr val="000000"/>
                </a:solidFill>
                <a:ea typeface="Chalkduster"/>
                <a:cs typeface="Chalkduster"/>
              </a:rPr>
              <a:t>pH and neutralisation:</a:t>
            </a:r>
            <a:endParaRPr lang="en-GB" sz="1200" b="1" kern="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 smtClean="0">
                <a:solidFill>
                  <a:srgbClr val="000000"/>
                </a:solidFill>
                <a:ea typeface="Chalkduster" charset="0"/>
                <a:cs typeface="Chalkduster" charset="0"/>
              </a:rPr>
              <a:t>Recall the effects of acids and alkalis on the following indicators: litmus, methyl orange and phenolphthalein.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 smtClean="0">
                <a:solidFill>
                  <a:srgbClr val="000000"/>
                </a:solidFill>
                <a:ea typeface="Chalkduster" charset="0"/>
                <a:cs typeface="Chalkduster" charset="0"/>
              </a:rPr>
              <a:t>Explain why universal indicator is a poor indicator for use in titrations.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 smtClean="0">
                <a:solidFill>
                  <a:srgbClr val="000000"/>
                </a:solidFill>
                <a:ea typeface="Chalkduster" charset="0"/>
                <a:cs typeface="Chalkduster" charset="0"/>
              </a:rPr>
              <a:t>Explain why there is a difference in pH between hydrochloric acid and ethanoic acid of the same concentration.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 smtClean="0">
                <a:solidFill>
                  <a:srgbClr val="000000"/>
                </a:solidFill>
                <a:ea typeface="Chalkduster" charset="0"/>
                <a:cs typeface="Chalkduster" charset="0"/>
              </a:rPr>
              <a:t>How does water affect the properties of ethanoic acid?</a:t>
            </a:r>
            <a:endParaRPr lang="en-GB" sz="1100" dirty="0" smtClean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501683" y="4351561"/>
            <a:ext cx="21802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© Copyright The PiXL Club Ltd, </a:t>
            </a:r>
            <a:r>
              <a:rPr lang="en-GB" sz="1000" dirty="0" smtClean="0"/>
              <a:t>2017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31778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THINKIT" id="{999C12DA-BDAB-614A-AF3B-CC505B52B3A9}" vid="{2545354F-674C-8E45-97A2-0D9EB86DC1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THINKIT</Template>
  <TotalTime>37</TotalTime>
  <Words>470</Words>
  <Application>Microsoft Office PowerPoint</Application>
  <PresentationFormat>On-screen Show (4:3)</PresentationFormat>
  <Paragraphs>41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Chalkduster</vt:lpstr>
      <vt:lpstr>Nanum Brush Script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Karen Collins</dc:creator>
  <cp:lastModifiedBy>Karen Collins</cp:lastModifiedBy>
  <cp:revision>10</cp:revision>
  <cp:lastPrinted>2017-02-15T18:44:41Z</cp:lastPrinted>
  <dcterms:created xsi:type="dcterms:W3CDTF">2018-03-12T07:31:08Z</dcterms:created>
  <dcterms:modified xsi:type="dcterms:W3CDTF">2018-03-12T08:10:24Z</dcterms:modified>
</cp:coreProperties>
</file>