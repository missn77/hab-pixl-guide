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9.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54"/>
  </p:notesMasterIdLst>
  <p:sldIdLst>
    <p:sldId id="256" r:id="rId4"/>
    <p:sldId id="281" r:id="rId5"/>
    <p:sldId id="317" r:id="rId6"/>
    <p:sldId id="535" r:id="rId7"/>
    <p:sldId id="549" r:id="rId8"/>
    <p:sldId id="507" r:id="rId9"/>
    <p:sldId id="491" r:id="rId10"/>
    <p:sldId id="506" r:id="rId11"/>
    <p:sldId id="403" r:id="rId12"/>
    <p:sldId id="558" r:id="rId13"/>
    <p:sldId id="559" r:id="rId14"/>
    <p:sldId id="560" r:id="rId15"/>
    <p:sldId id="405" r:id="rId16"/>
    <p:sldId id="522" r:id="rId17"/>
    <p:sldId id="550" r:id="rId18"/>
    <p:sldId id="551" r:id="rId19"/>
    <p:sldId id="379" r:id="rId20"/>
    <p:sldId id="497" r:id="rId21"/>
    <p:sldId id="536" r:id="rId22"/>
    <p:sldId id="516" r:id="rId23"/>
    <p:sldId id="537" r:id="rId24"/>
    <p:sldId id="508" r:id="rId25"/>
    <p:sldId id="557" r:id="rId26"/>
    <p:sldId id="406" r:id="rId27"/>
    <p:sldId id="523" r:id="rId28"/>
    <p:sldId id="552" r:id="rId29"/>
    <p:sldId id="553" r:id="rId30"/>
    <p:sldId id="408" r:id="rId31"/>
    <p:sldId id="554" r:id="rId32"/>
    <p:sldId id="555" r:id="rId33"/>
    <p:sldId id="556" r:id="rId34"/>
    <p:sldId id="383" r:id="rId35"/>
    <p:sldId id="492" r:id="rId36"/>
    <p:sldId id="494" r:id="rId37"/>
    <p:sldId id="495" r:id="rId38"/>
    <p:sldId id="545" r:id="rId39"/>
    <p:sldId id="476" r:id="rId40"/>
    <p:sldId id="561" r:id="rId41"/>
    <p:sldId id="562" r:id="rId42"/>
    <p:sldId id="477" r:id="rId43"/>
    <p:sldId id="563" r:id="rId44"/>
    <p:sldId id="564" r:id="rId45"/>
    <p:sldId id="538" r:id="rId46"/>
    <p:sldId id="539" r:id="rId47"/>
    <p:sldId id="546" r:id="rId48"/>
    <p:sldId id="540" r:id="rId49"/>
    <p:sldId id="566" r:id="rId50"/>
    <p:sldId id="547" r:id="rId51"/>
    <p:sldId id="565" r:id="rId52"/>
    <p:sldId id="567"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48"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55" autoAdjust="0"/>
    <p:restoredTop sz="92868" autoAdjust="0"/>
  </p:normalViewPr>
  <p:slideViewPr>
    <p:cSldViewPr>
      <p:cViewPr varScale="1">
        <p:scale>
          <a:sx n="72" d="100"/>
          <a:sy n="72" d="100"/>
        </p:scale>
        <p:origin x="1500"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6408"/>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commentAuthors" Target="commen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2/9/2018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4199203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728qEqtHVAhWBWBQKHRPTD38QjRwIBw&amp;url=https%3A%2F%2Fdc.edu.au%2Fhsc-chemistry-acidic-environment%2F&amp;psig=AFQjCNG5fBPM30-007AJ_qlijTuBxZFN2g&amp;ust=1502614668234720</a:t>
            </a:r>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926344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https://opentextbc.ca/anatomyandphysiology/wp-content/uploads/sites/142/2016/03/2713_pH_Scale-01.jpg</a:t>
            </a:r>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a:p>
        </p:txBody>
      </p:sp>
    </p:spTree>
    <p:extLst>
      <p:ext uri="{BB962C8B-B14F-4D97-AF65-F5344CB8AC3E}">
        <p14:creationId xmlns:p14="http://schemas.microsoft.com/office/powerpoint/2010/main" val="3923897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728qEqtHVAhWBWBQKHRPTD38QjRwIBw&amp;url=https%3A%2F%2Fdc.edu.au%2Fhsc-chemistry-acidic-environment%2F&amp;psig=AFQjCNG5fBPM30-007AJ_qlijTuBxZFN2g&amp;ust=1502614668234720</a:t>
            </a:r>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a:p>
        </p:txBody>
      </p:sp>
    </p:spTree>
    <p:extLst>
      <p:ext uri="{BB962C8B-B14F-4D97-AF65-F5344CB8AC3E}">
        <p14:creationId xmlns:p14="http://schemas.microsoft.com/office/powerpoint/2010/main" val="616147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a:p>
        </p:txBody>
      </p:sp>
    </p:spTree>
    <p:extLst>
      <p:ext uri="{BB962C8B-B14F-4D97-AF65-F5344CB8AC3E}">
        <p14:creationId xmlns:p14="http://schemas.microsoft.com/office/powerpoint/2010/main" val="808791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a:p>
        </p:txBody>
      </p:sp>
    </p:spTree>
    <p:extLst>
      <p:ext uri="{BB962C8B-B14F-4D97-AF65-F5344CB8AC3E}">
        <p14:creationId xmlns:p14="http://schemas.microsoft.com/office/powerpoint/2010/main" val="1473909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a:p>
        </p:txBody>
      </p:sp>
    </p:spTree>
    <p:extLst>
      <p:ext uri="{BB962C8B-B14F-4D97-AF65-F5344CB8AC3E}">
        <p14:creationId xmlns:p14="http://schemas.microsoft.com/office/powerpoint/2010/main" val="141252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13</a:t>
            </a:fld>
            <a:endParaRPr lang="en-US" dirty="0"/>
          </a:p>
        </p:txBody>
      </p:sp>
    </p:spTree>
    <p:extLst>
      <p:ext uri="{BB962C8B-B14F-4D97-AF65-F5344CB8AC3E}">
        <p14:creationId xmlns:p14="http://schemas.microsoft.com/office/powerpoint/2010/main" val="4139235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a:p>
        </p:txBody>
      </p:sp>
    </p:spTree>
    <p:extLst>
      <p:ext uri="{BB962C8B-B14F-4D97-AF65-F5344CB8AC3E}">
        <p14:creationId xmlns:p14="http://schemas.microsoft.com/office/powerpoint/2010/main" val="3720061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a:p>
        </p:txBody>
      </p:sp>
    </p:spTree>
    <p:extLst>
      <p:ext uri="{BB962C8B-B14F-4D97-AF65-F5344CB8AC3E}">
        <p14:creationId xmlns:p14="http://schemas.microsoft.com/office/powerpoint/2010/main" val="3862619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dirty="0"/>
          </a:p>
        </p:txBody>
      </p:sp>
    </p:spTree>
    <p:extLst>
      <p:ext uri="{BB962C8B-B14F-4D97-AF65-F5344CB8AC3E}">
        <p14:creationId xmlns:p14="http://schemas.microsoft.com/office/powerpoint/2010/main" val="308363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rr9O3pNHVAhUHvRQKHZ_IAe0QjRwIBw&amp;url=https%3A%2F%2Ftaytaynm.wordpress.com%2F2014%2F05%2F01%2Fwho-cares-about-titration%2F&amp;psig=AFQjCNHoK3AhdASNaybmu_T9HzIcQoxVjg&amp;ust=1502612966877529</a:t>
            </a:r>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a:p>
        </p:txBody>
      </p:sp>
    </p:spTree>
    <p:extLst>
      <p:ext uri="{BB962C8B-B14F-4D97-AF65-F5344CB8AC3E}">
        <p14:creationId xmlns:p14="http://schemas.microsoft.com/office/powerpoint/2010/main" val="6581511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dirty="0"/>
          </a:p>
        </p:txBody>
      </p:sp>
    </p:spTree>
    <p:extLst>
      <p:ext uri="{BB962C8B-B14F-4D97-AF65-F5344CB8AC3E}">
        <p14:creationId xmlns:p14="http://schemas.microsoft.com/office/powerpoint/2010/main" val="863735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ttps://www.google.co.uk/url?sa=i&amp;rct=j&amp;q=&amp;esrc=s&amp;source=images&amp;cd=&amp;cad=rja&amp;uact=8&amp;ved=0ahUKEwjl6OrzgdHVAhXKOxQKHVXZCWMQjRwIBw&amp;url=http%3A%2F%2Fwww.docbrown.info%2Fpage03%2FAcidsBasesSalts06b.htm&amp;psig=AFQjCNEGXguuSJFjPV4Fhv0gS1lj7C5dJw&amp;ust=1502603833131650</a:t>
            </a:r>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a:p>
        </p:txBody>
      </p:sp>
    </p:spTree>
    <p:extLst>
      <p:ext uri="{BB962C8B-B14F-4D97-AF65-F5344CB8AC3E}">
        <p14:creationId xmlns:p14="http://schemas.microsoft.com/office/powerpoint/2010/main" val="4262388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ttps://www.google.co.uk/url?sa=i&amp;rct=j&amp;q=&amp;esrc=s&amp;source=images&amp;cd=&amp;cad=rja&amp;uact=8&amp;ved=0ahUKEwjl6OrzgdHVAhXKOxQKHVXZCWMQjRwIBw&amp;url=http%3A%2F%2Fwww.docbrown.info%2Fpage03%2FAcidsBasesSalts06b.htm&amp;psig=AFQjCNEGXguuSJFjPV4Fhv0gS1lj7C5dJw&amp;ust=1502603833131650</a:t>
            </a:r>
          </a:p>
        </p:txBody>
      </p:sp>
      <p:sp>
        <p:nvSpPr>
          <p:cNvPr id="4" name="Slide Number Placeholder 3"/>
          <p:cNvSpPr>
            <a:spLocks noGrp="1"/>
          </p:cNvSpPr>
          <p:nvPr>
            <p:ph type="sldNum" sz="quarter" idx="10"/>
          </p:nvPr>
        </p:nvSpPr>
        <p:spPr/>
        <p:txBody>
          <a:bodyPr/>
          <a:lstStyle/>
          <a:p>
            <a:fld id="{2C9D32D9-63A9-423F-8B77-368638260D4D}" type="slidenum">
              <a:rPr lang="en-US" smtClean="0"/>
              <a:t>23</a:t>
            </a:fld>
            <a:endParaRPr lang="en-US"/>
          </a:p>
        </p:txBody>
      </p:sp>
    </p:spTree>
    <p:extLst>
      <p:ext uri="{BB962C8B-B14F-4D97-AF65-F5344CB8AC3E}">
        <p14:creationId xmlns:p14="http://schemas.microsoft.com/office/powerpoint/2010/main" val="1399158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a:p>
        </p:txBody>
      </p:sp>
    </p:spTree>
    <p:extLst>
      <p:ext uri="{BB962C8B-B14F-4D97-AF65-F5344CB8AC3E}">
        <p14:creationId xmlns:p14="http://schemas.microsoft.com/office/powerpoint/2010/main" val="4170459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dirty="0"/>
          </a:p>
        </p:txBody>
      </p:sp>
    </p:spTree>
    <p:extLst>
      <p:ext uri="{BB962C8B-B14F-4D97-AF65-F5344CB8AC3E}">
        <p14:creationId xmlns:p14="http://schemas.microsoft.com/office/powerpoint/2010/main" val="1572386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a:p>
        </p:txBody>
      </p:sp>
    </p:spTree>
    <p:extLst>
      <p:ext uri="{BB962C8B-B14F-4D97-AF65-F5344CB8AC3E}">
        <p14:creationId xmlns:p14="http://schemas.microsoft.com/office/powerpoint/2010/main" val="30289687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a:p>
        </p:txBody>
      </p:sp>
    </p:spTree>
    <p:extLst>
      <p:ext uri="{BB962C8B-B14F-4D97-AF65-F5344CB8AC3E}">
        <p14:creationId xmlns:p14="http://schemas.microsoft.com/office/powerpoint/2010/main" val="434554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https://bam.files.bbci.co.uk/bam/live/content/zcwngk7/large</a:t>
            </a:r>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a:p>
        </p:txBody>
      </p:sp>
    </p:spTree>
    <p:extLst>
      <p:ext uri="{BB962C8B-B14F-4D97-AF65-F5344CB8AC3E}">
        <p14:creationId xmlns:p14="http://schemas.microsoft.com/office/powerpoint/2010/main" val="23906602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https://bam.files.bbci.co.uk/bam/live/content/zbktvcw/large</a:t>
            </a:r>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a:p>
        </p:txBody>
      </p:sp>
    </p:spTree>
    <p:extLst>
      <p:ext uri="{BB962C8B-B14F-4D97-AF65-F5344CB8AC3E}">
        <p14:creationId xmlns:p14="http://schemas.microsoft.com/office/powerpoint/2010/main" val="1598850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https://bam.files.bbci.co.uk/bam/live/content/zcwngk7/large</a:t>
            </a:r>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a:p>
        </p:txBody>
      </p:sp>
    </p:spTree>
    <p:extLst>
      <p:ext uri="{BB962C8B-B14F-4D97-AF65-F5344CB8AC3E}">
        <p14:creationId xmlns:p14="http://schemas.microsoft.com/office/powerpoint/2010/main" val="32566317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a:p>
        </p:txBody>
      </p:sp>
    </p:spTree>
    <p:extLst>
      <p:ext uri="{BB962C8B-B14F-4D97-AF65-F5344CB8AC3E}">
        <p14:creationId xmlns:p14="http://schemas.microsoft.com/office/powerpoint/2010/main" val="1069452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dirty="0"/>
          </a:p>
        </p:txBody>
      </p:sp>
    </p:spTree>
    <p:extLst>
      <p:ext uri="{BB962C8B-B14F-4D97-AF65-F5344CB8AC3E}">
        <p14:creationId xmlns:p14="http://schemas.microsoft.com/office/powerpoint/2010/main" val="12192946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a:p>
        </p:txBody>
      </p:sp>
    </p:spTree>
    <p:extLst>
      <p:ext uri="{BB962C8B-B14F-4D97-AF65-F5344CB8AC3E}">
        <p14:creationId xmlns:p14="http://schemas.microsoft.com/office/powerpoint/2010/main" val="42207332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https://bam.files.bbci.co.uk/bam/live/content/zcwngk7/large</a:t>
            </a:r>
          </a:p>
        </p:txBody>
      </p:sp>
      <p:sp>
        <p:nvSpPr>
          <p:cNvPr id="4" name="Slide Number Placeholder 3"/>
          <p:cNvSpPr>
            <a:spLocks noGrp="1"/>
          </p:cNvSpPr>
          <p:nvPr>
            <p:ph type="sldNum" sz="quarter" idx="10"/>
          </p:nvPr>
        </p:nvSpPr>
        <p:spPr/>
        <p:txBody>
          <a:bodyPr/>
          <a:lstStyle/>
          <a:p>
            <a:fld id="{2C9D32D9-63A9-423F-8B77-368638260D4D}" type="slidenum">
              <a:rPr lang="en-US" smtClean="0"/>
              <a:t>44</a:t>
            </a:fld>
            <a:endParaRPr lang="en-US"/>
          </a:p>
        </p:txBody>
      </p:sp>
    </p:spTree>
    <p:extLst>
      <p:ext uri="{BB962C8B-B14F-4D97-AF65-F5344CB8AC3E}">
        <p14:creationId xmlns:p14="http://schemas.microsoft.com/office/powerpoint/2010/main" val="42154087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a:p>
        </p:txBody>
      </p:sp>
    </p:spTree>
    <p:extLst>
      <p:ext uri="{BB962C8B-B14F-4D97-AF65-F5344CB8AC3E}">
        <p14:creationId xmlns:p14="http://schemas.microsoft.com/office/powerpoint/2010/main" val="18546643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3990416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09/02/2018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09/02/2018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09/02/2018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09/02/2018</a:t>
            </a:fld>
            <a:endParaRPr lang="en-GB"/>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09/02/2018</a:t>
            </a:fld>
            <a:endParaRPr lang="en-GB"/>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09/02/2018</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09/02/2018</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jwgruz1PrWAhWJ1xoKHXbHAZsQjRwIBw&amp;url=https://chemstuff.co.uk/analytical-chemistry/tests-for-gases/&amp;psig=AOvVaw0oP7dTD6f2bMYtR8oXHqUg&amp;ust=1508432814779647"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065728"/>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Edexcel Topic – Chemical changes</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5655"/>
            <a:ext cx="6660232"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Chemical changes</a:t>
            </a:r>
          </a:p>
        </p:txBody>
      </p:sp>
      <p:sp>
        <p:nvSpPr>
          <p:cNvPr id="3" name="Subtitle 2"/>
          <p:cNvSpPr>
            <a:spLocks noGrp="1"/>
          </p:cNvSpPr>
          <p:nvPr>
            <p:ph type="subTitle" idx="1"/>
          </p:nvPr>
        </p:nvSpPr>
        <p:spPr>
          <a:xfrm>
            <a:off x="206805" y="809328"/>
            <a:ext cx="5607079" cy="6048672"/>
          </a:xfrm>
        </p:spPr>
        <p:txBody>
          <a:bodyPr>
            <a:normAutofit/>
          </a:bodyPr>
          <a:lstStyle/>
          <a:p>
            <a:pPr algn="l"/>
            <a:r>
              <a:rPr lang="en-US" sz="2000" b="1" dirty="0">
                <a:solidFill>
                  <a:schemeClr val="tx1"/>
                </a:solidFill>
                <a:latin typeface="+mn-lt"/>
              </a:rPr>
              <a:t>Reactions of acids</a:t>
            </a:r>
          </a:p>
          <a:p>
            <a:pPr marL="685800" lvl="1" indent="-342900" algn="l">
              <a:buFont typeface="Arial" charset="0"/>
              <a:buChar char="•"/>
            </a:pPr>
            <a:r>
              <a:rPr lang="en-US" sz="2000" dirty="0">
                <a:solidFill>
                  <a:schemeClr val="tx1"/>
                </a:solidFill>
              </a:rPr>
              <a:t>Acids and alkalis</a:t>
            </a:r>
          </a:p>
          <a:p>
            <a:pPr marL="685800" lvl="1" indent="-342900" algn="l">
              <a:buFont typeface="Arial" charset="0"/>
              <a:buChar char="•"/>
            </a:pPr>
            <a:r>
              <a:rPr lang="en-US" sz="2000" dirty="0">
                <a:solidFill>
                  <a:schemeClr val="tx1"/>
                </a:solidFill>
              </a:rPr>
              <a:t>Indicators</a:t>
            </a:r>
          </a:p>
          <a:p>
            <a:pPr marL="685800" lvl="1" indent="-342900" algn="l">
              <a:buFont typeface="Arial" charset="0"/>
              <a:buChar char="•"/>
            </a:pPr>
            <a:r>
              <a:rPr lang="en-US" sz="2000" dirty="0">
                <a:solidFill>
                  <a:schemeClr val="tx1"/>
                </a:solidFill>
              </a:rPr>
              <a:t>Strong and weak acids (HT)</a:t>
            </a:r>
          </a:p>
          <a:p>
            <a:pPr marL="685800" lvl="1" indent="-342900" algn="l">
              <a:buFont typeface="Arial" charset="0"/>
              <a:buChar char="•"/>
            </a:pPr>
            <a:r>
              <a:rPr lang="en-US" sz="2000" dirty="0">
                <a:solidFill>
                  <a:schemeClr val="tx1"/>
                </a:solidFill>
              </a:rPr>
              <a:t>Reactions with metals</a:t>
            </a:r>
          </a:p>
          <a:p>
            <a:pPr marL="685800" lvl="1" indent="-342900" algn="l">
              <a:buFont typeface="Arial" charset="0"/>
              <a:buChar char="•"/>
            </a:pPr>
            <a:r>
              <a:rPr lang="en-US" sz="2000" dirty="0">
                <a:solidFill>
                  <a:schemeClr val="tx1"/>
                </a:solidFill>
              </a:rPr>
              <a:t>pH and </a:t>
            </a:r>
            <a:r>
              <a:rPr lang="en-US" sz="2000" dirty="0" err="1">
                <a:solidFill>
                  <a:schemeClr val="tx1"/>
                </a:solidFill>
              </a:rPr>
              <a:t>neutralisation</a:t>
            </a:r>
            <a:endParaRPr lang="en-US" sz="2000" dirty="0">
              <a:solidFill>
                <a:schemeClr val="tx1"/>
              </a:solidFill>
            </a:endParaRPr>
          </a:p>
          <a:p>
            <a:pPr marL="685800" lvl="1" indent="-342900" algn="l">
              <a:buFont typeface="Arial" charset="0"/>
              <a:buChar char="•"/>
            </a:pPr>
            <a:r>
              <a:rPr lang="en-US" sz="2000" dirty="0">
                <a:solidFill>
                  <a:schemeClr val="tx1"/>
                </a:solidFill>
              </a:rPr>
              <a:t>Salts</a:t>
            </a:r>
          </a:p>
          <a:p>
            <a:pPr marL="685800" lvl="1" indent="-342900" algn="l">
              <a:buFont typeface="Arial" charset="0"/>
              <a:buChar char="•"/>
            </a:pPr>
            <a:r>
              <a:rPr lang="en-US" sz="2000" dirty="0">
                <a:solidFill>
                  <a:schemeClr val="tx1"/>
                </a:solidFill>
              </a:rPr>
              <a:t>Titration</a:t>
            </a:r>
          </a:p>
          <a:p>
            <a:pPr marL="685800" lvl="1" indent="-342900" algn="l">
              <a:buFont typeface="Arial" charset="0"/>
              <a:buChar char="•"/>
            </a:pPr>
            <a:r>
              <a:rPr lang="en-US" sz="2000" dirty="0">
                <a:solidFill>
                  <a:schemeClr val="tx1"/>
                </a:solidFill>
              </a:rPr>
              <a:t>Tests for hydrogen and carbon dioxide</a:t>
            </a:r>
          </a:p>
          <a:p>
            <a:pPr algn="l"/>
            <a:r>
              <a:rPr lang="en-US" sz="2000" b="1" dirty="0">
                <a:solidFill>
                  <a:schemeClr val="tx1"/>
                </a:solidFill>
                <a:latin typeface="+mn-lt"/>
              </a:rPr>
              <a:t>Electrolytic processes</a:t>
            </a:r>
          </a:p>
          <a:p>
            <a:pPr marL="685800" lvl="1" indent="-342900" algn="l">
              <a:buFont typeface="Arial" charset="0"/>
              <a:buChar char="•"/>
            </a:pPr>
            <a:r>
              <a:rPr lang="en-US" sz="2000" dirty="0">
                <a:solidFill>
                  <a:schemeClr val="tx1"/>
                </a:solidFill>
              </a:rPr>
              <a:t>Electrolysis of molten ionic compounds</a:t>
            </a:r>
          </a:p>
          <a:p>
            <a:pPr marL="685800" lvl="1" indent="-342900" algn="l">
              <a:buFont typeface="Arial" charset="0"/>
              <a:buChar char="•"/>
            </a:pPr>
            <a:r>
              <a:rPr lang="en-US" sz="2000" dirty="0">
                <a:solidFill>
                  <a:schemeClr val="tx1"/>
                </a:solidFill>
              </a:rPr>
              <a:t>Electrolysis of an aqueous solution</a:t>
            </a:r>
          </a:p>
          <a:p>
            <a:pPr marL="685800" lvl="1" indent="-342900" algn="l">
              <a:buFont typeface="Arial" charset="0"/>
              <a:buChar char="•"/>
            </a:pPr>
            <a:r>
              <a:rPr lang="en-US" sz="2000" dirty="0">
                <a:solidFill>
                  <a:schemeClr val="tx1"/>
                </a:solidFill>
              </a:rPr>
              <a:t>Purification of copper</a:t>
            </a:r>
          </a:p>
          <a:p>
            <a:pPr marL="685800" lvl="1" indent="-342900" algn="l">
              <a:buFont typeface="Arial" charset="0"/>
              <a:buChar char="•"/>
            </a:pPr>
            <a:r>
              <a:rPr lang="en-US" sz="2000" dirty="0">
                <a:solidFill>
                  <a:schemeClr val="tx1"/>
                </a:solidFill>
              </a:rPr>
              <a:t>Representation at electrodes as half equations (HT)</a:t>
            </a:r>
          </a:p>
          <a:p>
            <a:pPr marL="685800" lvl="1" indent="-342900" algn="l">
              <a:buFont typeface="Arial" charset="0"/>
              <a:buChar char="•"/>
            </a:pPr>
            <a:endParaRPr lang="en-US" sz="800" dirty="0">
              <a:solidFill>
                <a:schemeClr val="tx1"/>
              </a:solidFill>
            </a:endParaRPr>
          </a:p>
          <a:p>
            <a:pPr algn="l"/>
            <a:endParaRPr lang="en-GB"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2397" y="1268760"/>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878532"/>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Acids and alkalis</a:t>
            </a:r>
          </a:p>
          <a:p>
            <a:pPr marL="685800" lvl="1" indent="-342900">
              <a:buFont typeface="Arial" charset="0"/>
              <a:buChar char="•"/>
            </a:pPr>
            <a:r>
              <a:rPr lang="en-US" sz="2400" b="1" dirty="0">
                <a:solidFill>
                  <a:schemeClr val="bg1">
                    <a:lumMod val="50000"/>
                  </a:schemeClr>
                </a:solidFill>
              </a:rPr>
              <a:t>Indicators</a:t>
            </a:r>
          </a:p>
          <a:p>
            <a:pPr marL="685800" lvl="1" indent="-342900">
              <a:buFont typeface="Arial" charset="0"/>
              <a:buChar char="•"/>
            </a:pPr>
            <a:r>
              <a:rPr lang="en-US" sz="2400" b="1" dirty="0">
                <a:solidFill>
                  <a:schemeClr val="bg1">
                    <a:lumMod val="50000"/>
                  </a:schemeClr>
                </a:solidFill>
              </a:rPr>
              <a:t>Strong and weak acids (HT)</a:t>
            </a:r>
          </a:p>
          <a:p>
            <a:pPr marL="685800" lvl="1" indent="-342900">
              <a:buFont typeface="Arial" charset="0"/>
              <a:buChar char="•"/>
            </a:pPr>
            <a:r>
              <a:rPr lang="en-US" sz="2400" b="1" dirty="0">
                <a:solidFill>
                  <a:schemeClr val="bg1">
                    <a:lumMod val="50000"/>
                  </a:schemeClr>
                </a:solidFill>
              </a:rPr>
              <a:t>Reactions with metals</a:t>
            </a:r>
          </a:p>
          <a:p>
            <a:endParaRPr lang="en-GB" dirty="0"/>
          </a:p>
        </p:txBody>
      </p:sp>
    </p:spTree>
    <p:extLst>
      <p:ext uri="{BB962C8B-B14F-4D97-AF65-F5344CB8AC3E}">
        <p14:creationId xmlns:p14="http://schemas.microsoft.com/office/powerpoint/2010/main" val="562327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65679"/>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Rectangle 7"/>
          <p:cNvSpPr/>
          <p:nvPr/>
        </p:nvSpPr>
        <p:spPr>
          <a:xfrm>
            <a:off x="123090" y="792194"/>
            <a:ext cx="4389069" cy="27088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800" u="sng" dirty="0"/>
              <a:t>Acids</a:t>
            </a:r>
          </a:p>
          <a:p>
            <a:pPr marL="285750" indent="-285750">
              <a:buFont typeface="Arial" panose="020B0604020202020204" pitchFamily="34" charset="0"/>
              <a:buChar char="•"/>
            </a:pPr>
            <a:r>
              <a:rPr lang="en-GB" dirty="0"/>
              <a:t>Acids in solution are sources of </a:t>
            </a:r>
            <a:r>
              <a:rPr lang="en-GB" b="1" dirty="0"/>
              <a:t>hydrogen ions</a:t>
            </a:r>
            <a:r>
              <a:rPr lang="en-GB" dirty="0"/>
              <a:t>.</a:t>
            </a:r>
          </a:p>
          <a:p>
            <a:pPr marL="285750" indent="-285750">
              <a:buFont typeface="Arial" panose="020B0604020202020204" pitchFamily="34" charset="0"/>
              <a:buChar char="•"/>
            </a:pPr>
            <a:r>
              <a:rPr lang="en-GB" dirty="0"/>
              <a:t>Acidic solutions have </a:t>
            </a:r>
            <a:r>
              <a:rPr lang="en-GB" b="1" dirty="0"/>
              <a:t>lower</a:t>
            </a:r>
            <a:r>
              <a:rPr lang="en-GB" dirty="0"/>
              <a:t> pH values </a:t>
            </a:r>
            <a:r>
              <a:rPr lang="en-GB" b="1" dirty="0"/>
              <a:t>than </a:t>
            </a:r>
            <a:r>
              <a:rPr lang="en-GB" dirty="0"/>
              <a:t>neutral </a:t>
            </a:r>
            <a:r>
              <a:rPr lang="en-GB" b="1" dirty="0"/>
              <a:t>pH 7</a:t>
            </a:r>
            <a:r>
              <a:rPr lang="en-GB" dirty="0"/>
              <a:t>.</a:t>
            </a:r>
          </a:p>
        </p:txBody>
      </p:sp>
      <p:sp>
        <p:nvSpPr>
          <p:cNvPr id="10" name="Rectangle 9"/>
          <p:cNvSpPr/>
          <p:nvPr/>
        </p:nvSpPr>
        <p:spPr>
          <a:xfrm>
            <a:off x="4633545" y="792194"/>
            <a:ext cx="4389069" cy="2708814"/>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800" u="sng" dirty="0"/>
              <a:t>Bases</a:t>
            </a:r>
          </a:p>
          <a:p>
            <a:pPr marL="285750" indent="-285750">
              <a:buFont typeface="Arial" panose="020B0604020202020204" pitchFamily="34" charset="0"/>
              <a:buChar char="•"/>
            </a:pPr>
            <a:r>
              <a:rPr lang="en-GB" dirty="0"/>
              <a:t>A </a:t>
            </a:r>
            <a:r>
              <a:rPr lang="en-GB" b="1" dirty="0"/>
              <a:t>base</a:t>
            </a:r>
            <a:r>
              <a:rPr lang="en-GB" dirty="0"/>
              <a:t> is any substance that reacts with an acid to form a </a:t>
            </a:r>
            <a:r>
              <a:rPr lang="en-GB" b="1" dirty="0"/>
              <a:t>salt and water only</a:t>
            </a:r>
            <a:r>
              <a:rPr lang="en-GB" dirty="0"/>
              <a:t>.</a:t>
            </a:r>
          </a:p>
          <a:p>
            <a:pPr marL="285750" indent="-285750">
              <a:buFont typeface="Arial" panose="020B0604020202020204" pitchFamily="34" charset="0"/>
              <a:buChar char="•"/>
            </a:pPr>
            <a:r>
              <a:rPr lang="en-GB" b="1" dirty="0"/>
              <a:t>Alkalis</a:t>
            </a:r>
            <a:r>
              <a:rPr lang="en-GB" dirty="0"/>
              <a:t> are </a:t>
            </a:r>
            <a:r>
              <a:rPr lang="en-GB" b="1" dirty="0"/>
              <a:t>soluble bases</a:t>
            </a:r>
            <a:r>
              <a:rPr lang="en-GB" dirty="0"/>
              <a:t>.</a:t>
            </a:r>
          </a:p>
          <a:p>
            <a:pPr marL="285750" indent="-285750">
              <a:buFont typeface="Arial" panose="020B0604020202020204" pitchFamily="34" charset="0"/>
              <a:buChar char="•"/>
            </a:pPr>
            <a:r>
              <a:rPr lang="en-GB" dirty="0"/>
              <a:t>Alkalis in solution are sources of </a:t>
            </a:r>
            <a:r>
              <a:rPr lang="en-GB" b="1" dirty="0"/>
              <a:t>hydroxide ions</a:t>
            </a:r>
            <a:r>
              <a:rPr lang="en-GB" dirty="0"/>
              <a:t>.</a:t>
            </a:r>
          </a:p>
          <a:p>
            <a:pPr marL="285750" indent="-285750">
              <a:buFont typeface="Arial" panose="020B0604020202020204" pitchFamily="34" charset="0"/>
              <a:buChar char="•"/>
            </a:pPr>
            <a:r>
              <a:rPr lang="en-GB" dirty="0"/>
              <a:t>Alkaline solutions have </a:t>
            </a:r>
            <a:r>
              <a:rPr lang="en-GB" b="1" dirty="0"/>
              <a:t>higher pH </a:t>
            </a:r>
            <a:r>
              <a:rPr lang="en-GB" dirty="0"/>
              <a:t>values </a:t>
            </a:r>
            <a:r>
              <a:rPr lang="en-GB" b="1" dirty="0"/>
              <a:t>than</a:t>
            </a:r>
            <a:r>
              <a:rPr lang="en-GB" dirty="0"/>
              <a:t> neutral </a:t>
            </a:r>
            <a:r>
              <a:rPr lang="en-GB" b="1" dirty="0"/>
              <a:t>7</a:t>
            </a:r>
            <a:r>
              <a:rPr lang="en-GB" dirty="0"/>
              <a:t>.</a:t>
            </a:r>
          </a:p>
          <a:p>
            <a:endParaRPr lang="en-GB" dirty="0"/>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7591" y="3607004"/>
            <a:ext cx="1001203" cy="1484784"/>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608" y="3465885"/>
            <a:ext cx="1001203" cy="1484784"/>
          </a:xfrm>
          <a:prstGeom prst="rect">
            <a:avLst/>
          </a:prstGeom>
        </p:spPr>
      </p:pic>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2060" y="4771319"/>
            <a:ext cx="1001203" cy="1484784"/>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06445" y="5168774"/>
            <a:ext cx="1668422" cy="1494719"/>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80674" y="3276600"/>
            <a:ext cx="1668422" cy="1494719"/>
          </a:xfrm>
          <a:prstGeom prst="rect">
            <a:avLst/>
          </a:prstGeom>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40656" y="4203310"/>
            <a:ext cx="1668422" cy="1494719"/>
          </a:xfrm>
          <a:prstGeom prst="rect">
            <a:avLst/>
          </a:prstGeom>
        </p:spPr>
      </p:pic>
      <p:sp>
        <p:nvSpPr>
          <p:cNvPr id="20" name="TextBox 19">
            <a:extLst>
              <a:ext uri="{FF2B5EF4-FFF2-40B4-BE49-F238E27FC236}">
                <a16:creationId xmlns:a16="http://schemas.microsoft.com/office/drawing/2014/main" id="{684C9B80-C541-482D-8134-6DFC0E884281}"/>
              </a:ext>
            </a:extLst>
          </p:cNvPr>
          <p:cNvSpPr txBox="1"/>
          <p:nvPr/>
        </p:nvSpPr>
        <p:spPr>
          <a:xfrm>
            <a:off x="2572285" y="4353124"/>
            <a:ext cx="3999430"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b="1" dirty="0"/>
              <a:t>HIGHER TIER only:</a:t>
            </a:r>
          </a:p>
          <a:p>
            <a:pPr marL="285750" indent="-285750">
              <a:buFont typeface="Arial" panose="020B0604020202020204" pitchFamily="34" charset="0"/>
              <a:buChar char="•"/>
            </a:pPr>
            <a:r>
              <a:rPr lang="en-GB" dirty="0"/>
              <a:t>Higher H</a:t>
            </a:r>
            <a:r>
              <a:rPr lang="en-GB" baseline="30000" dirty="0"/>
              <a:t>+</a:t>
            </a:r>
            <a:r>
              <a:rPr lang="en-GB" dirty="0"/>
              <a:t> concentration = lower pH</a:t>
            </a:r>
          </a:p>
          <a:p>
            <a:pPr marL="285750" indent="-285750">
              <a:buFont typeface="Arial" panose="020B0604020202020204" pitchFamily="34" charset="0"/>
              <a:buChar char="•"/>
            </a:pPr>
            <a:r>
              <a:rPr lang="en-GB" dirty="0"/>
              <a:t>Higher OH</a:t>
            </a:r>
            <a:r>
              <a:rPr lang="en-GB" baseline="30000" dirty="0"/>
              <a:t>-</a:t>
            </a:r>
            <a:r>
              <a:rPr lang="en-GB" dirty="0"/>
              <a:t> concentration = higher pH</a:t>
            </a:r>
          </a:p>
        </p:txBody>
      </p:sp>
    </p:spTree>
    <p:extLst>
      <p:ext uri="{BB962C8B-B14F-4D97-AF65-F5344CB8AC3E}">
        <p14:creationId xmlns:p14="http://schemas.microsoft.com/office/powerpoint/2010/main" val="2209535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171895" y="692696"/>
            <a:ext cx="5282249" cy="5940088"/>
          </a:xfrm>
          <a:prstGeom prst="rect">
            <a:avLst/>
          </a:prstGeom>
          <a:noFill/>
        </p:spPr>
        <p:txBody>
          <a:bodyPr wrap="square" rtlCol="0">
            <a:spAutoFit/>
          </a:bodyPr>
          <a:lstStyle/>
          <a:p>
            <a:r>
              <a:rPr lang="en-GB" sz="2000" b="1" dirty="0"/>
              <a:t>Indicators</a:t>
            </a:r>
            <a:r>
              <a:rPr lang="en-GB" sz="2000" dirty="0"/>
              <a:t> are substances which change </a:t>
            </a:r>
            <a:r>
              <a:rPr lang="en-GB" sz="2000" b="1" dirty="0"/>
              <a:t>colour</a:t>
            </a:r>
            <a:r>
              <a:rPr lang="en-GB" sz="2000" dirty="0"/>
              <a:t> when you add them to acids and alkali.  </a:t>
            </a:r>
          </a:p>
          <a:p>
            <a:endParaRPr lang="en-GB" sz="2000" dirty="0"/>
          </a:p>
          <a:p>
            <a:r>
              <a:rPr lang="en-GB" sz="2000" b="1" dirty="0"/>
              <a:t>Litmus</a:t>
            </a:r>
            <a:r>
              <a:rPr lang="en-GB" sz="2000" dirty="0"/>
              <a:t> goes red in acid and blue in alkali.  </a:t>
            </a:r>
          </a:p>
          <a:p>
            <a:pPr algn="ctr"/>
            <a:endParaRPr lang="en-GB" sz="2000" dirty="0"/>
          </a:p>
          <a:p>
            <a:r>
              <a:rPr lang="en-GB" sz="2000" b="1" dirty="0"/>
              <a:t>Methyl orange </a:t>
            </a:r>
            <a:r>
              <a:rPr lang="en-GB" sz="2000" dirty="0"/>
              <a:t>is red in acidic conditions, yellow in neutral and alkaline conditions.</a:t>
            </a:r>
            <a:endParaRPr lang="en-GB" sz="2000" b="1" dirty="0"/>
          </a:p>
          <a:p>
            <a:endParaRPr lang="en-GB" sz="2000" b="1" dirty="0"/>
          </a:p>
          <a:p>
            <a:r>
              <a:rPr lang="en-GB" sz="2000" b="1" dirty="0"/>
              <a:t>Phenolphthalein </a:t>
            </a:r>
            <a:r>
              <a:rPr lang="en-GB" sz="2000" dirty="0"/>
              <a:t>is colourless in acidic and neutral conditions and pink in alkaline conditions.</a:t>
            </a:r>
            <a:r>
              <a:rPr lang="en-GB" sz="2000" b="1" dirty="0"/>
              <a:t> </a:t>
            </a:r>
          </a:p>
          <a:p>
            <a:endParaRPr lang="en-GB" sz="2000" b="1" dirty="0"/>
          </a:p>
          <a:p>
            <a:r>
              <a:rPr lang="en-GB" sz="2000" b="1" dirty="0"/>
              <a:t>Universal indicator</a:t>
            </a:r>
            <a:r>
              <a:rPr lang="en-GB" sz="2000" dirty="0"/>
              <a:t>, made from many dyes, is used to tell you</a:t>
            </a:r>
            <a:r>
              <a:rPr lang="en-GB" sz="2000" b="1" dirty="0"/>
              <a:t> </a:t>
            </a:r>
            <a:r>
              <a:rPr lang="en-GB" sz="2000" b="1" dirty="0" err="1"/>
              <a:t>pH</a:t>
            </a:r>
            <a:r>
              <a:rPr lang="en-GB" sz="2000" dirty="0" err="1"/>
              <a:t>.</a:t>
            </a:r>
            <a:r>
              <a:rPr lang="en-GB" sz="2000" dirty="0"/>
              <a:t>  The scale runs from 0 (most acidic) to 14 (most alkaline).  Aqueous solutions of </a:t>
            </a:r>
            <a:r>
              <a:rPr lang="en-GB" sz="2000" b="1" dirty="0"/>
              <a:t>acids</a:t>
            </a:r>
            <a:r>
              <a:rPr lang="en-GB" sz="2000" dirty="0"/>
              <a:t> have a pH value </a:t>
            </a:r>
            <a:r>
              <a:rPr lang="en-GB" sz="2000" b="1" dirty="0"/>
              <a:t>less than 7</a:t>
            </a:r>
            <a:r>
              <a:rPr lang="en-GB" sz="2000" dirty="0"/>
              <a:t>, and for </a:t>
            </a:r>
            <a:r>
              <a:rPr lang="en-GB" sz="2000" b="1" dirty="0"/>
              <a:t>alkalis</a:t>
            </a:r>
            <a:r>
              <a:rPr lang="en-GB" sz="2000" dirty="0"/>
              <a:t> </a:t>
            </a:r>
            <a:r>
              <a:rPr lang="en-GB" sz="2000" b="1" dirty="0"/>
              <a:t>greater than 7 </a:t>
            </a:r>
            <a:r>
              <a:rPr lang="en-GB" sz="2000" dirty="0"/>
              <a:t>and anything in the middle is </a:t>
            </a:r>
            <a:r>
              <a:rPr lang="en-GB" sz="2000" b="1" dirty="0"/>
              <a:t>neutral </a:t>
            </a:r>
            <a:r>
              <a:rPr lang="en-GB" sz="2000" dirty="0"/>
              <a:t>(pH 7).  You can use a pH meter to record the change of a pH over time.</a:t>
            </a:r>
          </a:p>
        </p:txBody>
      </p:sp>
      <p:pic>
        <p:nvPicPr>
          <p:cNvPr id="13" name="Picture 12">
            <a:extLst>
              <a:ext uri="{FF2B5EF4-FFF2-40B4-BE49-F238E27FC236}">
                <a16:creationId xmlns:a16="http://schemas.microsoft.com/office/drawing/2014/main" id="{E62224B5-9247-4536-AF94-9FE02DC08B24}"/>
              </a:ext>
            </a:extLst>
          </p:cNvPr>
          <p:cNvPicPr>
            <a:picLocks noChangeAspect="1"/>
          </p:cNvPicPr>
          <p:nvPr/>
        </p:nvPicPr>
        <p:blipFill>
          <a:blip r:embed="rId3"/>
          <a:stretch>
            <a:fillRect/>
          </a:stretch>
        </p:blipFill>
        <p:spPr>
          <a:xfrm>
            <a:off x="5561395" y="606760"/>
            <a:ext cx="3469602" cy="5949280"/>
          </a:xfrm>
          <a:prstGeom prst="rect">
            <a:avLst/>
          </a:prstGeom>
        </p:spPr>
      </p:pic>
    </p:spTree>
    <p:extLst>
      <p:ext uri="{BB962C8B-B14F-4D97-AF65-F5344CB8AC3E}">
        <p14:creationId xmlns:p14="http://schemas.microsoft.com/office/powerpoint/2010/main" val="4277110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strong and weak acids">
            <a:extLst>
              <a:ext uri="{FF2B5EF4-FFF2-40B4-BE49-F238E27FC236}">
                <a16:creationId xmlns:a16="http://schemas.microsoft.com/office/drawing/2014/main" id="{CA0E42F8-092E-4B32-9016-6D02BF0F1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0396" y="1917436"/>
            <a:ext cx="3141477" cy="198652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11560" y="165679"/>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HIGHER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0" y="586343"/>
            <a:ext cx="5454352" cy="2492990"/>
          </a:xfrm>
          <a:prstGeom prst="rect">
            <a:avLst/>
          </a:prstGeom>
          <a:noFill/>
        </p:spPr>
        <p:txBody>
          <a:bodyPr wrap="square" rtlCol="0">
            <a:spAutoFit/>
          </a:bodyPr>
          <a:lstStyle/>
          <a:p>
            <a:endParaRPr lang="en-GB" b="1" dirty="0"/>
          </a:p>
          <a:p>
            <a:endParaRPr lang="en-GB" b="1" dirty="0"/>
          </a:p>
          <a:p>
            <a:endParaRPr lang="en-GB" b="1" dirty="0"/>
          </a:p>
          <a:p>
            <a:endParaRPr lang="en-GB" sz="800" b="1" dirty="0"/>
          </a:p>
          <a:p>
            <a:pPr algn="ctr"/>
            <a:endParaRPr lang="en-GB" sz="2000" dirty="0"/>
          </a:p>
          <a:p>
            <a:pPr algn="ctr"/>
            <a:r>
              <a:rPr lang="en-GB" sz="2000" dirty="0"/>
              <a:t>The molecules split up to form </a:t>
            </a:r>
            <a:r>
              <a:rPr lang="en-GB" sz="2000" b="1" dirty="0"/>
              <a:t>hydrogen</a:t>
            </a:r>
            <a:r>
              <a:rPr lang="en-GB" sz="2000" dirty="0"/>
              <a:t> ions.</a:t>
            </a:r>
          </a:p>
          <a:p>
            <a:pPr algn="ctr"/>
            <a:endParaRPr lang="en-GB" dirty="0"/>
          </a:p>
          <a:p>
            <a:pPr algn="ctr"/>
            <a:endParaRPr lang="en-GB" dirty="0"/>
          </a:p>
          <a:p>
            <a:pPr algn="ctr"/>
            <a:endParaRPr lang="en-GB" dirty="0"/>
          </a:p>
        </p:txBody>
      </p:sp>
      <p:sp>
        <p:nvSpPr>
          <p:cNvPr id="5" name="TextBox 4">
            <a:extLst>
              <a:ext uri="{FF2B5EF4-FFF2-40B4-BE49-F238E27FC236}">
                <a16:creationId xmlns:a16="http://schemas.microsoft.com/office/drawing/2014/main" id="{374B42C6-BA4E-4A75-9399-79987EA4B501}"/>
              </a:ext>
            </a:extLst>
          </p:cNvPr>
          <p:cNvSpPr txBox="1"/>
          <p:nvPr/>
        </p:nvSpPr>
        <p:spPr>
          <a:xfrm>
            <a:off x="221399" y="4027072"/>
            <a:ext cx="4782853" cy="2831544"/>
          </a:xfrm>
          <a:prstGeom prst="rect">
            <a:avLst/>
          </a:prstGeom>
          <a:noFill/>
        </p:spPr>
        <p:txBody>
          <a:bodyPr wrap="square" rtlCol="0">
            <a:spAutoFit/>
          </a:bodyPr>
          <a:lstStyle/>
          <a:p>
            <a:pPr algn="ctr"/>
            <a:r>
              <a:rPr lang="en-GB" sz="2000" dirty="0"/>
              <a:t>A </a:t>
            </a:r>
            <a:r>
              <a:rPr lang="en-GB" sz="2000" b="1" dirty="0">
                <a:solidFill>
                  <a:schemeClr val="accent6">
                    <a:lumMod val="75000"/>
                  </a:schemeClr>
                </a:solidFill>
              </a:rPr>
              <a:t>weak acid </a:t>
            </a:r>
            <a:r>
              <a:rPr lang="en-GB" sz="2000" dirty="0"/>
              <a:t>(</a:t>
            </a:r>
            <a:r>
              <a:rPr lang="en-GB" sz="2000" dirty="0" err="1"/>
              <a:t>aq</a:t>
            </a:r>
            <a:r>
              <a:rPr lang="en-GB" sz="2000" dirty="0"/>
              <a:t>) has a </a:t>
            </a:r>
            <a:r>
              <a:rPr lang="en-GB" sz="2000" b="1" dirty="0">
                <a:solidFill>
                  <a:schemeClr val="accent6">
                    <a:lumMod val="75000"/>
                  </a:schemeClr>
                </a:solidFill>
              </a:rPr>
              <a:t>lower pH </a:t>
            </a:r>
            <a:r>
              <a:rPr lang="en-GB" sz="2000" dirty="0"/>
              <a:t>than a </a:t>
            </a:r>
            <a:r>
              <a:rPr lang="en-GB" sz="2000" b="1" dirty="0">
                <a:solidFill>
                  <a:schemeClr val="accent6">
                    <a:lumMod val="75000"/>
                  </a:schemeClr>
                </a:solidFill>
              </a:rPr>
              <a:t>strong acid </a:t>
            </a:r>
            <a:r>
              <a:rPr lang="en-GB" sz="2000" dirty="0"/>
              <a:t>(</a:t>
            </a:r>
            <a:r>
              <a:rPr lang="en-GB" sz="2000" dirty="0" err="1"/>
              <a:t>aq</a:t>
            </a:r>
            <a:r>
              <a:rPr lang="en-GB" sz="2000" dirty="0"/>
              <a:t>) of the </a:t>
            </a:r>
            <a:r>
              <a:rPr lang="en-GB" sz="2000" b="1" u="sng" dirty="0">
                <a:solidFill>
                  <a:schemeClr val="accent6">
                    <a:lumMod val="75000"/>
                  </a:schemeClr>
                </a:solidFill>
              </a:rPr>
              <a:t>same concentration</a:t>
            </a:r>
            <a:r>
              <a:rPr lang="en-GB" sz="2000" dirty="0"/>
              <a:t>.</a:t>
            </a:r>
          </a:p>
          <a:p>
            <a:pPr algn="ctr"/>
            <a:r>
              <a:rPr lang="en-GB" sz="2000" dirty="0"/>
              <a:t>This is because a </a:t>
            </a:r>
            <a:r>
              <a:rPr lang="en-GB" sz="2000" b="1" dirty="0">
                <a:solidFill>
                  <a:schemeClr val="accent6">
                    <a:lumMod val="75000"/>
                  </a:schemeClr>
                </a:solidFill>
              </a:rPr>
              <a:t>weak acid </a:t>
            </a:r>
            <a:r>
              <a:rPr lang="en-GB" sz="2000" dirty="0"/>
              <a:t>has a </a:t>
            </a:r>
            <a:r>
              <a:rPr lang="en-GB" sz="2000" b="1" dirty="0">
                <a:solidFill>
                  <a:schemeClr val="accent6">
                    <a:lumMod val="75000"/>
                  </a:schemeClr>
                </a:solidFill>
              </a:rPr>
              <a:t>lower concentration of hydrogen ions.</a:t>
            </a:r>
          </a:p>
          <a:p>
            <a:pPr algn="ctr"/>
            <a:endParaRPr lang="en-GB" sz="2000" b="1" dirty="0">
              <a:solidFill>
                <a:schemeClr val="accent6">
                  <a:lumMod val="75000"/>
                </a:schemeClr>
              </a:solidFill>
            </a:endParaRPr>
          </a:p>
          <a:p>
            <a:pPr algn="ctr"/>
            <a:r>
              <a:rPr lang="en-GB" sz="2000" b="1" dirty="0"/>
              <a:t>As the pH decrease by one unit, the hydrogen ion concentration of the solution increase by a factor of 10</a:t>
            </a:r>
            <a:r>
              <a:rPr lang="en-GB" sz="2000" dirty="0"/>
              <a:t>.</a:t>
            </a:r>
          </a:p>
          <a:p>
            <a:pPr algn="ctr"/>
            <a:endParaRPr lang="en-GB" b="1" dirty="0">
              <a:solidFill>
                <a:schemeClr val="accent6">
                  <a:lumMod val="75000"/>
                </a:schemeClr>
              </a:solidFill>
            </a:endParaRPr>
          </a:p>
        </p:txBody>
      </p:sp>
      <p:sp>
        <p:nvSpPr>
          <p:cNvPr id="6" name="TextBox 5">
            <a:extLst>
              <a:ext uri="{FF2B5EF4-FFF2-40B4-BE49-F238E27FC236}">
                <a16:creationId xmlns:a16="http://schemas.microsoft.com/office/drawing/2014/main" id="{684C9B80-C541-482D-8134-6DFC0E884281}"/>
              </a:ext>
            </a:extLst>
          </p:cNvPr>
          <p:cNvSpPr txBox="1"/>
          <p:nvPr/>
        </p:nvSpPr>
        <p:spPr>
          <a:xfrm>
            <a:off x="82126" y="770513"/>
            <a:ext cx="8979747" cy="101566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dirty="0"/>
              <a:t>Acids must </a:t>
            </a:r>
            <a:r>
              <a:rPr lang="en-GB" sz="2000" b="1" dirty="0"/>
              <a:t>dissolve</a:t>
            </a:r>
            <a:r>
              <a:rPr lang="en-GB" sz="2000" dirty="0"/>
              <a:t> in water to show their acidic properties. </a:t>
            </a:r>
          </a:p>
          <a:p>
            <a:pPr algn="ctr"/>
            <a:r>
              <a:rPr lang="en-GB" sz="2000" dirty="0"/>
              <a:t>A </a:t>
            </a:r>
            <a:r>
              <a:rPr lang="en-GB" sz="2000" b="1" dirty="0"/>
              <a:t>concentrated acid</a:t>
            </a:r>
            <a:r>
              <a:rPr lang="en-GB" sz="2000" dirty="0"/>
              <a:t> has a relatively </a:t>
            </a:r>
            <a:r>
              <a:rPr lang="en-GB" sz="2000" b="1" dirty="0"/>
              <a:t>large amount of solute </a:t>
            </a:r>
            <a:r>
              <a:rPr lang="en-GB" sz="2000" dirty="0"/>
              <a:t>dissolved in the solvent. A </a:t>
            </a:r>
            <a:r>
              <a:rPr lang="en-GB" sz="2000" b="1" dirty="0"/>
              <a:t>dilute acid</a:t>
            </a:r>
            <a:r>
              <a:rPr lang="en-GB" sz="2000" dirty="0"/>
              <a:t> has a relatively </a:t>
            </a:r>
            <a:r>
              <a:rPr lang="en-GB" sz="2000" b="1" dirty="0"/>
              <a:t>smaller amount of solute </a:t>
            </a:r>
            <a:r>
              <a:rPr lang="en-GB" sz="2000" dirty="0"/>
              <a:t>dissolved in the solvent. </a:t>
            </a:r>
          </a:p>
        </p:txBody>
      </p:sp>
      <p:graphicFrame>
        <p:nvGraphicFramePr>
          <p:cNvPr id="7" name="Table 6">
            <a:extLst>
              <a:ext uri="{FF2B5EF4-FFF2-40B4-BE49-F238E27FC236}">
                <a16:creationId xmlns:a16="http://schemas.microsoft.com/office/drawing/2014/main" id="{E9D936F9-63C3-460F-A90A-A9CF6F7DB0CA}"/>
              </a:ext>
            </a:extLst>
          </p:cNvPr>
          <p:cNvGraphicFramePr>
            <a:graphicFrameLocks noGrp="1"/>
          </p:cNvGraphicFramePr>
          <p:nvPr>
            <p:extLst>
              <p:ext uri="{D42A27DB-BD31-4B8C-83A1-F6EECF244321}">
                <p14:modId xmlns:p14="http://schemas.microsoft.com/office/powerpoint/2010/main" val="2879971805"/>
              </p:ext>
            </p:extLst>
          </p:nvPr>
        </p:nvGraphicFramePr>
        <p:xfrm>
          <a:off x="5032541" y="4035218"/>
          <a:ext cx="3875076" cy="2377440"/>
        </p:xfrm>
        <a:graphic>
          <a:graphicData uri="http://schemas.openxmlformats.org/drawingml/2006/table">
            <a:tbl>
              <a:tblPr firstRow="1" bandRow="1">
                <a:tableStyleId>{93296810-A885-4BE3-A3E7-6D5BEEA58F35}</a:tableStyleId>
              </a:tblPr>
              <a:tblGrid>
                <a:gridCol w="1937538">
                  <a:extLst>
                    <a:ext uri="{9D8B030D-6E8A-4147-A177-3AD203B41FA5}">
                      <a16:colId xmlns:a16="http://schemas.microsoft.com/office/drawing/2014/main" val="3203253952"/>
                    </a:ext>
                  </a:extLst>
                </a:gridCol>
                <a:gridCol w="1937538">
                  <a:extLst>
                    <a:ext uri="{9D8B030D-6E8A-4147-A177-3AD203B41FA5}">
                      <a16:colId xmlns:a16="http://schemas.microsoft.com/office/drawing/2014/main" val="3813575933"/>
                    </a:ext>
                  </a:extLst>
                </a:gridCol>
              </a:tblGrid>
              <a:tr h="475909">
                <a:tc>
                  <a:txBody>
                    <a:bodyPr/>
                    <a:lstStyle/>
                    <a:p>
                      <a:pPr algn="ctr"/>
                      <a:r>
                        <a:rPr lang="en-GB" sz="1800" dirty="0"/>
                        <a:t>Concentration of hydrogen ions in </a:t>
                      </a:r>
                      <a:r>
                        <a:rPr lang="en-GB" sz="1800" dirty="0" err="1"/>
                        <a:t>mol</a:t>
                      </a:r>
                      <a:r>
                        <a:rPr lang="en-GB" sz="1800" dirty="0"/>
                        <a:t>/dm</a:t>
                      </a:r>
                      <a:r>
                        <a:rPr lang="en-GB" sz="1800" baseline="30000" dirty="0"/>
                        <a:t>3</a:t>
                      </a:r>
                      <a:endParaRPr lang="en-GB" sz="1800" dirty="0"/>
                    </a:p>
                  </a:txBody>
                  <a:tcPr/>
                </a:tc>
                <a:tc>
                  <a:txBody>
                    <a:bodyPr/>
                    <a:lstStyle/>
                    <a:p>
                      <a:pPr algn="ctr"/>
                      <a:r>
                        <a:rPr lang="en-GB" sz="1800" dirty="0"/>
                        <a:t>pH</a:t>
                      </a:r>
                    </a:p>
                  </a:txBody>
                  <a:tcPr/>
                </a:tc>
                <a:extLst>
                  <a:ext uri="{0D108BD9-81ED-4DB2-BD59-A6C34878D82A}">
                    <a16:rowId xmlns:a16="http://schemas.microsoft.com/office/drawing/2014/main" val="1574940985"/>
                  </a:ext>
                </a:extLst>
              </a:tr>
              <a:tr h="350923">
                <a:tc>
                  <a:txBody>
                    <a:bodyPr/>
                    <a:lstStyle/>
                    <a:p>
                      <a:pPr algn="ctr"/>
                      <a:r>
                        <a:rPr lang="en-GB" sz="1800" dirty="0"/>
                        <a:t>0.10</a:t>
                      </a:r>
                    </a:p>
                  </a:txBody>
                  <a:tcPr/>
                </a:tc>
                <a:tc>
                  <a:txBody>
                    <a:bodyPr/>
                    <a:lstStyle/>
                    <a:p>
                      <a:pPr algn="ctr"/>
                      <a:r>
                        <a:rPr lang="en-GB" sz="1800" dirty="0"/>
                        <a:t>1.0</a:t>
                      </a:r>
                    </a:p>
                  </a:txBody>
                  <a:tcPr/>
                </a:tc>
                <a:extLst>
                  <a:ext uri="{0D108BD9-81ED-4DB2-BD59-A6C34878D82A}">
                    <a16:rowId xmlns:a16="http://schemas.microsoft.com/office/drawing/2014/main" val="3474563933"/>
                  </a:ext>
                </a:extLst>
              </a:tr>
              <a:tr h="350923">
                <a:tc>
                  <a:txBody>
                    <a:bodyPr/>
                    <a:lstStyle/>
                    <a:p>
                      <a:pPr algn="ctr"/>
                      <a:r>
                        <a:rPr lang="en-GB" sz="1800" dirty="0"/>
                        <a:t>0.010</a:t>
                      </a:r>
                    </a:p>
                  </a:txBody>
                  <a:tcPr/>
                </a:tc>
                <a:tc>
                  <a:txBody>
                    <a:bodyPr/>
                    <a:lstStyle/>
                    <a:p>
                      <a:pPr algn="ctr"/>
                      <a:r>
                        <a:rPr lang="en-GB" sz="1800" dirty="0"/>
                        <a:t>2.0</a:t>
                      </a:r>
                    </a:p>
                  </a:txBody>
                  <a:tcPr/>
                </a:tc>
                <a:extLst>
                  <a:ext uri="{0D108BD9-81ED-4DB2-BD59-A6C34878D82A}">
                    <a16:rowId xmlns:a16="http://schemas.microsoft.com/office/drawing/2014/main" val="731584424"/>
                  </a:ext>
                </a:extLst>
              </a:tr>
              <a:tr h="350923">
                <a:tc>
                  <a:txBody>
                    <a:bodyPr/>
                    <a:lstStyle/>
                    <a:p>
                      <a:pPr algn="ctr"/>
                      <a:r>
                        <a:rPr lang="en-GB" sz="1800" dirty="0"/>
                        <a:t>0.0010</a:t>
                      </a:r>
                    </a:p>
                  </a:txBody>
                  <a:tcPr/>
                </a:tc>
                <a:tc>
                  <a:txBody>
                    <a:bodyPr/>
                    <a:lstStyle/>
                    <a:p>
                      <a:pPr algn="ctr"/>
                      <a:r>
                        <a:rPr lang="en-GB" sz="1800" dirty="0"/>
                        <a:t>3.0</a:t>
                      </a:r>
                    </a:p>
                  </a:txBody>
                  <a:tcPr/>
                </a:tc>
                <a:extLst>
                  <a:ext uri="{0D108BD9-81ED-4DB2-BD59-A6C34878D82A}">
                    <a16:rowId xmlns:a16="http://schemas.microsoft.com/office/drawing/2014/main" val="3747859416"/>
                  </a:ext>
                </a:extLst>
              </a:tr>
              <a:tr h="350923">
                <a:tc>
                  <a:txBody>
                    <a:bodyPr/>
                    <a:lstStyle/>
                    <a:p>
                      <a:pPr algn="ctr"/>
                      <a:r>
                        <a:rPr lang="en-GB" sz="1800" dirty="0"/>
                        <a:t>0.00010</a:t>
                      </a:r>
                    </a:p>
                  </a:txBody>
                  <a:tcPr/>
                </a:tc>
                <a:tc>
                  <a:txBody>
                    <a:bodyPr/>
                    <a:lstStyle/>
                    <a:p>
                      <a:pPr algn="ctr"/>
                      <a:r>
                        <a:rPr lang="en-GB" sz="1800" dirty="0"/>
                        <a:t>4.0</a:t>
                      </a:r>
                    </a:p>
                  </a:txBody>
                  <a:tcPr/>
                </a:tc>
                <a:extLst>
                  <a:ext uri="{0D108BD9-81ED-4DB2-BD59-A6C34878D82A}">
                    <a16:rowId xmlns:a16="http://schemas.microsoft.com/office/drawing/2014/main" val="2259804662"/>
                  </a:ext>
                </a:extLst>
              </a:tr>
            </a:tbl>
          </a:graphicData>
        </a:graphic>
      </p:graphicFrame>
      <p:sp>
        <p:nvSpPr>
          <p:cNvPr id="8" name="Rectangle 7"/>
          <p:cNvSpPr/>
          <p:nvPr/>
        </p:nvSpPr>
        <p:spPr>
          <a:xfrm>
            <a:off x="82126" y="2223637"/>
            <a:ext cx="5889865" cy="171139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000" dirty="0"/>
              <a:t>A </a:t>
            </a:r>
            <a:r>
              <a:rPr lang="en-GB" sz="2000" b="1" dirty="0"/>
              <a:t>strong</a:t>
            </a:r>
            <a:r>
              <a:rPr lang="en-GB" sz="2000" dirty="0"/>
              <a:t> acid is </a:t>
            </a:r>
            <a:r>
              <a:rPr lang="en-GB" sz="2000" b="1" dirty="0"/>
              <a:t>completely ionised </a:t>
            </a:r>
            <a:r>
              <a:rPr lang="en-GB" sz="2000" dirty="0"/>
              <a:t>in aqueous solution. Hydrochloric, nitric and sulfuric acid.</a:t>
            </a:r>
          </a:p>
          <a:p>
            <a:pPr algn="ctr"/>
            <a:endParaRPr lang="en-GB" sz="2000" dirty="0"/>
          </a:p>
          <a:p>
            <a:pPr algn="ctr"/>
            <a:r>
              <a:rPr lang="en-GB" sz="2000" dirty="0"/>
              <a:t>A </a:t>
            </a:r>
            <a:r>
              <a:rPr lang="en-GB" sz="2000" b="1" dirty="0"/>
              <a:t>weak</a:t>
            </a:r>
            <a:r>
              <a:rPr lang="en-GB" sz="2000" dirty="0"/>
              <a:t> acid is only </a:t>
            </a:r>
            <a:r>
              <a:rPr lang="en-GB" sz="2000" b="1" dirty="0"/>
              <a:t>partially ionised </a:t>
            </a:r>
            <a:r>
              <a:rPr lang="en-GB" sz="2000" dirty="0"/>
              <a:t>in aqueous solution. Ethanoic, citric and carbonic.</a:t>
            </a:r>
          </a:p>
        </p:txBody>
      </p:sp>
    </p:spTree>
    <p:extLst>
      <p:ext uri="{BB962C8B-B14F-4D97-AF65-F5344CB8AC3E}">
        <p14:creationId xmlns:p14="http://schemas.microsoft.com/office/powerpoint/2010/main" val="3405974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251520" y="718374"/>
            <a:ext cx="8640960" cy="2523768"/>
          </a:xfrm>
          <a:prstGeom prst="rect">
            <a:avLst/>
          </a:prstGeom>
          <a:noFill/>
        </p:spPr>
        <p:txBody>
          <a:bodyPr wrap="square" rtlCol="0">
            <a:spAutoFit/>
          </a:bodyPr>
          <a:lstStyle/>
          <a:p>
            <a:pPr algn="ctr"/>
            <a:r>
              <a:rPr lang="en-GB" sz="2000" b="1" dirty="0"/>
              <a:t>Acids</a:t>
            </a:r>
            <a:r>
              <a:rPr lang="en-GB" sz="2000" dirty="0"/>
              <a:t> react with some </a:t>
            </a:r>
            <a:r>
              <a:rPr lang="en-GB" sz="2000" b="1" dirty="0"/>
              <a:t>metals </a:t>
            </a:r>
            <a:r>
              <a:rPr lang="en-GB" sz="2000" dirty="0"/>
              <a:t>to produce </a:t>
            </a:r>
            <a:r>
              <a:rPr lang="en-GB" sz="2000" b="1" dirty="0"/>
              <a:t>salts</a:t>
            </a:r>
            <a:r>
              <a:rPr lang="en-GB" sz="2000" dirty="0"/>
              <a:t> and </a:t>
            </a:r>
            <a:r>
              <a:rPr lang="en-GB" sz="2000" b="1" dirty="0"/>
              <a:t>hydrogen</a:t>
            </a:r>
            <a:r>
              <a:rPr lang="en-GB" sz="2000" dirty="0"/>
              <a:t>.</a:t>
            </a:r>
          </a:p>
          <a:p>
            <a:pPr algn="ctr"/>
            <a:r>
              <a:rPr lang="en-GB" sz="2000" b="1" dirty="0">
                <a:solidFill>
                  <a:schemeClr val="accent6">
                    <a:lumMod val="75000"/>
                  </a:schemeClr>
                </a:solidFill>
              </a:rPr>
              <a:t>Metal + acid </a:t>
            </a:r>
            <a:r>
              <a:rPr lang="en-GB" sz="2000" b="1" dirty="0">
                <a:solidFill>
                  <a:schemeClr val="accent6">
                    <a:lumMod val="75000"/>
                  </a:schemeClr>
                </a:solidFill>
                <a:sym typeface="Wingdings" panose="05000000000000000000" pitchFamily="2" charset="2"/>
              </a:rPr>
              <a:t> salt + hydrogen</a:t>
            </a:r>
            <a:endParaRPr lang="en-GB" sz="2000" dirty="0">
              <a:sym typeface="Wingdings" panose="05000000000000000000" pitchFamily="2" charset="2"/>
            </a:endParaRPr>
          </a:p>
          <a:p>
            <a:pPr algn="ctr"/>
            <a:r>
              <a:rPr lang="en-GB" sz="2000" dirty="0">
                <a:sym typeface="Wingdings" panose="05000000000000000000" pitchFamily="2" charset="2"/>
              </a:rPr>
              <a:t>Reactions between metals and acids only occur if the metal is </a:t>
            </a:r>
            <a:r>
              <a:rPr lang="en-GB" sz="2000" b="1" dirty="0">
                <a:sym typeface="Wingdings" panose="05000000000000000000" pitchFamily="2" charset="2"/>
              </a:rPr>
              <a:t>more reactive </a:t>
            </a:r>
            <a:r>
              <a:rPr lang="en-GB" sz="2000" dirty="0">
                <a:sym typeface="Wingdings" panose="05000000000000000000" pitchFamily="2" charset="2"/>
              </a:rPr>
              <a:t>than the </a:t>
            </a:r>
            <a:r>
              <a:rPr lang="en-GB" sz="2000" b="1" dirty="0">
                <a:sym typeface="Wingdings" panose="05000000000000000000" pitchFamily="2" charset="2"/>
              </a:rPr>
              <a:t>hydrogen</a:t>
            </a:r>
            <a:r>
              <a:rPr lang="en-GB" sz="2000" dirty="0">
                <a:sym typeface="Wingdings" panose="05000000000000000000" pitchFamily="2" charset="2"/>
              </a:rPr>
              <a:t> in the acid.  If the metal is too reactive, the reaction with acid is</a:t>
            </a:r>
            <a:r>
              <a:rPr lang="en-GB" sz="2000" b="1" dirty="0">
                <a:sym typeface="Wingdings" panose="05000000000000000000" pitchFamily="2" charset="2"/>
              </a:rPr>
              <a:t> violent</a:t>
            </a:r>
            <a:r>
              <a:rPr lang="en-GB" sz="2000" dirty="0">
                <a:sym typeface="Wingdings" panose="05000000000000000000" pitchFamily="2" charset="2"/>
              </a:rPr>
              <a:t>.</a:t>
            </a:r>
          </a:p>
          <a:p>
            <a:pPr algn="ctr"/>
            <a:endParaRPr lang="en-GB" sz="2000" dirty="0">
              <a:sym typeface="Wingdings" panose="05000000000000000000" pitchFamily="2" charset="2"/>
            </a:endParaRPr>
          </a:p>
          <a:p>
            <a:pPr algn="ctr"/>
            <a:r>
              <a:rPr lang="en-GB" sz="2000" dirty="0"/>
              <a:t>The </a:t>
            </a:r>
            <a:r>
              <a:rPr lang="en-GB" sz="2000" b="1" dirty="0"/>
              <a:t>salt</a:t>
            </a:r>
            <a:r>
              <a:rPr lang="en-GB" sz="2000" dirty="0"/>
              <a:t> that is made depends on the </a:t>
            </a:r>
            <a:r>
              <a:rPr lang="en-GB" sz="2000" b="1" dirty="0"/>
              <a:t>metal</a:t>
            </a:r>
            <a:r>
              <a:rPr lang="en-GB" sz="2000" dirty="0"/>
              <a:t> and </a:t>
            </a:r>
            <a:r>
              <a:rPr lang="en-GB" sz="2000" b="1" dirty="0"/>
              <a:t>acid </a:t>
            </a:r>
            <a:r>
              <a:rPr lang="en-GB" sz="2000" dirty="0"/>
              <a:t>used.</a:t>
            </a:r>
          </a:p>
          <a:p>
            <a:pPr algn="ctr"/>
            <a:endParaRPr lang="en-GB" dirty="0"/>
          </a:p>
        </p:txBody>
      </p:sp>
      <p:sp>
        <p:nvSpPr>
          <p:cNvPr id="5" name="Rectangle 4">
            <a:extLst>
              <a:ext uri="{FF2B5EF4-FFF2-40B4-BE49-F238E27FC236}">
                <a16:creationId xmlns:a16="http://schemas.microsoft.com/office/drawing/2014/main" id="{3DA24B56-01FC-4DF1-A626-D5569EA7465B}"/>
              </a:ext>
            </a:extLst>
          </p:cNvPr>
          <p:cNvSpPr/>
          <p:nvPr/>
        </p:nvSpPr>
        <p:spPr>
          <a:xfrm>
            <a:off x="431540" y="3068960"/>
            <a:ext cx="8280920" cy="3477875"/>
          </a:xfrm>
          <a:prstGeom prst="rect">
            <a:avLst/>
          </a:prstGeom>
          <a:solidFill>
            <a:schemeClr val="accent6">
              <a:lumMod val="20000"/>
              <a:lumOff val="80000"/>
            </a:schemeClr>
          </a:solidFill>
          <a:ln w="3175">
            <a:solidFill>
              <a:schemeClr val="accent6">
                <a:lumMod val="75000"/>
              </a:schemeClr>
            </a:solidFill>
          </a:ln>
        </p:spPr>
        <p:style>
          <a:lnRef idx="3">
            <a:schemeClr val="lt1"/>
          </a:lnRef>
          <a:fillRef idx="1">
            <a:schemeClr val="accent3"/>
          </a:fillRef>
          <a:effectRef idx="1">
            <a:schemeClr val="accent3"/>
          </a:effectRef>
          <a:fontRef idx="minor">
            <a:schemeClr val="lt1"/>
          </a:fontRef>
        </p:style>
        <p:txBody>
          <a:bodyPr wrap="square">
            <a:spAutoFit/>
          </a:bodyPr>
          <a:lstStyle/>
          <a:p>
            <a:pPr algn="ctr">
              <a:buNone/>
            </a:pPr>
            <a:r>
              <a:rPr lang="en-US" sz="2000" b="1" dirty="0">
                <a:solidFill>
                  <a:schemeClr val="tx1"/>
                </a:solidFill>
                <a:sym typeface="Wingdings" pitchFamily="2" charset="2"/>
              </a:rPr>
              <a:t>Salts made when </a:t>
            </a:r>
            <a:r>
              <a:rPr lang="en-US" sz="2000" b="1" dirty="0">
                <a:solidFill>
                  <a:srgbClr val="FF0000"/>
                </a:solidFill>
                <a:sym typeface="Wingdings" pitchFamily="2" charset="2"/>
              </a:rPr>
              <a:t>metals</a:t>
            </a:r>
            <a:r>
              <a:rPr lang="en-US" sz="2000" b="1" dirty="0">
                <a:solidFill>
                  <a:schemeClr val="tx1"/>
                </a:solidFill>
                <a:sym typeface="Wingdings" pitchFamily="2" charset="2"/>
              </a:rPr>
              <a:t> react with </a:t>
            </a:r>
            <a:r>
              <a:rPr lang="en-US" sz="2000" b="1" i="1" dirty="0">
                <a:solidFill>
                  <a:srgbClr val="0070C0"/>
                </a:solidFill>
                <a:sym typeface="Wingdings" pitchFamily="2" charset="2"/>
              </a:rPr>
              <a:t>nitric </a:t>
            </a:r>
            <a:r>
              <a:rPr lang="en-US" sz="2000" b="1" i="1" dirty="0">
                <a:solidFill>
                  <a:schemeClr val="tx1"/>
                </a:solidFill>
                <a:sym typeface="Wingdings" pitchFamily="2" charset="2"/>
              </a:rPr>
              <a:t>acid </a:t>
            </a:r>
            <a:r>
              <a:rPr lang="en-US" sz="2000" b="1" dirty="0">
                <a:solidFill>
                  <a:schemeClr val="tx1"/>
                </a:solidFill>
                <a:sym typeface="Wingdings" pitchFamily="2" charset="2"/>
              </a:rPr>
              <a:t>are called </a:t>
            </a:r>
            <a:r>
              <a:rPr lang="en-US" sz="2000" b="1" i="1" dirty="0">
                <a:solidFill>
                  <a:srgbClr val="0070C0"/>
                </a:solidFill>
                <a:sym typeface="Wingdings" pitchFamily="2" charset="2"/>
              </a:rPr>
              <a:t>nitrates</a:t>
            </a:r>
            <a:r>
              <a:rPr lang="en-US" sz="2000" b="1" i="1" dirty="0">
                <a:solidFill>
                  <a:schemeClr val="tx1"/>
                </a:solidFill>
                <a:sym typeface="Wingdings" pitchFamily="2" charset="2"/>
              </a:rPr>
              <a:t>.</a:t>
            </a:r>
          </a:p>
          <a:p>
            <a:pPr algn="ctr"/>
            <a:endParaRPr lang="en-US" sz="2000" b="1" i="1" dirty="0">
              <a:solidFill>
                <a:schemeClr val="tx1"/>
              </a:solidFill>
              <a:sym typeface="Wingdings" pitchFamily="2" charset="2"/>
            </a:endParaRPr>
          </a:p>
          <a:p>
            <a:pPr algn="ctr">
              <a:buNone/>
            </a:pPr>
            <a:r>
              <a:rPr lang="en-US" sz="2000" b="1" dirty="0">
                <a:solidFill>
                  <a:srgbClr val="FF0000"/>
                </a:solidFill>
                <a:sym typeface="Wingdings"/>
              </a:rPr>
              <a:t>Zinc</a:t>
            </a:r>
            <a:r>
              <a:rPr lang="en-US" sz="2000" b="1" dirty="0">
                <a:solidFill>
                  <a:schemeClr val="tx1"/>
                </a:solidFill>
                <a:sym typeface="Wingdings"/>
              </a:rPr>
              <a:t> +  </a:t>
            </a:r>
            <a:r>
              <a:rPr lang="en-US" sz="2000" b="1" dirty="0">
                <a:solidFill>
                  <a:srgbClr val="0070C0"/>
                </a:solidFill>
                <a:sym typeface="Wingdings"/>
              </a:rPr>
              <a:t>Nitric </a:t>
            </a:r>
            <a:r>
              <a:rPr lang="en-US" sz="2000" b="1" dirty="0">
                <a:solidFill>
                  <a:schemeClr val="tx1"/>
                </a:solidFill>
                <a:sym typeface="Wingdings"/>
              </a:rPr>
              <a:t>acid  </a:t>
            </a:r>
            <a:r>
              <a:rPr lang="en-US" sz="2000" b="1" dirty="0">
                <a:solidFill>
                  <a:srgbClr val="FF0000"/>
                </a:solidFill>
                <a:sym typeface="Wingdings"/>
              </a:rPr>
              <a:t>Zinc</a:t>
            </a:r>
            <a:r>
              <a:rPr lang="en-US" sz="2000" b="1" dirty="0">
                <a:solidFill>
                  <a:schemeClr val="tx1"/>
                </a:solidFill>
                <a:sym typeface="Wingdings"/>
              </a:rPr>
              <a:t> </a:t>
            </a:r>
            <a:r>
              <a:rPr lang="en-US" sz="2000" b="1" dirty="0">
                <a:solidFill>
                  <a:srgbClr val="0070C0"/>
                </a:solidFill>
                <a:sym typeface="Wingdings"/>
              </a:rPr>
              <a:t>Nitrate</a:t>
            </a:r>
            <a:r>
              <a:rPr lang="en-US" sz="2000" b="1" dirty="0">
                <a:solidFill>
                  <a:schemeClr val="tx1"/>
                </a:solidFill>
                <a:sym typeface="Wingdings"/>
              </a:rPr>
              <a:t> + Hydrogen</a:t>
            </a:r>
          </a:p>
          <a:p>
            <a:pPr algn="ctr">
              <a:buNone/>
            </a:pPr>
            <a:endParaRPr lang="en-US" sz="2000" b="1" dirty="0">
              <a:solidFill>
                <a:schemeClr val="tx1"/>
              </a:solidFill>
              <a:sym typeface="Wingdings"/>
            </a:endParaRPr>
          </a:p>
          <a:p>
            <a:pPr algn="ctr"/>
            <a:r>
              <a:rPr lang="en-US" sz="2000" b="1" dirty="0">
                <a:solidFill>
                  <a:schemeClr val="tx1"/>
                </a:solidFill>
                <a:sym typeface="Wingdings"/>
              </a:rPr>
              <a:t>Salts made when </a:t>
            </a:r>
            <a:r>
              <a:rPr lang="en-US" sz="2000" b="1" dirty="0">
                <a:solidFill>
                  <a:srgbClr val="FF0000"/>
                </a:solidFill>
                <a:sym typeface="Wingdings"/>
              </a:rPr>
              <a:t>metals</a:t>
            </a:r>
            <a:r>
              <a:rPr lang="en-US" sz="2000" b="1" dirty="0">
                <a:solidFill>
                  <a:schemeClr val="tx1"/>
                </a:solidFill>
                <a:sym typeface="Wingdings"/>
              </a:rPr>
              <a:t> react with </a:t>
            </a:r>
            <a:r>
              <a:rPr lang="en-US" sz="2000" b="1" i="1" dirty="0">
                <a:solidFill>
                  <a:srgbClr val="0070C0"/>
                </a:solidFill>
                <a:sym typeface="Wingdings"/>
              </a:rPr>
              <a:t>sulfuric</a:t>
            </a:r>
            <a:r>
              <a:rPr lang="en-US" sz="2000" b="1" i="1" dirty="0">
                <a:solidFill>
                  <a:schemeClr val="tx1"/>
                </a:solidFill>
                <a:sym typeface="Wingdings"/>
              </a:rPr>
              <a:t> acids </a:t>
            </a:r>
            <a:r>
              <a:rPr lang="en-US" sz="2000" b="1" dirty="0">
                <a:solidFill>
                  <a:schemeClr val="tx1"/>
                </a:solidFill>
                <a:sym typeface="Wingdings"/>
              </a:rPr>
              <a:t>are called </a:t>
            </a:r>
            <a:r>
              <a:rPr lang="en-US" sz="2000" b="1" i="1" dirty="0">
                <a:solidFill>
                  <a:srgbClr val="0070C0"/>
                </a:solidFill>
                <a:sym typeface="Wingdings"/>
              </a:rPr>
              <a:t>sulfates</a:t>
            </a:r>
            <a:r>
              <a:rPr lang="en-US" sz="2000" b="1" i="1" dirty="0">
                <a:solidFill>
                  <a:schemeClr val="tx1"/>
                </a:solidFill>
                <a:sym typeface="Wingdings"/>
              </a:rPr>
              <a:t>.</a:t>
            </a:r>
          </a:p>
          <a:p>
            <a:pPr algn="ctr"/>
            <a:endParaRPr lang="en-US" sz="2000" b="1" dirty="0">
              <a:solidFill>
                <a:schemeClr val="tx1"/>
              </a:solidFill>
              <a:sym typeface="Wingdings"/>
            </a:endParaRPr>
          </a:p>
          <a:p>
            <a:pPr algn="ctr"/>
            <a:r>
              <a:rPr lang="en-US" sz="2000" b="1" dirty="0">
                <a:solidFill>
                  <a:srgbClr val="FF0000"/>
                </a:solidFill>
                <a:sym typeface="Wingdings"/>
              </a:rPr>
              <a:t>Iron</a:t>
            </a:r>
            <a:r>
              <a:rPr lang="en-US" sz="2000" b="1" dirty="0">
                <a:solidFill>
                  <a:schemeClr val="tx1"/>
                </a:solidFill>
                <a:sym typeface="Wingdings"/>
              </a:rPr>
              <a:t> + </a:t>
            </a:r>
            <a:r>
              <a:rPr lang="en-US" sz="2000" b="1" dirty="0">
                <a:solidFill>
                  <a:srgbClr val="0070C0"/>
                </a:solidFill>
                <a:sym typeface="Wingdings"/>
              </a:rPr>
              <a:t>Sulfuric</a:t>
            </a:r>
            <a:r>
              <a:rPr lang="en-US" sz="2000" b="1" dirty="0">
                <a:solidFill>
                  <a:schemeClr val="tx1"/>
                </a:solidFill>
                <a:sym typeface="Wingdings"/>
              </a:rPr>
              <a:t> Acid </a:t>
            </a:r>
            <a:r>
              <a:rPr lang="en-US" sz="2000" b="1" dirty="0">
                <a:solidFill>
                  <a:schemeClr val="tx1"/>
                </a:solidFill>
                <a:sym typeface="Wingdings" pitchFamily="2" charset="2"/>
              </a:rPr>
              <a:t> </a:t>
            </a:r>
            <a:r>
              <a:rPr lang="en-US" sz="2000" b="1" dirty="0">
                <a:solidFill>
                  <a:srgbClr val="FF0000"/>
                </a:solidFill>
                <a:sym typeface="Wingdings" pitchFamily="2" charset="2"/>
              </a:rPr>
              <a:t>Iron</a:t>
            </a:r>
            <a:r>
              <a:rPr lang="en-US" sz="2000" b="1" dirty="0">
                <a:solidFill>
                  <a:schemeClr val="tx1"/>
                </a:solidFill>
                <a:sym typeface="Wingdings" pitchFamily="2" charset="2"/>
              </a:rPr>
              <a:t> </a:t>
            </a:r>
            <a:r>
              <a:rPr lang="en-US" sz="2000" b="1" dirty="0">
                <a:solidFill>
                  <a:srgbClr val="0070C0"/>
                </a:solidFill>
                <a:sym typeface="Wingdings" pitchFamily="2" charset="2"/>
              </a:rPr>
              <a:t>Sulfate</a:t>
            </a:r>
            <a:r>
              <a:rPr lang="en-US" sz="2000" b="1" dirty="0">
                <a:solidFill>
                  <a:schemeClr val="tx1"/>
                </a:solidFill>
                <a:sym typeface="Wingdings" pitchFamily="2" charset="2"/>
              </a:rPr>
              <a:t> + Hydrogen</a:t>
            </a:r>
          </a:p>
          <a:p>
            <a:pPr algn="ctr"/>
            <a:endParaRPr lang="en-US" sz="2000" b="1" dirty="0">
              <a:solidFill>
                <a:schemeClr val="tx1"/>
              </a:solidFill>
              <a:sym typeface="Wingdings" pitchFamily="2" charset="2"/>
            </a:endParaRPr>
          </a:p>
          <a:p>
            <a:pPr algn="ctr">
              <a:buNone/>
            </a:pPr>
            <a:r>
              <a:rPr lang="en-US" sz="2000" b="1" dirty="0">
                <a:solidFill>
                  <a:schemeClr val="tx1"/>
                </a:solidFill>
              </a:rPr>
              <a:t>Salts made when </a:t>
            </a:r>
            <a:r>
              <a:rPr lang="en-US" sz="2000" b="1" dirty="0">
                <a:solidFill>
                  <a:srgbClr val="FF0000"/>
                </a:solidFill>
              </a:rPr>
              <a:t>metals </a:t>
            </a:r>
            <a:r>
              <a:rPr lang="en-US" sz="2000" b="1" dirty="0">
                <a:solidFill>
                  <a:schemeClr val="tx1"/>
                </a:solidFill>
              </a:rPr>
              <a:t>react with </a:t>
            </a:r>
            <a:r>
              <a:rPr lang="en-US" sz="2000" b="1" i="1" dirty="0">
                <a:solidFill>
                  <a:schemeClr val="tx1"/>
                </a:solidFill>
              </a:rPr>
              <a:t>hydro</a:t>
            </a:r>
            <a:r>
              <a:rPr lang="en-US" sz="2000" b="1" i="1" dirty="0">
                <a:solidFill>
                  <a:srgbClr val="0070C0"/>
                </a:solidFill>
              </a:rPr>
              <a:t>chloric</a:t>
            </a:r>
            <a:r>
              <a:rPr lang="en-US" sz="2000" b="1" dirty="0">
                <a:solidFill>
                  <a:schemeClr val="tx1"/>
                </a:solidFill>
              </a:rPr>
              <a:t> acid are called </a:t>
            </a:r>
            <a:r>
              <a:rPr lang="en-US" sz="2000" b="1" i="1" dirty="0">
                <a:solidFill>
                  <a:srgbClr val="0070C0"/>
                </a:solidFill>
              </a:rPr>
              <a:t>chlorides</a:t>
            </a:r>
            <a:r>
              <a:rPr lang="en-US" sz="2000" b="1" i="1" dirty="0">
                <a:solidFill>
                  <a:schemeClr val="tx1"/>
                </a:solidFill>
              </a:rPr>
              <a:t>.</a:t>
            </a:r>
          </a:p>
          <a:p>
            <a:pPr algn="ctr"/>
            <a:endParaRPr lang="en-US" sz="2000" b="1" dirty="0">
              <a:solidFill>
                <a:schemeClr val="tx1"/>
              </a:solidFill>
            </a:endParaRPr>
          </a:p>
          <a:p>
            <a:pPr algn="ctr">
              <a:buNone/>
            </a:pPr>
            <a:r>
              <a:rPr lang="en-US" sz="2000" b="1" dirty="0">
                <a:solidFill>
                  <a:srgbClr val="FF0000"/>
                </a:solidFill>
              </a:rPr>
              <a:t>Magnesium</a:t>
            </a:r>
            <a:r>
              <a:rPr lang="en-US" sz="2000" b="1" dirty="0">
                <a:solidFill>
                  <a:schemeClr val="tx1"/>
                </a:solidFill>
              </a:rPr>
              <a:t> + Hydro</a:t>
            </a:r>
            <a:r>
              <a:rPr lang="en-US" sz="2000" b="1" dirty="0">
                <a:solidFill>
                  <a:srgbClr val="0070C0"/>
                </a:solidFill>
              </a:rPr>
              <a:t>chloric </a:t>
            </a:r>
            <a:r>
              <a:rPr lang="en-US" sz="2000" b="1" dirty="0">
                <a:solidFill>
                  <a:schemeClr val="tx1"/>
                </a:solidFill>
              </a:rPr>
              <a:t>acid </a:t>
            </a:r>
            <a:r>
              <a:rPr lang="en-US" sz="2000" b="1" dirty="0">
                <a:solidFill>
                  <a:schemeClr val="tx1"/>
                </a:solidFill>
                <a:sym typeface="Wingdings"/>
              </a:rPr>
              <a:t> </a:t>
            </a:r>
            <a:r>
              <a:rPr lang="en-US" sz="2000" b="1" dirty="0">
                <a:solidFill>
                  <a:srgbClr val="FF0000"/>
                </a:solidFill>
                <a:sym typeface="Wingdings"/>
              </a:rPr>
              <a:t>Magnesium </a:t>
            </a:r>
            <a:r>
              <a:rPr lang="en-US" sz="2000" b="1" dirty="0">
                <a:solidFill>
                  <a:srgbClr val="0070C0"/>
                </a:solidFill>
                <a:sym typeface="Wingdings"/>
              </a:rPr>
              <a:t>Chloride</a:t>
            </a:r>
            <a:r>
              <a:rPr lang="en-US" sz="2000" b="1" dirty="0">
                <a:solidFill>
                  <a:schemeClr val="tx1"/>
                </a:solidFill>
                <a:sym typeface="Wingdings"/>
              </a:rPr>
              <a:t> + Hydrogen</a:t>
            </a:r>
          </a:p>
        </p:txBody>
      </p:sp>
    </p:spTree>
    <p:extLst>
      <p:ext uri="{BB962C8B-B14F-4D97-AF65-F5344CB8AC3E}">
        <p14:creationId xmlns:p14="http://schemas.microsoft.com/office/powerpoint/2010/main" val="690192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86567"/>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HIGHER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125760" y="608364"/>
            <a:ext cx="8892480" cy="3724096"/>
          </a:xfrm>
          <a:prstGeom prst="rect">
            <a:avLst/>
          </a:prstGeom>
          <a:noFill/>
        </p:spPr>
        <p:txBody>
          <a:bodyPr wrap="square" rtlCol="0">
            <a:spAutoFit/>
          </a:bodyPr>
          <a:lstStyle/>
          <a:p>
            <a:endParaRPr lang="en-GB" b="1" dirty="0"/>
          </a:p>
          <a:p>
            <a:pPr algn="ctr"/>
            <a:endParaRPr lang="en-GB" dirty="0"/>
          </a:p>
          <a:p>
            <a:pPr algn="ctr"/>
            <a:r>
              <a:rPr lang="en-GB" sz="2000" dirty="0"/>
              <a:t>In the reaction between magnesium and hydrochloric acid, the hydrogen ions are </a:t>
            </a:r>
            <a:r>
              <a:rPr lang="en-GB" sz="2000" b="1" dirty="0"/>
              <a:t>displaced</a:t>
            </a:r>
            <a:r>
              <a:rPr lang="en-GB" sz="2000" dirty="0"/>
              <a:t> from the solution by magnesium as the magnesium is more reactive than hydrogen.</a:t>
            </a:r>
          </a:p>
          <a:p>
            <a:pPr algn="ctr"/>
            <a:endParaRPr lang="en-GB" sz="2000" dirty="0"/>
          </a:p>
          <a:p>
            <a:pPr algn="ctr"/>
            <a:r>
              <a:rPr lang="en-GB" sz="2000" dirty="0"/>
              <a:t>The following </a:t>
            </a:r>
            <a:r>
              <a:rPr lang="en-GB" sz="2000" b="1" dirty="0"/>
              <a:t>ionic equation </a:t>
            </a:r>
            <a:r>
              <a:rPr lang="en-GB" sz="2000" dirty="0"/>
              <a:t>occurs:</a:t>
            </a:r>
          </a:p>
          <a:p>
            <a:pPr algn="ctr"/>
            <a:endParaRPr lang="en-GB" sz="2000" dirty="0"/>
          </a:p>
          <a:p>
            <a:pPr algn="ctr"/>
            <a:r>
              <a:rPr lang="en-GB" sz="2000" b="1" dirty="0">
                <a:solidFill>
                  <a:schemeClr val="accent6">
                    <a:lumMod val="75000"/>
                  </a:schemeClr>
                </a:solidFill>
              </a:rPr>
              <a:t>Mg(s) + 2H</a:t>
            </a:r>
            <a:r>
              <a:rPr lang="en-GB" sz="2000" b="1" baseline="30000" dirty="0">
                <a:solidFill>
                  <a:schemeClr val="accent6">
                    <a:lumMod val="75000"/>
                  </a:schemeClr>
                </a:solidFill>
              </a:rPr>
              <a:t>+</a:t>
            </a:r>
            <a:r>
              <a:rPr lang="en-GB" sz="2000" b="1" dirty="0">
                <a:solidFill>
                  <a:schemeClr val="accent6">
                    <a:lumMod val="75000"/>
                  </a:schemeClr>
                </a:solidFill>
              </a:rPr>
              <a:t>(</a:t>
            </a:r>
            <a:r>
              <a:rPr lang="en-GB" sz="2000" b="1" dirty="0" err="1">
                <a:solidFill>
                  <a:schemeClr val="accent6">
                    <a:lumMod val="75000"/>
                  </a:schemeClr>
                </a:solidFill>
              </a:rPr>
              <a:t>aq</a:t>
            </a:r>
            <a:r>
              <a:rPr lang="en-GB" sz="2000" b="1" dirty="0">
                <a:solidFill>
                  <a:schemeClr val="accent6">
                    <a:lumMod val="75000"/>
                  </a:schemeClr>
                </a:solidFill>
              </a:rPr>
              <a:t>)  </a:t>
            </a:r>
            <a:r>
              <a:rPr lang="en-GB" sz="2000" b="1" dirty="0">
                <a:solidFill>
                  <a:schemeClr val="accent6">
                    <a:lumMod val="75000"/>
                  </a:schemeClr>
                </a:solidFill>
                <a:sym typeface="Wingdings" panose="05000000000000000000" pitchFamily="2" charset="2"/>
              </a:rPr>
              <a:t> Mg</a:t>
            </a:r>
            <a:r>
              <a:rPr lang="en-GB" sz="2000" b="1" baseline="30000" dirty="0">
                <a:solidFill>
                  <a:schemeClr val="accent6">
                    <a:lumMod val="75000"/>
                  </a:schemeClr>
                </a:solidFill>
                <a:sym typeface="Wingdings" panose="05000000000000000000" pitchFamily="2" charset="2"/>
              </a:rPr>
              <a:t>2+</a:t>
            </a:r>
            <a:r>
              <a:rPr lang="en-GB" sz="2000" b="1" dirty="0">
                <a:solidFill>
                  <a:schemeClr val="accent6">
                    <a:lumMod val="75000"/>
                  </a:schemeClr>
                </a:solidFill>
                <a:sym typeface="Wingdings" panose="05000000000000000000" pitchFamily="2" charset="2"/>
              </a:rPr>
              <a:t>(</a:t>
            </a:r>
            <a:r>
              <a:rPr lang="en-GB" sz="2000" b="1" dirty="0" err="1">
                <a:solidFill>
                  <a:schemeClr val="accent6">
                    <a:lumMod val="75000"/>
                  </a:schemeClr>
                </a:solidFill>
                <a:sym typeface="Wingdings" panose="05000000000000000000" pitchFamily="2" charset="2"/>
              </a:rPr>
              <a:t>aq</a:t>
            </a:r>
            <a:r>
              <a:rPr lang="en-GB" sz="2000" b="1" dirty="0">
                <a:solidFill>
                  <a:schemeClr val="accent6">
                    <a:lumMod val="75000"/>
                  </a:schemeClr>
                </a:solidFill>
                <a:sym typeface="Wingdings" panose="05000000000000000000" pitchFamily="2" charset="2"/>
              </a:rPr>
              <a:t>) + H</a:t>
            </a:r>
            <a:r>
              <a:rPr lang="en-GB" sz="2000" b="1" baseline="-25000" dirty="0">
                <a:solidFill>
                  <a:schemeClr val="accent6">
                    <a:lumMod val="75000"/>
                  </a:schemeClr>
                </a:solidFill>
                <a:sym typeface="Wingdings" panose="05000000000000000000" pitchFamily="2" charset="2"/>
              </a:rPr>
              <a:t>2</a:t>
            </a:r>
            <a:r>
              <a:rPr lang="en-GB" sz="2000" b="1" dirty="0">
                <a:solidFill>
                  <a:schemeClr val="accent6">
                    <a:lumMod val="75000"/>
                  </a:schemeClr>
                </a:solidFill>
                <a:sym typeface="Wingdings" panose="05000000000000000000" pitchFamily="2" charset="2"/>
              </a:rPr>
              <a:t>(g)</a:t>
            </a:r>
          </a:p>
          <a:p>
            <a:pPr algn="ctr"/>
            <a:endParaRPr lang="en-GB" sz="2000" dirty="0"/>
          </a:p>
          <a:p>
            <a:pPr algn="ctr"/>
            <a:r>
              <a:rPr lang="en-GB" sz="2000" dirty="0"/>
              <a:t>The chloride ions are not included as they do not change in the reaction.  </a:t>
            </a:r>
          </a:p>
          <a:p>
            <a:pPr algn="ctr"/>
            <a:r>
              <a:rPr lang="en-GB" sz="2000" dirty="0"/>
              <a:t>These are known as </a:t>
            </a:r>
            <a:r>
              <a:rPr lang="en-GB" sz="2000" b="1" dirty="0"/>
              <a:t>spectator ions</a:t>
            </a:r>
            <a:r>
              <a:rPr lang="en-GB" sz="2000" dirty="0"/>
              <a:t>.</a:t>
            </a:r>
          </a:p>
        </p:txBody>
      </p:sp>
    </p:spTree>
    <p:extLst>
      <p:ext uri="{BB962C8B-B14F-4D97-AF65-F5344CB8AC3E}">
        <p14:creationId xmlns:p14="http://schemas.microsoft.com/office/powerpoint/2010/main" val="1736990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324535"/>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Acids and alkalis</a:t>
            </a:r>
          </a:p>
          <a:p>
            <a:pPr marL="685800" lvl="1" indent="-342900">
              <a:buFont typeface="Arial" charset="0"/>
              <a:buChar char="•"/>
            </a:pPr>
            <a:r>
              <a:rPr lang="en-US" sz="2400" b="1" dirty="0">
                <a:solidFill>
                  <a:schemeClr val="bg1">
                    <a:lumMod val="50000"/>
                  </a:schemeClr>
                </a:solidFill>
              </a:rPr>
              <a:t>Indicators</a:t>
            </a:r>
          </a:p>
          <a:p>
            <a:pPr marL="685800" lvl="1" indent="-342900">
              <a:buFont typeface="Arial" charset="0"/>
              <a:buChar char="•"/>
            </a:pPr>
            <a:r>
              <a:rPr lang="en-US" sz="2400" b="1" dirty="0">
                <a:solidFill>
                  <a:schemeClr val="bg1">
                    <a:lumMod val="50000"/>
                  </a:schemeClr>
                </a:solidFill>
              </a:rPr>
              <a:t>Strong and weak acids (HT)</a:t>
            </a:r>
          </a:p>
          <a:p>
            <a:pPr marL="685800" lvl="1" indent="-342900">
              <a:buFont typeface="Arial" charset="0"/>
              <a:buChar char="•"/>
            </a:pPr>
            <a:r>
              <a:rPr lang="en-US" sz="2400" b="1" dirty="0">
                <a:solidFill>
                  <a:schemeClr val="bg1">
                    <a:lumMod val="50000"/>
                  </a:schemeClr>
                </a:solidFill>
              </a:rPr>
              <a:t>Reactions with metals</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728329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6001643"/>
          </a:xfrm>
          <a:prstGeom prst="rect">
            <a:avLst/>
          </a:prstGeom>
          <a:noFill/>
        </p:spPr>
        <p:txBody>
          <a:bodyPr wrap="square" rtlCol="0">
            <a:spAutoFit/>
          </a:bodyPr>
          <a:lstStyle/>
          <a:p>
            <a:pPr marL="457200" lvl="0" indent="-457200">
              <a:buFont typeface="+mj-lt"/>
              <a:buAutoNum type="arabicPeriod"/>
            </a:pPr>
            <a:r>
              <a:rPr lang="en-GB" sz="2400" dirty="0">
                <a:latin typeface="Calibri"/>
              </a:rPr>
              <a:t>What type of ion are acids a source of?</a:t>
            </a:r>
          </a:p>
          <a:p>
            <a:pPr marL="457200" lvl="0" indent="-457200">
              <a:buFont typeface="+mj-lt"/>
              <a:buAutoNum type="arabicPeriod"/>
            </a:pPr>
            <a:endParaRPr lang="en-GB" sz="2400" dirty="0">
              <a:latin typeface="Calibri"/>
            </a:endParaRPr>
          </a:p>
          <a:p>
            <a:pPr marL="457200" lvl="0" indent="-457200">
              <a:buFont typeface="+mj-lt"/>
              <a:buAutoNum type="arabicPeriod"/>
            </a:pPr>
            <a:r>
              <a:rPr lang="en-GB" sz="2400" dirty="0">
                <a:latin typeface="Calibri"/>
              </a:rPr>
              <a:t>What type of ion are alkalis a source of?</a:t>
            </a:r>
          </a:p>
          <a:p>
            <a:pPr lvl="1"/>
            <a:endParaRPr lang="en-GB" sz="2400" baseline="30000" dirty="0">
              <a:solidFill>
                <a:srgbClr val="00B050"/>
              </a:solidFill>
              <a:latin typeface="Calibri"/>
            </a:endParaRPr>
          </a:p>
          <a:p>
            <a:pPr marL="457200" lvl="0" indent="-457200">
              <a:buFont typeface="+mj-lt"/>
              <a:buAutoNum type="arabicPeriod"/>
            </a:pPr>
            <a:r>
              <a:rPr lang="en-GB" sz="2400" dirty="0">
                <a:latin typeface="Calibri"/>
              </a:rPr>
              <a:t>What pH do neutral, acids and alkaline solutions have?</a:t>
            </a:r>
          </a:p>
          <a:p>
            <a:pPr lvl="1"/>
            <a:endParaRPr lang="en-GB" sz="2400" dirty="0">
              <a:solidFill>
                <a:srgbClr val="00B050"/>
              </a:solidFill>
              <a:latin typeface="Calibri"/>
            </a:endParaRPr>
          </a:p>
          <a:p>
            <a:pPr marL="457200" lvl="0" indent="-457200">
              <a:buFont typeface="+mj-lt"/>
              <a:buAutoNum type="arabicPeriod"/>
            </a:pPr>
            <a:r>
              <a:rPr lang="en-GB" sz="2400" dirty="0">
                <a:latin typeface="Calibri"/>
              </a:rPr>
              <a:t>Describe the colour changes of litmus in different pH solutions.</a:t>
            </a:r>
          </a:p>
          <a:p>
            <a:pPr lvl="1"/>
            <a:endParaRPr lang="en-GB" sz="2400" dirty="0">
              <a:solidFill>
                <a:srgbClr val="00B050"/>
              </a:solidFill>
              <a:latin typeface="Calibri"/>
            </a:endParaRPr>
          </a:p>
          <a:p>
            <a:pPr marL="457200" lvl="0" indent="-457200">
              <a:buFont typeface="+mj-lt"/>
              <a:buAutoNum type="arabicPeriod"/>
            </a:pPr>
            <a:r>
              <a:rPr lang="en-GB" sz="2400" dirty="0">
                <a:latin typeface="Calibri"/>
              </a:rPr>
              <a:t>Describe the colour of methyl orange in different pH solutions.</a:t>
            </a:r>
          </a:p>
          <a:p>
            <a:pPr lvl="1"/>
            <a:endParaRPr lang="en-GB" sz="2400" dirty="0">
              <a:solidFill>
                <a:srgbClr val="00B050"/>
              </a:solidFill>
              <a:latin typeface="Calibri"/>
            </a:endParaRPr>
          </a:p>
          <a:p>
            <a:pPr marL="457200" lvl="0" indent="-457200">
              <a:buFont typeface="+mj-lt"/>
              <a:buAutoNum type="arabicPeriod"/>
            </a:pPr>
            <a:r>
              <a:rPr lang="en-GB" sz="2400" dirty="0">
                <a:latin typeface="Calibri"/>
              </a:rPr>
              <a:t>Describe the colour of phenolphthalein in different pH solutions.</a:t>
            </a:r>
          </a:p>
          <a:p>
            <a:pPr lvl="1"/>
            <a:endParaRPr lang="en-GB" sz="2400" dirty="0">
              <a:solidFill>
                <a:srgbClr val="00B050"/>
              </a:solidFill>
              <a:latin typeface="Calibri"/>
            </a:endParaRPr>
          </a:p>
          <a:p>
            <a:pPr marL="457200" lvl="0" indent="-457200">
              <a:buFont typeface="+mj-lt"/>
              <a:buAutoNum type="arabicPeriod"/>
            </a:pPr>
            <a:endParaRPr kumimoji="0" lang="en-GB" sz="2400" i="0" u="none" strike="noStrike" kern="1200" cap="none" spc="0" normalizeH="0" baseline="0" noProof="0" dirty="0">
              <a:ln>
                <a:noFill/>
              </a:ln>
              <a:effectLst/>
              <a:uLnTx/>
              <a:uFillTx/>
              <a:latin typeface="Calibri"/>
            </a:endParaRPr>
          </a:p>
          <a:p>
            <a:r>
              <a:rPr lang="en-GB" sz="2400" b="1" dirty="0">
                <a:solidFill>
                  <a:srgbClr val="00B050"/>
                </a:solidFill>
                <a:latin typeface="Calibri"/>
              </a:rPr>
              <a:t>            </a:t>
            </a:r>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3191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6001643"/>
          </a:xfrm>
          <a:prstGeom prst="rect">
            <a:avLst/>
          </a:prstGeom>
          <a:noFill/>
        </p:spPr>
        <p:txBody>
          <a:bodyPr wrap="square" rtlCol="0">
            <a:spAutoFit/>
          </a:bodyPr>
          <a:lstStyle/>
          <a:p>
            <a:pPr marL="457200" lvl="0" indent="-457200">
              <a:buFont typeface="+mj-lt"/>
              <a:buAutoNum type="arabicPeriod" startAt="7"/>
            </a:pPr>
            <a:r>
              <a:rPr lang="en-GB" sz="2400" dirty="0">
                <a:latin typeface="Calibri"/>
              </a:rPr>
              <a:t>Higher: What impact does increasing the H</a:t>
            </a:r>
            <a:r>
              <a:rPr lang="en-GB" sz="2400" baseline="30000" dirty="0">
                <a:latin typeface="Calibri"/>
              </a:rPr>
              <a:t>+</a:t>
            </a:r>
            <a:r>
              <a:rPr lang="en-GB" sz="2400" dirty="0">
                <a:latin typeface="Calibri"/>
              </a:rPr>
              <a:t> concentration in an acidic solution have upon the pH?</a:t>
            </a:r>
          </a:p>
          <a:p>
            <a:pPr lvl="1"/>
            <a:endParaRPr lang="en-GB" sz="2400" dirty="0">
              <a:solidFill>
                <a:srgbClr val="00B050"/>
              </a:solidFill>
              <a:latin typeface="Calibri"/>
            </a:endParaRPr>
          </a:p>
          <a:p>
            <a:pPr marL="457200" lvl="0" indent="-457200">
              <a:buFont typeface="+mj-lt"/>
              <a:buAutoNum type="arabicPeriod" startAt="7"/>
            </a:pPr>
            <a:r>
              <a:rPr lang="en-GB" sz="2400" dirty="0">
                <a:latin typeface="Calibri"/>
              </a:rPr>
              <a:t>Higher: What impact does increasing the OH</a:t>
            </a:r>
            <a:r>
              <a:rPr lang="en-GB" sz="2400" baseline="30000" dirty="0">
                <a:latin typeface="Calibri"/>
              </a:rPr>
              <a:t>-</a:t>
            </a:r>
            <a:r>
              <a:rPr lang="en-GB" sz="2400" dirty="0">
                <a:latin typeface="Calibri"/>
              </a:rPr>
              <a:t> concentration have upon the pH?</a:t>
            </a:r>
          </a:p>
          <a:p>
            <a:pPr lvl="1"/>
            <a:endParaRPr lang="en-GB" sz="2400" dirty="0">
              <a:solidFill>
                <a:srgbClr val="00B050"/>
              </a:solidFill>
              <a:latin typeface="Calibri"/>
            </a:endParaRPr>
          </a:p>
          <a:p>
            <a:pPr marL="457200" lvl="0" indent="-457200">
              <a:buFont typeface="+mj-lt"/>
              <a:buAutoNum type="arabicPeriod" startAt="7"/>
            </a:pPr>
            <a:r>
              <a:rPr lang="en-GB" sz="2400" dirty="0">
                <a:latin typeface="Calibri"/>
              </a:rPr>
              <a:t>Higher: As the pH increases by 1, what happens to the H</a:t>
            </a:r>
            <a:r>
              <a:rPr lang="en-GB" sz="2400" baseline="30000" dirty="0">
                <a:latin typeface="Calibri"/>
              </a:rPr>
              <a:t>+</a:t>
            </a:r>
            <a:r>
              <a:rPr lang="en-GB" sz="2400" dirty="0">
                <a:latin typeface="Calibri"/>
              </a:rPr>
              <a:t> concentration of the solution?</a:t>
            </a:r>
          </a:p>
          <a:p>
            <a:pPr lvl="1"/>
            <a:endParaRPr lang="en-GB" sz="2400" dirty="0">
              <a:solidFill>
                <a:srgbClr val="00B050"/>
              </a:solidFill>
              <a:latin typeface="Calibri"/>
            </a:endParaRPr>
          </a:p>
          <a:p>
            <a:pPr marL="457200" lvl="0" indent="-457200">
              <a:buFont typeface="+mj-lt"/>
              <a:buAutoNum type="arabicPeriod" startAt="7"/>
            </a:pPr>
            <a:r>
              <a:rPr lang="en-GB" sz="2400" dirty="0">
                <a:latin typeface="Calibri"/>
              </a:rPr>
              <a:t>Higher: What does the term ‘dilute’ mean?</a:t>
            </a:r>
          </a:p>
          <a:p>
            <a:pPr lvl="1"/>
            <a:endParaRPr lang="en-GB" sz="2400" dirty="0">
              <a:solidFill>
                <a:srgbClr val="00B050"/>
              </a:solidFill>
              <a:latin typeface="Calibri"/>
            </a:endParaRPr>
          </a:p>
          <a:p>
            <a:pPr marL="457200" lvl="0" indent="-457200">
              <a:buFont typeface="+mj-lt"/>
              <a:buAutoNum type="arabicPeriod" startAt="7"/>
            </a:pPr>
            <a:r>
              <a:rPr lang="en-GB" sz="2400" dirty="0">
                <a:latin typeface="Calibri"/>
              </a:rPr>
              <a:t>Higher: What does the term ‘concentrated’ mean?</a:t>
            </a:r>
          </a:p>
          <a:p>
            <a:pPr lvl="1"/>
            <a:endParaRPr lang="en-GB" sz="2400" dirty="0">
              <a:solidFill>
                <a:srgbClr val="00B050"/>
              </a:solidFill>
              <a:latin typeface="Calibri"/>
            </a:endParaRPr>
          </a:p>
          <a:p>
            <a:r>
              <a:rPr lang="en-GB" sz="2400" b="1" dirty="0">
                <a:solidFill>
                  <a:srgbClr val="00B050"/>
                </a:solidFill>
                <a:latin typeface="Calibri"/>
              </a:rPr>
              <a:t>            </a:t>
            </a:r>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19469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4893647"/>
          </a:xfrm>
          <a:prstGeom prst="rect">
            <a:avLst/>
          </a:prstGeom>
          <a:noFill/>
        </p:spPr>
        <p:txBody>
          <a:bodyPr wrap="square" rtlCol="0">
            <a:spAutoFit/>
          </a:bodyPr>
          <a:lstStyle/>
          <a:p>
            <a:pPr marL="457200" lvl="0" indent="-457200">
              <a:buFont typeface="+mj-lt"/>
              <a:buAutoNum type="arabicPeriod" startAt="12"/>
            </a:pPr>
            <a:r>
              <a:rPr lang="en-GB" sz="2400" dirty="0">
                <a:latin typeface="Calibri"/>
              </a:rPr>
              <a:t>Higher: What does the term ‘weak acid’ mean?</a:t>
            </a:r>
          </a:p>
          <a:p>
            <a:pPr lvl="1"/>
            <a:endParaRPr lang="en-GB" sz="2400" dirty="0">
              <a:solidFill>
                <a:srgbClr val="00B050"/>
              </a:solidFill>
              <a:latin typeface="Calibri"/>
            </a:endParaRPr>
          </a:p>
          <a:p>
            <a:pPr marL="457200" lvl="0" indent="-457200">
              <a:buFont typeface="+mj-lt"/>
              <a:buAutoNum type="arabicPeriod" startAt="12"/>
            </a:pPr>
            <a:r>
              <a:rPr lang="en-GB" sz="2400" dirty="0">
                <a:latin typeface="Calibri"/>
              </a:rPr>
              <a:t>Higher: What does the term ‘strong acid’ mean?</a:t>
            </a:r>
          </a:p>
          <a:p>
            <a:pPr lvl="1"/>
            <a:endParaRPr lang="en-GB" sz="2400" dirty="0">
              <a:solidFill>
                <a:srgbClr val="00B050"/>
              </a:solidFill>
              <a:latin typeface="Calibri"/>
            </a:endParaRPr>
          </a:p>
          <a:p>
            <a:pPr marL="457200" lvl="0" indent="-457200">
              <a:buFont typeface="+mj-lt"/>
              <a:buAutoNum type="arabicPeriod" startAt="12"/>
            </a:pPr>
            <a:r>
              <a:rPr lang="en-GB" sz="2400" dirty="0">
                <a:latin typeface="Calibri"/>
              </a:rPr>
              <a:t>Write a balanced symbol equation, with state symbols, for the reaction between zinc and hydrochloric acid.</a:t>
            </a:r>
          </a:p>
          <a:p>
            <a:pPr lvl="1" algn="ctr"/>
            <a:endParaRPr lang="en-GB" sz="2400" baseline="-25000" dirty="0">
              <a:solidFill>
                <a:srgbClr val="00B050"/>
              </a:solidFill>
              <a:latin typeface="Calibri"/>
            </a:endParaRPr>
          </a:p>
          <a:p>
            <a:pPr marL="457200" lvl="0" indent="-457200">
              <a:buFont typeface="+mj-lt"/>
              <a:buAutoNum type="arabicPeriod" startAt="12"/>
            </a:pPr>
            <a:r>
              <a:rPr lang="en-GB" sz="2400" dirty="0">
                <a:latin typeface="Calibri"/>
              </a:rPr>
              <a:t>Higher: Write an ionic equation, with state symbols, to show magnesium reacting with hydrochloric acid.</a:t>
            </a:r>
            <a:endParaRPr kumimoji="0" lang="en-GB" sz="2400" i="0" u="none" strike="noStrike" kern="1200" cap="none" spc="0" normalizeH="0" baseline="0" noProof="0" dirty="0">
              <a:ln>
                <a:noFill/>
              </a:ln>
              <a:effectLst/>
              <a:uLnTx/>
              <a:uFillTx/>
              <a:latin typeface="Calibri"/>
            </a:endParaRPr>
          </a:p>
          <a:p>
            <a:pPr algn="ctr"/>
            <a:r>
              <a:rPr lang="en-GB" sz="2400" b="1" dirty="0">
                <a:solidFill>
                  <a:srgbClr val="00B050"/>
                </a:solidFill>
                <a:latin typeface="Calibri"/>
              </a:rPr>
              <a:t>            </a:t>
            </a:r>
            <a:endParaRPr lang="en-GB" sz="2400" dirty="0">
              <a:solidFill>
                <a:srgbClr val="00B050"/>
              </a:solidFill>
              <a:sym typeface="Wingdings" panose="05000000000000000000" pitchFamily="2" charset="2"/>
            </a:endParaRPr>
          </a:p>
          <a:p>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24073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7" name="TextBox 6"/>
          <p:cNvSpPr txBox="1"/>
          <p:nvPr/>
        </p:nvSpPr>
        <p:spPr>
          <a:xfrm>
            <a:off x="0" y="980728"/>
            <a:ext cx="4716016" cy="532453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Acids and alkalis</a:t>
            </a:r>
          </a:p>
          <a:p>
            <a:pPr marL="685800" lvl="1" indent="-342900">
              <a:buFont typeface="Arial" charset="0"/>
              <a:buChar char="•"/>
            </a:pPr>
            <a:r>
              <a:rPr lang="en-US" sz="2400" b="1" dirty="0">
                <a:solidFill>
                  <a:schemeClr val="bg1">
                    <a:lumMod val="50000"/>
                  </a:schemeClr>
                </a:solidFill>
              </a:rPr>
              <a:t>Indicators</a:t>
            </a:r>
          </a:p>
          <a:p>
            <a:pPr marL="685800" lvl="1" indent="-342900">
              <a:buFont typeface="Arial" charset="0"/>
              <a:buChar char="•"/>
            </a:pPr>
            <a:r>
              <a:rPr lang="en-US" sz="2400" b="1" dirty="0">
                <a:solidFill>
                  <a:schemeClr val="bg1">
                    <a:lumMod val="50000"/>
                  </a:schemeClr>
                </a:solidFill>
              </a:rPr>
              <a:t>Strong and weak acids (HT)</a:t>
            </a:r>
          </a:p>
          <a:p>
            <a:pPr marL="685800" lvl="1" indent="-342900">
              <a:buFont typeface="Arial" charset="0"/>
              <a:buChar char="•"/>
            </a:pPr>
            <a:r>
              <a:rPr lang="en-US" sz="2400" b="1" dirty="0">
                <a:solidFill>
                  <a:schemeClr val="bg1">
                    <a:lumMod val="50000"/>
                  </a:schemeClr>
                </a:solidFill>
              </a:rPr>
              <a:t>Reactions with metals</a:t>
            </a:r>
          </a:p>
          <a:p>
            <a:endParaRPr lang="en-GB" dirty="0"/>
          </a:p>
        </p:txBody>
      </p:sp>
    </p:spTree>
    <p:extLst>
      <p:ext uri="{BB962C8B-B14F-4D97-AF65-F5344CB8AC3E}">
        <p14:creationId xmlns:p14="http://schemas.microsoft.com/office/powerpoint/2010/main" val="4192842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6001643"/>
          </a:xfrm>
          <a:prstGeom prst="rect">
            <a:avLst/>
          </a:prstGeom>
          <a:noFill/>
        </p:spPr>
        <p:txBody>
          <a:bodyPr wrap="square" rtlCol="0">
            <a:spAutoFit/>
          </a:bodyPr>
          <a:lstStyle/>
          <a:p>
            <a:pPr marL="457200" lvl="0" indent="-457200">
              <a:buFont typeface="+mj-lt"/>
              <a:buAutoNum type="arabicPeriod"/>
            </a:pPr>
            <a:r>
              <a:rPr lang="en-GB" sz="2400" dirty="0">
                <a:latin typeface="Calibri"/>
              </a:rPr>
              <a:t>What type of ion are acids a source of?</a:t>
            </a:r>
          </a:p>
          <a:p>
            <a:pPr lvl="1"/>
            <a:r>
              <a:rPr lang="en-GB" sz="2400" dirty="0">
                <a:solidFill>
                  <a:srgbClr val="00B050"/>
                </a:solidFill>
                <a:latin typeface="Calibri"/>
              </a:rPr>
              <a:t>Hydrogen ions/ H</a:t>
            </a:r>
            <a:r>
              <a:rPr lang="en-GB" sz="2400" baseline="30000" dirty="0">
                <a:solidFill>
                  <a:srgbClr val="00B050"/>
                </a:solidFill>
                <a:latin typeface="Calibri"/>
              </a:rPr>
              <a:t>+</a:t>
            </a:r>
          </a:p>
          <a:p>
            <a:pPr marL="457200" lvl="0" indent="-457200">
              <a:buFont typeface="+mj-lt"/>
              <a:buAutoNum type="arabicPeriod"/>
            </a:pPr>
            <a:r>
              <a:rPr lang="en-GB" sz="2400" dirty="0">
                <a:latin typeface="Calibri"/>
              </a:rPr>
              <a:t>What type of ion are alkalis a source of?</a:t>
            </a:r>
          </a:p>
          <a:p>
            <a:pPr lvl="1"/>
            <a:r>
              <a:rPr lang="en-GB" sz="2400" dirty="0">
                <a:solidFill>
                  <a:srgbClr val="00B050"/>
                </a:solidFill>
                <a:latin typeface="Calibri"/>
              </a:rPr>
              <a:t>Hydroxide ions/ OH</a:t>
            </a:r>
            <a:r>
              <a:rPr lang="en-GB" sz="2400" baseline="30000" dirty="0">
                <a:solidFill>
                  <a:srgbClr val="00B050"/>
                </a:solidFill>
                <a:latin typeface="Calibri"/>
              </a:rPr>
              <a:t>-</a:t>
            </a:r>
          </a:p>
          <a:p>
            <a:pPr marL="457200" lvl="0" indent="-457200">
              <a:buFont typeface="+mj-lt"/>
              <a:buAutoNum type="arabicPeriod"/>
            </a:pPr>
            <a:r>
              <a:rPr lang="en-GB" sz="2400" dirty="0">
                <a:latin typeface="Calibri"/>
              </a:rPr>
              <a:t>What pH do neutral, acids and alkaline solutions have?</a:t>
            </a:r>
          </a:p>
          <a:p>
            <a:pPr lvl="1"/>
            <a:r>
              <a:rPr lang="en-GB" sz="2400" dirty="0">
                <a:solidFill>
                  <a:srgbClr val="00B050"/>
                </a:solidFill>
                <a:latin typeface="Calibri"/>
              </a:rPr>
              <a:t>Neutral = 7; acids &lt; 7; alkalis &gt; 7</a:t>
            </a:r>
          </a:p>
          <a:p>
            <a:pPr marL="457200" lvl="0" indent="-457200">
              <a:buFont typeface="+mj-lt"/>
              <a:buAutoNum type="arabicPeriod"/>
            </a:pPr>
            <a:r>
              <a:rPr lang="en-GB" sz="2400" dirty="0">
                <a:latin typeface="Calibri"/>
              </a:rPr>
              <a:t>Describe the colour changes of litmus in different pH solutions.</a:t>
            </a:r>
          </a:p>
          <a:p>
            <a:pPr lvl="1"/>
            <a:r>
              <a:rPr lang="en-GB" sz="2400" dirty="0">
                <a:solidFill>
                  <a:srgbClr val="00B050"/>
                </a:solidFill>
                <a:latin typeface="Calibri"/>
              </a:rPr>
              <a:t>Red in acids; blue in alkali.</a:t>
            </a:r>
          </a:p>
          <a:p>
            <a:pPr marL="457200" lvl="0" indent="-457200">
              <a:buFont typeface="+mj-lt"/>
              <a:buAutoNum type="arabicPeriod"/>
            </a:pPr>
            <a:r>
              <a:rPr lang="en-GB" sz="2400" dirty="0">
                <a:latin typeface="Calibri"/>
              </a:rPr>
              <a:t>Describe the colour of methyl orange in different pH solutions.</a:t>
            </a:r>
          </a:p>
          <a:p>
            <a:pPr lvl="1"/>
            <a:r>
              <a:rPr lang="en-GB" sz="2400" dirty="0">
                <a:solidFill>
                  <a:srgbClr val="00B050"/>
                </a:solidFill>
                <a:latin typeface="Calibri"/>
              </a:rPr>
              <a:t>Red in acids; yellow in neutral and alkali.</a:t>
            </a:r>
          </a:p>
          <a:p>
            <a:pPr marL="457200" lvl="0" indent="-457200">
              <a:buFont typeface="+mj-lt"/>
              <a:buAutoNum type="arabicPeriod"/>
            </a:pPr>
            <a:r>
              <a:rPr lang="en-GB" sz="2400" dirty="0">
                <a:latin typeface="Calibri"/>
              </a:rPr>
              <a:t>Describe the colour of phenolphthalein in different pH solutions.</a:t>
            </a:r>
          </a:p>
          <a:p>
            <a:pPr lvl="1"/>
            <a:r>
              <a:rPr lang="en-GB" sz="2400" dirty="0">
                <a:solidFill>
                  <a:srgbClr val="00B050"/>
                </a:solidFill>
                <a:latin typeface="Calibri"/>
              </a:rPr>
              <a:t>Colourless in acid and neutral; pink in alkali.</a:t>
            </a:r>
          </a:p>
          <a:p>
            <a:pPr marL="457200" lvl="0" indent="-457200">
              <a:buFont typeface="+mj-lt"/>
              <a:buAutoNum type="arabicPeriod"/>
            </a:pPr>
            <a:endParaRPr kumimoji="0" lang="en-GB" sz="2400" i="0" u="none" strike="noStrike" kern="1200" cap="none" spc="0" normalizeH="0" baseline="0" noProof="0" dirty="0">
              <a:ln>
                <a:noFill/>
              </a:ln>
              <a:effectLst/>
              <a:uLnTx/>
              <a:uFillTx/>
              <a:latin typeface="Calibri"/>
            </a:endParaRPr>
          </a:p>
          <a:p>
            <a:r>
              <a:rPr lang="en-GB" sz="2400" b="1" dirty="0">
                <a:solidFill>
                  <a:srgbClr val="00B050"/>
                </a:solidFill>
                <a:latin typeface="Calibri"/>
              </a:rPr>
              <a:t>            </a:t>
            </a:r>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34768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6001643"/>
          </a:xfrm>
          <a:prstGeom prst="rect">
            <a:avLst/>
          </a:prstGeom>
          <a:noFill/>
        </p:spPr>
        <p:txBody>
          <a:bodyPr wrap="square" rtlCol="0">
            <a:spAutoFit/>
          </a:bodyPr>
          <a:lstStyle/>
          <a:p>
            <a:pPr marL="457200" lvl="0" indent="-457200">
              <a:buFont typeface="+mj-lt"/>
              <a:buAutoNum type="arabicPeriod" startAt="7"/>
            </a:pPr>
            <a:r>
              <a:rPr lang="en-GB" sz="2400" dirty="0">
                <a:latin typeface="Calibri"/>
              </a:rPr>
              <a:t>Higher: What impact does increasing the H</a:t>
            </a:r>
            <a:r>
              <a:rPr lang="en-GB" sz="2400" baseline="30000" dirty="0">
                <a:latin typeface="Calibri"/>
              </a:rPr>
              <a:t>+</a:t>
            </a:r>
            <a:r>
              <a:rPr lang="en-GB" sz="2400" dirty="0">
                <a:latin typeface="Calibri"/>
              </a:rPr>
              <a:t> concentration in an acidic solution have upon the pH?</a:t>
            </a:r>
          </a:p>
          <a:p>
            <a:pPr lvl="1"/>
            <a:r>
              <a:rPr lang="en-GB" sz="2400" dirty="0">
                <a:solidFill>
                  <a:srgbClr val="00B050"/>
                </a:solidFill>
                <a:latin typeface="Calibri"/>
              </a:rPr>
              <a:t>Lowers it.</a:t>
            </a:r>
          </a:p>
          <a:p>
            <a:pPr marL="457200" lvl="0" indent="-457200">
              <a:buFont typeface="+mj-lt"/>
              <a:buAutoNum type="arabicPeriod" startAt="7"/>
            </a:pPr>
            <a:r>
              <a:rPr lang="en-GB" sz="2400" dirty="0">
                <a:latin typeface="Calibri"/>
              </a:rPr>
              <a:t>Higher: What impact does increasing the OH</a:t>
            </a:r>
            <a:r>
              <a:rPr lang="en-GB" sz="2400" baseline="30000" dirty="0">
                <a:latin typeface="Calibri"/>
              </a:rPr>
              <a:t>-</a:t>
            </a:r>
            <a:r>
              <a:rPr lang="en-GB" sz="2400" dirty="0">
                <a:latin typeface="Calibri"/>
              </a:rPr>
              <a:t> concentration have upon the pH?</a:t>
            </a:r>
          </a:p>
          <a:p>
            <a:pPr lvl="1"/>
            <a:r>
              <a:rPr lang="en-GB" sz="2400" dirty="0">
                <a:solidFill>
                  <a:srgbClr val="00B050"/>
                </a:solidFill>
                <a:latin typeface="Calibri"/>
              </a:rPr>
              <a:t>Increases it.</a:t>
            </a:r>
          </a:p>
          <a:p>
            <a:pPr marL="457200" lvl="0" indent="-457200">
              <a:buFont typeface="+mj-lt"/>
              <a:buAutoNum type="arabicPeriod" startAt="7"/>
            </a:pPr>
            <a:r>
              <a:rPr lang="en-GB" sz="2400" dirty="0">
                <a:latin typeface="Calibri"/>
              </a:rPr>
              <a:t>Higher: As the pH increases by 1, what happens to the H</a:t>
            </a:r>
            <a:r>
              <a:rPr lang="en-GB" sz="2400" baseline="30000" dirty="0">
                <a:latin typeface="Calibri"/>
              </a:rPr>
              <a:t>+</a:t>
            </a:r>
            <a:r>
              <a:rPr lang="en-GB" sz="2400" dirty="0">
                <a:latin typeface="Calibri"/>
              </a:rPr>
              <a:t> concentration of the solution?</a:t>
            </a:r>
          </a:p>
          <a:p>
            <a:pPr lvl="1"/>
            <a:r>
              <a:rPr lang="en-GB" sz="2400" dirty="0">
                <a:solidFill>
                  <a:srgbClr val="00B050"/>
                </a:solidFill>
                <a:latin typeface="Calibri"/>
              </a:rPr>
              <a:t>Increases by a factor of 10.</a:t>
            </a:r>
          </a:p>
          <a:p>
            <a:pPr marL="457200" lvl="0" indent="-457200">
              <a:buFont typeface="+mj-lt"/>
              <a:buAutoNum type="arabicPeriod" startAt="7"/>
            </a:pPr>
            <a:r>
              <a:rPr lang="en-GB" sz="2400" dirty="0">
                <a:latin typeface="Calibri"/>
              </a:rPr>
              <a:t>Higher: What does the term ‘dilute’ mean?</a:t>
            </a:r>
          </a:p>
          <a:p>
            <a:pPr lvl="1"/>
            <a:r>
              <a:rPr lang="en-GB" sz="2400" dirty="0">
                <a:solidFill>
                  <a:srgbClr val="00B050"/>
                </a:solidFill>
                <a:latin typeface="Calibri"/>
              </a:rPr>
              <a:t>Low/ less solute dissolved in a particular volume.</a:t>
            </a:r>
          </a:p>
          <a:p>
            <a:pPr marL="457200" lvl="0" indent="-457200">
              <a:buFont typeface="+mj-lt"/>
              <a:buAutoNum type="arabicPeriod" startAt="7"/>
            </a:pPr>
            <a:r>
              <a:rPr lang="en-GB" sz="2400" dirty="0">
                <a:latin typeface="Calibri"/>
              </a:rPr>
              <a:t>Higher: What does the term ‘concentrated’ mean?</a:t>
            </a:r>
          </a:p>
          <a:p>
            <a:pPr lvl="1"/>
            <a:r>
              <a:rPr lang="en-GB" sz="2400" dirty="0">
                <a:solidFill>
                  <a:srgbClr val="00B050"/>
                </a:solidFill>
                <a:latin typeface="Calibri"/>
              </a:rPr>
              <a:t>High/ more solute dissolved in a particular volume.</a:t>
            </a:r>
          </a:p>
          <a:p>
            <a:r>
              <a:rPr lang="en-GB" sz="2400" b="1" dirty="0">
                <a:solidFill>
                  <a:srgbClr val="00B050"/>
                </a:solidFill>
                <a:latin typeface="Calibri"/>
              </a:rPr>
              <a:t>            </a:t>
            </a:r>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59000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4893647"/>
          </a:xfrm>
          <a:prstGeom prst="rect">
            <a:avLst/>
          </a:prstGeom>
          <a:noFill/>
        </p:spPr>
        <p:txBody>
          <a:bodyPr wrap="square" rtlCol="0">
            <a:spAutoFit/>
          </a:bodyPr>
          <a:lstStyle/>
          <a:p>
            <a:pPr marL="457200" lvl="0" indent="-457200">
              <a:buFont typeface="+mj-lt"/>
              <a:buAutoNum type="arabicPeriod" startAt="12"/>
            </a:pPr>
            <a:r>
              <a:rPr lang="en-GB" sz="2400" dirty="0">
                <a:latin typeface="Calibri"/>
              </a:rPr>
              <a:t>Higher: What does the term ‘weak acid’ mean?</a:t>
            </a:r>
          </a:p>
          <a:p>
            <a:pPr lvl="1"/>
            <a:r>
              <a:rPr lang="en-GB" sz="2400" dirty="0">
                <a:solidFill>
                  <a:srgbClr val="00B050"/>
                </a:solidFill>
                <a:latin typeface="Calibri"/>
              </a:rPr>
              <a:t>Partially ionised in solution.</a:t>
            </a:r>
          </a:p>
          <a:p>
            <a:pPr marL="457200" lvl="0" indent="-457200">
              <a:buFont typeface="+mj-lt"/>
              <a:buAutoNum type="arabicPeriod" startAt="12"/>
            </a:pPr>
            <a:r>
              <a:rPr lang="en-GB" sz="2400" dirty="0">
                <a:latin typeface="Calibri"/>
              </a:rPr>
              <a:t>Higher: What does the term ‘strong acid’ mean?</a:t>
            </a:r>
          </a:p>
          <a:p>
            <a:pPr lvl="1"/>
            <a:r>
              <a:rPr lang="en-GB" sz="2400" dirty="0">
                <a:solidFill>
                  <a:srgbClr val="00B050"/>
                </a:solidFill>
                <a:latin typeface="Calibri"/>
              </a:rPr>
              <a:t>Fully ionised in solution.</a:t>
            </a:r>
          </a:p>
          <a:p>
            <a:pPr marL="457200" lvl="0" indent="-457200">
              <a:buFont typeface="+mj-lt"/>
              <a:buAutoNum type="arabicPeriod" startAt="12"/>
            </a:pPr>
            <a:r>
              <a:rPr lang="en-GB" sz="2400" dirty="0">
                <a:latin typeface="Calibri"/>
              </a:rPr>
              <a:t>Write a balanced symbol equation, with state symbols, for the reaction between zinc and hydrochloric acid.</a:t>
            </a:r>
          </a:p>
          <a:p>
            <a:pPr lvl="1" algn="ctr"/>
            <a:r>
              <a:rPr lang="en-GB" sz="2400" dirty="0">
                <a:solidFill>
                  <a:srgbClr val="00B050"/>
                </a:solidFill>
                <a:latin typeface="Calibri"/>
              </a:rPr>
              <a:t>Zn</a:t>
            </a:r>
            <a:r>
              <a:rPr lang="en-GB" sz="2400" baseline="-25000" dirty="0">
                <a:solidFill>
                  <a:srgbClr val="00B050"/>
                </a:solidFill>
                <a:latin typeface="Calibri"/>
              </a:rPr>
              <a:t>(s)</a:t>
            </a:r>
            <a:r>
              <a:rPr lang="en-GB" sz="2400" dirty="0">
                <a:solidFill>
                  <a:srgbClr val="00B050"/>
                </a:solidFill>
                <a:latin typeface="Calibri"/>
              </a:rPr>
              <a:t> + 2HCl</a:t>
            </a:r>
            <a:r>
              <a:rPr lang="en-GB" sz="2400" baseline="-25000" dirty="0">
                <a:solidFill>
                  <a:srgbClr val="00B050"/>
                </a:solidFill>
                <a:latin typeface="Calibri"/>
              </a:rPr>
              <a:t>(</a:t>
            </a:r>
            <a:r>
              <a:rPr lang="en-GB" sz="2400" baseline="-25000" dirty="0" err="1">
                <a:solidFill>
                  <a:srgbClr val="00B050"/>
                </a:solidFill>
                <a:latin typeface="Calibri"/>
              </a:rPr>
              <a:t>aq</a:t>
            </a:r>
            <a:r>
              <a:rPr lang="en-GB" sz="2400" baseline="-25000" dirty="0">
                <a:solidFill>
                  <a:srgbClr val="00B050"/>
                </a:solidFill>
                <a:latin typeface="Calibri"/>
              </a:rPr>
              <a:t>) </a:t>
            </a:r>
            <a:r>
              <a:rPr lang="en-US" sz="2400" b="1" dirty="0">
                <a:solidFill>
                  <a:srgbClr val="00B050"/>
                </a:solidFill>
                <a:sym typeface="Wingdings"/>
              </a:rPr>
              <a:t></a:t>
            </a:r>
            <a:r>
              <a:rPr lang="en-GB" sz="2400" dirty="0">
                <a:solidFill>
                  <a:srgbClr val="00B050"/>
                </a:solidFill>
                <a:latin typeface="Calibri"/>
              </a:rPr>
              <a:t> ZnCl</a:t>
            </a:r>
            <a:r>
              <a:rPr lang="en-GB" sz="2400" baseline="-25000" dirty="0">
                <a:solidFill>
                  <a:srgbClr val="00B050"/>
                </a:solidFill>
                <a:latin typeface="Calibri"/>
              </a:rPr>
              <a:t>2(</a:t>
            </a:r>
            <a:r>
              <a:rPr lang="en-GB" sz="2400" baseline="-25000" dirty="0" err="1">
                <a:solidFill>
                  <a:srgbClr val="00B050"/>
                </a:solidFill>
                <a:latin typeface="Calibri"/>
              </a:rPr>
              <a:t>aq</a:t>
            </a:r>
            <a:r>
              <a:rPr lang="en-GB" sz="2400" baseline="-25000" dirty="0">
                <a:solidFill>
                  <a:srgbClr val="00B050"/>
                </a:solidFill>
                <a:latin typeface="Calibri"/>
              </a:rPr>
              <a:t>)</a:t>
            </a:r>
            <a:r>
              <a:rPr lang="en-GB" sz="2400" dirty="0">
                <a:solidFill>
                  <a:srgbClr val="00B050"/>
                </a:solidFill>
                <a:latin typeface="Calibri"/>
              </a:rPr>
              <a:t> + H</a:t>
            </a:r>
            <a:r>
              <a:rPr lang="en-GB" sz="2400" baseline="-25000" dirty="0">
                <a:solidFill>
                  <a:srgbClr val="00B050"/>
                </a:solidFill>
                <a:latin typeface="Calibri"/>
              </a:rPr>
              <a:t>2(g)</a:t>
            </a:r>
          </a:p>
          <a:p>
            <a:pPr marL="457200" lvl="0" indent="-457200">
              <a:buFont typeface="+mj-lt"/>
              <a:buAutoNum type="arabicPeriod" startAt="12"/>
            </a:pPr>
            <a:r>
              <a:rPr lang="en-GB" sz="2400" dirty="0">
                <a:latin typeface="Calibri"/>
              </a:rPr>
              <a:t>Higher: Write an ionic equation, with state symbols, to show magnesium reacting with hydrochloric acid.</a:t>
            </a:r>
            <a:endParaRPr kumimoji="0" lang="en-GB" sz="2400" i="0" u="none" strike="noStrike" kern="1200" cap="none" spc="0" normalizeH="0" baseline="0" noProof="0" dirty="0">
              <a:ln>
                <a:noFill/>
              </a:ln>
              <a:effectLst/>
              <a:uLnTx/>
              <a:uFillTx/>
              <a:latin typeface="Calibri"/>
            </a:endParaRPr>
          </a:p>
          <a:p>
            <a:pPr algn="ctr"/>
            <a:r>
              <a:rPr lang="en-GB" sz="2400" b="1" dirty="0">
                <a:solidFill>
                  <a:srgbClr val="00B050"/>
                </a:solidFill>
                <a:latin typeface="Calibri"/>
              </a:rPr>
              <a:t>            </a:t>
            </a:r>
            <a:r>
              <a:rPr lang="en-GB" sz="2400" dirty="0">
                <a:solidFill>
                  <a:srgbClr val="00B050"/>
                </a:solidFill>
              </a:rPr>
              <a:t>Mg(s) + 2H</a:t>
            </a:r>
            <a:r>
              <a:rPr lang="en-GB" sz="2400" baseline="30000" dirty="0">
                <a:solidFill>
                  <a:srgbClr val="00B050"/>
                </a:solidFill>
              </a:rPr>
              <a:t>+</a:t>
            </a:r>
            <a:r>
              <a:rPr lang="en-GB" sz="2400" dirty="0">
                <a:solidFill>
                  <a:srgbClr val="00B050"/>
                </a:solidFill>
              </a:rPr>
              <a:t>(</a:t>
            </a:r>
            <a:r>
              <a:rPr lang="en-GB" sz="2400" dirty="0" err="1">
                <a:solidFill>
                  <a:srgbClr val="00B050"/>
                </a:solidFill>
              </a:rPr>
              <a:t>aq</a:t>
            </a:r>
            <a:r>
              <a:rPr lang="en-GB" sz="2400" dirty="0">
                <a:solidFill>
                  <a:srgbClr val="00B050"/>
                </a:solidFill>
              </a:rPr>
              <a:t>)  </a:t>
            </a:r>
            <a:r>
              <a:rPr lang="en-GB" sz="2400" dirty="0">
                <a:solidFill>
                  <a:srgbClr val="00B050"/>
                </a:solidFill>
                <a:sym typeface="Wingdings" panose="05000000000000000000" pitchFamily="2" charset="2"/>
              </a:rPr>
              <a:t> Mg</a:t>
            </a:r>
            <a:r>
              <a:rPr lang="en-GB" sz="2400" baseline="30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a:t>
            </a:r>
            <a:r>
              <a:rPr lang="en-GB" sz="2400" dirty="0" err="1">
                <a:solidFill>
                  <a:srgbClr val="00B050"/>
                </a:solidFill>
                <a:sym typeface="Wingdings" panose="05000000000000000000" pitchFamily="2" charset="2"/>
              </a:rPr>
              <a:t>aq</a:t>
            </a:r>
            <a:r>
              <a:rPr lang="en-GB" sz="2400" dirty="0">
                <a:solidFill>
                  <a:srgbClr val="00B050"/>
                </a:solidFill>
                <a:sym typeface="Wingdings" panose="05000000000000000000" pitchFamily="2" charset="2"/>
              </a:rPr>
              <a:t>) + H</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(g)</a:t>
            </a:r>
          </a:p>
          <a:p>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37417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509200"/>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Neutralisation</a:t>
            </a:r>
          </a:p>
          <a:p>
            <a:pPr marL="685800" lvl="1" indent="-342900">
              <a:buFont typeface="Arial" charset="0"/>
              <a:buChar char="•"/>
            </a:pPr>
            <a:r>
              <a:rPr lang="en-US" sz="2400" b="1" dirty="0">
                <a:solidFill>
                  <a:schemeClr val="bg1">
                    <a:lumMod val="50000"/>
                  </a:schemeClr>
                </a:solidFill>
              </a:rPr>
              <a:t>Salts</a:t>
            </a:r>
          </a:p>
          <a:p>
            <a:pPr marL="685800" lvl="1" indent="-342900">
              <a:buFont typeface="Arial" charset="0"/>
              <a:buChar char="•"/>
            </a:pPr>
            <a:r>
              <a:rPr lang="en-US" sz="2400" b="1" dirty="0">
                <a:solidFill>
                  <a:schemeClr val="bg1">
                    <a:lumMod val="50000"/>
                  </a:schemeClr>
                </a:solidFill>
              </a:rPr>
              <a:t>Titration</a:t>
            </a:r>
          </a:p>
          <a:p>
            <a:endParaRPr lang="en-GB" dirty="0"/>
          </a:p>
        </p:txBody>
      </p:sp>
    </p:spTree>
    <p:extLst>
      <p:ext uri="{BB962C8B-B14F-4D97-AF65-F5344CB8AC3E}">
        <p14:creationId xmlns:p14="http://schemas.microsoft.com/office/powerpoint/2010/main" val="4038177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62880" y="718374"/>
            <a:ext cx="9081120" cy="2246769"/>
          </a:xfrm>
          <a:prstGeom prst="rect">
            <a:avLst/>
          </a:prstGeom>
          <a:noFill/>
        </p:spPr>
        <p:txBody>
          <a:bodyPr wrap="square" rtlCol="0">
            <a:spAutoFit/>
          </a:bodyPr>
          <a:lstStyle/>
          <a:p>
            <a:r>
              <a:rPr lang="en-GB" sz="2000" dirty="0"/>
              <a:t>Acids are neutralised by </a:t>
            </a:r>
            <a:r>
              <a:rPr lang="en-GB" sz="2000" b="1" dirty="0"/>
              <a:t>alkalis</a:t>
            </a:r>
            <a:r>
              <a:rPr lang="en-GB" sz="2000" dirty="0"/>
              <a:t> (</a:t>
            </a:r>
            <a:r>
              <a:rPr lang="en-GB" sz="2000" b="1" dirty="0">
                <a:solidFill>
                  <a:schemeClr val="accent6">
                    <a:lumMod val="75000"/>
                  </a:schemeClr>
                </a:solidFill>
              </a:rPr>
              <a:t>e.g.: soluble metal hydroxides</a:t>
            </a:r>
            <a:r>
              <a:rPr lang="en-GB" sz="2000" dirty="0"/>
              <a:t>) and </a:t>
            </a:r>
            <a:r>
              <a:rPr lang="en-GB" sz="2000" b="1" dirty="0"/>
              <a:t>bases</a:t>
            </a:r>
            <a:r>
              <a:rPr lang="en-GB" sz="2000" dirty="0"/>
              <a:t> (</a:t>
            </a:r>
            <a:r>
              <a:rPr lang="en-GB" sz="2000" b="1" dirty="0">
                <a:solidFill>
                  <a:schemeClr val="accent6">
                    <a:lumMod val="75000"/>
                  </a:schemeClr>
                </a:solidFill>
              </a:rPr>
              <a:t>e.g.: insoluble metal hydroxides and metal oxides</a:t>
            </a:r>
            <a:r>
              <a:rPr lang="en-GB" sz="2000" dirty="0"/>
              <a:t>) to produce </a:t>
            </a:r>
            <a:r>
              <a:rPr lang="en-GB" sz="2000" b="1" dirty="0"/>
              <a:t>salts</a:t>
            </a:r>
            <a:r>
              <a:rPr lang="en-GB" sz="2000" dirty="0"/>
              <a:t> and </a:t>
            </a:r>
            <a:r>
              <a:rPr lang="en-GB" sz="2000" b="1" dirty="0"/>
              <a:t>water</a:t>
            </a:r>
            <a:r>
              <a:rPr lang="en-GB" sz="2000" dirty="0"/>
              <a:t> and by </a:t>
            </a:r>
            <a:r>
              <a:rPr lang="en-GB" sz="2000" b="1" dirty="0"/>
              <a:t>metal carbonates </a:t>
            </a:r>
            <a:r>
              <a:rPr lang="en-GB" sz="2000" dirty="0"/>
              <a:t>to produce</a:t>
            </a:r>
            <a:r>
              <a:rPr lang="en-GB" sz="2000" b="1" dirty="0"/>
              <a:t> </a:t>
            </a:r>
          </a:p>
          <a:p>
            <a:r>
              <a:rPr lang="en-GB" sz="2000" b="1" dirty="0"/>
              <a:t>salts</a:t>
            </a:r>
            <a:r>
              <a:rPr lang="en-GB" sz="2000" dirty="0"/>
              <a:t>, </a:t>
            </a:r>
            <a:r>
              <a:rPr lang="en-GB" sz="2000" b="1" dirty="0"/>
              <a:t>water</a:t>
            </a:r>
            <a:r>
              <a:rPr lang="en-GB" sz="2000" dirty="0"/>
              <a:t> and </a:t>
            </a:r>
            <a:r>
              <a:rPr lang="en-GB" sz="2000" b="1" dirty="0"/>
              <a:t>carbon dioxide</a:t>
            </a:r>
            <a:r>
              <a:rPr lang="en-GB" sz="2000" dirty="0"/>
              <a:t>.</a:t>
            </a:r>
            <a:endParaRPr lang="en-GB" dirty="0"/>
          </a:p>
          <a:p>
            <a:pPr algn="ctr"/>
            <a:endParaRPr lang="en-GB" sz="2000" dirty="0"/>
          </a:p>
          <a:p>
            <a:pPr algn="ctr"/>
            <a:r>
              <a:rPr lang="en-GB" sz="2000" dirty="0"/>
              <a:t>The salt </a:t>
            </a:r>
            <a:r>
              <a:rPr lang="en-GB" sz="2000" b="1" dirty="0"/>
              <a:t>name</a:t>
            </a:r>
            <a:r>
              <a:rPr lang="en-GB" sz="2000" dirty="0"/>
              <a:t> depends on the </a:t>
            </a:r>
            <a:r>
              <a:rPr lang="en-GB" sz="2000" b="1" dirty="0"/>
              <a:t>acid</a:t>
            </a:r>
            <a:r>
              <a:rPr lang="en-GB" sz="2000" dirty="0"/>
              <a:t> used and the </a:t>
            </a:r>
            <a:r>
              <a:rPr lang="en-GB" sz="2000" b="1" dirty="0"/>
              <a:t>positive ions </a:t>
            </a:r>
            <a:r>
              <a:rPr lang="en-GB" sz="2000" dirty="0"/>
              <a:t>in the </a:t>
            </a:r>
            <a:r>
              <a:rPr lang="en-GB" sz="2000" b="1" dirty="0"/>
              <a:t>alkali, base or carbonate</a:t>
            </a:r>
            <a:r>
              <a:rPr lang="en-GB" sz="2000" dirty="0"/>
              <a:t>.</a:t>
            </a:r>
            <a:endParaRPr lang="en-GB" dirty="0"/>
          </a:p>
        </p:txBody>
      </p:sp>
      <p:sp>
        <p:nvSpPr>
          <p:cNvPr id="10" name="Rectangle 9">
            <a:extLst>
              <a:ext uri="{FF2B5EF4-FFF2-40B4-BE49-F238E27FC236}">
                <a16:creationId xmlns:a16="http://schemas.microsoft.com/office/drawing/2014/main" id="{24172547-9A24-44C2-B2F5-2592B0454E7C}"/>
              </a:ext>
            </a:extLst>
          </p:cNvPr>
          <p:cNvSpPr/>
          <p:nvPr/>
        </p:nvSpPr>
        <p:spPr>
          <a:xfrm>
            <a:off x="3995936" y="1641703"/>
            <a:ext cx="4283968" cy="400110"/>
          </a:xfrm>
          <a:prstGeom prst="rect">
            <a:avLst/>
          </a:prstGeom>
          <a:solidFill>
            <a:schemeClr val="accent6">
              <a:lumMod val="20000"/>
              <a:lumOff val="80000"/>
            </a:schemeClr>
          </a:solidFill>
          <a:ln w="3175">
            <a:solidFill>
              <a:schemeClr val="accent6">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GB" sz="2000" dirty="0">
                <a:solidFill>
                  <a:schemeClr val="tx1"/>
                </a:solidFill>
                <a:sym typeface="Wingdings" pitchFamily="2" charset="2"/>
              </a:rPr>
              <a:t>H</a:t>
            </a:r>
            <a:r>
              <a:rPr lang="en-GB" sz="2000" baseline="30000" dirty="0">
                <a:solidFill>
                  <a:schemeClr val="tx1"/>
                </a:solidFill>
                <a:sym typeface="Wingdings" pitchFamily="2" charset="2"/>
              </a:rPr>
              <a:t>+</a:t>
            </a:r>
            <a:r>
              <a:rPr lang="en-GB" sz="2000" dirty="0">
                <a:solidFill>
                  <a:schemeClr val="tx1"/>
                </a:solidFill>
                <a:sym typeface="Wingdings" pitchFamily="2" charset="2"/>
              </a:rPr>
              <a:t> and OH</a:t>
            </a:r>
            <a:r>
              <a:rPr lang="en-GB" sz="2000" baseline="30000" dirty="0">
                <a:solidFill>
                  <a:schemeClr val="tx1"/>
                </a:solidFill>
                <a:sym typeface="Wingdings" pitchFamily="2" charset="2"/>
              </a:rPr>
              <a:t>-</a:t>
            </a:r>
            <a:r>
              <a:rPr lang="en-GB" sz="2000" dirty="0">
                <a:solidFill>
                  <a:schemeClr val="tx1"/>
                </a:solidFill>
                <a:sym typeface="Wingdings" pitchFamily="2" charset="2"/>
              </a:rPr>
              <a:t> ions combine to form H</a:t>
            </a:r>
            <a:r>
              <a:rPr lang="en-GB" sz="2000" baseline="-25000" dirty="0">
                <a:solidFill>
                  <a:schemeClr val="tx1"/>
                </a:solidFill>
                <a:sym typeface="Wingdings" pitchFamily="2" charset="2"/>
              </a:rPr>
              <a:t>2</a:t>
            </a:r>
            <a:r>
              <a:rPr lang="en-GB" sz="2000" dirty="0">
                <a:solidFill>
                  <a:schemeClr val="tx1"/>
                </a:solidFill>
                <a:sym typeface="Wingdings" pitchFamily="2" charset="2"/>
              </a:rPr>
              <a:t>O</a:t>
            </a:r>
            <a:endParaRPr lang="en-GB" sz="2000" b="1" baseline="30000" dirty="0">
              <a:solidFill>
                <a:schemeClr val="accent6">
                  <a:lumMod val="75000"/>
                </a:schemeClr>
              </a:solidFill>
              <a:sym typeface="Wingdings" pitchFamily="2" charset="2"/>
            </a:endParaRPr>
          </a:p>
        </p:txBody>
      </p:sp>
      <p:sp>
        <p:nvSpPr>
          <p:cNvPr id="11" name="Rectangle 10">
            <a:extLst>
              <a:ext uri="{FF2B5EF4-FFF2-40B4-BE49-F238E27FC236}">
                <a16:creationId xmlns:a16="http://schemas.microsoft.com/office/drawing/2014/main" id="{24172547-9A24-44C2-B2F5-2592B0454E7C}"/>
              </a:ext>
            </a:extLst>
          </p:cNvPr>
          <p:cNvSpPr/>
          <p:nvPr/>
        </p:nvSpPr>
        <p:spPr>
          <a:xfrm>
            <a:off x="152636" y="2990821"/>
            <a:ext cx="8811852" cy="923330"/>
          </a:xfrm>
          <a:prstGeom prst="rect">
            <a:avLst/>
          </a:prstGeom>
          <a:solidFill>
            <a:schemeClr val="accent6">
              <a:lumMod val="20000"/>
              <a:lumOff val="80000"/>
            </a:schemeClr>
          </a:solidFill>
          <a:ln w="3175">
            <a:solidFill>
              <a:schemeClr val="accent6">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GB" u="sng" dirty="0">
                <a:solidFill>
                  <a:schemeClr val="tx1"/>
                </a:solidFill>
                <a:sym typeface="Wingdings" pitchFamily="2" charset="2"/>
              </a:rPr>
              <a:t>Making Soluble Salts from acids and alkalis  </a:t>
            </a:r>
          </a:p>
          <a:p>
            <a:pPr algn="ctr"/>
            <a:r>
              <a:rPr lang="en-GB" dirty="0">
                <a:solidFill>
                  <a:schemeClr val="tx1"/>
                </a:solidFill>
                <a:sym typeface="Wingdings" pitchFamily="2" charset="2"/>
              </a:rPr>
              <a:t>Salts can be made by reacting an acid with an alkali.</a:t>
            </a:r>
          </a:p>
          <a:p>
            <a:pPr algn="ctr"/>
            <a:r>
              <a:rPr lang="en-GB" b="1" dirty="0">
                <a:solidFill>
                  <a:schemeClr val="accent6">
                    <a:lumMod val="75000"/>
                  </a:schemeClr>
                </a:solidFill>
                <a:sym typeface="Wingdings" pitchFamily="2" charset="2"/>
              </a:rPr>
              <a:t>Acid + Alkali  Salt + Water</a:t>
            </a:r>
          </a:p>
        </p:txBody>
      </p:sp>
      <p:sp>
        <p:nvSpPr>
          <p:cNvPr id="12" name="Rectangle 11">
            <a:extLst>
              <a:ext uri="{FF2B5EF4-FFF2-40B4-BE49-F238E27FC236}">
                <a16:creationId xmlns:a16="http://schemas.microsoft.com/office/drawing/2014/main" id="{4CE1B48E-D981-470A-8653-5C284171ABF9}"/>
              </a:ext>
            </a:extLst>
          </p:cNvPr>
          <p:cNvSpPr/>
          <p:nvPr/>
        </p:nvSpPr>
        <p:spPr>
          <a:xfrm>
            <a:off x="152400" y="4077072"/>
            <a:ext cx="8812088" cy="923330"/>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ctr"/>
            <a:r>
              <a:rPr lang="en-GB" u="sng" dirty="0"/>
              <a:t>Making Soluble Salts from acids and bases</a:t>
            </a:r>
          </a:p>
          <a:p>
            <a:pPr algn="ctr"/>
            <a:r>
              <a:rPr lang="en-GB" dirty="0"/>
              <a:t>Salts can be made by reacting an acid with a insoluble base.</a:t>
            </a:r>
          </a:p>
          <a:p>
            <a:pPr algn="ctr"/>
            <a:r>
              <a:rPr lang="en-GB" b="1" dirty="0">
                <a:solidFill>
                  <a:schemeClr val="accent6">
                    <a:lumMod val="75000"/>
                  </a:schemeClr>
                </a:solidFill>
              </a:rPr>
              <a:t>Acid + Bases </a:t>
            </a:r>
            <a:r>
              <a:rPr lang="en-GB" b="1" dirty="0">
                <a:solidFill>
                  <a:schemeClr val="accent6">
                    <a:lumMod val="75000"/>
                  </a:schemeClr>
                </a:solidFill>
                <a:sym typeface="Wingdings" pitchFamily="2" charset="2"/>
              </a:rPr>
              <a:t>  Salt + Water</a:t>
            </a:r>
          </a:p>
        </p:txBody>
      </p:sp>
      <p:sp>
        <p:nvSpPr>
          <p:cNvPr id="13" name="Rectangle 12">
            <a:extLst>
              <a:ext uri="{FF2B5EF4-FFF2-40B4-BE49-F238E27FC236}">
                <a16:creationId xmlns:a16="http://schemas.microsoft.com/office/drawing/2014/main" id="{E2019E6F-9343-4E36-A978-BB44489ADE84}"/>
              </a:ext>
            </a:extLst>
          </p:cNvPr>
          <p:cNvSpPr/>
          <p:nvPr/>
        </p:nvSpPr>
        <p:spPr>
          <a:xfrm>
            <a:off x="165598" y="5162155"/>
            <a:ext cx="8798890" cy="923330"/>
          </a:xfrm>
          <a:prstGeom prst="rect">
            <a:avLst/>
          </a:prstGeom>
          <a:solidFill>
            <a:schemeClr val="accent6">
              <a:lumMod val="20000"/>
              <a:lumOff val="80000"/>
            </a:schemeClr>
          </a:solidFill>
          <a:ln w="3175">
            <a:solidFill>
              <a:schemeClr val="accent6">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GB" u="sng" dirty="0">
                <a:solidFill>
                  <a:schemeClr val="tx1"/>
                </a:solidFill>
                <a:sym typeface="Wingdings" pitchFamily="2" charset="2"/>
              </a:rPr>
              <a:t>Making Soluble Salts from acids and metal carbonates</a:t>
            </a:r>
          </a:p>
          <a:p>
            <a:pPr algn="ctr"/>
            <a:r>
              <a:rPr lang="en-GB" dirty="0">
                <a:solidFill>
                  <a:schemeClr val="tx1"/>
                </a:solidFill>
                <a:sym typeface="Wingdings" pitchFamily="2" charset="2"/>
              </a:rPr>
              <a:t>Salts can be made by reacting an acid with a metal carbonate.</a:t>
            </a:r>
          </a:p>
          <a:p>
            <a:pPr algn="ctr"/>
            <a:r>
              <a:rPr lang="en-GB" b="1" dirty="0">
                <a:solidFill>
                  <a:schemeClr val="accent6">
                    <a:lumMod val="75000"/>
                  </a:schemeClr>
                </a:solidFill>
                <a:sym typeface="Wingdings" pitchFamily="2" charset="2"/>
              </a:rPr>
              <a:t>Acid + Metal carbonate  Salt + Water + Carbon dioxide</a:t>
            </a:r>
          </a:p>
        </p:txBody>
      </p:sp>
    </p:spTree>
    <p:extLst>
      <p:ext uri="{BB962C8B-B14F-4D97-AF65-F5344CB8AC3E}">
        <p14:creationId xmlns:p14="http://schemas.microsoft.com/office/powerpoint/2010/main" val="2552329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5" name="TextBox 4"/>
          <p:cNvSpPr txBox="1"/>
          <p:nvPr/>
        </p:nvSpPr>
        <p:spPr>
          <a:xfrm>
            <a:off x="179511" y="1412776"/>
            <a:ext cx="4680520" cy="1631216"/>
          </a:xfrm>
          <a:prstGeom prst="rect">
            <a:avLst/>
          </a:prstGeom>
          <a:noFill/>
          <a:ln w="28575">
            <a:solidFill>
              <a:schemeClr val="accent6"/>
            </a:solidFill>
          </a:ln>
        </p:spPr>
        <p:txBody>
          <a:bodyPr wrap="square" rtlCol="0">
            <a:spAutoFit/>
          </a:bodyPr>
          <a:lstStyle/>
          <a:p>
            <a:r>
              <a:rPr lang="en-GB" sz="2000" b="1" u="sng" dirty="0"/>
              <a:t>Test For Hydrogen</a:t>
            </a:r>
          </a:p>
          <a:p>
            <a:r>
              <a:rPr lang="en-GB" sz="2000" dirty="0"/>
              <a:t>The test for hydrogen uses a </a:t>
            </a:r>
            <a:r>
              <a:rPr lang="en-GB" sz="2000" b="1" dirty="0">
                <a:solidFill>
                  <a:schemeClr val="accent6">
                    <a:lumMod val="75000"/>
                  </a:schemeClr>
                </a:solidFill>
              </a:rPr>
              <a:t>burning splint </a:t>
            </a:r>
            <a:r>
              <a:rPr lang="en-GB" sz="2000" dirty="0"/>
              <a:t>held at the open end of a test tube of the gas. Hydrogen burns rapidly with a </a:t>
            </a:r>
            <a:r>
              <a:rPr lang="en-GB" sz="2000" b="1" dirty="0">
                <a:solidFill>
                  <a:schemeClr val="accent6">
                    <a:lumMod val="75000"/>
                  </a:schemeClr>
                </a:solidFill>
              </a:rPr>
              <a:t>pop sound</a:t>
            </a:r>
            <a:r>
              <a:rPr lang="en-GB" sz="2000" dirty="0"/>
              <a:t>.</a:t>
            </a:r>
          </a:p>
        </p:txBody>
      </p:sp>
      <p:sp>
        <p:nvSpPr>
          <p:cNvPr id="13" name="TextBox 12"/>
          <p:cNvSpPr txBox="1"/>
          <p:nvPr/>
        </p:nvSpPr>
        <p:spPr>
          <a:xfrm>
            <a:off x="179511" y="3210074"/>
            <a:ext cx="4680520" cy="1938992"/>
          </a:xfrm>
          <a:custGeom>
            <a:avLst/>
            <a:gdLst>
              <a:gd name="connsiteX0" fmla="*/ 0 w 4680520"/>
              <a:gd name="connsiteY0" fmla="*/ 0 h 1400383"/>
              <a:gd name="connsiteX1" fmla="*/ 4680520 w 4680520"/>
              <a:gd name="connsiteY1" fmla="*/ 0 h 1400383"/>
              <a:gd name="connsiteX2" fmla="*/ 4680520 w 4680520"/>
              <a:gd name="connsiteY2" fmla="*/ 1400383 h 1400383"/>
              <a:gd name="connsiteX3" fmla="*/ 0 w 4680520"/>
              <a:gd name="connsiteY3" fmla="*/ 1400383 h 1400383"/>
              <a:gd name="connsiteX4" fmla="*/ 0 w 4680520"/>
              <a:gd name="connsiteY4" fmla="*/ 0 h 1400383"/>
              <a:gd name="connsiteX0" fmla="*/ 12879 w 4680520"/>
              <a:gd name="connsiteY0" fmla="*/ 0 h 1619324"/>
              <a:gd name="connsiteX1" fmla="*/ 4680520 w 4680520"/>
              <a:gd name="connsiteY1" fmla="*/ 218941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80520 w 4680520"/>
              <a:gd name="connsiteY1" fmla="*/ 12879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67641 w 4680520"/>
              <a:gd name="connsiteY1" fmla="*/ 0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67641 w 4680520"/>
              <a:gd name="connsiteY1" fmla="*/ 0 h 1619324"/>
              <a:gd name="connsiteX2" fmla="*/ 4680520 w 4680520"/>
              <a:gd name="connsiteY2" fmla="*/ 1619324 h 1619324"/>
              <a:gd name="connsiteX3" fmla="*/ 0 w 4680520"/>
              <a:gd name="connsiteY3" fmla="*/ 1361747 h 1619324"/>
              <a:gd name="connsiteX4" fmla="*/ 12879 w 4680520"/>
              <a:gd name="connsiteY4" fmla="*/ 0 h 1619324"/>
              <a:gd name="connsiteX0" fmla="*/ 12879 w 4667641"/>
              <a:gd name="connsiteY0" fmla="*/ 0 h 1361747"/>
              <a:gd name="connsiteX1" fmla="*/ 4667641 w 4667641"/>
              <a:gd name="connsiteY1" fmla="*/ 0 h 1361747"/>
              <a:gd name="connsiteX2" fmla="*/ 4667641 w 4667641"/>
              <a:gd name="connsiteY2" fmla="*/ 1361747 h 1361747"/>
              <a:gd name="connsiteX3" fmla="*/ 0 w 4667641"/>
              <a:gd name="connsiteY3" fmla="*/ 1361747 h 1361747"/>
              <a:gd name="connsiteX4" fmla="*/ 12879 w 4667641"/>
              <a:gd name="connsiteY4" fmla="*/ 0 h 1361747"/>
              <a:gd name="connsiteX0" fmla="*/ 12879 w 4667641"/>
              <a:gd name="connsiteY0" fmla="*/ 0 h 1683719"/>
              <a:gd name="connsiteX1" fmla="*/ 4667641 w 4667641"/>
              <a:gd name="connsiteY1" fmla="*/ 321972 h 1683719"/>
              <a:gd name="connsiteX2" fmla="*/ 4667641 w 4667641"/>
              <a:gd name="connsiteY2" fmla="*/ 1683719 h 1683719"/>
              <a:gd name="connsiteX3" fmla="*/ 0 w 4667641"/>
              <a:gd name="connsiteY3" fmla="*/ 1683719 h 1683719"/>
              <a:gd name="connsiteX4" fmla="*/ 12879 w 4667641"/>
              <a:gd name="connsiteY4" fmla="*/ 0 h 1683719"/>
              <a:gd name="connsiteX0" fmla="*/ 12879 w 4680520"/>
              <a:gd name="connsiteY0" fmla="*/ 0 h 1683719"/>
              <a:gd name="connsiteX1" fmla="*/ 4680520 w 4680520"/>
              <a:gd name="connsiteY1" fmla="*/ 0 h 1683719"/>
              <a:gd name="connsiteX2" fmla="*/ 4667641 w 4680520"/>
              <a:gd name="connsiteY2" fmla="*/ 1683719 h 1683719"/>
              <a:gd name="connsiteX3" fmla="*/ 0 w 4680520"/>
              <a:gd name="connsiteY3" fmla="*/ 1683719 h 1683719"/>
              <a:gd name="connsiteX4" fmla="*/ 12879 w 4680520"/>
              <a:gd name="connsiteY4" fmla="*/ 0 h 1683719"/>
              <a:gd name="connsiteX0" fmla="*/ 12879 w 4680520"/>
              <a:gd name="connsiteY0" fmla="*/ 0 h 1683719"/>
              <a:gd name="connsiteX1" fmla="*/ 4680520 w 4680520"/>
              <a:gd name="connsiteY1" fmla="*/ 0 h 1683719"/>
              <a:gd name="connsiteX2" fmla="*/ 4667641 w 4680520"/>
              <a:gd name="connsiteY2" fmla="*/ 1683719 h 1683719"/>
              <a:gd name="connsiteX3" fmla="*/ 0 w 4680520"/>
              <a:gd name="connsiteY3" fmla="*/ 1335990 h 1683719"/>
              <a:gd name="connsiteX4" fmla="*/ 12879 w 4680520"/>
              <a:gd name="connsiteY4" fmla="*/ 0 h 1683719"/>
              <a:gd name="connsiteX0" fmla="*/ 12879 w 4680520"/>
              <a:gd name="connsiteY0" fmla="*/ 0 h 1335990"/>
              <a:gd name="connsiteX1" fmla="*/ 4680520 w 4680520"/>
              <a:gd name="connsiteY1" fmla="*/ 0 h 1335990"/>
              <a:gd name="connsiteX2" fmla="*/ 4680519 w 4680520"/>
              <a:gd name="connsiteY2" fmla="*/ 1323110 h 1335990"/>
              <a:gd name="connsiteX3" fmla="*/ 0 w 4680520"/>
              <a:gd name="connsiteY3" fmla="*/ 1335990 h 1335990"/>
              <a:gd name="connsiteX4" fmla="*/ 12879 w 4680520"/>
              <a:gd name="connsiteY4" fmla="*/ 0 h 133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0520" h="1335990">
                <a:moveTo>
                  <a:pt x="12879" y="0"/>
                </a:moveTo>
                <a:lnTo>
                  <a:pt x="4680520" y="0"/>
                </a:lnTo>
                <a:cubicBezTo>
                  <a:pt x="4680520" y="441037"/>
                  <a:pt x="4680519" y="882073"/>
                  <a:pt x="4680519" y="1323110"/>
                </a:cubicBezTo>
                <a:lnTo>
                  <a:pt x="0" y="1335990"/>
                </a:lnTo>
                <a:lnTo>
                  <a:pt x="12879" y="0"/>
                </a:lnTo>
                <a:close/>
              </a:path>
            </a:pathLst>
          </a:custGeom>
          <a:noFill/>
          <a:ln w="28575">
            <a:solidFill>
              <a:schemeClr val="accent6"/>
            </a:solidFill>
          </a:ln>
        </p:spPr>
        <p:txBody>
          <a:bodyPr wrap="square" rtlCol="0">
            <a:spAutoFit/>
          </a:bodyPr>
          <a:lstStyle/>
          <a:p>
            <a:r>
              <a:rPr lang="en-GB" sz="2000" b="1" u="sng" dirty="0"/>
              <a:t>Test For Carbon Dioxide</a:t>
            </a:r>
          </a:p>
          <a:p>
            <a:r>
              <a:rPr lang="en-GB" sz="2000" dirty="0"/>
              <a:t>The test for carbon dioxide uses an aqueous solution of calcium hydroxide (</a:t>
            </a:r>
            <a:r>
              <a:rPr lang="en-GB" sz="2000" b="1" dirty="0">
                <a:solidFill>
                  <a:schemeClr val="accent6">
                    <a:lumMod val="75000"/>
                  </a:schemeClr>
                </a:solidFill>
              </a:rPr>
              <a:t>lime water</a:t>
            </a:r>
            <a:r>
              <a:rPr lang="en-GB" sz="2000" dirty="0"/>
              <a:t>). When carbon dioxide is shaken or bubbled through limewater the limewater turns </a:t>
            </a:r>
            <a:r>
              <a:rPr lang="en-GB" sz="2000" b="1" dirty="0">
                <a:solidFill>
                  <a:schemeClr val="accent6">
                    <a:lumMod val="75000"/>
                  </a:schemeClr>
                </a:solidFill>
              </a:rPr>
              <a:t>milky</a:t>
            </a:r>
            <a:r>
              <a:rPr lang="en-GB" sz="2000" dirty="0">
                <a:solidFill>
                  <a:schemeClr val="accent6">
                    <a:lumMod val="75000"/>
                  </a:schemeClr>
                </a:solidFill>
              </a:rPr>
              <a:t> </a:t>
            </a:r>
            <a:r>
              <a:rPr lang="en-GB" sz="2000" dirty="0"/>
              <a:t>(</a:t>
            </a:r>
            <a:r>
              <a:rPr lang="en-GB" sz="2000" b="1" dirty="0">
                <a:solidFill>
                  <a:schemeClr val="accent6">
                    <a:lumMod val="75000"/>
                  </a:schemeClr>
                </a:solidFill>
              </a:rPr>
              <a:t>cloudy</a:t>
            </a:r>
            <a:r>
              <a:rPr lang="en-GB" sz="2000" dirty="0"/>
              <a:t>).</a:t>
            </a:r>
          </a:p>
        </p:txBody>
      </p:sp>
      <p:sp>
        <p:nvSpPr>
          <p:cNvPr id="16" name="TextBox 15"/>
          <p:cNvSpPr txBox="1"/>
          <p:nvPr/>
        </p:nvSpPr>
        <p:spPr>
          <a:xfrm>
            <a:off x="179511" y="5733256"/>
            <a:ext cx="8640961" cy="707886"/>
          </a:xfrm>
          <a:prstGeom prst="rect">
            <a:avLst/>
          </a:prstGeom>
          <a:solidFill>
            <a:schemeClr val="accent6"/>
          </a:solidFill>
          <a:ln w="28575">
            <a:solidFill>
              <a:schemeClr val="tx1"/>
            </a:solidFill>
          </a:ln>
        </p:spPr>
        <p:txBody>
          <a:bodyPr wrap="square" rtlCol="0">
            <a:spAutoFit/>
          </a:bodyPr>
          <a:lstStyle/>
          <a:p>
            <a:r>
              <a:rPr lang="en-GB" sz="2000" dirty="0"/>
              <a:t>You must learn these tests, including how the gas is tested and the positive result that proves that the chemical is the gas you are testing for.</a:t>
            </a:r>
          </a:p>
        </p:txBody>
      </p:sp>
      <p:pic>
        <p:nvPicPr>
          <p:cNvPr id="1026" name="Picture 2" descr="Image result for test for carbon dioxide">
            <a:hlinkClick r:id="rId3"/>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358"/>
          <a:stretch/>
        </p:blipFill>
        <p:spPr bwMode="auto">
          <a:xfrm>
            <a:off x="5539871" y="1697212"/>
            <a:ext cx="2857500" cy="2618688"/>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2</a:t>
            </a:r>
            <a:endParaRPr lang="en-GB" sz="2400" b="1" dirty="0">
              <a:solidFill>
                <a:schemeClr val="accent6"/>
              </a:solidFill>
            </a:endParaRPr>
          </a:p>
        </p:txBody>
      </p:sp>
    </p:spTree>
    <p:extLst>
      <p:ext uri="{BB962C8B-B14F-4D97-AF65-F5344CB8AC3E}">
        <p14:creationId xmlns:p14="http://schemas.microsoft.com/office/powerpoint/2010/main" val="1990973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AD9930F-7E51-48AA-8055-819F948EA1CD}"/>
              </a:ext>
            </a:extLst>
          </p:cNvPr>
          <p:cNvPicPr>
            <a:picLocks noChangeAspect="1"/>
          </p:cNvPicPr>
          <p:nvPr/>
        </p:nvPicPr>
        <p:blipFill>
          <a:blip r:embed="rId3"/>
          <a:stretch>
            <a:fillRect/>
          </a:stretch>
        </p:blipFill>
        <p:spPr>
          <a:xfrm>
            <a:off x="7319180" y="1205887"/>
            <a:ext cx="1729768" cy="2511146"/>
          </a:xfrm>
          <a:prstGeom prst="rect">
            <a:avLst/>
          </a:prstGeom>
        </p:spPr>
      </p:pic>
      <p:sp>
        <p:nvSpPr>
          <p:cNvPr id="2" name="Title 1"/>
          <p:cNvSpPr>
            <a:spLocks noGrp="1"/>
          </p:cNvSpPr>
          <p:nvPr>
            <p:ph type="ctrTitle"/>
          </p:nvPr>
        </p:nvSpPr>
        <p:spPr>
          <a:xfrm>
            <a:off x="611560" y="188640"/>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0" y="770262"/>
            <a:ext cx="9048949" cy="707886"/>
          </a:xfrm>
          <a:prstGeom prst="rect">
            <a:avLst/>
          </a:prstGeom>
          <a:noFill/>
        </p:spPr>
        <p:txBody>
          <a:bodyPr wrap="square" rtlCol="0">
            <a:spAutoFit/>
          </a:bodyPr>
          <a:lstStyle/>
          <a:p>
            <a:pPr algn="ctr"/>
            <a:r>
              <a:rPr lang="en-GB" sz="2000" dirty="0"/>
              <a:t>The </a:t>
            </a:r>
            <a:r>
              <a:rPr lang="en-GB" sz="2000" b="1" dirty="0"/>
              <a:t>volumes</a:t>
            </a:r>
            <a:r>
              <a:rPr lang="en-GB" sz="2000" dirty="0"/>
              <a:t> of acid and alkali solutions that react with each other</a:t>
            </a:r>
          </a:p>
          <a:p>
            <a:pPr algn="ctr"/>
            <a:r>
              <a:rPr lang="en-GB" sz="2000" dirty="0"/>
              <a:t>can be measured by </a:t>
            </a:r>
            <a:r>
              <a:rPr lang="en-GB" sz="2000" b="1" dirty="0"/>
              <a:t>titration,</a:t>
            </a:r>
            <a:r>
              <a:rPr lang="en-GB" sz="2000" dirty="0"/>
              <a:t> using a suitable indictor.</a:t>
            </a:r>
          </a:p>
        </p:txBody>
      </p:sp>
      <p:sp>
        <p:nvSpPr>
          <p:cNvPr id="5" name="Rectangle 4">
            <a:extLst>
              <a:ext uri="{FF2B5EF4-FFF2-40B4-BE49-F238E27FC236}">
                <a16:creationId xmlns:a16="http://schemas.microsoft.com/office/drawing/2014/main" id="{E0022BF3-6055-41F3-9CAE-D99F69D29305}"/>
              </a:ext>
            </a:extLst>
          </p:cNvPr>
          <p:cNvSpPr/>
          <p:nvPr/>
        </p:nvSpPr>
        <p:spPr>
          <a:xfrm>
            <a:off x="6254823" y="3717033"/>
            <a:ext cx="2935827" cy="2862322"/>
          </a:xfrm>
          <a:prstGeom prst="rect">
            <a:avLst/>
          </a:prstGeom>
        </p:spPr>
        <p:txBody>
          <a:bodyPr wrap="square">
            <a:spAutoFit/>
          </a:bodyPr>
          <a:lstStyle/>
          <a:p>
            <a:pPr algn="ctr"/>
            <a:r>
              <a:rPr lang="en-GB" sz="2000" dirty="0">
                <a:solidFill>
                  <a:srgbClr val="333333"/>
                </a:solidFill>
              </a:rPr>
              <a:t>3.  Stop adding the acid when the end-point is reached (the appropriate colour change in the indicator happens). Note the final volume reading.  Repeat steps 1 to 3 until you get consistent readings.</a:t>
            </a:r>
            <a:endParaRPr lang="en-GB" sz="2000" b="0" dirty="0">
              <a:solidFill>
                <a:srgbClr val="333333"/>
              </a:solidFill>
              <a:effectLst/>
            </a:endParaRPr>
          </a:p>
        </p:txBody>
      </p:sp>
      <p:pic>
        <p:nvPicPr>
          <p:cNvPr id="9" name="Picture 8">
            <a:extLst>
              <a:ext uri="{FF2B5EF4-FFF2-40B4-BE49-F238E27FC236}">
                <a16:creationId xmlns:a16="http://schemas.microsoft.com/office/drawing/2014/main" id="{137A17BE-8AA4-4513-898F-9D070C852D79}"/>
              </a:ext>
            </a:extLst>
          </p:cNvPr>
          <p:cNvPicPr>
            <a:picLocks noChangeAspect="1"/>
          </p:cNvPicPr>
          <p:nvPr/>
        </p:nvPicPr>
        <p:blipFill>
          <a:blip r:embed="rId4"/>
          <a:stretch>
            <a:fillRect/>
          </a:stretch>
        </p:blipFill>
        <p:spPr>
          <a:xfrm>
            <a:off x="863003" y="1571625"/>
            <a:ext cx="1216300" cy="2721471"/>
          </a:xfrm>
          <a:prstGeom prst="rect">
            <a:avLst/>
          </a:prstGeom>
        </p:spPr>
      </p:pic>
      <p:pic>
        <p:nvPicPr>
          <p:cNvPr id="10" name="Picture 9">
            <a:extLst>
              <a:ext uri="{FF2B5EF4-FFF2-40B4-BE49-F238E27FC236}">
                <a16:creationId xmlns:a16="http://schemas.microsoft.com/office/drawing/2014/main" id="{0F2C69C0-2FBD-4252-8EF7-C8FA7E559616}"/>
              </a:ext>
            </a:extLst>
          </p:cNvPr>
          <p:cNvPicPr>
            <a:picLocks noChangeAspect="1"/>
          </p:cNvPicPr>
          <p:nvPr/>
        </p:nvPicPr>
        <p:blipFill>
          <a:blip r:embed="rId5"/>
          <a:stretch>
            <a:fillRect/>
          </a:stretch>
        </p:blipFill>
        <p:spPr>
          <a:xfrm>
            <a:off x="4120503" y="1759115"/>
            <a:ext cx="1566329" cy="2317957"/>
          </a:xfrm>
          <a:prstGeom prst="rect">
            <a:avLst/>
          </a:prstGeom>
        </p:spPr>
      </p:pic>
      <p:sp>
        <p:nvSpPr>
          <p:cNvPr id="8" name="Rectangle 7">
            <a:extLst>
              <a:ext uri="{FF2B5EF4-FFF2-40B4-BE49-F238E27FC236}">
                <a16:creationId xmlns:a16="http://schemas.microsoft.com/office/drawing/2014/main" id="{FBE68CB8-7194-440A-AD59-1EFD2AA4BCD6}"/>
              </a:ext>
            </a:extLst>
          </p:cNvPr>
          <p:cNvSpPr/>
          <p:nvPr/>
        </p:nvSpPr>
        <p:spPr>
          <a:xfrm>
            <a:off x="2794125" y="4612654"/>
            <a:ext cx="3460698" cy="1631216"/>
          </a:xfrm>
          <a:prstGeom prst="rect">
            <a:avLst/>
          </a:prstGeom>
          <a:solidFill>
            <a:schemeClr val="bg1"/>
          </a:solidFill>
        </p:spPr>
        <p:txBody>
          <a:bodyPr wrap="square">
            <a:spAutoFit/>
          </a:bodyPr>
          <a:lstStyle/>
          <a:p>
            <a:pPr algn="ctr"/>
            <a:r>
              <a:rPr lang="en-GB" sz="2000" dirty="0">
                <a:solidFill>
                  <a:srgbClr val="333333"/>
                </a:solidFill>
              </a:rPr>
              <a:t>2.  Fill the </a:t>
            </a:r>
            <a:r>
              <a:rPr lang="en-GB" sz="2000" dirty="0">
                <a:solidFill>
                  <a:srgbClr val="000000"/>
                </a:solidFill>
              </a:rPr>
              <a:t>burette</a:t>
            </a:r>
            <a:r>
              <a:rPr lang="en-GB" sz="2000" dirty="0">
                <a:solidFill>
                  <a:srgbClr val="333333"/>
                </a:solidFill>
              </a:rPr>
              <a:t> with acid and note the starting volume.  Slowly add the acid from the burette to the alkali in the conical flask, swirling to mix.</a:t>
            </a:r>
            <a:endParaRPr lang="en-GB" sz="2000" dirty="0"/>
          </a:p>
        </p:txBody>
      </p:sp>
      <p:sp>
        <p:nvSpPr>
          <p:cNvPr id="7" name="Rectangle 6">
            <a:extLst>
              <a:ext uri="{FF2B5EF4-FFF2-40B4-BE49-F238E27FC236}">
                <a16:creationId xmlns:a16="http://schemas.microsoft.com/office/drawing/2014/main" id="{9806EDEB-3308-4FC6-9DC2-8A8F1D1ED80D}"/>
              </a:ext>
            </a:extLst>
          </p:cNvPr>
          <p:cNvSpPr/>
          <p:nvPr/>
        </p:nvSpPr>
        <p:spPr>
          <a:xfrm>
            <a:off x="6676" y="4610025"/>
            <a:ext cx="2834975" cy="1908215"/>
          </a:xfrm>
          <a:prstGeom prst="rect">
            <a:avLst/>
          </a:prstGeom>
        </p:spPr>
        <p:txBody>
          <a:bodyPr wrap="square">
            <a:spAutoFit/>
          </a:bodyPr>
          <a:lstStyle/>
          <a:p>
            <a:pPr marL="342900" indent="-342900" algn="ctr">
              <a:buAutoNum type="arabicPeriod"/>
            </a:pPr>
            <a:r>
              <a:rPr lang="en-GB" sz="2000" dirty="0">
                <a:solidFill>
                  <a:srgbClr val="333333"/>
                </a:solidFill>
              </a:rPr>
              <a:t>Use the pipette to add 25 cm</a:t>
            </a:r>
            <a:r>
              <a:rPr lang="en-GB" sz="2000" baseline="30000" dirty="0">
                <a:solidFill>
                  <a:srgbClr val="333333"/>
                </a:solidFill>
              </a:rPr>
              <a:t>3</a:t>
            </a:r>
            <a:r>
              <a:rPr lang="en-GB" sz="2000" dirty="0">
                <a:solidFill>
                  <a:srgbClr val="333333"/>
                </a:solidFill>
              </a:rPr>
              <a:t> of alkali to a conical flask and add a few drops of </a:t>
            </a:r>
            <a:r>
              <a:rPr lang="en-GB" sz="2000" dirty="0">
                <a:solidFill>
                  <a:srgbClr val="000000"/>
                </a:solidFill>
              </a:rPr>
              <a:t>indicator</a:t>
            </a:r>
            <a:r>
              <a:rPr lang="en-GB" sz="2000" dirty="0">
                <a:solidFill>
                  <a:srgbClr val="333333"/>
                </a:solidFill>
              </a:rPr>
              <a:t>.</a:t>
            </a:r>
          </a:p>
          <a:p>
            <a:pPr algn="ctr"/>
            <a:endParaRPr lang="en-GB" dirty="0">
              <a:solidFill>
                <a:srgbClr val="333333"/>
              </a:solidFill>
            </a:endParaRPr>
          </a:p>
        </p:txBody>
      </p:sp>
    </p:spTree>
    <p:extLst>
      <p:ext uri="{BB962C8B-B14F-4D97-AF65-F5344CB8AC3E}">
        <p14:creationId xmlns:p14="http://schemas.microsoft.com/office/powerpoint/2010/main" val="4190969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13" name="TextBox 12"/>
          <p:cNvSpPr txBox="1"/>
          <p:nvPr/>
        </p:nvSpPr>
        <p:spPr>
          <a:xfrm>
            <a:off x="183488" y="1628800"/>
            <a:ext cx="8780999" cy="3046988"/>
          </a:xfrm>
          <a:custGeom>
            <a:avLst/>
            <a:gdLst>
              <a:gd name="connsiteX0" fmla="*/ 0 w 4680520"/>
              <a:gd name="connsiteY0" fmla="*/ 0 h 1400383"/>
              <a:gd name="connsiteX1" fmla="*/ 4680520 w 4680520"/>
              <a:gd name="connsiteY1" fmla="*/ 0 h 1400383"/>
              <a:gd name="connsiteX2" fmla="*/ 4680520 w 4680520"/>
              <a:gd name="connsiteY2" fmla="*/ 1400383 h 1400383"/>
              <a:gd name="connsiteX3" fmla="*/ 0 w 4680520"/>
              <a:gd name="connsiteY3" fmla="*/ 1400383 h 1400383"/>
              <a:gd name="connsiteX4" fmla="*/ 0 w 4680520"/>
              <a:gd name="connsiteY4" fmla="*/ 0 h 1400383"/>
              <a:gd name="connsiteX0" fmla="*/ 12879 w 4680520"/>
              <a:gd name="connsiteY0" fmla="*/ 0 h 1619324"/>
              <a:gd name="connsiteX1" fmla="*/ 4680520 w 4680520"/>
              <a:gd name="connsiteY1" fmla="*/ 218941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80520 w 4680520"/>
              <a:gd name="connsiteY1" fmla="*/ 12879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67641 w 4680520"/>
              <a:gd name="connsiteY1" fmla="*/ 0 h 1619324"/>
              <a:gd name="connsiteX2" fmla="*/ 4680520 w 4680520"/>
              <a:gd name="connsiteY2" fmla="*/ 1619324 h 1619324"/>
              <a:gd name="connsiteX3" fmla="*/ 0 w 4680520"/>
              <a:gd name="connsiteY3" fmla="*/ 1619324 h 1619324"/>
              <a:gd name="connsiteX4" fmla="*/ 12879 w 4680520"/>
              <a:gd name="connsiteY4" fmla="*/ 0 h 1619324"/>
              <a:gd name="connsiteX0" fmla="*/ 12879 w 4680520"/>
              <a:gd name="connsiteY0" fmla="*/ 0 h 1619324"/>
              <a:gd name="connsiteX1" fmla="*/ 4667641 w 4680520"/>
              <a:gd name="connsiteY1" fmla="*/ 0 h 1619324"/>
              <a:gd name="connsiteX2" fmla="*/ 4680520 w 4680520"/>
              <a:gd name="connsiteY2" fmla="*/ 1619324 h 1619324"/>
              <a:gd name="connsiteX3" fmla="*/ 0 w 4680520"/>
              <a:gd name="connsiteY3" fmla="*/ 1361747 h 1619324"/>
              <a:gd name="connsiteX4" fmla="*/ 12879 w 4680520"/>
              <a:gd name="connsiteY4" fmla="*/ 0 h 1619324"/>
              <a:gd name="connsiteX0" fmla="*/ 12879 w 4667641"/>
              <a:gd name="connsiteY0" fmla="*/ 0 h 1361747"/>
              <a:gd name="connsiteX1" fmla="*/ 4667641 w 4667641"/>
              <a:gd name="connsiteY1" fmla="*/ 0 h 1361747"/>
              <a:gd name="connsiteX2" fmla="*/ 4667641 w 4667641"/>
              <a:gd name="connsiteY2" fmla="*/ 1361747 h 1361747"/>
              <a:gd name="connsiteX3" fmla="*/ 0 w 4667641"/>
              <a:gd name="connsiteY3" fmla="*/ 1361747 h 1361747"/>
              <a:gd name="connsiteX4" fmla="*/ 12879 w 4667641"/>
              <a:gd name="connsiteY4" fmla="*/ 0 h 1361747"/>
              <a:gd name="connsiteX0" fmla="*/ 12879 w 4667641"/>
              <a:gd name="connsiteY0" fmla="*/ 0 h 1683719"/>
              <a:gd name="connsiteX1" fmla="*/ 4667641 w 4667641"/>
              <a:gd name="connsiteY1" fmla="*/ 321972 h 1683719"/>
              <a:gd name="connsiteX2" fmla="*/ 4667641 w 4667641"/>
              <a:gd name="connsiteY2" fmla="*/ 1683719 h 1683719"/>
              <a:gd name="connsiteX3" fmla="*/ 0 w 4667641"/>
              <a:gd name="connsiteY3" fmla="*/ 1683719 h 1683719"/>
              <a:gd name="connsiteX4" fmla="*/ 12879 w 4667641"/>
              <a:gd name="connsiteY4" fmla="*/ 0 h 1683719"/>
              <a:gd name="connsiteX0" fmla="*/ 12879 w 4680520"/>
              <a:gd name="connsiteY0" fmla="*/ 0 h 1683719"/>
              <a:gd name="connsiteX1" fmla="*/ 4680520 w 4680520"/>
              <a:gd name="connsiteY1" fmla="*/ 0 h 1683719"/>
              <a:gd name="connsiteX2" fmla="*/ 4667641 w 4680520"/>
              <a:gd name="connsiteY2" fmla="*/ 1683719 h 1683719"/>
              <a:gd name="connsiteX3" fmla="*/ 0 w 4680520"/>
              <a:gd name="connsiteY3" fmla="*/ 1683719 h 1683719"/>
              <a:gd name="connsiteX4" fmla="*/ 12879 w 4680520"/>
              <a:gd name="connsiteY4" fmla="*/ 0 h 1683719"/>
              <a:gd name="connsiteX0" fmla="*/ 12879 w 4680520"/>
              <a:gd name="connsiteY0" fmla="*/ 0 h 1683719"/>
              <a:gd name="connsiteX1" fmla="*/ 4680520 w 4680520"/>
              <a:gd name="connsiteY1" fmla="*/ 0 h 1683719"/>
              <a:gd name="connsiteX2" fmla="*/ 4667641 w 4680520"/>
              <a:gd name="connsiteY2" fmla="*/ 1683719 h 1683719"/>
              <a:gd name="connsiteX3" fmla="*/ 0 w 4680520"/>
              <a:gd name="connsiteY3" fmla="*/ 1335990 h 1683719"/>
              <a:gd name="connsiteX4" fmla="*/ 12879 w 4680520"/>
              <a:gd name="connsiteY4" fmla="*/ 0 h 1683719"/>
              <a:gd name="connsiteX0" fmla="*/ 12879 w 4680520"/>
              <a:gd name="connsiteY0" fmla="*/ 0 h 1335990"/>
              <a:gd name="connsiteX1" fmla="*/ 4680520 w 4680520"/>
              <a:gd name="connsiteY1" fmla="*/ 0 h 1335990"/>
              <a:gd name="connsiteX2" fmla="*/ 4680519 w 4680520"/>
              <a:gd name="connsiteY2" fmla="*/ 1323110 h 1335990"/>
              <a:gd name="connsiteX3" fmla="*/ 0 w 4680520"/>
              <a:gd name="connsiteY3" fmla="*/ 1335990 h 1335990"/>
              <a:gd name="connsiteX4" fmla="*/ 12879 w 4680520"/>
              <a:gd name="connsiteY4" fmla="*/ 0 h 1335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0520" h="1335990">
                <a:moveTo>
                  <a:pt x="12879" y="0"/>
                </a:moveTo>
                <a:lnTo>
                  <a:pt x="4680520" y="0"/>
                </a:lnTo>
                <a:cubicBezTo>
                  <a:pt x="4680520" y="441037"/>
                  <a:pt x="4680519" y="882073"/>
                  <a:pt x="4680519" y="1323110"/>
                </a:cubicBezTo>
                <a:lnTo>
                  <a:pt x="0" y="1335990"/>
                </a:lnTo>
                <a:lnTo>
                  <a:pt x="12879" y="0"/>
                </a:lnTo>
                <a:close/>
              </a:path>
            </a:pathLst>
          </a:custGeom>
          <a:noFill/>
          <a:ln w="28575">
            <a:solidFill>
              <a:schemeClr val="accent6"/>
            </a:solidFill>
          </a:ln>
        </p:spPr>
        <p:txBody>
          <a:bodyPr wrap="square" rtlCol="0">
            <a:spAutoFit/>
          </a:bodyPr>
          <a:lstStyle/>
          <a:p>
            <a:pPr marL="285750" indent="-285750">
              <a:buFont typeface="Arial" panose="020B0604020202020204" pitchFamily="34" charset="0"/>
              <a:buChar char="•"/>
            </a:pPr>
            <a:r>
              <a:rPr lang="en-GB" sz="2400" dirty="0"/>
              <a:t>All common </a:t>
            </a:r>
            <a:r>
              <a:rPr lang="en-GB" sz="2400" b="1" dirty="0">
                <a:solidFill>
                  <a:schemeClr val="accent6">
                    <a:lumMod val="75000"/>
                  </a:schemeClr>
                </a:solidFill>
              </a:rPr>
              <a:t>sodium, potassium </a:t>
            </a:r>
            <a:r>
              <a:rPr lang="en-GB" sz="2400" dirty="0"/>
              <a:t>and </a:t>
            </a:r>
            <a:r>
              <a:rPr lang="en-GB" sz="2400" b="1" dirty="0">
                <a:solidFill>
                  <a:schemeClr val="accent6">
                    <a:lumMod val="75000"/>
                  </a:schemeClr>
                </a:solidFill>
              </a:rPr>
              <a:t>ammonium salts </a:t>
            </a:r>
            <a:r>
              <a:rPr lang="en-GB" sz="2400" dirty="0"/>
              <a:t>are </a:t>
            </a:r>
            <a:r>
              <a:rPr lang="en-GB" sz="2400" b="1" dirty="0">
                <a:solidFill>
                  <a:schemeClr val="accent6">
                    <a:lumMod val="75000"/>
                  </a:schemeClr>
                </a:solidFill>
              </a:rPr>
              <a:t>soluble</a:t>
            </a:r>
          </a:p>
          <a:p>
            <a:pPr marL="285750" indent="-285750">
              <a:buFont typeface="Arial" panose="020B0604020202020204" pitchFamily="34" charset="0"/>
              <a:buChar char="•"/>
            </a:pPr>
            <a:r>
              <a:rPr lang="en-GB" sz="2400" dirty="0"/>
              <a:t>All </a:t>
            </a:r>
            <a:r>
              <a:rPr lang="en-GB" sz="2400" b="1" dirty="0">
                <a:solidFill>
                  <a:schemeClr val="accent6">
                    <a:lumMod val="75000"/>
                  </a:schemeClr>
                </a:solidFill>
              </a:rPr>
              <a:t>nitrates</a:t>
            </a:r>
            <a:r>
              <a:rPr lang="en-GB" sz="2400" dirty="0"/>
              <a:t> are </a:t>
            </a:r>
            <a:r>
              <a:rPr lang="en-GB" sz="2400" b="1" dirty="0">
                <a:solidFill>
                  <a:schemeClr val="accent6">
                    <a:lumMod val="75000"/>
                  </a:schemeClr>
                </a:solidFill>
              </a:rPr>
              <a:t>soluble</a:t>
            </a:r>
          </a:p>
          <a:p>
            <a:pPr marL="285750" indent="-285750">
              <a:buFont typeface="Arial" panose="020B0604020202020204" pitchFamily="34" charset="0"/>
              <a:buChar char="•"/>
            </a:pPr>
            <a:r>
              <a:rPr lang="en-GB" sz="2400" dirty="0"/>
              <a:t>Common </a:t>
            </a:r>
            <a:r>
              <a:rPr lang="en-GB" sz="2400" b="1" dirty="0">
                <a:solidFill>
                  <a:schemeClr val="accent6">
                    <a:lumMod val="75000"/>
                  </a:schemeClr>
                </a:solidFill>
              </a:rPr>
              <a:t>chlorides</a:t>
            </a:r>
            <a:r>
              <a:rPr lang="en-GB" sz="2400" dirty="0"/>
              <a:t> are </a:t>
            </a:r>
            <a:r>
              <a:rPr lang="en-GB" sz="2400" b="1" dirty="0">
                <a:solidFill>
                  <a:schemeClr val="accent6">
                    <a:lumMod val="75000"/>
                  </a:schemeClr>
                </a:solidFill>
              </a:rPr>
              <a:t>soluble</a:t>
            </a:r>
            <a:r>
              <a:rPr lang="en-GB" sz="2400" dirty="0"/>
              <a:t> </a:t>
            </a:r>
            <a:r>
              <a:rPr lang="en-GB" sz="2400" b="1" u="sng" dirty="0">
                <a:solidFill>
                  <a:schemeClr val="accent6">
                    <a:lumMod val="75000"/>
                  </a:schemeClr>
                </a:solidFill>
              </a:rPr>
              <a:t>except</a:t>
            </a:r>
            <a:r>
              <a:rPr lang="en-GB" sz="2400" dirty="0"/>
              <a:t> </a:t>
            </a:r>
            <a:r>
              <a:rPr lang="en-GB" sz="2400" b="1" dirty="0"/>
              <a:t>silver chloride </a:t>
            </a:r>
            <a:r>
              <a:rPr lang="en-GB" sz="2400" dirty="0"/>
              <a:t>and </a:t>
            </a:r>
            <a:r>
              <a:rPr lang="en-GB" sz="2400" b="1" dirty="0"/>
              <a:t>lead chloride</a:t>
            </a:r>
          </a:p>
          <a:p>
            <a:pPr marL="285750" indent="-285750">
              <a:buFont typeface="Arial" panose="020B0604020202020204" pitchFamily="34" charset="0"/>
              <a:buChar char="•"/>
            </a:pPr>
            <a:r>
              <a:rPr lang="en-GB" sz="2400" dirty="0"/>
              <a:t>Common </a:t>
            </a:r>
            <a:r>
              <a:rPr lang="en-GB" sz="2400" b="1" dirty="0" err="1">
                <a:solidFill>
                  <a:schemeClr val="accent6">
                    <a:lumMod val="75000"/>
                  </a:schemeClr>
                </a:solidFill>
              </a:rPr>
              <a:t>sulfates</a:t>
            </a:r>
            <a:r>
              <a:rPr lang="en-GB" sz="2400" dirty="0"/>
              <a:t> are </a:t>
            </a:r>
            <a:r>
              <a:rPr lang="en-GB" sz="2400" b="1" dirty="0">
                <a:solidFill>
                  <a:schemeClr val="accent6">
                    <a:lumMod val="75000"/>
                  </a:schemeClr>
                </a:solidFill>
              </a:rPr>
              <a:t>soluble</a:t>
            </a:r>
            <a:r>
              <a:rPr lang="en-GB" sz="2400" dirty="0"/>
              <a:t> </a:t>
            </a:r>
            <a:r>
              <a:rPr lang="en-GB" sz="2400" b="1" u="sng" dirty="0">
                <a:solidFill>
                  <a:schemeClr val="accent6">
                    <a:lumMod val="75000"/>
                  </a:schemeClr>
                </a:solidFill>
              </a:rPr>
              <a:t>except</a:t>
            </a:r>
            <a:r>
              <a:rPr lang="en-GB" sz="2400" dirty="0"/>
              <a:t> those of </a:t>
            </a:r>
            <a:r>
              <a:rPr lang="en-GB" sz="2400" b="1" dirty="0"/>
              <a:t>lead</a:t>
            </a:r>
            <a:r>
              <a:rPr lang="en-GB" sz="2400" dirty="0"/>
              <a:t>, </a:t>
            </a:r>
            <a:r>
              <a:rPr lang="en-GB" sz="2400" b="1" dirty="0"/>
              <a:t>barium</a:t>
            </a:r>
            <a:r>
              <a:rPr lang="en-GB" sz="2400" dirty="0"/>
              <a:t> and </a:t>
            </a:r>
            <a:r>
              <a:rPr lang="en-GB" sz="2400" b="1" dirty="0"/>
              <a:t>calcium</a:t>
            </a:r>
            <a:r>
              <a:rPr lang="en-GB" sz="2400" dirty="0"/>
              <a:t> </a:t>
            </a:r>
          </a:p>
          <a:p>
            <a:pPr marL="285750" indent="-285750">
              <a:buFont typeface="Arial" panose="020B0604020202020204" pitchFamily="34" charset="0"/>
              <a:buChar char="•"/>
            </a:pPr>
            <a:r>
              <a:rPr lang="en-GB" sz="2400" dirty="0"/>
              <a:t>Common </a:t>
            </a:r>
            <a:r>
              <a:rPr lang="en-GB" sz="2400" b="1" dirty="0">
                <a:solidFill>
                  <a:schemeClr val="accent6">
                    <a:lumMod val="75000"/>
                  </a:schemeClr>
                </a:solidFill>
              </a:rPr>
              <a:t>carbonates</a:t>
            </a:r>
            <a:r>
              <a:rPr lang="en-GB" sz="2400" dirty="0"/>
              <a:t> and </a:t>
            </a:r>
            <a:r>
              <a:rPr lang="en-GB" sz="2400" b="1" dirty="0">
                <a:solidFill>
                  <a:schemeClr val="accent6">
                    <a:lumMod val="75000"/>
                  </a:schemeClr>
                </a:solidFill>
              </a:rPr>
              <a:t>hydroxides</a:t>
            </a:r>
            <a:r>
              <a:rPr lang="en-GB" sz="2400" dirty="0"/>
              <a:t> are </a:t>
            </a:r>
            <a:r>
              <a:rPr lang="en-GB" sz="2400" b="1" dirty="0">
                <a:solidFill>
                  <a:schemeClr val="accent6">
                    <a:lumMod val="75000"/>
                  </a:schemeClr>
                </a:solidFill>
              </a:rPr>
              <a:t>insoluble</a:t>
            </a:r>
            <a:r>
              <a:rPr lang="en-GB" sz="2400" dirty="0"/>
              <a:t> </a:t>
            </a:r>
            <a:r>
              <a:rPr lang="en-GB" sz="2400" b="1" u="sng" dirty="0">
                <a:solidFill>
                  <a:schemeClr val="accent6">
                    <a:lumMod val="75000"/>
                  </a:schemeClr>
                </a:solidFill>
              </a:rPr>
              <a:t>except</a:t>
            </a:r>
            <a:r>
              <a:rPr lang="en-GB" sz="2400" dirty="0"/>
              <a:t> those of </a:t>
            </a:r>
            <a:r>
              <a:rPr lang="en-GB" sz="2400" b="1" dirty="0"/>
              <a:t>sodium, potassium </a:t>
            </a:r>
            <a:r>
              <a:rPr lang="en-GB" sz="2400" dirty="0"/>
              <a:t>and </a:t>
            </a:r>
            <a:r>
              <a:rPr lang="en-GB" sz="2400" b="1" dirty="0"/>
              <a:t>ammonium.</a:t>
            </a:r>
          </a:p>
        </p:txBody>
      </p:sp>
      <p:sp>
        <p:nvSpPr>
          <p:cNvPr id="16" name="TextBox 15"/>
          <p:cNvSpPr txBox="1"/>
          <p:nvPr/>
        </p:nvSpPr>
        <p:spPr>
          <a:xfrm>
            <a:off x="179511" y="802448"/>
            <a:ext cx="8784977" cy="646331"/>
          </a:xfrm>
          <a:prstGeom prst="rect">
            <a:avLst/>
          </a:prstGeom>
          <a:solidFill>
            <a:schemeClr val="accent6"/>
          </a:solidFill>
          <a:ln w="28575">
            <a:solidFill>
              <a:schemeClr val="tx1"/>
            </a:solidFill>
          </a:ln>
        </p:spPr>
        <p:txBody>
          <a:bodyPr wrap="square" rtlCol="0">
            <a:spAutoFit/>
          </a:bodyPr>
          <a:lstStyle/>
          <a:p>
            <a:pPr algn="ctr"/>
            <a:r>
              <a:rPr lang="en-GB" dirty="0"/>
              <a:t>You must learn these rules and be able to predict whether a precipitate will be formed, and be able to name it.</a:t>
            </a:r>
          </a:p>
        </p:txBody>
      </p:sp>
      <p:sp>
        <p:nvSpPr>
          <p:cNvPr id="8" name="TextBox 7"/>
          <p:cNvSpPr txBox="1"/>
          <p:nvPr/>
        </p:nvSpPr>
        <p:spPr>
          <a:xfrm>
            <a:off x="179511" y="4817113"/>
            <a:ext cx="4680521" cy="1477328"/>
          </a:xfrm>
          <a:prstGeom prst="rect">
            <a:avLst/>
          </a:prstGeom>
          <a:solidFill>
            <a:schemeClr val="accent6"/>
          </a:solidFill>
          <a:ln w="28575">
            <a:solidFill>
              <a:schemeClr val="tx1"/>
            </a:solidFill>
          </a:ln>
        </p:spPr>
        <p:txBody>
          <a:bodyPr wrap="square" rtlCol="0">
            <a:spAutoFit/>
          </a:bodyPr>
          <a:lstStyle/>
          <a:p>
            <a:pPr algn="ctr"/>
            <a:r>
              <a:rPr lang="en-GB" b="1" u="sng" dirty="0"/>
              <a:t>Soluble</a:t>
            </a:r>
          </a:p>
          <a:p>
            <a:pPr marL="285750" indent="-285750">
              <a:buFont typeface="Arial" panose="020B0604020202020204" pitchFamily="34" charset="0"/>
              <a:buChar char="•"/>
            </a:pPr>
            <a:r>
              <a:rPr lang="en-GB" u="sng" dirty="0"/>
              <a:t>All</a:t>
            </a:r>
            <a:r>
              <a:rPr lang="en-GB" dirty="0"/>
              <a:t> nitrates</a:t>
            </a:r>
          </a:p>
          <a:p>
            <a:pPr marL="285750" indent="-285750">
              <a:buFont typeface="Arial" panose="020B0604020202020204" pitchFamily="34" charset="0"/>
              <a:buChar char="•"/>
            </a:pPr>
            <a:r>
              <a:rPr lang="en-GB" dirty="0"/>
              <a:t>Common sodium, potassium and ammonium salts INCLUDING CARBONATES</a:t>
            </a:r>
          </a:p>
          <a:p>
            <a:pPr marL="285750" indent="-285750">
              <a:buFont typeface="Arial" panose="020B0604020202020204" pitchFamily="34" charset="0"/>
              <a:buChar char="•"/>
            </a:pPr>
            <a:r>
              <a:rPr lang="en-GB" u="sng" dirty="0"/>
              <a:t>Most</a:t>
            </a:r>
            <a:r>
              <a:rPr lang="en-GB" dirty="0"/>
              <a:t> chlorides and </a:t>
            </a:r>
            <a:r>
              <a:rPr lang="en-GB" dirty="0" err="1"/>
              <a:t>sulfates</a:t>
            </a:r>
            <a:endParaRPr lang="en-GB" dirty="0"/>
          </a:p>
        </p:txBody>
      </p:sp>
      <p:sp>
        <p:nvSpPr>
          <p:cNvPr id="10" name="TextBox 9"/>
          <p:cNvSpPr txBox="1"/>
          <p:nvPr/>
        </p:nvSpPr>
        <p:spPr>
          <a:xfrm>
            <a:off x="4952396" y="4817113"/>
            <a:ext cx="4032449" cy="1477328"/>
          </a:xfrm>
          <a:prstGeom prst="rect">
            <a:avLst/>
          </a:prstGeom>
          <a:solidFill>
            <a:schemeClr val="accent6"/>
          </a:solidFill>
          <a:ln w="28575">
            <a:solidFill>
              <a:schemeClr val="tx1"/>
            </a:solidFill>
          </a:ln>
        </p:spPr>
        <p:txBody>
          <a:bodyPr wrap="square" rtlCol="0">
            <a:spAutoFit/>
          </a:bodyPr>
          <a:lstStyle/>
          <a:p>
            <a:pPr algn="ctr"/>
            <a:r>
              <a:rPr lang="en-GB" b="1" u="sng" dirty="0"/>
              <a:t>Insoluble</a:t>
            </a:r>
          </a:p>
          <a:p>
            <a:pPr marL="285750" indent="-285750">
              <a:buFont typeface="Arial" panose="020B0604020202020204" pitchFamily="34" charset="0"/>
              <a:buChar char="•"/>
            </a:pPr>
            <a:r>
              <a:rPr lang="en-GB" dirty="0"/>
              <a:t>Silver chloride and lead chloride</a:t>
            </a:r>
          </a:p>
          <a:p>
            <a:pPr marL="285750" indent="-285750">
              <a:buFont typeface="Arial" panose="020B0604020202020204" pitchFamily="34" charset="0"/>
              <a:buChar char="•"/>
            </a:pPr>
            <a:r>
              <a:rPr lang="en-GB" dirty="0"/>
              <a:t>Lead </a:t>
            </a:r>
            <a:r>
              <a:rPr lang="en-GB" dirty="0" err="1"/>
              <a:t>sulfate</a:t>
            </a:r>
            <a:r>
              <a:rPr lang="en-GB" dirty="0"/>
              <a:t>, barium </a:t>
            </a:r>
            <a:r>
              <a:rPr lang="en-GB" dirty="0" err="1"/>
              <a:t>sulfate</a:t>
            </a:r>
            <a:r>
              <a:rPr lang="en-GB" dirty="0"/>
              <a:t> and calcium </a:t>
            </a:r>
            <a:r>
              <a:rPr lang="en-GB" dirty="0" err="1"/>
              <a:t>sulfate</a:t>
            </a:r>
            <a:endParaRPr lang="en-GB" dirty="0"/>
          </a:p>
          <a:p>
            <a:pPr marL="285750" indent="-285750">
              <a:buFont typeface="Arial" panose="020B0604020202020204" pitchFamily="34" charset="0"/>
              <a:buChar char="•"/>
            </a:pPr>
            <a:r>
              <a:rPr lang="en-GB" u="sng" dirty="0"/>
              <a:t>Most</a:t>
            </a:r>
            <a:r>
              <a:rPr lang="en-GB" dirty="0"/>
              <a:t> carbonates</a:t>
            </a:r>
          </a:p>
        </p:txBody>
      </p:sp>
      <p:sp>
        <p:nvSpPr>
          <p:cNvPr id="11" name="Title 1"/>
          <p:cNvSpPr txBox="1">
            <a:spLocks/>
          </p:cNvSpPr>
          <p:nvPr/>
        </p:nvSpPr>
        <p:spPr>
          <a:xfrm>
            <a:off x="611560" y="35655"/>
            <a:ext cx="8532440"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a:solidFill>
                  <a:schemeClr val="accent6"/>
                </a:solidFill>
              </a:rPr>
              <a:t>Reactions of acids - PART 2</a:t>
            </a:r>
            <a:endParaRPr lang="en-GB" sz="2400" b="1" kern="0" dirty="0">
              <a:solidFill>
                <a:schemeClr val="accent6"/>
              </a:solidFill>
            </a:endParaRPr>
          </a:p>
        </p:txBody>
      </p:sp>
    </p:spTree>
    <p:extLst>
      <p:ext uri="{BB962C8B-B14F-4D97-AF65-F5344CB8AC3E}">
        <p14:creationId xmlns:p14="http://schemas.microsoft.com/office/powerpoint/2010/main" val="1419262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62880" y="935602"/>
            <a:ext cx="9018240"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a:t>Soluble salts </a:t>
            </a:r>
            <a:r>
              <a:rPr lang="en-GB" sz="2000" dirty="0"/>
              <a:t>can be made from </a:t>
            </a:r>
            <a:r>
              <a:rPr lang="en-GB" sz="2000" b="1" dirty="0"/>
              <a:t>acids</a:t>
            </a:r>
            <a:r>
              <a:rPr lang="en-GB" sz="2000" dirty="0"/>
              <a:t> by reacting them with </a:t>
            </a:r>
            <a:r>
              <a:rPr lang="en-GB" sz="2000" b="1" dirty="0"/>
              <a:t>solid insoluble substances</a:t>
            </a:r>
            <a:r>
              <a:rPr lang="en-GB" sz="2000" dirty="0"/>
              <a:t>, such as </a:t>
            </a:r>
            <a:r>
              <a:rPr lang="en-GB" sz="2000" b="1" dirty="0"/>
              <a:t>metals, metal oxides, hydroxides or carbonates</a:t>
            </a:r>
            <a:r>
              <a:rPr lang="en-GB" sz="2000" dirty="0"/>
              <a:t>.  </a:t>
            </a:r>
            <a:endParaRPr lang="en-GB" sz="2000" b="1" dirty="0">
              <a:solidFill>
                <a:schemeClr val="accent6">
                  <a:lumMod val="75000"/>
                </a:schemeClr>
              </a:solidFill>
            </a:endParaRPr>
          </a:p>
        </p:txBody>
      </p:sp>
      <p:sp>
        <p:nvSpPr>
          <p:cNvPr id="9" name="Rectangle 8">
            <a:extLst>
              <a:ext uri="{FF2B5EF4-FFF2-40B4-BE49-F238E27FC236}">
                <a16:creationId xmlns:a16="http://schemas.microsoft.com/office/drawing/2014/main" id="{7860724D-6619-4ADA-8CFD-02507C240345}"/>
              </a:ext>
            </a:extLst>
          </p:cNvPr>
          <p:cNvSpPr/>
          <p:nvPr/>
        </p:nvSpPr>
        <p:spPr>
          <a:xfrm>
            <a:off x="1100599" y="2099351"/>
            <a:ext cx="7997999" cy="4093428"/>
          </a:xfrm>
          <a:prstGeom prst="rect">
            <a:avLst/>
          </a:prstGeom>
        </p:spPr>
        <p:txBody>
          <a:bodyPr wrap="square">
            <a:spAutoFit/>
          </a:bodyPr>
          <a:lstStyle/>
          <a:p>
            <a:pPr marL="342900" indent="-342900">
              <a:buFont typeface="+mj-lt"/>
              <a:buAutoNum type="arabicPeriod"/>
            </a:pPr>
            <a:r>
              <a:rPr lang="en-GB" sz="2000" dirty="0">
                <a:solidFill>
                  <a:srgbClr val="000000"/>
                </a:solidFill>
              </a:rPr>
              <a:t>Measure the required volume of acid with a measuring cylinder and add the weighed solid (insoluble metal, oxide, hydroxide or carbonate) in small portions with stirring. </a:t>
            </a:r>
          </a:p>
          <a:p>
            <a:pPr marL="342900" indent="-342900">
              <a:buFont typeface="+mj-lt"/>
              <a:buAutoNum type="arabicPeriod"/>
            </a:pPr>
            <a:r>
              <a:rPr lang="en-GB" sz="2000" dirty="0">
                <a:solidFill>
                  <a:srgbClr val="000000"/>
                </a:solidFill>
              </a:rPr>
              <a:t>Safety goggles required - the mixture may be heated to speed up the reaction. When no more of the solid dissolves, it means ALL the acid is neutralised and there should be a little excess solid. </a:t>
            </a:r>
          </a:p>
          <a:p>
            <a:pPr marL="342900" indent="-342900">
              <a:buFont typeface="+mj-lt"/>
              <a:buAutoNum type="arabicPeriod"/>
            </a:pPr>
            <a:r>
              <a:rPr lang="en-GB" sz="2000" dirty="0">
                <a:solidFill>
                  <a:srgbClr val="000000"/>
                </a:solidFill>
              </a:rPr>
              <a:t>Filter the solution to remove the excess solid metal/oxide/carbonate into an evaporating dish. On filtration, only a solution of the salt is left.</a:t>
            </a:r>
          </a:p>
          <a:p>
            <a:pPr marL="342900" indent="-342900">
              <a:buFont typeface="+mj-lt"/>
              <a:buAutoNum type="arabicPeriod"/>
            </a:pPr>
            <a:r>
              <a:rPr lang="en-GB" sz="2000" dirty="0">
                <a:solidFill>
                  <a:srgbClr val="000000"/>
                </a:solidFill>
              </a:rPr>
              <a:t>Then hot concentrated solution is left to cool and crystallise.</a:t>
            </a:r>
          </a:p>
          <a:p>
            <a:pPr marL="342900" indent="-342900">
              <a:buFont typeface="+mj-lt"/>
              <a:buAutoNum type="arabicPeriod"/>
            </a:pPr>
            <a:r>
              <a:rPr lang="en-GB" sz="2000" dirty="0">
                <a:solidFill>
                  <a:srgbClr val="000000"/>
                </a:solidFill>
              </a:rPr>
              <a:t>After </a:t>
            </a:r>
            <a:r>
              <a:rPr lang="en-GB" sz="2000" b="1" dirty="0">
                <a:solidFill>
                  <a:srgbClr val="000000"/>
                </a:solidFill>
              </a:rPr>
              <a:t>crystallisation</a:t>
            </a:r>
            <a:r>
              <a:rPr lang="en-GB" sz="2000" dirty="0">
                <a:solidFill>
                  <a:srgbClr val="000000"/>
                </a:solidFill>
              </a:rPr>
              <a:t>, you collect and dry the crystals with a filter paper. </a:t>
            </a:r>
            <a:r>
              <a:rPr lang="en-GB" sz="2000" dirty="0"/>
              <a:t>If the solution is heated, the solvent will evaporate faster. Heating a         solution until all the solvent has evaporated is known as </a:t>
            </a:r>
            <a:r>
              <a:rPr lang="en-GB" sz="2000" b="1" dirty="0"/>
              <a:t>heating to dryness</a:t>
            </a:r>
            <a:r>
              <a:rPr lang="en-GB" sz="2000" dirty="0"/>
              <a:t>.</a:t>
            </a:r>
            <a:endParaRPr lang="en-GB" sz="2000" i="0" dirty="0">
              <a:solidFill>
                <a:srgbClr val="000000"/>
              </a:solidFill>
              <a:effectLst/>
            </a:endParaRPr>
          </a:p>
        </p:txBody>
      </p:sp>
      <p:pic>
        <p:nvPicPr>
          <p:cNvPr id="11" name="Picture 10">
            <a:extLst>
              <a:ext uri="{FF2B5EF4-FFF2-40B4-BE49-F238E27FC236}">
                <a16:creationId xmlns:a16="http://schemas.microsoft.com/office/drawing/2014/main" id="{06CA7A05-0EDF-457C-AA00-1121673B6935}"/>
              </a:ext>
            </a:extLst>
          </p:cNvPr>
          <p:cNvPicPr>
            <a:picLocks noChangeAspect="1"/>
          </p:cNvPicPr>
          <p:nvPr/>
        </p:nvPicPr>
        <p:blipFill>
          <a:blip r:embed="rId3"/>
          <a:stretch>
            <a:fillRect/>
          </a:stretch>
        </p:blipFill>
        <p:spPr>
          <a:xfrm>
            <a:off x="154360" y="1998008"/>
            <a:ext cx="914400" cy="4371975"/>
          </a:xfrm>
          <a:prstGeom prst="rect">
            <a:avLst/>
          </a:prstGeom>
        </p:spPr>
      </p:pic>
    </p:spTree>
    <p:extLst>
      <p:ext uri="{BB962C8B-B14F-4D97-AF65-F5344CB8AC3E}">
        <p14:creationId xmlns:p14="http://schemas.microsoft.com/office/powerpoint/2010/main" val="811015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1525352" y="925278"/>
            <a:ext cx="6093296" cy="40011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a:t>Insoluble salts </a:t>
            </a:r>
            <a:r>
              <a:rPr lang="en-GB" sz="2000" dirty="0"/>
              <a:t>can be made from two soluble salts.  </a:t>
            </a:r>
            <a:endParaRPr lang="en-GB" sz="2000" b="1" dirty="0">
              <a:solidFill>
                <a:schemeClr val="accent6">
                  <a:lumMod val="75000"/>
                </a:schemeClr>
              </a:solidFill>
            </a:endParaRPr>
          </a:p>
        </p:txBody>
      </p:sp>
      <p:sp>
        <p:nvSpPr>
          <p:cNvPr id="9" name="Rectangle 8">
            <a:extLst>
              <a:ext uri="{FF2B5EF4-FFF2-40B4-BE49-F238E27FC236}">
                <a16:creationId xmlns:a16="http://schemas.microsoft.com/office/drawing/2014/main" id="{7860724D-6619-4ADA-8CFD-02507C240345}"/>
              </a:ext>
            </a:extLst>
          </p:cNvPr>
          <p:cNvSpPr/>
          <p:nvPr/>
        </p:nvSpPr>
        <p:spPr>
          <a:xfrm>
            <a:off x="1100599" y="2099351"/>
            <a:ext cx="7997999" cy="2246769"/>
          </a:xfrm>
          <a:prstGeom prst="rect">
            <a:avLst/>
          </a:prstGeom>
        </p:spPr>
        <p:txBody>
          <a:bodyPr wrap="square">
            <a:spAutoFit/>
          </a:bodyPr>
          <a:lstStyle/>
          <a:p>
            <a:pPr marL="342900" indent="-342900">
              <a:buFont typeface="+mj-lt"/>
              <a:buAutoNum type="arabicPeriod"/>
            </a:pPr>
            <a:r>
              <a:rPr lang="en-GB" sz="2000" dirty="0">
                <a:solidFill>
                  <a:srgbClr val="000000"/>
                </a:solidFill>
              </a:rPr>
              <a:t>Mix together solutions of soluble salts.</a:t>
            </a:r>
          </a:p>
          <a:p>
            <a:pPr marL="342900" indent="-342900">
              <a:buFont typeface="+mj-lt"/>
              <a:buAutoNum type="arabicPeriod"/>
            </a:pPr>
            <a:endParaRPr lang="en-GB" sz="2000" dirty="0">
              <a:solidFill>
                <a:srgbClr val="000000"/>
              </a:solidFill>
            </a:endParaRPr>
          </a:p>
          <a:p>
            <a:pPr marL="342900" indent="-342900">
              <a:buFont typeface="+mj-lt"/>
              <a:buAutoNum type="arabicPeriod"/>
            </a:pPr>
            <a:r>
              <a:rPr lang="en-GB" sz="2000" dirty="0">
                <a:solidFill>
                  <a:srgbClr val="000000"/>
                </a:solidFill>
              </a:rPr>
              <a:t>Insoluble salt will form a precipitate in the solution.</a:t>
            </a:r>
          </a:p>
          <a:p>
            <a:pPr marL="342900" indent="-342900">
              <a:buFont typeface="+mj-lt"/>
              <a:buAutoNum type="arabicPeriod"/>
            </a:pPr>
            <a:endParaRPr lang="en-GB" sz="2000" dirty="0">
              <a:solidFill>
                <a:srgbClr val="000000"/>
              </a:solidFill>
            </a:endParaRPr>
          </a:p>
          <a:p>
            <a:pPr marL="342900" indent="-342900">
              <a:buFont typeface="+mj-lt"/>
              <a:buAutoNum type="arabicPeriod"/>
            </a:pPr>
            <a:r>
              <a:rPr lang="en-GB" sz="2000" dirty="0">
                <a:solidFill>
                  <a:srgbClr val="000000"/>
                </a:solidFill>
              </a:rPr>
              <a:t>Filter off the precipitate and wash several times with pure water.</a:t>
            </a:r>
          </a:p>
          <a:p>
            <a:pPr marL="342900" indent="-342900">
              <a:buFont typeface="+mj-lt"/>
              <a:buAutoNum type="arabicPeriod"/>
            </a:pPr>
            <a:endParaRPr lang="en-GB" sz="2000" dirty="0">
              <a:solidFill>
                <a:srgbClr val="000000"/>
              </a:solidFill>
            </a:endParaRPr>
          </a:p>
          <a:p>
            <a:pPr marL="342900" indent="-342900">
              <a:buFont typeface="+mj-lt"/>
              <a:buAutoNum type="arabicPeriod"/>
            </a:pPr>
            <a:r>
              <a:rPr lang="en-GB" sz="2000" dirty="0">
                <a:solidFill>
                  <a:srgbClr val="000000"/>
                </a:solidFill>
              </a:rPr>
              <a:t>Dry precipitate in an oven.</a:t>
            </a:r>
          </a:p>
        </p:txBody>
      </p:sp>
      <p:pic>
        <p:nvPicPr>
          <p:cNvPr id="7" name="Picture 6">
            <a:extLst>
              <a:ext uri="{FF2B5EF4-FFF2-40B4-BE49-F238E27FC236}">
                <a16:creationId xmlns:a16="http://schemas.microsoft.com/office/drawing/2014/main" id="{06CA7A05-0EDF-457C-AA00-1121673B6935}"/>
              </a:ext>
            </a:extLst>
          </p:cNvPr>
          <p:cNvPicPr>
            <a:picLocks noChangeAspect="1"/>
          </p:cNvPicPr>
          <p:nvPr/>
        </p:nvPicPr>
        <p:blipFill rotWithShape="1">
          <a:blip r:embed="rId3"/>
          <a:srcRect b="80236"/>
          <a:stretch/>
        </p:blipFill>
        <p:spPr>
          <a:xfrm>
            <a:off x="154360" y="1700809"/>
            <a:ext cx="914400" cy="864096"/>
          </a:xfrm>
          <a:prstGeom prst="rect">
            <a:avLst/>
          </a:prstGeom>
        </p:spPr>
      </p:pic>
      <p:pic>
        <p:nvPicPr>
          <p:cNvPr id="8" name="Picture 7">
            <a:extLst>
              <a:ext uri="{FF2B5EF4-FFF2-40B4-BE49-F238E27FC236}">
                <a16:creationId xmlns:a16="http://schemas.microsoft.com/office/drawing/2014/main" id="{06CA7A05-0EDF-457C-AA00-1121673B6935}"/>
              </a:ext>
            </a:extLst>
          </p:cNvPr>
          <p:cNvPicPr>
            <a:picLocks noChangeAspect="1"/>
          </p:cNvPicPr>
          <p:nvPr/>
        </p:nvPicPr>
        <p:blipFill rotWithShape="1">
          <a:blip r:embed="rId3"/>
          <a:srcRect t="60940"/>
          <a:stretch/>
        </p:blipFill>
        <p:spPr>
          <a:xfrm>
            <a:off x="154360" y="3068960"/>
            <a:ext cx="914400" cy="1707679"/>
          </a:xfrm>
          <a:prstGeom prst="rect">
            <a:avLst/>
          </a:prstGeom>
        </p:spPr>
      </p:pic>
    </p:spTree>
    <p:extLst>
      <p:ext uri="{BB962C8B-B14F-4D97-AF65-F5344CB8AC3E}">
        <p14:creationId xmlns:p14="http://schemas.microsoft.com/office/powerpoint/2010/main" val="4139256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678204"/>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Neutralisation</a:t>
            </a:r>
          </a:p>
          <a:p>
            <a:pPr marL="685800" lvl="1" indent="-342900">
              <a:buFont typeface="Arial" charset="0"/>
              <a:buChar char="•"/>
            </a:pPr>
            <a:r>
              <a:rPr lang="en-US" sz="2400" b="1" dirty="0">
                <a:solidFill>
                  <a:schemeClr val="bg1">
                    <a:lumMod val="50000"/>
                  </a:schemeClr>
                </a:solidFill>
              </a:rPr>
              <a:t>Salts</a:t>
            </a:r>
          </a:p>
          <a:p>
            <a:pPr marL="685800" lvl="1" indent="-342900">
              <a:buFont typeface="Arial" charset="0"/>
              <a:buChar char="•"/>
            </a:pPr>
            <a:r>
              <a:rPr lang="en-US" sz="2400" b="1" dirty="0">
                <a:solidFill>
                  <a:schemeClr val="bg1">
                    <a:lumMod val="50000"/>
                  </a:schemeClr>
                </a:solidFill>
              </a:rPr>
              <a:t>Titration</a:t>
            </a:r>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7236300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is the definition of an alkali?</a:t>
            </a:r>
          </a:p>
          <a:p>
            <a:pPr lvl="1">
              <a:defRPr/>
            </a:pPr>
            <a:endParaRPr kumimoji="0" lang="en-GB" sz="2400" b="0" i="0" u="none" strike="noStrike" kern="1200" cap="none" spc="0" normalizeH="0" noProof="0" dirty="0">
              <a:ln>
                <a:noFill/>
              </a:ln>
              <a:solidFill>
                <a:srgbClr val="00B050"/>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dirty="0">
                <a:solidFill>
                  <a:prstClr val="black"/>
                </a:solidFill>
                <a:latin typeface="Calibri"/>
              </a:rPr>
              <a:t>What</a:t>
            </a:r>
            <a:r>
              <a:rPr lang="en-GB" sz="2400" dirty="0">
                <a:solidFill>
                  <a:prstClr val="black"/>
                </a:solidFill>
                <a:latin typeface="Calibri"/>
              </a:rPr>
              <a:t> is a base?</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is the general equation for a reaction between acids and metal oxides?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noProof="0" dirty="0">
              <a:ln>
                <a:noFill/>
              </a:ln>
              <a:solidFill>
                <a:prstClr val="black"/>
              </a:solidFill>
              <a:effectLst/>
              <a:uLnTx/>
              <a:uFillTx/>
              <a:latin typeface="Calibri"/>
              <a:ea typeface="+mn-ea"/>
              <a:cs typeface="+mn-cs"/>
            </a:endParaRPr>
          </a:p>
          <a:p>
            <a:pPr marL="457200" indent="-457200">
              <a:buFontTx/>
              <a:buAutoNum type="arabicPeriod"/>
              <a:defRPr/>
            </a:pPr>
            <a:r>
              <a:rPr lang="en-GB" sz="2400" dirty="0">
                <a:solidFill>
                  <a:prstClr val="black"/>
                </a:solidFill>
              </a:rPr>
              <a:t>What is the general equation for a reaction between acids and metal hydroxides?</a:t>
            </a:r>
          </a:p>
          <a:p>
            <a:pPr marL="457200" indent="-457200">
              <a:buFontTx/>
              <a:buAutoNum type="arabicPeriod"/>
              <a:defRPr/>
            </a:pPr>
            <a:endParaRPr lang="en-GB" sz="2400" dirty="0">
              <a:solidFill>
                <a:prstClr val="black"/>
              </a:solidFill>
            </a:endParaRPr>
          </a:p>
          <a:p>
            <a:pPr marL="457200" indent="-457200">
              <a:buFontTx/>
              <a:buAutoNum type="arabicPeriod"/>
              <a:defRPr/>
            </a:pPr>
            <a:r>
              <a:rPr lang="en-GB" sz="2400" dirty="0">
                <a:solidFill>
                  <a:prstClr val="black"/>
                </a:solidFill>
              </a:rPr>
              <a:t>What is the general equation for a reaction between acids and metal carbonates?</a:t>
            </a:r>
          </a:p>
          <a:p>
            <a:pPr>
              <a:defRPr/>
            </a:pPr>
            <a:endParaRPr lang="en-GB" sz="2400" dirty="0">
              <a:solidFill>
                <a:prstClr val="black"/>
              </a:solidFill>
            </a:endParaRPr>
          </a:p>
        </p:txBody>
      </p:sp>
    </p:spTree>
    <p:extLst>
      <p:ext uri="{BB962C8B-B14F-4D97-AF65-F5344CB8AC3E}">
        <p14:creationId xmlns:p14="http://schemas.microsoft.com/office/powerpoint/2010/main" val="4022483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4893647"/>
          </a:xfrm>
          <a:prstGeom prst="rect">
            <a:avLst/>
          </a:prstGeom>
          <a:noFill/>
        </p:spPr>
        <p:txBody>
          <a:bodyPr wrap="square" rtlCol="0">
            <a:spAutoFit/>
          </a:bodyPr>
          <a:lstStyle/>
          <a:p>
            <a:pPr marL="457200" indent="-457200">
              <a:buFont typeface="+mj-lt"/>
              <a:buAutoNum type="arabicPeriod" startAt="6"/>
              <a:defRPr/>
            </a:pPr>
            <a:r>
              <a:rPr lang="en-GB" sz="2400" dirty="0">
                <a:solidFill>
                  <a:prstClr val="black"/>
                </a:solidFill>
              </a:rPr>
              <a:t>Describe the test for hydrogen.</a:t>
            </a:r>
          </a:p>
          <a:p>
            <a:pPr marL="457200" indent="-457200">
              <a:buFont typeface="+mj-lt"/>
              <a:buAutoNum type="arabicPeriod" startAt="6"/>
              <a:defRPr/>
            </a:pPr>
            <a:endParaRPr lang="en-GB" sz="2400" dirty="0">
              <a:solidFill>
                <a:prstClr val="black"/>
              </a:solidFill>
            </a:endParaRPr>
          </a:p>
          <a:p>
            <a:pPr marL="457200" indent="-457200">
              <a:buFontTx/>
              <a:buAutoNum type="arabicPeriod" startAt="6"/>
              <a:defRPr/>
            </a:pPr>
            <a:r>
              <a:rPr lang="en-GB" sz="2400" dirty="0">
                <a:solidFill>
                  <a:prstClr val="black"/>
                </a:solidFill>
              </a:rPr>
              <a:t>Describe the test for carbon dioxide.</a:t>
            </a:r>
          </a:p>
          <a:p>
            <a:pPr marL="457200" indent="-457200">
              <a:buFontTx/>
              <a:buAutoNum type="arabicPeriod" startAt="6"/>
              <a:defRPr/>
            </a:pPr>
            <a:endParaRPr lang="en-GB" sz="2400" dirty="0">
              <a:solidFill>
                <a:prstClr val="black"/>
              </a:solidFill>
            </a:endParaRPr>
          </a:p>
          <a:p>
            <a:pPr marL="457200" indent="-457200">
              <a:buFontTx/>
              <a:buAutoNum type="arabicPeriod" startAt="6"/>
              <a:defRPr/>
            </a:pPr>
            <a:r>
              <a:rPr lang="en-GB" sz="2400" dirty="0">
                <a:solidFill>
                  <a:prstClr val="black"/>
                </a:solidFill>
              </a:rPr>
              <a:t>What is a neutralisation reaction?</a:t>
            </a:r>
          </a:p>
          <a:p>
            <a:pPr marL="457200" indent="-457200">
              <a:buFontTx/>
              <a:buAutoNum type="arabicPeriod" startAt="6"/>
              <a:defRPr/>
            </a:pPr>
            <a:endParaRPr lang="en-GB" sz="2400" dirty="0">
              <a:solidFill>
                <a:prstClr val="black"/>
              </a:solidFill>
            </a:endParaRPr>
          </a:p>
          <a:p>
            <a:pPr marL="457200" indent="-457200">
              <a:buFontTx/>
              <a:buAutoNum type="arabicPeriod" startAt="6"/>
              <a:defRPr/>
            </a:pPr>
            <a:r>
              <a:rPr lang="en-GB" sz="2400" dirty="0">
                <a:solidFill>
                  <a:prstClr val="black"/>
                </a:solidFill>
              </a:rPr>
              <a:t>Describe how to carry out a titration.</a:t>
            </a:r>
          </a:p>
          <a:p>
            <a:pPr marL="457200" indent="-457200">
              <a:buFontTx/>
              <a:buAutoNum type="arabicPeriod" startAt="6"/>
              <a:defRPr/>
            </a:pPr>
            <a:endParaRPr lang="en-GB" sz="2400" dirty="0">
              <a:solidFill>
                <a:prstClr val="black"/>
              </a:solidFill>
            </a:endParaRPr>
          </a:p>
          <a:p>
            <a:pPr marL="457200" indent="-457200">
              <a:buFontTx/>
              <a:buAutoNum type="arabicPeriod" startAt="6"/>
              <a:defRPr/>
            </a:pPr>
            <a:r>
              <a:rPr lang="en-GB" sz="2400" dirty="0">
                <a:solidFill>
                  <a:prstClr val="black"/>
                </a:solidFill>
              </a:rPr>
              <a:t>Are nitrates soluble?</a:t>
            </a:r>
          </a:p>
          <a:p>
            <a:pPr marL="457200" indent="-457200">
              <a:buFontTx/>
              <a:buAutoNum type="arabicPeriod" startAt="6"/>
              <a:defRPr/>
            </a:pPr>
            <a:endParaRPr lang="en-GB" sz="2400" dirty="0">
              <a:solidFill>
                <a:prstClr val="black"/>
              </a:solidFill>
            </a:endParaRPr>
          </a:p>
          <a:p>
            <a:pPr marL="457200" indent="-457200">
              <a:buFontTx/>
              <a:buAutoNum type="arabicPeriod" startAt="6"/>
              <a:defRPr/>
            </a:pPr>
            <a:r>
              <a:rPr lang="en-GB" sz="2400" dirty="0">
                <a:solidFill>
                  <a:prstClr val="black"/>
                </a:solidFill>
              </a:rPr>
              <a:t>What can be said about common sodium, potassium and ammonium salts?</a:t>
            </a:r>
          </a:p>
          <a:p>
            <a:pPr marL="457200" indent="-457200">
              <a:buFontTx/>
              <a:buAutoNum type="arabicPeriod" startAt="6"/>
              <a:defRPr/>
            </a:pPr>
            <a:endParaRPr lang="en-GB" sz="2400" dirty="0">
              <a:solidFill>
                <a:prstClr val="black"/>
              </a:solidFill>
            </a:endParaRPr>
          </a:p>
        </p:txBody>
      </p:sp>
    </p:spTree>
    <p:extLst>
      <p:ext uri="{BB962C8B-B14F-4D97-AF65-F5344CB8AC3E}">
        <p14:creationId xmlns:p14="http://schemas.microsoft.com/office/powerpoint/2010/main" val="3587239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3046988"/>
          </a:xfrm>
          <a:prstGeom prst="rect">
            <a:avLst/>
          </a:prstGeom>
          <a:noFill/>
        </p:spPr>
        <p:txBody>
          <a:bodyPr wrap="square" rtlCol="0">
            <a:spAutoFit/>
          </a:bodyPr>
          <a:lstStyle/>
          <a:p>
            <a:pPr marL="457200" indent="-457200">
              <a:buFont typeface="+mj-lt"/>
              <a:buAutoNum type="arabicPeriod" startAt="12"/>
              <a:defRPr/>
            </a:pPr>
            <a:r>
              <a:rPr lang="en-GB" sz="2400" dirty="0">
                <a:solidFill>
                  <a:prstClr val="black"/>
                </a:solidFill>
              </a:rPr>
              <a:t>Which chlorides are not soluble?</a:t>
            </a:r>
          </a:p>
          <a:p>
            <a:pPr marL="457200" indent="-457200">
              <a:buFont typeface="+mj-lt"/>
              <a:buAutoNum type="arabicPeriod" startAt="12"/>
              <a:defRPr/>
            </a:pPr>
            <a:endParaRPr lang="en-GB" sz="2400" dirty="0">
              <a:solidFill>
                <a:prstClr val="black"/>
              </a:solidFill>
            </a:endParaRPr>
          </a:p>
          <a:p>
            <a:pPr marL="457200" indent="-457200">
              <a:buFontTx/>
              <a:buAutoNum type="arabicPeriod" startAt="12"/>
              <a:defRPr/>
            </a:pPr>
            <a:r>
              <a:rPr lang="en-GB" sz="2400" dirty="0">
                <a:solidFill>
                  <a:prstClr val="black"/>
                </a:solidFill>
              </a:rPr>
              <a:t>Which </a:t>
            </a:r>
            <a:r>
              <a:rPr lang="en-GB" sz="2400" dirty="0" err="1">
                <a:solidFill>
                  <a:prstClr val="black"/>
                </a:solidFill>
              </a:rPr>
              <a:t>sulfates</a:t>
            </a:r>
            <a:r>
              <a:rPr lang="en-GB" sz="2400" dirty="0">
                <a:solidFill>
                  <a:prstClr val="black"/>
                </a:solidFill>
              </a:rPr>
              <a:t> are not soluble?</a:t>
            </a:r>
          </a:p>
          <a:p>
            <a:pPr marL="457200" indent="-457200">
              <a:buFontTx/>
              <a:buAutoNum type="arabicPeriod" startAt="12"/>
              <a:defRPr/>
            </a:pPr>
            <a:endParaRPr lang="en-GB" sz="2400" dirty="0">
              <a:solidFill>
                <a:prstClr val="black"/>
              </a:solidFill>
            </a:endParaRPr>
          </a:p>
          <a:p>
            <a:pPr marL="457200" indent="-457200">
              <a:buFontTx/>
              <a:buAutoNum type="arabicPeriod" startAt="12"/>
              <a:defRPr/>
            </a:pPr>
            <a:r>
              <a:rPr lang="en-GB" sz="2400" dirty="0">
                <a:solidFill>
                  <a:prstClr val="black"/>
                </a:solidFill>
              </a:rPr>
              <a:t>Which carbonates are soluble?</a:t>
            </a:r>
          </a:p>
          <a:p>
            <a:pPr marL="457200" indent="-457200">
              <a:buFontTx/>
              <a:buAutoNum type="arabicPeriod" startAt="12"/>
              <a:defRPr/>
            </a:pPr>
            <a:endParaRPr lang="en-GB" sz="2400" dirty="0">
              <a:solidFill>
                <a:prstClr val="black"/>
              </a:solidFill>
            </a:endParaRPr>
          </a:p>
          <a:p>
            <a:pPr marL="457200" indent="-457200">
              <a:buFontTx/>
              <a:buAutoNum type="arabicPeriod" startAt="12"/>
              <a:defRPr/>
            </a:pPr>
            <a:r>
              <a:rPr lang="en-GB" sz="2400" dirty="0">
                <a:solidFill>
                  <a:prstClr val="black"/>
                </a:solidFill>
              </a:rPr>
              <a:t>Describe how to prepare a pure dry sample of an insoluble salt.</a:t>
            </a:r>
          </a:p>
          <a:p>
            <a:pPr marL="457200" indent="-457200">
              <a:buFontTx/>
              <a:buAutoNum type="arabicPeriod" startAt="12"/>
              <a:defRPr/>
            </a:pPr>
            <a:endParaRPr lang="en-GB" sz="2400" dirty="0">
              <a:solidFill>
                <a:prstClr val="black"/>
              </a:solidFill>
            </a:endParaRPr>
          </a:p>
        </p:txBody>
      </p:sp>
    </p:spTree>
    <p:extLst>
      <p:ext uri="{BB962C8B-B14F-4D97-AF65-F5344CB8AC3E}">
        <p14:creationId xmlns:p14="http://schemas.microsoft.com/office/powerpoint/2010/main" val="1805213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32453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Neutralisation</a:t>
            </a:r>
          </a:p>
          <a:p>
            <a:pPr marL="685800" lvl="1" indent="-342900">
              <a:buFont typeface="Arial" charset="0"/>
              <a:buChar char="•"/>
            </a:pPr>
            <a:r>
              <a:rPr lang="en-US" sz="2400" b="1" dirty="0">
                <a:solidFill>
                  <a:schemeClr val="bg1">
                    <a:lumMod val="50000"/>
                  </a:schemeClr>
                </a:solidFill>
              </a:rPr>
              <a:t>Salts</a:t>
            </a:r>
          </a:p>
          <a:p>
            <a:pPr marL="685800" lvl="1" indent="-342900">
              <a:buFont typeface="Arial" charset="0"/>
              <a:buChar char="•"/>
            </a:pPr>
            <a:r>
              <a:rPr lang="en-US" sz="2400" b="1" dirty="0">
                <a:solidFill>
                  <a:schemeClr val="bg1">
                    <a:lumMod val="50000"/>
                  </a:schemeClr>
                </a:solidFill>
              </a:rPr>
              <a:t>Titration</a:t>
            </a:r>
          </a:p>
          <a:p>
            <a:pPr marL="685800" lvl="1" indent="-342900">
              <a:buFont typeface="Arial" charset="0"/>
              <a:buChar char="•"/>
            </a:pPr>
            <a:endParaRPr lang="en-US" sz="24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76136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5632311"/>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is the definition of an alkali?</a:t>
            </a:r>
          </a:p>
          <a:p>
            <a:pPr lvl="1">
              <a:defRPr/>
            </a:pPr>
            <a:r>
              <a:rPr kumimoji="0" lang="en-GB" sz="2400" b="0" i="0" u="none" strike="noStrike" kern="1200" cap="none" spc="0" normalizeH="0" noProof="0" dirty="0">
                <a:ln>
                  <a:noFill/>
                </a:ln>
                <a:solidFill>
                  <a:srgbClr val="00B050"/>
                </a:solidFill>
                <a:effectLst/>
                <a:uLnTx/>
                <a:uFillTx/>
                <a:latin typeface="Calibri"/>
                <a:ea typeface="+mn-ea"/>
                <a:cs typeface="+mn-cs"/>
              </a:rPr>
              <a:t>Soluble base.</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dirty="0">
                <a:solidFill>
                  <a:prstClr val="black"/>
                </a:solidFill>
                <a:latin typeface="Calibri"/>
              </a:rPr>
              <a:t>What</a:t>
            </a:r>
            <a:r>
              <a:rPr lang="en-GB" sz="2400" dirty="0">
                <a:solidFill>
                  <a:prstClr val="black"/>
                </a:solidFill>
                <a:latin typeface="Calibri"/>
              </a:rPr>
              <a:t> is a base?</a:t>
            </a:r>
          </a:p>
          <a:p>
            <a:pPr lvl="1">
              <a:defRPr/>
            </a:pPr>
            <a:r>
              <a:rPr lang="en-GB" sz="2400" dirty="0">
                <a:solidFill>
                  <a:srgbClr val="00B050"/>
                </a:solidFill>
                <a:latin typeface="Calibri"/>
              </a:rPr>
              <a:t>Any substance that reacts with an acid to form a salt and water only.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is the general equation for a reaction between acids and metal oxides?</a:t>
            </a:r>
          </a:p>
          <a:p>
            <a:pPr lvl="1">
              <a:defRPr/>
            </a:pPr>
            <a:r>
              <a:rPr kumimoji="0" lang="en-GB" sz="2400" b="0" i="0" u="none" strike="noStrike" kern="1200" cap="none" spc="0" normalizeH="0" noProof="0" dirty="0">
                <a:ln>
                  <a:noFill/>
                </a:ln>
                <a:solidFill>
                  <a:srgbClr val="00B050"/>
                </a:solidFill>
                <a:effectLst/>
                <a:uLnTx/>
                <a:uFillTx/>
                <a:latin typeface="Calibri"/>
                <a:ea typeface="+mn-ea"/>
                <a:cs typeface="+mn-cs"/>
              </a:rPr>
              <a:t>Acid + metal oxide </a:t>
            </a:r>
            <a:r>
              <a:rPr lang="en-GB" sz="2400" dirty="0">
                <a:solidFill>
                  <a:srgbClr val="00B050"/>
                </a:solidFill>
                <a:sym typeface="Wingdings" pitchFamily="2" charset="2"/>
              </a:rPr>
              <a:t> salt + water</a:t>
            </a:r>
            <a:endParaRPr kumimoji="0" lang="en-GB" sz="2400" i="0" u="none" strike="noStrike" kern="1200" cap="none" spc="0" normalizeH="0" noProof="0" dirty="0">
              <a:ln>
                <a:noFill/>
              </a:ln>
              <a:solidFill>
                <a:srgbClr val="00B050"/>
              </a:solidFill>
              <a:effectLst/>
              <a:uLnTx/>
              <a:uFillTx/>
              <a:latin typeface="Calibri"/>
            </a:endParaRPr>
          </a:p>
          <a:p>
            <a:pPr marL="457200" indent="-457200">
              <a:buFontTx/>
              <a:buAutoNum type="arabicPeriod"/>
              <a:defRPr/>
            </a:pPr>
            <a:r>
              <a:rPr lang="en-GB" sz="2400" dirty="0">
                <a:solidFill>
                  <a:prstClr val="black"/>
                </a:solidFill>
              </a:rPr>
              <a:t>What is the general equation for a reaction between acids and metal hydroxides?</a:t>
            </a:r>
          </a:p>
          <a:p>
            <a:pPr lvl="1">
              <a:defRPr/>
            </a:pPr>
            <a:r>
              <a:rPr lang="en-GB" sz="2400" dirty="0">
                <a:solidFill>
                  <a:srgbClr val="00B050"/>
                </a:solidFill>
              </a:rPr>
              <a:t>Acid + metal hydroxide</a:t>
            </a:r>
            <a:r>
              <a:rPr lang="en-GB" sz="2400" b="1" dirty="0">
                <a:solidFill>
                  <a:srgbClr val="00B050"/>
                </a:solidFill>
                <a:sym typeface="Wingdings" pitchFamily="2" charset="2"/>
              </a:rPr>
              <a:t> </a:t>
            </a:r>
            <a:r>
              <a:rPr lang="en-GB" sz="2400" dirty="0">
                <a:solidFill>
                  <a:srgbClr val="00B050"/>
                </a:solidFill>
              </a:rPr>
              <a:t> salt + water</a:t>
            </a:r>
          </a:p>
          <a:p>
            <a:pPr marL="457200" indent="-457200">
              <a:buFontTx/>
              <a:buAutoNum type="arabicPeriod"/>
              <a:defRPr/>
            </a:pPr>
            <a:r>
              <a:rPr lang="en-GB" sz="2400" dirty="0">
                <a:solidFill>
                  <a:prstClr val="black"/>
                </a:solidFill>
              </a:rPr>
              <a:t>What is the general equation for a reaction between acids and metal carbonates?</a:t>
            </a:r>
          </a:p>
          <a:p>
            <a:pPr lvl="1">
              <a:defRPr/>
            </a:pPr>
            <a:r>
              <a:rPr lang="en-GB" sz="2400" dirty="0">
                <a:solidFill>
                  <a:srgbClr val="00B050"/>
                </a:solidFill>
              </a:rPr>
              <a:t>Acid + metal carbonate</a:t>
            </a:r>
            <a:r>
              <a:rPr lang="en-GB" sz="2400" b="1" dirty="0">
                <a:solidFill>
                  <a:srgbClr val="00B050"/>
                </a:solidFill>
                <a:sym typeface="Wingdings" pitchFamily="2" charset="2"/>
              </a:rPr>
              <a:t> </a:t>
            </a:r>
            <a:r>
              <a:rPr lang="en-GB" sz="2400" dirty="0">
                <a:solidFill>
                  <a:srgbClr val="00B050"/>
                </a:solidFill>
              </a:rPr>
              <a:t> salt + water + carbon dioxide</a:t>
            </a:r>
          </a:p>
          <a:p>
            <a:pPr lvl="1">
              <a:defRPr/>
            </a:pPr>
            <a:endParaRPr lang="en-GB" sz="2400" dirty="0">
              <a:solidFill>
                <a:prstClr val="black"/>
              </a:solidFill>
            </a:endParaRPr>
          </a:p>
        </p:txBody>
      </p:sp>
    </p:spTree>
    <p:extLst>
      <p:ext uri="{BB962C8B-B14F-4D97-AF65-F5344CB8AC3E}">
        <p14:creationId xmlns:p14="http://schemas.microsoft.com/office/powerpoint/2010/main" val="663802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5632311"/>
          </a:xfrm>
          <a:prstGeom prst="rect">
            <a:avLst/>
          </a:prstGeom>
          <a:noFill/>
        </p:spPr>
        <p:txBody>
          <a:bodyPr wrap="square" rtlCol="0">
            <a:spAutoFit/>
          </a:bodyPr>
          <a:lstStyle/>
          <a:p>
            <a:pPr marL="457200" indent="-457200">
              <a:buFont typeface="+mj-lt"/>
              <a:buAutoNum type="arabicPeriod" startAt="6"/>
              <a:defRPr/>
            </a:pPr>
            <a:r>
              <a:rPr lang="en-GB" sz="2400" dirty="0">
                <a:solidFill>
                  <a:prstClr val="black"/>
                </a:solidFill>
              </a:rPr>
              <a:t>Describe the test for hydrogen.</a:t>
            </a:r>
          </a:p>
          <a:p>
            <a:pPr lvl="1">
              <a:defRPr/>
            </a:pPr>
            <a:r>
              <a:rPr lang="en-GB" sz="2400" dirty="0">
                <a:solidFill>
                  <a:srgbClr val="00B050"/>
                </a:solidFill>
              </a:rPr>
              <a:t>Naked flame/ lighted splint; squeaky pop</a:t>
            </a:r>
          </a:p>
          <a:p>
            <a:pPr marL="457200" indent="-457200">
              <a:buFontTx/>
              <a:buAutoNum type="arabicPeriod" startAt="6"/>
              <a:defRPr/>
            </a:pPr>
            <a:r>
              <a:rPr lang="en-GB" sz="2400" dirty="0">
                <a:solidFill>
                  <a:prstClr val="black"/>
                </a:solidFill>
              </a:rPr>
              <a:t>Describe the test for carbon dioxide.</a:t>
            </a:r>
          </a:p>
          <a:p>
            <a:pPr lvl="1">
              <a:defRPr/>
            </a:pPr>
            <a:r>
              <a:rPr lang="en-GB" sz="2400" dirty="0">
                <a:solidFill>
                  <a:srgbClr val="00B050"/>
                </a:solidFill>
              </a:rPr>
              <a:t>Limewater; milky/white</a:t>
            </a:r>
          </a:p>
          <a:p>
            <a:pPr marL="457200" indent="-457200">
              <a:buFontTx/>
              <a:buAutoNum type="arabicPeriod" startAt="6"/>
              <a:defRPr/>
            </a:pPr>
            <a:r>
              <a:rPr lang="en-GB" sz="2400" dirty="0">
                <a:solidFill>
                  <a:prstClr val="black"/>
                </a:solidFill>
              </a:rPr>
              <a:t>What is a neutralisation reaction?</a:t>
            </a:r>
          </a:p>
          <a:p>
            <a:pPr lvl="1">
              <a:defRPr/>
            </a:pPr>
            <a:r>
              <a:rPr lang="en-GB" sz="2400" dirty="0">
                <a:solidFill>
                  <a:srgbClr val="00B050"/>
                </a:solidFill>
              </a:rPr>
              <a:t>Reaction between an acid and a base.</a:t>
            </a:r>
          </a:p>
          <a:p>
            <a:pPr marL="457200" indent="-457200">
              <a:buFontTx/>
              <a:buAutoNum type="arabicPeriod" startAt="6"/>
              <a:defRPr/>
            </a:pPr>
            <a:r>
              <a:rPr lang="en-GB" sz="2400" dirty="0">
                <a:solidFill>
                  <a:prstClr val="black"/>
                </a:solidFill>
              </a:rPr>
              <a:t>Describe how to carry out a titration.</a:t>
            </a:r>
          </a:p>
          <a:p>
            <a:pPr marL="800100" lvl="1" indent="-342900">
              <a:buFont typeface="Arial" panose="020B0604020202020204" pitchFamily="34" charset="0"/>
              <a:buChar char="•"/>
              <a:defRPr/>
            </a:pPr>
            <a:r>
              <a:rPr lang="en-GB" sz="2400" dirty="0">
                <a:solidFill>
                  <a:srgbClr val="00B050"/>
                </a:solidFill>
              </a:rPr>
              <a:t>Known volume of alkali into conical flask</a:t>
            </a:r>
          </a:p>
          <a:p>
            <a:pPr marL="800100" lvl="1" indent="-342900">
              <a:buFont typeface="Arial" panose="020B0604020202020204" pitchFamily="34" charset="0"/>
              <a:buChar char="•"/>
              <a:defRPr/>
            </a:pPr>
            <a:r>
              <a:rPr lang="en-GB" sz="2400" dirty="0">
                <a:solidFill>
                  <a:srgbClr val="00B050"/>
                </a:solidFill>
              </a:rPr>
              <a:t>Add indicator e.g. phenolphthalein</a:t>
            </a:r>
          </a:p>
          <a:p>
            <a:pPr marL="800100" lvl="1" indent="-342900">
              <a:buFont typeface="Arial" panose="020B0604020202020204" pitchFamily="34" charset="0"/>
              <a:buChar char="•"/>
              <a:defRPr/>
            </a:pPr>
            <a:r>
              <a:rPr lang="en-GB" sz="2400" dirty="0">
                <a:solidFill>
                  <a:srgbClr val="00B050"/>
                </a:solidFill>
              </a:rPr>
              <a:t>Fill burette with acid</a:t>
            </a:r>
          </a:p>
          <a:p>
            <a:pPr marL="800100" lvl="1" indent="-342900">
              <a:buFont typeface="Arial" panose="020B0604020202020204" pitchFamily="34" charset="0"/>
              <a:buChar char="•"/>
              <a:defRPr/>
            </a:pPr>
            <a:r>
              <a:rPr lang="en-GB" sz="2400" dirty="0">
                <a:solidFill>
                  <a:srgbClr val="00B050"/>
                </a:solidFill>
              </a:rPr>
              <a:t>Add acid to alkali until indicator shows neutral solution</a:t>
            </a:r>
          </a:p>
          <a:p>
            <a:pPr marL="800100" lvl="1" indent="-342900">
              <a:buFont typeface="Arial" panose="020B0604020202020204" pitchFamily="34" charset="0"/>
              <a:buChar char="•"/>
              <a:defRPr/>
            </a:pPr>
            <a:r>
              <a:rPr lang="en-GB" sz="2400" dirty="0">
                <a:solidFill>
                  <a:srgbClr val="00B050"/>
                </a:solidFill>
              </a:rPr>
              <a:t>Repeat</a:t>
            </a:r>
          </a:p>
          <a:p>
            <a:pPr marL="457200" indent="-457200">
              <a:buFontTx/>
              <a:buAutoNum type="arabicPeriod" startAt="6"/>
              <a:defRPr/>
            </a:pPr>
            <a:r>
              <a:rPr lang="en-GB" sz="2400" dirty="0">
                <a:solidFill>
                  <a:prstClr val="black"/>
                </a:solidFill>
              </a:rPr>
              <a:t>Are nitrates soluble?</a:t>
            </a:r>
          </a:p>
          <a:p>
            <a:pPr lvl="1">
              <a:defRPr/>
            </a:pPr>
            <a:r>
              <a:rPr lang="en-GB" sz="2400" dirty="0">
                <a:solidFill>
                  <a:srgbClr val="00B050"/>
                </a:solidFill>
              </a:rPr>
              <a:t>Yes.</a:t>
            </a:r>
          </a:p>
          <a:p>
            <a:pPr marL="457200" indent="-457200">
              <a:buFontTx/>
              <a:buAutoNum type="arabicPeriod" startAt="6"/>
              <a:defRPr/>
            </a:pPr>
            <a:endParaRPr lang="en-GB" sz="2400" dirty="0">
              <a:solidFill>
                <a:prstClr val="black"/>
              </a:solidFill>
            </a:endParaRPr>
          </a:p>
        </p:txBody>
      </p:sp>
    </p:spTree>
    <p:extLst>
      <p:ext uri="{BB962C8B-B14F-4D97-AF65-F5344CB8AC3E}">
        <p14:creationId xmlns:p14="http://schemas.microsoft.com/office/powerpoint/2010/main" val="1036871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6001643"/>
          </a:xfrm>
          <a:prstGeom prst="rect">
            <a:avLst/>
          </a:prstGeom>
          <a:noFill/>
        </p:spPr>
        <p:txBody>
          <a:bodyPr wrap="square" rtlCol="0">
            <a:spAutoFit/>
          </a:bodyPr>
          <a:lstStyle/>
          <a:p>
            <a:pPr marL="457200" indent="-457200">
              <a:buFont typeface="+mj-lt"/>
              <a:buAutoNum type="arabicPeriod" startAt="11"/>
              <a:defRPr/>
            </a:pPr>
            <a:r>
              <a:rPr lang="en-GB" sz="2400" dirty="0">
                <a:solidFill>
                  <a:prstClr val="black"/>
                </a:solidFill>
              </a:rPr>
              <a:t>What can be said about common sodium, potassium and ammonium salts?</a:t>
            </a:r>
          </a:p>
          <a:p>
            <a:pPr lvl="1">
              <a:defRPr/>
            </a:pPr>
            <a:r>
              <a:rPr lang="en-GB" sz="2400" dirty="0">
                <a:solidFill>
                  <a:srgbClr val="00B050"/>
                </a:solidFill>
              </a:rPr>
              <a:t>Soluble.</a:t>
            </a:r>
          </a:p>
          <a:p>
            <a:pPr marL="457200" indent="-457200">
              <a:buFont typeface="+mj-lt"/>
              <a:buAutoNum type="arabicPeriod" startAt="11"/>
              <a:defRPr/>
            </a:pPr>
            <a:r>
              <a:rPr lang="en-GB" sz="2400" dirty="0">
                <a:solidFill>
                  <a:prstClr val="black"/>
                </a:solidFill>
              </a:rPr>
              <a:t>Which chlorides are not soluble?</a:t>
            </a:r>
          </a:p>
          <a:p>
            <a:pPr lvl="1">
              <a:defRPr/>
            </a:pPr>
            <a:r>
              <a:rPr lang="en-GB" sz="2400" dirty="0">
                <a:solidFill>
                  <a:srgbClr val="00B050"/>
                </a:solidFill>
              </a:rPr>
              <a:t>Silver chloride, lead chloride.</a:t>
            </a:r>
          </a:p>
          <a:p>
            <a:pPr marL="457200" indent="-457200">
              <a:buFontTx/>
              <a:buAutoNum type="arabicPeriod" startAt="11"/>
              <a:defRPr/>
            </a:pPr>
            <a:r>
              <a:rPr lang="en-GB" sz="2400" dirty="0">
                <a:solidFill>
                  <a:prstClr val="black"/>
                </a:solidFill>
              </a:rPr>
              <a:t>Which </a:t>
            </a:r>
            <a:r>
              <a:rPr lang="en-GB" sz="2400" dirty="0" err="1">
                <a:solidFill>
                  <a:prstClr val="black"/>
                </a:solidFill>
              </a:rPr>
              <a:t>sulfates</a:t>
            </a:r>
            <a:r>
              <a:rPr lang="en-GB" sz="2400" dirty="0">
                <a:solidFill>
                  <a:prstClr val="black"/>
                </a:solidFill>
              </a:rPr>
              <a:t> are not soluble?</a:t>
            </a:r>
          </a:p>
          <a:p>
            <a:pPr lvl="1">
              <a:defRPr/>
            </a:pPr>
            <a:r>
              <a:rPr lang="en-GB" sz="2400" dirty="0">
                <a:solidFill>
                  <a:srgbClr val="00B050"/>
                </a:solidFill>
              </a:rPr>
              <a:t>Lead </a:t>
            </a:r>
            <a:r>
              <a:rPr lang="en-GB" sz="2400" dirty="0" err="1">
                <a:solidFill>
                  <a:srgbClr val="00B050"/>
                </a:solidFill>
              </a:rPr>
              <a:t>sulfate</a:t>
            </a:r>
            <a:r>
              <a:rPr lang="en-GB" sz="2400" dirty="0">
                <a:solidFill>
                  <a:srgbClr val="00B050"/>
                </a:solidFill>
              </a:rPr>
              <a:t>, barium </a:t>
            </a:r>
            <a:r>
              <a:rPr lang="en-GB" sz="2400" dirty="0" err="1">
                <a:solidFill>
                  <a:srgbClr val="00B050"/>
                </a:solidFill>
              </a:rPr>
              <a:t>sulfate</a:t>
            </a:r>
            <a:r>
              <a:rPr lang="en-GB" sz="2400" dirty="0">
                <a:solidFill>
                  <a:srgbClr val="00B050"/>
                </a:solidFill>
              </a:rPr>
              <a:t>, calcium </a:t>
            </a:r>
            <a:r>
              <a:rPr lang="en-GB" sz="2400" dirty="0" err="1">
                <a:solidFill>
                  <a:srgbClr val="00B050"/>
                </a:solidFill>
              </a:rPr>
              <a:t>sulfate</a:t>
            </a:r>
            <a:r>
              <a:rPr lang="en-GB" sz="2400" dirty="0">
                <a:solidFill>
                  <a:srgbClr val="00B050"/>
                </a:solidFill>
              </a:rPr>
              <a:t>.</a:t>
            </a:r>
          </a:p>
          <a:p>
            <a:pPr marL="457200" indent="-457200">
              <a:buFontTx/>
              <a:buAutoNum type="arabicPeriod" startAt="11"/>
              <a:defRPr/>
            </a:pPr>
            <a:r>
              <a:rPr lang="en-GB" sz="2400" dirty="0">
                <a:solidFill>
                  <a:prstClr val="black"/>
                </a:solidFill>
              </a:rPr>
              <a:t>Which carbonates are soluble?</a:t>
            </a:r>
          </a:p>
          <a:p>
            <a:pPr lvl="1">
              <a:defRPr/>
            </a:pPr>
            <a:r>
              <a:rPr lang="en-GB" sz="2400" dirty="0">
                <a:solidFill>
                  <a:srgbClr val="00B050"/>
                </a:solidFill>
              </a:rPr>
              <a:t>Sodium carbonate, ammonium carbonate, potassium carbonate.</a:t>
            </a:r>
          </a:p>
          <a:p>
            <a:pPr marL="457200" indent="-457200">
              <a:buFontTx/>
              <a:buAutoNum type="arabicPeriod" startAt="11"/>
              <a:defRPr/>
            </a:pPr>
            <a:r>
              <a:rPr lang="en-GB" sz="2400" dirty="0">
                <a:solidFill>
                  <a:prstClr val="black"/>
                </a:solidFill>
              </a:rPr>
              <a:t>Describe how to prepare a pure dry sample of an insoluble salt.</a:t>
            </a:r>
          </a:p>
          <a:p>
            <a:pPr marL="800100" lvl="1" indent="-342900">
              <a:buFont typeface="Arial" panose="020B0604020202020204" pitchFamily="34" charset="0"/>
              <a:buChar char="•"/>
            </a:pPr>
            <a:r>
              <a:rPr lang="en-GB" sz="2400" dirty="0">
                <a:solidFill>
                  <a:srgbClr val="00B050"/>
                </a:solidFill>
              </a:rPr>
              <a:t>Mix together solutions of soluble salts.</a:t>
            </a:r>
          </a:p>
          <a:p>
            <a:pPr marL="800100" lvl="1" indent="-342900">
              <a:buFont typeface="Arial" panose="020B0604020202020204" pitchFamily="34" charset="0"/>
              <a:buChar char="•"/>
            </a:pPr>
            <a:r>
              <a:rPr lang="en-GB" sz="2400" dirty="0">
                <a:solidFill>
                  <a:srgbClr val="00B050"/>
                </a:solidFill>
              </a:rPr>
              <a:t>Insoluble salt will form a precipitate in the solution.</a:t>
            </a:r>
          </a:p>
          <a:p>
            <a:pPr marL="800100" lvl="1" indent="-342900">
              <a:buFont typeface="Arial" panose="020B0604020202020204" pitchFamily="34" charset="0"/>
              <a:buChar char="•"/>
            </a:pPr>
            <a:r>
              <a:rPr lang="en-GB" sz="2400" dirty="0">
                <a:solidFill>
                  <a:srgbClr val="00B050"/>
                </a:solidFill>
              </a:rPr>
              <a:t>Filter off the precipitate </a:t>
            </a:r>
          </a:p>
          <a:p>
            <a:pPr marL="800100" lvl="1" indent="-342900">
              <a:buFont typeface="Arial" panose="020B0604020202020204" pitchFamily="34" charset="0"/>
              <a:buChar char="•"/>
            </a:pPr>
            <a:r>
              <a:rPr lang="en-GB" sz="2400" dirty="0">
                <a:solidFill>
                  <a:srgbClr val="00B050"/>
                </a:solidFill>
              </a:rPr>
              <a:t>Wash several times with pure water.</a:t>
            </a:r>
          </a:p>
          <a:p>
            <a:pPr marL="800100" lvl="1" indent="-342900">
              <a:buFont typeface="Arial" panose="020B0604020202020204" pitchFamily="34" charset="0"/>
              <a:buChar char="•"/>
            </a:pPr>
            <a:r>
              <a:rPr lang="en-GB" sz="2400" dirty="0">
                <a:solidFill>
                  <a:srgbClr val="00B050"/>
                </a:solidFill>
              </a:rPr>
              <a:t>Dry precipitate in an oven.</a:t>
            </a:r>
          </a:p>
          <a:p>
            <a:pPr marL="800100" lvl="1" indent="-342900">
              <a:buFont typeface="Arial" panose="020B0604020202020204" pitchFamily="34" charset="0"/>
              <a:buChar char="•"/>
              <a:defRPr/>
            </a:pPr>
            <a:endParaRPr lang="en-GB" sz="2400" dirty="0">
              <a:solidFill>
                <a:srgbClr val="00B050"/>
              </a:solidFill>
            </a:endParaRPr>
          </a:p>
        </p:txBody>
      </p:sp>
    </p:spTree>
    <p:extLst>
      <p:ext uri="{BB962C8B-B14F-4D97-AF65-F5344CB8AC3E}">
        <p14:creationId xmlns:p14="http://schemas.microsoft.com/office/powerpoint/2010/main" val="344288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601533"/>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Electrolytic processes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Electrolysis of a molten ionic compound</a:t>
            </a:r>
          </a:p>
          <a:p>
            <a:pPr marL="685800" lvl="1" indent="-342900">
              <a:buFont typeface="Arial" charset="0"/>
              <a:buChar char="•"/>
            </a:pPr>
            <a:r>
              <a:rPr lang="en-US" sz="2400" b="1" dirty="0">
                <a:solidFill>
                  <a:schemeClr val="bg1">
                    <a:lumMod val="50000"/>
                  </a:schemeClr>
                </a:solidFill>
              </a:rPr>
              <a:t>Electrolysis of an aqueous solution</a:t>
            </a:r>
          </a:p>
        </p:txBody>
      </p:sp>
    </p:spTree>
    <p:extLst>
      <p:ext uri="{BB962C8B-B14F-4D97-AF65-F5344CB8AC3E}">
        <p14:creationId xmlns:p14="http://schemas.microsoft.com/office/powerpoint/2010/main" val="796982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TextBox 5">
            <a:extLst>
              <a:ext uri="{FF2B5EF4-FFF2-40B4-BE49-F238E27FC236}">
                <a16:creationId xmlns:a16="http://schemas.microsoft.com/office/drawing/2014/main" id="{BD8894EC-F2F8-44ED-80C0-B088D25F0921}"/>
              </a:ext>
            </a:extLst>
          </p:cNvPr>
          <p:cNvSpPr txBox="1"/>
          <p:nvPr/>
        </p:nvSpPr>
        <p:spPr>
          <a:xfrm>
            <a:off x="4419600" y="2221380"/>
            <a:ext cx="4495564" cy="2308324"/>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b="1" dirty="0"/>
              <a:t>Cations (positive</a:t>
            </a:r>
            <a:r>
              <a:rPr lang="en-GB" dirty="0"/>
              <a:t> ions) go to </a:t>
            </a:r>
            <a:r>
              <a:rPr lang="en-GB" b="1" dirty="0"/>
              <a:t>negative</a:t>
            </a:r>
            <a:r>
              <a:rPr lang="en-GB" dirty="0"/>
              <a:t> electrode (cathode).</a:t>
            </a:r>
          </a:p>
          <a:p>
            <a:pPr algn="ctr"/>
            <a:endParaRPr lang="en-GB" dirty="0"/>
          </a:p>
          <a:p>
            <a:pPr algn="ctr"/>
            <a:r>
              <a:rPr lang="en-GB" b="1" dirty="0"/>
              <a:t>Anions (negative</a:t>
            </a:r>
            <a:r>
              <a:rPr lang="en-GB" dirty="0"/>
              <a:t> ions go) to the </a:t>
            </a:r>
            <a:r>
              <a:rPr lang="en-GB" b="1" dirty="0"/>
              <a:t>positive</a:t>
            </a:r>
            <a:r>
              <a:rPr lang="en-GB" dirty="0"/>
              <a:t> electrode (anode).</a:t>
            </a:r>
          </a:p>
          <a:p>
            <a:pPr algn="ctr"/>
            <a:endParaRPr lang="en-GB" dirty="0"/>
          </a:p>
          <a:p>
            <a:pPr algn="ctr"/>
            <a:r>
              <a:rPr lang="en-GB" b="1" dirty="0"/>
              <a:t>Ions</a:t>
            </a:r>
            <a:r>
              <a:rPr lang="en-GB" dirty="0"/>
              <a:t> are </a:t>
            </a:r>
            <a:r>
              <a:rPr lang="en-GB" b="1" dirty="0"/>
              <a:t>discharged</a:t>
            </a:r>
            <a:r>
              <a:rPr lang="en-GB" dirty="0"/>
              <a:t> at the electrodes producing </a:t>
            </a:r>
            <a:r>
              <a:rPr lang="en-GB" b="1" dirty="0"/>
              <a:t>elements</a:t>
            </a:r>
            <a:r>
              <a:rPr lang="en-GB" dirty="0"/>
              <a:t>. This is called </a:t>
            </a:r>
            <a:r>
              <a:rPr lang="en-GB" b="1" dirty="0"/>
              <a:t>electrolysis</a:t>
            </a:r>
            <a:r>
              <a:rPr lang="en-GB" dirty="0"/>
              <a:t>.</a:t>
            </a:r>
          </a:p>
        </p:txBody>
      </p:sp>
      <p:sp>
        <p:nvSpPr>
          <p:cNvPr id="7" name="TextBox 6">
            <a:extLst>
              <a:ext uri="{FF2B5EF4-FFF2-40B4-BE49-F238E27FC236}">
                <a16:creationId xmlns:a16="http://schemas.microsoft.com/office/drawing/2014/main" id="{BD8894EC-F2F8-44ED-80C0-B088D25F0921}"/>
              </a:ext>
            </a:extLst>
          </p:cNvPr>
          <p:cNvSpPr txBox="1"/>
          <p:nvPr/>
        </p:nvSpPr>
        <p:spPr>
          <a:xfrm>
            <a:off x="4424826" y="4941168"/>
            <a:ext cx="4495564" cy="1477328"/>
          </a:xfrm>
          <a:prstGeom prst="rect">
            <a:avLst/>
          </a:prstGeom>
          <a:solidFill>
            <a:schemeClr val="accent6">
              <a:lumMod val="60000"/>
              <a:lumOff val="40000"/>
            </a:schemeClr>
          </a:solidFill>
          <a:ln>
            <a:solidFill>
              <a:schemeClr val="accent6">
                <a:lumMod val="75000"/>
              </a:schemeClr>
            </a:solidFill>
          </a:ln>
        </p:spPr>
        <p:txBody>
          <a:bodyPr wrap="square" rtlCol="0">
            <a:spAutoFit/>
          </a:bodyPr>
          <a:lstStyle/>
          <a:p>
            <a:pPr algn="ctr"/>
            <a:r>
              <a:rPr lang="en-GB" b="1" dirty="0"/>
              <a:t>HIGHER:</a:t>
            </a:r>
          </a:p>
          <a:p>
            <a:pPr algn="ctr"/>
            <a:r>
              <a:rPr lang="en-GB" b="1" dirty="0"/>
              <a:t>Cations are REDUCED, they gain electrons at the cathode.</a:t>
            </a:r>
            <a:endParaRPr lang="en-GB" dirty="0"/>
          </a:p>
          <a:p>
            <a:pPr algn="ctr"/>
            <a:r>
              <a:rPr lang="en-GB" b="1" dirty="0"/>
              <a:t>Anions are OXIDISED, they lose electrons at the anode.</a:t>
            </a:r>
            <a:endParaRPr lang="en-GB" dirty="0"/>
          </a:p>
        </p:txBody>
      </p:sp>
      <p:sp>
        <p:nvSpPr>
          <p:cNvPr id="8" name="TextBox 7">
            <a:extLst>
              <a:ext uri="{FF2B5EF4-FFF2-40B4-BE49-F238E27FC236}">
                <a16:creationId xmlns:a16="http://schemas.microsoft.com/office/drawing/2014/main" id="{069D24D6-BF3E-48D1-A1E3-FB8C618604DE}"/>
              </a:ext>
            </a:extLst>
          </p:cNvPr>
          <p:cNvSpPr txBox="1"/>
          <p:nvPr/>
        </p:nvSpPr>
        <p:spPr>
          <a:xfrm>
            <a:off x="251520" y="718374"/>
            <a:ext cx="8640960" cy="1323439"/>
          </a:xfrm>
          <a:prstGeom prst="rect">
            <a:avLst/>
          </a:prstGeom>
          <a:noFill/>
        </p:spPr>
        <p:txBody>
          <a:bodyPr wrap="square" rtlCol="0">
            <a:spAutoFit/>
          </a:bodyPr>
          <a:lstStyle/>
          <a:p>
            <a:pPr algn="ctr"/>
            <a:r>
              <a:rPr lang="en-GB" sz="2000" dirty="0"/>
              <a:t>When an </a:t>
            </a:r>
            <a:r>
              <a:rPr lang="en-GB" sz="2000" b="1" dirty="0">
                <a:solidFill>
                  <a:schemeClr val="accent6">
                    <a:lumMod val="75000"/>
                  </a:schemeClr>
                </a:solidFill>
              </a:rPr>
              <a:t>ionic</a:t>
            </a:r>
            <a:r>
              <a:rPr lang="en-GB" sz="2000" b="1" dirty="0">
                <a:solidFill>
                  <a:srgbClr val="FF0000"/>
                </a:solidFill>
              </a:rPr>
              <a:t> </a:t>
            </a:r>
            <a:r>
              <a:rPr lang="en-GB" sz="2000" b="1" dirty="0">
                <a:solidFill>
                  <a:schemeClr val="accent6">
                    <a:lumMod val="75000"/>
                  </a:schemeClr>
                </a:solidFill>
              </a:rPr>
              <a:t>compound</a:t>
            </a:r>
            <a:r>
              <a:rPr lang="en-GB" sz="2000" b="1" dirty="0">
                <a:solidFill>
                  <a:srgbClr val="FF0000"/>
                </a:solidFill>
              </a:rPr>
              <a:t> </a:t>
            </a:r>
            <a:r>
              <a:rPr lang="en-GB" sz="2000" dirty="0"/>
              <a:t>is </a:t>
            </a:r>
            <a:r>
              <a:rPr lang="en-GB" sz="2000" b="1" dirty="0">
                <a:solidFill>
                  <a:schemeClr val="accent6">
                    <a:lumMod val="75000"/>
                  </a:schemeClr>
                </a:solidFill>
              </a:rPr>
              <a:t>melted</a:t>
            </a:r>
            <a:r>
              <a:rPr lang="en-GB" sz="2000" dirty="0">
                <a:solidFill>
                  <a:srgbClr val="FF0000"/>
                </a:solidFill>
              </a:rPr>
              <a:t> </a:t>
            </a:r>
            <a:r>
              <a:rPr lang="en-GB" sz="2000" dirty="0"/>
              <a:t>or </a:t>
            </a:r>
            <a:r>
              <a:rPr lang="en-GB" sz="2000" b="1" dirty="0">
                <a:solidFill>
                  <a:schemeClr val="accent6">
                    <a:lumMod val="75000"/>
                  </a:schemeClr>
                </a:solidFill>
              </a:rPr>
              <a:t>dissolved</a:t>
            </a:r>
            <a:r>
              <a:rPr lang="en-GB" sz="2000" b="1" dirty="0">
                <a:solidFill>
                  <a:srgbClr val="FF0000"/>
                </a:solidFill>
              </a:rPr>
              <a:t> </a:t>
            </a:r>
            <a:r>
              <a:rPr lang="en-GB" sz="2000" b="1" dirty="0">
                <a:solidFill>
                  <a:schemeClr val="accent6">
                    <a:lumMod val="75000"/>
                  </a:schemeClr>
                </a:solidFill>
              </a:rPr>
              <a:t>in water</a:t>
            </a:r>
            <a:r>
              <a:rPr lang="en-GB" sz="2000" dirty="0"/>
              <a:t>, the</a:t>
            </a:r>
            <a:r>
              <a:rPr lang="en-GB" sz="2000" b="1" dirty="0"/>
              <a:t> </a:t>
            </a:r>
            <a:r>
              <a:rPr lang="en-GB" sz="2000" b="1" dirty="0">
                <a:solidFill>
                  <a:schemeClr val="accent6">
                    <a:lumMod val="75000"/>
                  </a:schemeClr>
                </a:solidFill>
              </a:rPr>
              <a:t>ions</a:t>
            </a:r>
            <a:r>
              <a:rPr lang="en-GB" sz="2000" b="1" dirty="0"/>
              <a:t> </a:t>
            </a:r>
            <a:r>
              <a:rPr lang="en-GB" sz="2000" dirty="0"/>
              <a:t>are</a:t>
            </a:r>
            <a:r>
              <a:rPr lang="en-GB" sz="2000" b="1" dirty="0"/>
              <a:t> </a:t>
            </a:r>
            <a:r>
              <a:rPr lang="en-GB" sz="2000" b="1" dirty="0">
                <a:solidFill>
                  <a:schemeClr val="accent6">
                    <a:lumMod val="75000"/>
                  </a:schemeClr>
                </a:solidFill>
              </a:rPr>
              <a:t>free</a:t>
            </a:r>
            <a:r>
              <a:rPr lang="en-GB" sz="2000" b="1" dirty="0"/>
              <a:t> </a:t>
            </a:r>
            <a:r>
              <a:rPr lang="en-GB" sz="2000" dirty="0"/>
              <a:t>to</a:t>
            </a:r>
            <a:r>
              <a:rPr lang="en-GB" sz="2000" b="1" dirty="0"/>
              <a:t> </a:t>
            </a:r>
            <a:r>
              <a:rPr lang="en-GB" sz="2000" b="1" dirty="0">
                <a:solidFill>
                  <a:schemeClr val="accent6">
                    <a:lumMod val="75000"/>
                  </a:schemeClr>
                </a:solidFill>
              </a:rPr>
              <a:t>move</a:t>
            </a:r>
            <a:r>
              <a:rPr lang="en-GB" sz="2000" b="1" dirty="0"/>
              <a:t> </a:t>
            </a:r>
            <a:r>
              <a:rPr lang="en-GB" sz="2000" dirty="0"/>
              <a:t>about the liquid or solution. These liquids and solutions are able to </a:t>
            </a:r>
            <a:r>
              <a:rPr lang="en-GB" sz="2000" b="1" dirty="0">
                <a:solidFill>
                  <a:schemeClr val="accent6">
                    <a:lumMod val="75000"/>
                  </a:schemeClr>
                </a:solidFill>
              </a:rPr>
              <a:t>conduct</a:t>
            </a:r>
            <a:r>
              <a:rPr lang="en-GB" sz="2000" b="1" dirty="0"/>
              <a:t> </a:t>
            </a:r>
            <a:r>
              <a:rPr lang="en-GB" sz="2000" b="1" dirty="0">
                <a:solidFill>
                  <a:schemeClr val="accent6">
                    <a:lumMod val="75000"/>
                  </a:schemeClr>
                </a:solidFill>
              </a:rPr>
              <a:t>electricity</a:t>
            </a:r>
            <a:r>
              <a:rPr lang="en-GB" sz="2000" b="1" dirty="0"/>
              <a:t> </a:t>
            </a:r>
            <a:r>
              <a:rPr lang="en-GB" sz="2000" dirty="0"/>
              <a:t>and are called </a:t>
            </a:r>
            <a:r>
              <a:rPr lang="en-GB" sz="2000" b="1" dirty="0">
                <a:solidFill>
                  <a:schemeClr val="accent6">
                    <a:lumMod val="75000"/>
                  </a:schemeClr>
                </a:solidFill>
              </a:rPr>
              <a:t>electrolytes</a:t>
            </a:r>
            <a:r>
              <a:rPr lang="en-GB" sz="2000" dirty="0"/>
              <a:t>. Passing an </a:t>
            </a:r>
            <a:r>
              <a:rPr lang="en-GB" sz="2000" b="1" dirty="0">
                <a:solidFill>
                  <a:schemeClr val="accent6">
                    <a:lumMod val="75000"/>
                  </a:schemeClr>
                </a:solidFill>
              </a:rPr>
              <a:t>electric current </a:t>
            </a:r>
            <a:r>
              <a:rPr lang="en-GB" sz="2000" dirty="0"/>
              <a:t>though electrolytes causes the ions to move to the electrodes.</a:t>
            </a:r>
          </a:p>
        </p:txBody>
      </p:sp>
      <p:grpSp>
        <p:nvGrpSpPr>
          <p:cNvPr id="9" name="Group 8"/>
          <p:cNvGrpSpPr/>
          <p:nvPr/>
        </p:nvGrpSpPr>
        <p:grpSpPr>
          <a:xfrm>
            <a:off x="28848" y="2118106"/>
            <a:ext cx="4093391" cy="3850181"/>
            <a:chOff x="28848" y="2118106"/>
            <a:chExt cx="4093391" cy="3850181"/>
          </a:xfrm>
        </p:grpSpPr>
        <p:sp>
          <p:nvSpPr>
            <p:cNvPr id="10" name="Rectangle 9"/>
            <p:cNvSpPr/>
            <p:nvPr/>
          </p:nvSpPr>
          <p:spPr>
            <a:xfrm>
              <a:off x="1616859" y="2651964"/>
              <a:ext cx="882969" cy="442417"/>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p:cNvSpPr/>
            <p:nvPr/>
          </p:nvSpPr>
          <p:spPr>
            <a:xfrm>
              <a:off x="1805844" y="2891075"/>
              <a:ext cx="544733" cy="514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p:cNvSpPr/>
            <p:nvPr/>
          </p:nvSpPr>
          <p:spPr>
            <a:xfrm>
              <a:off x="1485978" y="2984264"/>
              <a:ext cx="318007" cy="2649157"/>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p:cNvSpPr/>
            <p:nvPr/>
          </p:nvSpPr>
          <p:spPr>
            <a:xfrm>
              <a:off x="1988439" y="2490890"/>
              <a:ext cx="130881" cy="2604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Rectangle 13"/>
            <p:cNvSpPr/>
            <p:nvPr/>
          </p:nvSpPr>
          <p:spPr>
            <a:xfrm>
              <a:off x="2341451" y="2984263"/>
              <a:ext cx="318007" cy="2649157"/>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ound Same Side Corner Rectangle 14"/>
            <p:cNvSpPr/>
            <p:nvPr/>
          </p:nvSpPr>
          <p:spPr>
            <a:xfrm rot="10800000">
              <a:off x="1170378" y="4470921"/>
              <a:ext cx="1869063" cy="1417618"/>
            </a:xfrm>
            <a:prstGeom prst="round2SameRect">
              <a:avLst>
                <a:gd name="adj1" fmla="val 10924"/>
                <a:gd name="adj2" fmla="val 0"/>
              </a:avLst>
            </a:prstGeom>
            <a:gradFill>
              <a:gsLst>
                <a:gs pos="0">
                  <a:schemeClr val="accent1">
                    <a:tint val="100000"/>
                    <a:shade val="100000"/>
                    <a:satMod val="130000"/>
                    <a:alpha val="17000"/>
                  </a:schemeClr>
                </a:gs>
                <a:gs pos="100000">
                  <a:schemeClr val="accent1">
                    <a:tint val="50000"/>
                    <a:shade val="100000"/>
                    <a:satMod val="350000"/>
                  </a:schemeClr>
                </a:gs>
              </a:gsLs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800"/>
            </a:p>
          </p:txBody>
        </p:sp>
        <p:cxnSp>
          <p:nvCxnSpPr>
            <p:cNvPr id="16" name="Straight Connector 15"/>
            <p:cNvCxnSpPr/>
            <p:nvPr/>
          </p:nvCxnSpPr>
          <p:spPr>
            <a:xfrm>
              <a:off x="1988438" y="2552603"/>
              <a:ext cx="0" cy="19874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2119320" y="2490890"/>
              <a:ext cx="0" cy="34780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051367" y="2326563"/>
              <a:ext cx="383440" cy="424784"/>
            </a:xfrm>
            <a:prstGeom prst="rect">
              <a:avLst/>
            </a:prstGeom>
            <a:noFill/>
          </p:spPr>
          <p:txBody>
            <a:bodyPr wrap="square" rtlCol="0">
              <a:spAutoFit/>
            </a:bodyPr>
            <a:lstStyle/>
            <a:p>
              <a:r>
                <a:rPr lang="en-GB" sz="1400"/>
                <a:t>+</a:t>
              </a:r>
            </a:p>
          </p:txBody>
        </p:sp>
        <p:sp>
          <p:nvSpPr>
            <p:cNvPr id="19" name="TextBox 18"/>
            <p:cNvSpPr txBox="1"/>
            <p:nvPr/>
          </p:nvSpPr>
          <p:spPr>
            <a:xfrm>
              <a:off x="1727495" y="2276872"/>
              <a:ext cx="383440" cy="424784"/>
            </a:xfrm>
            <a:prstGeom prst="rect">
              <a:avLst/>
            </a:prstGeom>
            <a:noFill/>
          </p:spPr>
          <p:txBody>
            <a:bodyPr wrap="square" rtlCol="0">
              <a:spAutoFit/>
            </a:bodyPr>
            <a:lstStyle/>
            <a:p>
              <a:r>
                <a:rPr lang="en-GB" sz="1400"/>
                <a:t>_</a:t>
              </a:r>
            </a:p>
          </p:txBody>
        </p:sp>
        <p:sp>
          <p:nvSpPr>
            <p:cNvPr id="20" name="Oval 19"/>
            <p:cNvSpPr>
              <a:spLocks noChangeAspect="1"/>
            </p:cNvSpPr>
            <p:nvPr/>
          </p:nvSpPr>
          <p:spPr>
            <a:xfrm>
              <a:off x="1343822" y="4691637"/>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21" name="Oval 20"/>
            <p:cNvSpPr>
              <a:spLocks noChangeAspect="1"/>
            </p:cNvSpPr>
            <p:nvPr/>
          </p:nvSpPr>
          <p:spPr>
            <a:xfrm>
              <a:off x="2160099" y="4516729"/>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2" name="Oval 21"/>
            <p:cNvSpPr>
              <a:spLocks noChangeAspect="1"/>
            </p:cNvSpPr>
            <p:nvPr/>
          </p:nvSpPr>
          <p:spPr>
            <a:xfrm>
              <a:off x="2206609" y="546154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3" name="Oval 22"/>
            <p:cNvSpPr>
              <a:spLocks noChangeAspect="1"/>
            </p:cNvSpPr>
            <p:nvPr/>
          </p:nvSpPr>
          <p:spPr>
            <a:xfrm>
              <a:off x="2261458" y="4883757"/>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4" name="Oval 23"/>
            <p:cNvSpPr>
              <a:spLocks noChangeAspect="1"/>
            </p:cNvSpPr>
            <p:nvPr/>
          </p:nvSpPr>
          <p:spPr>
            <a:xfrm>
              <a:off x="2459832" y="4590980"/>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5" name="Oval 24"/>
            <p:cNvSpPr>
              <a:spLocks noChangeAspect="1"/>
            </p:cNvSpPr>
            <p:nvPr/>
          </p:nvSpPr>
          <p:spPr>
            <a:xfrm>
              <a:off x="2499828" y="517653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6" name="Oval 25"/>
            <p:cNvSpPr>
              <a:spLocks noChangeAspect="1"/>
            </p:cNvSpPr>
            <p:nvPr/>
          </p:nvSpPr>
          <p:spPr>
            <a:xfrm>
              <a:off x="1649417" y="5507961"/>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27" name="Oval 26"/>
            <p:cNvSpPr>
              <a:spLocks noChangeAspect="1"/>
            </p:cNvSpPr>
            <p:nvPr/>
          </p:nvSpPr>
          <p:spPr>
            <a:xfrm>
              <a:off x="1343822" y="5300748"/>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28" name="Oval 27"/>
            <p:cNvSpPr>
              <a:spLocks noChangeAspect="1"/>
            </p:cNvSpPr>
            <p:nvPr/>
          </p:nvSpPr>
          <p:spPr>
            <a:xfrm>
              <a:off x="1594400" y="496898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29" name="Oval 28"/>
            <p:cNvSpPr>
              <a:spLocks noChangeAspect="1"/>
            </p:cNvSpPr>
            <p:nvPr/>
          </p:nvSpPr>
          <p:spPr>
            <a:xfrm>
              <a:off x="1660304" y="4515412"/>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30" name="TextBox 29"/>
            <p:cNvSpPr txBox="1"/>
            <p:nvPr/>
          </p:nvSpPr>
          <p:spPr>
            <a:xfrm>
              <a:off x="1064148" y="2118106"/>
              <a:ext cx="2634241" cy="338554"/>
            </a:xfrm>
            <a:prstGeom prst="rect">
              <a:avLst/>
            </a:prstGeom>
            <a:noFill/>
          </p:spPr>
          <p:txBody>
            <a:bodyPr wrap="square" rtlCol="0">
              <a:spAutoFit/>
            </a:bodyPr>
            <a:lstStyle/>
            <a:p>
              <a:r>
                <a:rPr lang="en-GB" sz="1600" dirty="0"/>
                <a:t>Direct current (DC</a:t>
              </a:r>
              <a:r>
                <a:rPr lang="en-GB" sz="1600"/>
                <a:t>) supply</a:t>
              </a:r>
            </a:p>
          </p:txBody>
        </p:sp>
        <p:sp>
          <p:nvSpPr>
            <p:cNvPr id="31" name="TextBox 30"/>
            <p:cNvSpPr txBox="1"/>
            <p:nvPr/>
          </p:nvSpPr>
          <p:spPr>
            <a:xfrm>
              <a:off x="2958551" y="2653461"/>
              <a:ext cx="1163688" cy="830997"/>
            </a:xfrm>
            <a:prstGeom prst="rect">
              <a:avLst/>
            </a:prstGeom>
            <a:noFill/>
          </p:spPr>
          <p:txBody>
            <a:bodyPr wrap="square" rtlCol="0">
              <a:spAutoFit/>
            </a:bodyPr>
            <a:lstStyle/>
            <a:p>
              <a:pPr algn="ctr"/>
              <a:r>
                <a:rPr lang="en-GB" sz="1600"/>
                <a:t>Positive electrode (anode)</a:t>
              </a:r>
              <a:endParaRPr lang="en-GB" sz="1600" dirty="0"/>
            </a:p>
          </p:txBody>
        </p:sp>
        <p:sp>
          <p:nvSpPr>
            <p:cNvPr id="32" name="TextBox 31"/>
            <p:cNvSpPr txBox="1"/>
            <p:nvPr/>
          </p:nvSpPr>
          <p:spPr>
            <a:xfrm>
              <a:off x="28848" y="2608574"/>
              <a:ext cx="1163688" cy="830997"/>
            </a:xfrm>
            <a:prstGeom prst="rect">
              <a:avLst/>
            </a:prstGeom>
            <a:noFill/>
          </p:spPr>
          <p:txBody>
            <a:bodyPr wrap="square" rtlCol="0">
              <a:spAutoFit/>
            </a:bodyPr>
            <a:lstStyle/>
            <a:p>
              <a:pPr algn="ctr"/>
              <a:r>
                <a:rPr lang="en-GB" sz="1600" dirty="0"/>
                <a:t>Negative electrode (cathode)</a:t>
              </a:r>
            </a:p>
          </p:txBody>
        </p:sp>
        <p:cxnSp>
          <p:nvCxnSpPr>
            <p:cNvPr id="33" name="Straight Arrow Connector 32"/>
            <p:cNvCxnSpPr>
              <a:stCxn id="31" idx="1"/>
            </p:cNvCxnSpPr>
            <p:nvPr/>
          </p:nvCxnSpPr>
          <p:spPr>
            <a:xfrm flipH="1">
              <a:off x="2699455" y="3068960"/>
              <a:ext cx="259096" cy="576064"/>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a:stCxn id="32" idx="3"/>
            </p:cNvCxnSpPr>
            <p:nvPr/>
          </p:nvCxnSpPr>
          <p:spPr>
            <a:xfrm>
              <a:off x="1192536" y="3024073"/>
              <a:ext cx="216251" cy="596565"/>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35" name="Picture 34"/>
            <p:cNvPicPr>
              <a:picLocks noChangeAspect="1"/>
            </p:cNvPicPr>
            <p:nvPr/>
          </p:nvPicPr>
          <p:blipFill>
            <a:blip r:embed="rId3"/>
            <a:stretch>
              <a:fillRect/>
            </a:stretch>
          </p:blipFill>
          <p:spPr>
            <a:xfrm>
              <a:off x="912510" y="3466443"/>
              <a:ext cx="2151856" cy="2501844"/>
            </a:xfrm>
            <a:prstGeom prst="rect">
              <a:avLst/>
            </a:prstGeom>
          </p:spPr>
        </p:pic>
      </p:grpSp>
    </p:spTree>
    <p:extLst>
      <p:ext uri="{BB962C8B-B14F-4D97-AF65-F5344CB8AC3E}">
        <p14:creationId xmlns:p14="http://schemas.microsoft.com/office/powerpoint/2010/main" val="1221031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251520" y="718374"/>
            <a:ext cx="8640960" cy="1323439"/>
          </a:xfrm>
          <a:prstGeom prst="rect">
            <a:avLst/>
          </a:prstGeom>
          <a:noFill/>
        </p:spPr>
        <p:txBody>
          <a:bodyPr wrap="square" rtlCol="0">
            <a:spAutoFit/>
          </a:bodyPr>
          <a:lstStyle/>
          <a:p>
            <a:pPr algn="ctr"/>
            <a:r>
              <a:rPr lang="en-GB" sz="2000" dirty="0"/>
              <a:t>When an </a:t>
            </a:r>
            <a:r>
              <a:rPr lang="en-GB" sz="2000" b="1" dirty="0"/>
              <a:t>ionic compound </a:t>
            </a:r>
            <a:r>
              <a:rPr lang="en-GB" sz="2000" dirty="0"/>
              <a:t>is electrolysed in a </a:t>
            </a:r>
            <a:r>
              <a:rPr lang="en-GB" sz="2000" b="1" dirty="0"/>
              <a:t>molten</a:t>
            </a:r>
            <a:r>
              <a:rPr lang="en-GB" sz="2000" dirty="0"/>
              <a:t> state using inert electrodes, the </a:t>
            </a:r>
            <a:r>
              <a:rPr lang="en-GB" sz="2000" b="1" dirty="0"/>
              <a:t>metal</a:t>
            </a:r>
            <a:r>
              <a:rPr lang="en-GB" sz="2000" dirty="0"/>
              <a:t> is produced at the</a:t>
            </a:r>
            <a:r>
              <a:rPr lang="en-GB" sz="2000" b="1" dirty="0"/>
              <a:t> cathode </a:t>
            </a:r>
            <a:r>
              <a:rPr lang="en-GB" sz="2000" dirty="0"/>
              <a:t>and the </a:t>
            </a:r>
            <a:r>
              <a:rPr lang="en-GB" sz="2000" b="1" dirty="0"/>
              <a:t>non metal </a:t>
            </a:r>
            <a:r>
              <a:rPr lang="en-GB" sz="2000" dirty="0"/>
              <a:t>is produced at the </a:t>
            </a:r>
            <a:r>
              <a:rPr lang="en-GB" sz="2000" b="1" dirty="0"/>
              <a:t>anode</a:t>
            </a:r>
            <a:r>
              <a:rPr lang="en-GB" sz="2000" dirty="0"/>
              <a:t>.</a:t>
            </a:r>
          </a:p>
          <a:p>
            <a:pPr algn="ctr"/>
            <a:r>
              <a:rPr lang="en-GB" sz="2000" b="1" dirty="0">
                <a:solidFill>
                  <a:schemeClr val="accent6">
                    <a:lumMod val="75000"/>
                  </a:schemeClr>
                </a:solidFill>
                <a:effectLst>
                  <a:outerShdw blurRad="38100" dist="38100" dir="2700000" algn="tl">
                    <a:srgbClr val="000000">
                      <a:alpha val="43137"/>
                    </a:srgbClr>
                  </a:outerShdw>
                </a:effectLst>
              </a:rPr>
              <a:t>lead bromide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lead + bromine</a:t>
            </a:r>
            <a:endParaRPr lang="en-GB" sz="2000" b="1" dirty="0">
              <a:solidFill>
                <a:schemeClr val="accent6">
                  <a:lumMod val="75000"/>
                </a:schemeClr>
              </a:solidFill>
              <a:effectLst>
                <a:outerShdw blurRad="38100" dist="38100" dir="2700000" algn="tl">
                  <a:srgbClr val="000000">
                    <a:alpha val="43137"/>
                  </a:srgbClr>
                </a:outerShdw>
              </a:effectLst>
            </a:endParaRPr>
          </a:p>
        </p:txBody>
      </p:sp>
      <p:sp>
        <p:nvSpPr>
          <p:cNvPr id="8" name="TextBox 7">
            <a:extLst>
              <a:ext uri="{FF2B5EF4-FFF2-40B4-BE49-F238E27FC236}">
                <a16:creationId xmlns:a16="http://schemas.microsoft.com/office/drawing/2014/main" id="{2DAC164A-699B-4BBE-BF6D-D517E40DA52B}"/>
              </a:ext>
            </a:extLst>
          </p:cNvPr>
          <p:cNvSpPr txBox="1"/>
          <p:nvPr/>
        </p:nvSpPr>
        <p:spPr>
          <a:xfrm>
            <a:off x="269919" y="2132856"/>
            <a:ext cx="3168352" cy="9233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b="1" dirty="0"/>
              <a:t>Higher: </a:t>
            </a:r>
            <a:r>
              <a:rPr lang="en-GB" dirty="0"/>
              <a:t>You can represent what is happening at each electrode using </a:t>
            </a:r>
            <a:r>
              <a:rPr lang="en-GB" b="1" dirty="0"/>
              <a:t>half equations</a:t>
            </a:r>
            <a:r>
              <a:rPr lang="en-GB" dirty="0"/>
              <a:t>.</a:t>
            </a:r>
          </a:p>
        </p:txBody>
      </p:sp>
      <p:sp>
        <p:nvSpPr>
          <p:cNvPr id="9" name="TextBox 8">
            <a:extLst>
              <a:ext uri="{FF2B5EF4-FFF2-40B4-BE49-F238E27FC236}">
                <a16:creationId xmlns:a16="http://schemas.microsoft.com/office/drawing/2014/main" id="{ABEF5BE8-1272-49AF-A02C-A315EF12FCA2}"/>
              </a:ext>
            </a:extLst>
          </p:cNvPr>
          <p:cNvSpPr txBox="1"/>
          <p:nvPr/>
        </p:nvSpPr>
        <p:spPr>
          <a:xfrm>
            <a:off x="4523663" y="5346864"/>
            <a:ext cx="3754497" cy="9233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b="1" dirty="0"/>
              <a:t>Higher:</a:t>
            </a:r>
          </a:p>
          <a:p>
            <a:pPr algn="ctr"/>
            <a:r>
              <a:rPr lang="en-GB" dirty="0"/>
              <a:t>At the anode</a:t>
            </a:r>
          </a:p>
          <a:p>
            <a:pPr algn="ctr"/>
            <a:r>
              <a:rPr lang="en-GB" b="1" dirty="0">
                <a:solidFill>
                  <a:schemeClr val="accent6">
                    <a:lumMod val="75000"/>
                  </a:schemeClr>
                </a:solidFill>
              </a:rPr>
              <a:t>2Br </a:t>
            </a:r>
            <a:r>
              <a:rPr lang="en-GB" b="1" baseline="30000" dirty="0">
                <a:solidFill>
                  <a:schemeClr val="accent6">
                    <a:lumMod val="75000"/>
                  </a:schemeClr>
                </a:solidFill>
              </a:rPr>
              <a:t>- </a:t>
            </a:r>
            <a:r>
              <a:rPr lang="en-GB" b="1" dirty="0">
                <a:solidFill>
                  <a:schemeClr val="accent6">
                    <a:lumMod val="75000"/>
                  </a:schemeClr>
                </a:solidFill>
                <a:sym typeface="Wingdings" panose="05000000000000000000" pitchFamily="2" charset="2"/>
              </a:rPr>
              <a:t> Br</a:t>
            </a:r>
            <a:r>
              <a:rPr lang="en-GB" b="1" baseline="-25000" dirty="0">
                <a:solidFill>
                  <a:schemeClr val="accent6">
                    <a:lumMod val="75000"/>
                  </a:schemeClr>
                </a:solidFill>
                <a:sym typeface="Wingdings" panose="05000000000000000000" pitchFamily="2" charset="2"/>
              </a:rPr>
              <a:t>2 </a:t>
            </a:r>
            <a:r>
              <a:rPr lang="en-GB" b="1" dirty="0">
                <a:solidFill>
                  <a:schemeClr val="accent6">
                    <a:lumMod val="75000"/>
                  </a:schemeClr>
                </a:solidFill>
                <a:sym typeface="Wingdings" panose="05000000000000000000" pitchFamily="2" charset="2"/>
              </a:rPr>
              <a:t>+ 2e </a:t>
            </a:r>
            <a:r>
              <a:rPr lang="en-GB" b="1" baseline="30000" dirty="0">
                <a:solidFill>
                  <a:schemeClr val="accent6">
                    <a:lumMod val="75000"/>
                  </a:schemeClr>
                </a:solidFill>
                <a:sym typeface="Wingdings" panose="05000000000000000000" pitchFamily="2" charset="2"/>
              </a:rPr>
              <a:t>–</a:t>
            </a:r>
            <a:r>
              <a:rPr lang="en-GB" b="1" dirty="0">
                <a:solidFill>
                  <a:schemeClr val="accent6">
                    <a:lumMod val="75000"/>
                  </a:schemeClr>
                </a:solidFill>
                <a:sym typeface="Wingdings" panose="05000000000000000000" pitchFamily="2" charset="2"/>
              </a:rPr>
              <a:t> </a:t>
            </a:r>
            <a:r>
              <a:rPr lang="en-GB" b="1" dirty="0">
                <a:solidFill>
                  <a:schemeClr val="accent6">
                    <a:lumMod val="75000"/>
                  </a:schemeClr>
                </a:solidFill>
              </a:rPr>
              <a:t>or 2Br </a:t>
            </a:r>
            <a:r>
              <a:rPr lang="en-GB" b="1" baseline="30000" dirty="0">
                <a:solidFill>
                  <a:schemeClr val="accent6">
                    <a:lumMod val="75000"/>
                  </a:schemeClr>
                </a:solidFill>
              </a:rPr>
              <a:t>- </a:t>
            </a:r>
            <a:r>
              <a:rPr lang="en-GB" b="1" dirty="0">
                <a:solidFill>
                  <a:schemeClr val="accent6">
                    <a:lumMod val="75000"/>
                  </a:schemeClr>
                </a:solidFill>
                <a:sym typeface="Wingdings" panose="05000000000000000000" pitchFamily="2" charset="2"/>
              </a:rPr>
              <a:t>- 2e </a:t>
            </a:r>
            <a:r>
              <a:rPr lang="en-GB" b="1" baseline="30000" dirty="0">
                <a:solidFill>
                  <a:schemeClr val="accent6">
                    <a:lumMod val="75000"/>
                  </a:schemeClr>
                </a:solidFill>
                <a:sym typeface="Wingdings" panose="05000000000000000000" pitchFamily="2" charset="2"/>
              </a:rPr>
              <a:t>- </a:t>
            </a:r>
            <a:r>
              <a:rPr lang="en-GB" b="1" dirty="0">
                <a:solidFill>
                  <a:schemeClr val="accent6">
                    <a:lumMod val="75000"/>
                  </a:schemeClr>
                </a:solidFill>
                <a:sym typeface="Wingdings" panose="05000000000000000000" pitchFamily="2" charset="2"/>
              </a:rPr>
              <a:t> Br</a:t>
            </a:r>
            <a:r>
              <a:rPr lang="en-GB" b="1" baseline="-25000" dirty="0">
                <a:solidFill>
                  <a:schemeClr val="accent6">
                    <a:lumMod val="75000"/>
                  </a:schemeClr>
                </a:solidFill>
                <a:sym typeface="Wingdings" panose="05000000000000000000" pitchFamily="2" charset="2"/>
              </a:rPr>
              <a:t>2</a:t>
            </a:r>
            <a:endParaRPr lang="en-GB" b="1" baseline="30000" dirty="0">
              <a:solidFill>
                <a:schemeClr val="accent6">
                  <a:lumMod val="75000"/>
                </a:schemeClr>
              </a:solidFill>
            </a:endParaRPr>
          </a:p>
        </p:txBody>
      </p:sp>
      <p:sp>
        <p:nvSpPr>
          <p:cNvPr id="10" name="TextBox 9">
            <a:extLst>
              <a:ext uri="{FF2B5EF4-FFF2-40B4-BE49-F238E27FC236}">
                <a16:creationId xmlns:a16="http://schemas.microsoft.com/office/drawing/2014/main" id="{DFFD3F56-D97F-4F5B-B8FF-BE4BCD1FD28B}"/>
              </a:ext>
            </a:extLst>
          </p:cNvPr>
          <p:cNvSpPr txBox="1"/>
          <p:nvPr/>
        </p:nvSpPr>
        <p:spPr>
          <a:xfrm>
            <a:off x="840889" y="5346864"/>
            <a:ext cx="1766830" cy="923330"/>
          </a:xfrm>
          <a:prstGeom prst="rect">
            <a:avLst/>
          </a:prstGeom>
          <a:solidFill>
            <a:schemeClr val="accent6">
              <a:lumMod val="20000"/>
              <a:lumOff val="80000"/>
            </a:schemeClr>
          </a:solidFill>
          <a:ln>
            <a:solidFill>
              <a:schemeClr val="accent6">
                <a:lumMod val="75000"/>
              </a:schemeClr>
            </a:solidFill>
          </a:ln>
        </p:spPr>
        <p:txBody>
          <a:bodyPr wrap="none" rtlCol="0">
            <a:spAutoFit/>
          </a:bodyPr>
          <a:lstStyle/>
          <a:p>
            <a:r>
              <a:rPr lang="en-GB" b="1" dirty="0"/>
              <a:t>Higher:</a:t>
            </a:r>
          </a:p>
          <a:p>
            <a:r>
              <a:rPr lang="en-GB" dirty="0"/>
              <a:t>At the cathode</a:t>
            </a:r>
          </a:p>
          <a:p>
            <a:r>
              <a:rPr lang="en-GB" b="1" dirty="0">
                <a:solidFill>
                  <a:schemeClr val="accent6">
                    <a:lumMod val="75000"/>
                  </a:schemeClr>
                </a:solidFill>
              </a:rPr>
              <a:t>Pb </a:t>
            </a:r>
            <a:r>
              <a:rPr lang="en-GB" b="1" baseline="30000" dirty="0">
                <a:solidFill>
                  <a:schemeClr val="accent6">
                    <a:lumMod val="75000"/>
                  </a:schemeClr>
                </a:solidFill>
              </a:rPr>
              <a:t>2+ </a:t>
            </a:r>
            <a:r>
              <a:rPr lang="en-GB" b="1" dirty="0">
                <a:solidFill>
                  <a:schemeClr val="accent6">
                    <a:lumMod val="75000"/>
                  </a:schemeClr>
                </a:solidFill>
                <a:sym typeface="Wingdings" panose="05000000000000000000" pitchFamily="2" charset="2"/>
              </a:rPr>
              <a:t>+ 2e </a:t>
            </a:r>
            <a:r>
              <a:rPr lang="en-GB" b="1" baseline="30000" dirty="0">
                <a:solidFill>
                  <a:schemeClr val="accent6">
                    <a:lumMod val="75000"/>
                  </a:schemeClr>
                </a:solidFill>
                <a:sym typeface="Wingdings" panose="05000000000000000000" pitchFamily="2" charset="2"/>
              </a:rPr>
              <a:t>– </a:t>
            </a:r>
            <a:r>
              <a:rPr lang="en-GB" b="1" dirty="0">
                <a:solidFill>
                  <a:schemeClr val="accent6">
                    <a:lumMod val="75000"/>
                  </a:schemeClr>
                </a:solidFill>
                <a:sym typeface="Wingdings" panose="05000000000000000000" pitchFamily="2" charset="2"/>
              </a:rPr>
              <a:t> Pb</a:t>
            </a:r>
          </a:p>
        </p:txBody>
      </p:sp>
      <p:grpSp>
        <p:nvGrpSpPr>
          <p:cNvPr id="11" name="Group 10"/>
          <p:cNvGrpSpPr/>
          <p:nvPr/>
        </p:nvGrpSpPr>
        <p:grpSpPr>
          <a:xfrm>
            <a:off x="2020864" y="1771905"/>
            <a:ext cx="5407072" cy="2739430"/>
            <a:chOff x="2030011" y="1629027"/>
            <a:chExt cx="5407072" cy="2739430"/>
          </a:xfrm>
        </p:grpSpPr>
        <p:grpSp>
          <p:nvGrpSpPr>
            <p:cNvPr id="12" name="Group 11"/>
            <p:cNvGrpSpPr/>
            <p:nvPr/>
          </p:nvGrpSpPr>
          <p:grpSpPr>
            <a:xfrm>
              <a:off x="3657161" y="1629027"/>
              <a:ext cx="1616428" cy="2713014"/>
              <a:chOff x="5852018" y="1681453"/>
              <a:chExt cx="1616428" cy="2713014"/>
            </a:xfrm>
          </p:grpSpPr>
          <p:sp>
            <p:nvSpPr>
              <p:cNvPr id="19" name="Rectangle 18"/>
              <p:cNvSpPr/>
              <p:nvPr/>
            </p:nvSpPr>
            <p:spPr>
              <a:xfrm>
                <a:off x="6381110" y="1988840"/>
                <a:ext cx="663267" cy="320553"/>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Rectangle 19"/>
              <p:cNvSpPr/>
              <p:nvPr/>
            </p:nvSpPr>
            <p:spPr>
              <a:xfrm>
                <a:off x="6523071" y="2162088"/>
                <a:ext cx="409192" cy="3725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Rectangle 20"/>
              <p:cNvSpPr/>
              <p:nvPr/>
            </p:nvSpPr>
            <p:spPr>
              <a:xfrm>
                <a:off x="6282795" y="2229608"/>
                <a:ext cx="238880" cy="191944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Rectangle 21"/>
              <p:cNvSpPr/>
              <p:nvPr/>
            </p:nvSpPr>
            <p:spPr>
              <a:xfrm>
                <a:off x="6660233" y="1872134"/>
                <a:ext cx="98315" cy="1887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ectangle 22"/>
              <p:cNvSpPr/>
              <p:nvPr/>
            </p:nvSpPr>
            <p:spPr>
              <a:xfrm>
                <a:off x="6925408" y="2229607"/>
                <a:ext cx="238880" cy="191944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ound Same Side Corner Rectangle 23"/>
              <p:cNvSpPr/>
              <p:nvPr/>
            </p:nvSpPr>
            <p:spPr>
              <a:xfrm rot="10800000">
                <a:off x="6045723" y="3306764"/>
                <a:ext cx="1404000" cy="1027134"/>
              </a:xfrm>
              <a:prstGeom prst="round2SameRect">
                <a:avLst>
                  <a:gd name="adj1" fmla="val 10924"/>
                  <a:gd name="adj2" fmla="val 0"/>
                </a:avLst>
              </a:prstGeom>
              <a:gradFill>
                <a:gsLst>
                  <a:gs pos="0">
                    <a:schemeClr val="accent1">
                      <a:tint val="100000"/>
                      <a:shade val="100000"/>
                      <a:satMod val="130000"/>
                      <a:alpha val="17000"/>
                    </a:schemeClr>
                  </a:gs>
                  <a:gs pos="100000">
                    <a:schemeClr val="accent1">
                      <a:tint val="50000"/>
                      <a:shade val="100000"/>
                      <a:satMod val="350000"/>
                    </a:schemeClr>
                  </a:gs>
                </a:gsLs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25" name="Straight Connector 24"/>
              <p:cNvCxnSpPr/>
              <p:nvPr/>
            </p:nvCxnSpPr>
            <p:spPr>
              <a:xfrm>
                <a:off x="6660232" y="1916848"/>
                <a:ext cx="0" cy="1440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6758548" y="1872134"/>
                <a:ext cx="0" cy="2520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707503" y="1753071"/>
                <a:ext cx="288032" cy="307777"/>
              </a:xfrm>
              <a:prstGeom prst="rect">
                <a:avLst/>
              </a:prstGeom>
              <a:noFill/>
            </p:spPr>
            <p:txBody>
              <a:bodyPr wrap="square" rtlCol="0">
                <a:spAutoFit/>
              </a:bodyPr>
              <a:lstStyle/>
              <a:p>
                <a:r>
                  <a:rPr lang="en-GB" sz="1400"/>
                  <a:t>+</a:t>
                </a:r>
              </a:p>
            </p:txBody>
          </p:sp>
          <p:sp>
            <p:nvSpPr>
              <p:cNvPr id="28" name="TextBox 27"/>
              <p:cNvSpPr txBox="1"/>
              <p:nvPr/>
            </p:nvSpPr>
            <p:spPr>
              <a:xfrm>
                <a:off x="6423247" y="1681453"/>
                <a:ext cx="288032" cy="307777"/>
              </a:xfrm>
              <a:prstGeom prst="rect">
                <a:avLst/>
              </a:prstGeom>
              <a:noFill/>
            </p:spPr>
            <p:txBody>
              <a:bodyPr wrap="square" rtlCol="0">
                <a:spAutoFit/>
              </a:bodyPr>
              <a:lstStyle/>
              <a:p>
                <a:r>
                  <a:rPr lang="en-GB" sz="1400"/>
                  <a:t>_</a:t>
                </a:r>
              </a:p>
            </p:txBody>
          </p:sp>
          <p:sp>
            <p:nvSpPr>
              <p:cNvPr id="29" name="Oval 28"/>
              <p:cNvSpPr>
                <a:spLocks noChangeAspect="1"/>
              </p:cNvSpPr>
              <p:nvPr/>
            </p:nvSpPr>
            <p:spPr>
              <a:xfrm>
                <a:off x="6176010" y="346668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sp>
            <p:nvSpPr>
              <p:cNvPr id="30" name="Oval 29"/>
              <p:cNvSpPr>
                <a:spLocks noChangeAspect="1"/>
              </p:cNvSpPr>
              <p:nvPr/>
            </p:nvSpPr>
            <p:spPr>
              <a:xfrm>
                <a:off x="6789180" y="333995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1" name="Oval 30"/>
              <p:cNvSpPr>
                <a:spLocks noChangeAspect="1"/>
              </p:cNvSpPr>
              <p:nvPr/>
            </p:nvSpPr>
            <p:spPr>
              <a:xfrm>
                <a:off x="6824117" y="4024519"/>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2" name="Oval 31"/>
              <p:cNvSpPr>
                <a:spLocks noChangeAspect="1"/>
              </p:cNvSpPr>
              <p:nvPr/>
            </p:nvSpPr>
            <p:spPr>
              <a:xfrm>
                <a:off x="6865319" y="360588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3" name="Oval 32"/>
              <p:cNvSpPr>
                <a:spLocks noChangeAspect="1"/>
              </p:cNvSpPr>
              <p:nvPr/>
            </p:nvSpPr>
            <p:spPr>
              <a:xfrm>
                <a:off x="7014333" y="3393753"/>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4" name="Oval 33"/>
              <p:cNvSpPr>
                <a:spLocks noChangeAspect="1"/>
              </p:cNvSpPr>
              <p:nvPr/>
            </p:nvSpPr>
            <p:spPr>
              <a:xfrm>
                <a:off x="7044377" y="381801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5" name="Oval 34"/>
              <p:cNvSpPr>
                <a:spLocks noChangeAspect="1"/>
              </p:cNvSpPr>
              <p:nvPr/>
            </p:nvSpPr>
            <p:spPr>
              <a:xfrm>
                <a:off x="6405567" y="4058151"/>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sp>
            <p:nvSpPr>
              <p:cNvPr id="36" name="Oval 35"/>
              <p:cNvSpPr>
                <a:spLocks noChangeAspect="1"/>
              </p:cNvSpPr>
              <p:nvPr/>
            </p:nvSpPr>
            <p:spPr>
              <a:xfrm>
                <a:off x="6176010" y="390801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sp>
            <p:nvSpPr>
              <p:cNvPr id="37" name="Oval 36"/>
              <p:cNvSpPr>
                <a:spLocks noChangeAspect="1"/>
              </p:cNvSpPr>
              <p:nvPr/>
            </p:nvSpPr>
            <p:spPr>
              <a:xfrm>
                <a:off x="6364239" y="366763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sp>
            <p:nvSpPr>
              <p:cNvPr id="38" name="Oval 37"/>
              <p:cNvSpPr>
                <a:spLocks noChangeAspect="1"/>
              </p:cNvSpPr>
              <p:nvPr/>
            </p:nvSpPr>
            <p:spPr>
              <a:xfrm>
                <a:off x="6413745" y="3339000"/>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pic>
            <p:nvPicPr>
              <p:cNvPr id="39" name="Picture 38"/>
              <p:cNvPicPr>
                <a:picLocks noChangeAspect="1"/>
              </p:cNvPicPr>
              <p:nvPr/>
            </p:nvPicPr>
            <p:blipFill>
              <a:blip r:embed="rId3"/>
              <a:stretch>
                <a:fillRect/>
              </a:stretch>
            </p:blipFill>
            <p:spPr>
              <a:xfrm>
                <a:off x="5852018" y="2581758"/>
                <a:ext cx="1616428" cy="1812709"/>
              </a:xfrm>
              <a:prstGeom prst="rect">
                <a:avLst/>
              </a:prstGeom>
            </p:spPr>
          </p:pic>
        </p:grpSp>
        <p:cxnSp>
          <p:nvCxnSpPr>
            <p:cNvPr id="13" name="Straight Arrow Connector 12"/>
            <p:cNvCxnSpPr/>
            <p:nvPr/>
          </p:nvCxnSpPr>
          <p:spPr>
            <a:xfrm flipH="1">
              <a:off x="5029521" y="4185725"/>
              <a:ext cx="586709" cy="7025"/>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660157" y="3783682"/>
              <a:ext cx="1584176" cy="584775"/>
            </a:xfrm>
            <a:prstGeom prst="rect">
              <a:avLst/>
            </a:prstGeom>
            <a:noFill/>
          </p:spPr>
          <p:txBody>
            <a:bodyPr wrap="square" rtlCol="0">
              <a:spAutoFit/>
            </a:bodyPr>
            <a:lstStyle/>
            <a:p>
              <a:pPr algn="ctr"/>
              <a:r>
                <a:rPr lang="en-GB" sz="1600" b="1" dirty="0"/>
                <a:t>Molten lead (II) bromide</a:t>
              </a:r>
            </a:p>
          </p:txBody>
        </p:sp>
        <p:sp>
          <p:nvSpPr>
            <p:cNvPr id="15" name="TextBox 14"/>
            <p:cNvSpPr txBox="1"/>
            <p:nvPr/>
          </p:nvSpPr>
          <p:spPr>
            <a:xfrm>
              <a:off x="5566221" y="3193534"/>
              <a:ext cx="1870862" cy="338554"/>
            </a:xfrm>
            <a:prstGeom prst="rect">
              <a:avLst/>
            </a:prstGeom>
            <a:noFill/>
          </p:spPr>
          <p:txBody>
            <a:bodyPr wrap="square" rtlCol="0">
              <a:spAutoFit/>
            </a:bodyPr>
            <a:lstStyle/>
            <a:p>
              <a:pPr algn="ctr"/>
              <a:r>
                <a:rPr lang="en-GB" sz="1600" b="1" dirty="0"/>
                <a:t>Bromide ions Br </a:t>
              </a:r>
              <a:r>
                <a:rPr lang="en-GB" sz="1600" b="1" baseline="30000" dirty="0"/>
                <a:t>-</a:t>
              </a:r>
            </a:p>
          </p:txBody>
        </p:sp>
        <p:cxnSp>
          <p:nvCxnSpPr>
            <p:cNvPr id="16" name="Straight Arrow Connector 15"/>
            <p:cNvCxnSpPr/>
            <p:nvPr/>
          </p:nvCxnSpPr>
          <p:spPr>
            <a:xfrm flipH="1">
              <a:off x="5018567" y="3435687"/>
              <a:ext cx="597663" cy="0"/>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030011" y="3337722"/>
              <a:ext cx="1367215" cy="338554"/>
            </a:xfrm>
            <a:prstGeom prst="rect">
              <a:avLst/>
            </a:prstGeom>
            <a:noFill/>
          </p:spPr>
          <p:txBody>
            <a:bodyPr wrap="square" rtlCol="0">
              <a:spAutoFit/>
            </a:bodyPr>
            <a:lstStyle/>
            <a:p>
              <a:pPr algn="r"/>
              <a:r>
                <a:rPr lang="en-GB" sz="1600" b="1" dirty="0"/>
                <a:t>Lead ions </a:t>
              </a:r>
              <a:r>
                <a:rPr lang="en-GB" sz="1600" b="1" dirty="0" err="1"/>
                <a:t>Pb</a:t>
              </a:r>
              <a:r>
                <a:rPr lang="en-GB" sz="1600" b="1" dirty="0"/>
                <a:t> </a:t>
              </a:r>
              <a:r>
                <a:rPr lang="en-GB" sz="1600" b="1" baseline="30000" dirty="0"/>
                <a:t>+</a:t>
              </a:r>
            </a:p>
          </p:txBody>
        </p:sp>
        <p:cxnSp>
          <p:nvCxnSpPr>
            <p:cNvPr id="18" name="Straight Arrow Connector 17"/>
            <p:cNvCxnSpPr>
              <a:stCxn id="17" idx="3"/>
            </p:cNvCxnSpPr>
            <p:nvPr/>
          </p:nvCxnSpPr>
          <p:spPr>
            <a:xfrm flipV="1">
              <a:off x="3397226" y="3503035"/>
              <a:ext cx="539381" cy="3964"/>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40" name="TextBox 39"/>
          <p:cNvSpPr txBox="1"/>
          <p:nvPr/>
        </p:nvSpPr>
        <p:spPr>
          <a:xfrm>
            <a:off x="389224" y="4551993"/>
            <a:ext cx="8228549"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a:t> The positively charged lead ions </a:t>
            </a:r>
            <a:r>
              <a:rPr lang="en-GB" sz="2000" b="1" dirty="0" err="1"/>
              <a:t>Pb</a:t>
            </a:r>
            <a:r>
              <a:rPr lang="en-GB" sz="2000" b="1" dirty="0"/>
              <a:t> + (cations) are attracted to the cathode and the negatively charged bromide ions Br </a:t>
            </a:r>
            <a:r>
              <a:rPr lang="en-GB" sz="2000" b="1" baseline="30000" dirty="0"/>
              <a:t>-</a:t>
            </a:r>
            <a:r>
              <a:rPr lang="en-GB" sz="2000" b="1" dirty="0"/>
              <a:t> are attracted to the anode.</a:t>
            </a:r>
            <a:endParaRPr lang="en-GB" sz="2000" b="1" baseline="30000" dirty="0"/>
          </a:p>
        </p:txBody>
      </p:sp>
    </p:spTree>
    <p:extLst>
      <p:ext uri="{BB962C8B-B14F-4D97-AF65-F5344CB8AC3E}">
        <p14:creationId xmlns:p14="http://schemas.microsoft.com/office/powerpoint/2010/main" val="1790327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19558" y="661057"/>
            <a:ext cx="9042674" cy="954107"/>
          </a:xfrm>
          <a:prstGeom prst="rect">
            <a:avLst/>
          </a:prstGeom>
          <a:noFill/>
        </p:spPr>
        <p:txBody>
          <a:bodyPr wrap="square" rtlCol="0">
            <a:spAutoFit/>
          </a:bodyPr>
          <a:lstStyle/>
          <a:p>
            <a:pPr algn="ctr"/>
            <a:r>
              <a:rPr lang="en-GB" sz="2000" dirty="0"/>
              <a:t>The </a:t>
            </a:r>
            <a:r>
              <a:rPr lang="en-GB" sz="2000" b="1" dirty="0"/>
              <a:t>ions</a:t>
            </a:r>
            <a:r>
              <a:rPr lang="en-GB" sz="2000" dirty="0"/>
              <a:t> discharged when an </a:t>
            </a:r>
            <a:r>
              <a:rPr lang="en-GB" sz="2000" b="1" dirty="0"/>
              <a:t>aqueous solution </a:t>
            </a:r>
            <a:r>
              <a:rPr lang="en-GB" sz="2000" dirty="0"/>
              <a:t>is electrolysed using inert electrodes depend on the relative</a:t>
            </a:r>
            <a:r>
              <a:rPr lang="en-GB" sz="2000" b="1" dirty="0"/>
              <a:t> reactivity </a:t>
            </a:r>
            <a:r>
              <a:rPr lang="en-GB" sz="2000" dirty="0"/>
              <a:t>of the elements involved.</a:t>
            </a:r>
          </a:p>
          <a:p>
            <a:pPr algn="ctr"/>
            <a:endParaRPr lang="en-GB" sz="800" dirty="0"/>
          </a:p>
          <a:p>
            <a:pPr algn="ctr"/>
            <a:endParaRPr lang="en-GB" sz="800" dirty="0"/>
          </a:p>
        </p:txBody>
      </p:sp>
      <p:sp>
        <p:nvSpPr>
          <p:cNvPr id="5" name="Rectangle 4">
            <a:extLst>
              <a:ext uri="{FF2B5EF4-FFF2-40B4-BE49-F238E27FC236}">
                <a16:creationId xmlns:a16="http://schemas.microsoft.com/office/drawing/2014/main" id="{CD5E3BDF-7E8D-4168-8A7A-8CDCE038B94E}"/>
              </a:ext>
            </a:extLst>
          </p:cNvPr>
          <p:cNvSpPr/>
          <p:nvPr/>
        </p:nvSpPr>
        <p:spPr>
          <a:xfrm>
            <a:off x="0" y="4856583"/>
            <a:ext cx="5940152" cy="646331"/>
          </a:xfrm>
          <a:prstGeom prst="rect">
            <a:avLst/>
          </a:prstGeom>
        </p:spPr>
        <p:txBody>
          <a:bodyPr wrap="square">
            <a:spAutoFit/>
          </a:bodyPr>
          <a:lstStyle/>
          <a:p>
            <a:r>
              <a:rPr lang="en-GB" b="1" dirty="0">
                <a:solidFill>
                  <a:schemeClr val="accent6">
                    <a:lumMod val="75000"/>
                  </a:schemeClr>
                </a:solidFill>
              </a:rPr>
              <a:t>sodium chloride </a:t>
            </a:r>
            <a:r>
              <a:rPr lang="en-GB" b="1" dirty="0">
                <a:solidFill>
                  <a:schemeClr val="accent6">
                    <a:lumMod val="75000"/>
                  </a:schemeClr>
                </a:solidFill>
                <a:sym typeface="Wingdings" panose="05000000000000000000" pitchFamily="2" charset="2"/>
              </a:rPr>
              <a:t> hydrogen + chlorine </a:t>
            </a:r>
          </a:p>
          <a:p>
            <a:r>
              <a:rPr lang="en-GB" b="1" dirty="0">
                <a:solidFill>
                  <a:schemeClr val="accent6">
                    <a:lumMod val="75000"/>
                  </a:schemeClr>
                </a:solidFill>
                <a:sym typeface="Wingdings" panose="05000000000000000000" pitchFamily="2" charset="2"/>
              </a:rPr>
              <a:t>                                                              + sodium hydroxide</a:t>
            </a:r>
            <a:endParaRPr lang="en-GB" b="1" dirty="0">
              <a:solidFill>
                <a:schemeClr val="accent6">
                  <a:lumMod val="75000"/>
                </a:schemeClr>
              </a:solidFill>
            </a:endParaRPr>
          </a:p>
        </p:txBody>
      </p:sp>
      <p:sp>
        <p:nvSpPr>
          <p:cNvPr id="7" name="TextBox 6">
            <a:extLst>
              <a:ext uri="{FF2B5EF4-FFF2-40B4-BE49-F238E27FC236}">
                <a16:creationId xmlns:a16="http://schemas.microsoft.com/office/drawing/2014/main" id="{AA418B6F-B9F8-41D4-9352-CCBE3295D9DD}"/>
              </a:ext>
            </a:extLst>
          </p:cNvPr>
          <p:cNvSpPr txBox="1"/>
          <p:nvPr/>
        </p:nvSpPr>
        <p:spPr>
          <a:xfrm>
            <a:off x="4402449" y="1299312"/>
            <a:ext cx="4578016" cy="4401205"/>
          </a:xfrm>
          <a:prstGeom prst="rect">
            <a:avLst/>
          </a:prstGeom>
          <a:noFill/>
          <a:ln>
            <a:solidFill>
              <a:schemeClr val="accent6">
                <a:lumMod val="75000"/>
              </a:schemeClr>
            </a:solidFill>
          </a:ln>
        </p:spPr>
        <p:txBody>
          <a:bodyPr wrap="square" rtlCol="0">
            <a:spAutoFit/>
          </a:bodyPr>
          <a:lstStyle/>
          <a:p>
            <a:pPr algn="ctr"/>
            <a:r>
              <a:rPr lang="en-GB" sz="2000" dirty="0">
                <a:solidFill>
                  <a:schemeClr val="accent6">
                    <a:lumMod val="75000"/>
                  </a:schemeClr>
                </a:solidFill>
              </a:rPr>
              <a:t>At the</a:t>
            </a:r>
            <a:r>
              <a:rPr lang="en-GB" sz="2000" b="1" dirty="0">
                <a:solidFill>
                  <a:schemeClr val="accent6">
                    <a:lumMod val="75000"/>
                  </a:schemeClr>
                </a:solidFill>
              </a:rPr>
              <a:t> positive </a:t>
            </a:r>
            <a:r>
              <a:rPr lang="en-GB" sz="2000" dirty="0">
                <a:solidFill>
                  <a:schemeClr val="accent6">
                    <a:lumMod val="75000"/>
                  </a:schemeClr>
                </a:solidFill>
              </a:rPr>
              <a:t>electrode:</a:t>
            </a:r>
            <a:r>
              <a:rPr lang="en-GB" sz="2000" b="1" dirty="0">
                <a:solidFill>
                  <a:schemeClr val="accent6">
                    <a:lumMod val="75000"/>
                  </a:schemeClr>
                </a:solidFill>
              </a:rPr>
              <a:t> </a:t>
            </a:r>
          </a:p>
          <a:p>
            <a:pPr algn="ctr"/>
            <a:r>
              <a:rPr lang="en-US" sz="2000" b="1" dirty="0"/>
              <a:t>Oxygen  </a:t>
            </a:r>
            <a:r>
              <a:rPr lang="en-US" sz="2000" dirty="0"/>
              <a:t>is formed at positive electrode.</a:t>
            </a:r>
          </a:p>
          <a:p>
            <a:pPr algn="ctr"/>
            <a:endParaRPr lang="en-US" sz="2000" dirty="0"/>
          </a:p>
          <a:p>
            <a:pPr algn="ctr"/>
            <a:endParaRPr lang="en-US" sz="2000" dirty="0"/>
          </a:p>
          <a:p>
            <a:pPr algn="ctr"/>
            <a:endParaRPr lang="en-US" sz="2000" dirty="0"/>
          </a:p>
          <a:p>
            <a:pPr algn="ctr"/>
            <a:endParaRPr lang="en-US" sz="2000" dirty="0"/>
          </a:p>
          <a:p>
            <a:pPr algn="ctr"/>
            <a:r>
              <a:rPr lang="en-US" sz="2000" dirty="0"/>
              <a:t>If you have a</a:t>
            </a:r>
            <a:r>
              <a:rPr lang="en-US" sz="2000" b="1" dirty="0"/>
              <a:t> halide </a:t>
            </a:r>
            <a:r>
              <a:rPr lang="en-US" sz="2000" dirty="0"/>
              <a:t>ion (Cl</a:t>
            </a:r>
            <a:r>
              <a:rPr lang="en-US" sz="2000" baseline="30000" dirty="0"/>
              <a:t>-</a:t>
            </a:r>
            <a:r>
              <a:rPr lang="en-US" sz="2000" dirty="0"/>
              <a:t>, I</a:t>
            </a:r>
            <a:r>
              <a:rPr lang="en-US" sz="2000" baseline="30000" dirty="0"/>
              <a:t>-</a:t>
            </a:r>
            <a:r>
              <a:rPr lang="en-US" sz="2000" dirty="0"/>
              <a:t>, Br</a:t>
            </a:r>
            <a:r>
              <a:rPr lang="en-US" sz="2000" baseline="30000" dirty="0"/>
              <a:t>-</a:t>
            </a:r>
            <a:r>
              <a:rPr lang="en-US" sz="2000" dirty="0"/>
              <a:t>) then you will get </a:t>
            </a:r>
            <a:r>
              <a:rPr lang="en-US" sz="2000" b="1" dirty="0"/>
              <a:t>chlorine, bromine or iodine </a:t>
            </a:r>
            <a:r>
              <a:rPr lang="en-US" sz="2000" dirty="0"/>
              <a:t>formed at that electrode. </a:t>
            </a:r>
          </a:p>
          <a:p>
            <a:pPr algn="ctr"/>
            <a:r>
              <a:rPr lang="en-US" sz="2000" dirty="0"/>
              <a:t>This happens because in the aqueous solution, </a:t>
            </a:r>
            <a:r>
              <a:rPr lang="en-US" sz="2000" b="1" dirty="0"/>
              <a:t>water molecules </a:t>
            </a:r>
            <a:r>
              <a:rPr lang="en-US" sz="2000" dirty="0"/>
              <a:t>break down producing </a:t>
            </a:r>
            <a:r>
              <a:rPr lang="en-US" sz="2000" b="1" dirty="0"/>
              <a:t>hydrogen</a:t>
            </a:r>
            <a:r>
              <a:rPr lang="en-US" sz="2000" dirty="0"/>
              <a:t> ions and </a:t>
            </a:r>
            <a:r>
              <a:rPr lang="en-US" sz="2000" b="1" dirty="0"/>
              <a:t>hydroxide</a:t>
            </a:r>
            <a:r>
              <a:rPr lang="en-US" sz="2000" dirty="0"/>
              <a:t> ions that are discharged.</a:t>
            </a:r>
          </a:p>
          <a:p>
            <a:pPr algn="ctr"/>
            <a:r>
              <a:rPr lang="en-US" sz="2000" b="1" dirty="0"/>
              <a:t>H</a:t>
            </a:r>
            <a:r>
              <a:rPr lang="en-US" sz="2000" b="1" baseline="-25000" dirty="0"/>
              <a:t>2</a:t>
            </a:r>
            <a:r>
              <a:rPr lang="en-US" sz="2000" b="1" dirty="0"/>
              <a:t>O(l) </a:t>
            </a:r>
            <a:r>
              <a:rPr lang="en-US" sz="2000" b="1" dirty="0">
                <a:sym typeface="Wingdings" panose="05000000000000000000" pitchFamily="2" charset="2"/>
              </a:rPr>
              <a:t> H</a:t>
            </a:r>
            <a:r>
              <a:rPr lang="en-US" sz="2000" b="1" baseline="30000" dirty="0">
                <a:sym typeface="Wingdings" panose="05000000000000000000" pitchFamily="2" charset="2"/>
              </a:rPr>
              <a:t>+</a:t>
            </a:r>
            <a:r>
              <a:rPr lang="en-US" sz="2000" b="1" dirty="0">
                <a:sym typeface="Wingdings" panose="05000000000000000000" pitchFamily="2" charset="2"/>
              </a:rPr>
              <a:t>(</a:t>
            </a:r>
            <a:r>
              <a:rPr lang="en-US" sz="2000" b="1" dirty="0" err="1">
                <a:sym typeface="Wingdings" panose="05000000000000000000" pitchFamily="2" charset="2"/>
              </a:rPr>
              <a:t>aq</a:t>
            </a:r>
            <a:r>
              <a:rPr lang="en-US" sz="2000" b="1" dirty="0">
                <a:sym typeface="Wingdings" panose="05000000000000000000" pitchFamily="2" charset="2"/>
              </a:rPr>
              <a:t>) + OH</a:t>
            </a:r>
            <a:r>
              <a:rPr lang="en-US" sz="2000" b="1" baseline="30000" dirty="0">
                <a:sym typeface="Wingdings" panose="05000000000000000000" pitchFamily="2" charset="2"/>
              </a:rPr>
              <a:t>-</a:t>
            </a:r>
            <a:r>
              <a:rPr lang="en-US" sz="2000" b="1" dirty="0">
                <a:sym typeface="Wingdings" panose="05000000000000000000" pitchFamily="2" charset="2"/>
              </a:rPr>
              <a:t>(</a:t>
            </a:r>
            <a:r>
              <a:rPr lang="en-US" sz="2000" b="1" dirty="0" err="1">
                <a:sym typeface="Wingdings" panose="05000000000000000000" pitchFamily="2" charset="2"/>
              </a:rPr>
              <a:t>aq</a:t>
            </a:r>
            <a:r>
              <a:rPr lang="en-US" sz="2000" b="1" dirty="0">
                <a:sym typeface="Wingdings" panose="05000000000000000000" pitchFamily="2" charset="2"/>
              </a:rPr>
              <a:t>)</a:t>
            </a:r>
            <a:endParaRPr lang="en-US" sz="2000" b="1" dirty="0"/>
          </a:p>
        </p:txBody>
      </p:sp>
      <p:sp>
        <p:nvSpPr>
          <p:cNvPr id="15" name="Rectangle 14">
            <a:extLst>
              <a:ext uri="{FF2B5EF4-FFF2-40B4-BE49-F238E27FC236}">
                <a16:creationId xmlns:a16="http://schemas.microsoft.com/office/drawing/2014/main" id="{CC2C7007-795C-415A-92BC-C405E022C666}"/>
              </a:ext>
            </a:extLst>
          </p:cNvPr>
          <p:cNvSpPr/>
          <p:nvPr/>
        </p:nvSpPr>
        <p:spPr>
          <a:xfrm>
            <a:off x="66469" y="5202658"/>
            <a:ext cx="3090783" cy="1200329"/>
          </a:xfrm>
          <a:prstGeom prst="rect">
            <a:avLst/>
          </a:prstGeom>
          <a:solidFill>
            <a:schemeClr val="bg1"/>
          </a:solidFill>
          <a:ln w="3175">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b="1" dirty="0"/>
              <a:t>Uses of the products: </a:t>
            </a:r>
          </a:p>
          <a:p>
            <a:pPr algn="ctr"/>
            <a:r>
              <a:rPr lang="en-GB" b="1" dirty="0"/>
              <a:t>Chlorine</a:t>
            </a:r>
            <a:r>
              <a:rPr lang="en-GB" dirty="0"/>
              <a:t>: Bleach and PVC </a:t>
            </a:r>
            <a:r>
              <a:rPr lang="en-GB" b="1" dirty="0"/>
              <a:t> </a:t>
            </a:r>
          </a:p>
          <a:p>
            <a:pPr algn="ctr"/>
            <a:r>
              <a:rPr lang="en-GB" b="1" dirty="0"/>
              <a:t>Hydrogen</a:t>
            </a:r>
            <a:r>
              <a:rPr lang="en-GB" dirty="0"/>
              <a:t>: Margarine </a:t>
            </a:r>
            <a:r>
              <a:rPr lang="en-GB" b="1" dirty="0"/>
              <a:t>Sodium hydroxide</a:t>
            </a:r>
            <a:r>
              <a:rPr lang="en-GB" dirty="0"/>
              <a:t>: Bleach and soap</a:t>
            </a:r>
          </a:p>
        </p:txBody>
      </p:sp>
      <p:sp>
        <p:nvSpPr>
          <p:cNvPr id="6" name="TextBox 5">
            <a:extLst>
              <a:ext uri="{FF2B5EF4-FFF2-40B4-BE49-F238E27FC236}">
                <a16:creationId xmlns:a16="http://schemas.microsoft.com/office/drawing/2014/main" id="{B2B396A1-7B63-49B8-9656-4E77ED304198}"/>
              </a:ext>
            </a:extLst>
          </p:cNvPr>
          <p:cNvSpPr txBox="1"/>
          <p:nvPr/>
        </p:nvSpPr>
        <p:spPr>
          <a:xfrm>
            <a:off x="157775" y="1312040"/>
            <a:ext cx="4202769" cy="1938992"/>
          </a:xfrm>
          <a:prstGeom prst="rect">
            <a:avLst/>
          </a:prstGeom>
          <a:noFill/>
          <a:ln>
            <a:solidFill>
              <a:schemeClr val="accent6">
                <a:lumMod val="75000"/>
              </a:schemeClr>
            </a:solidFill>
          </a:ln>
        </p:spPr>
        <p:txBody>
          <a:bodyPr wrap="square" rtlCol="0">
            <a:spAutoFit/>
          </a:bodyPr>
          <a:lstStyle/>
          <a:p>
            <a:pPr algn="ctr"/>
            <a:r>
              <a:rPr lang="en-GB" sz="2000" dirty="0">
                <a:solidFill>
                  <a:schemeClr val="accent6">
                    <a:lumMod val="75000"/>
                  </a:schemeClr>
                </a:solidFill>
              </a:rPr>
              <a:t>At the </a:t>
            </a:r>
            <a:r>
              <a:rPr lang="en-GB" sz="2000" b="1" dirty="0">
                <a:solidFill>
                  <a:schemeClr val="accent6">
                    <a:lumMod val="75000"/>
                  </a:schemeClr>
                </a:solidFill>
              </a:rPr>
              <a:t>negative</a:t>
            </a:r>
            <a:r>
              <a:rPr lang="en-GB" sz="2000" dirty="0">
                <a:solidFill>
                  <a:schemeClr val="accent6">
                    <a:lumMod val="75000"/>
                  </a:schemeClr>
                </a:solidFill>
              </a:rPr>
              <a:t> electrode:  </a:t>
            </a:r>
          </a:p>
          <a:p>
            <a:pPr algn="ctr"/>
            <a:r>
              <a:rPr lang="en-US" sz="2000" b="1" dirty="0"/>
              <a:t>Metal</a:t>
            </a:r>
            <a:r>
              <a:rPr lang="en-US" sz="2000" dirty="0"/>
              <a:t> will be produced on the electrode if it is </a:t>
            </a:r>
            <a:r>
              <a:rPr lang="en-US" sz="2000" b="1" dirty="0"/>
              <a:t>less</a:t>
            </a:r>
            <a:r>
              <a:rPr lang="en-US" sz="2000" dirty="0"/>
              <a:t> reactive than </a:t>
            </a:r>
            <a:r>
              <a:rPr lang="en-US" sz="2000" b="1" dirty="0"/>
              <a:t>hydrogen</a:t>
            </a:r>
            <a:r>
              <a:rPr lang="en-US" sz="2000" dirty="0"/>
              <a:t>. </a:t>
            </a:r>
          </a:p>
          <a:p>
            <a:pPr algn="ctr"/>
            <a:r>
              <a:rPr lang="en-US" sz="2000" b="1" dirty="0"/>
              <a:t>Hydrogen</a:t>
            </a:r>
            <a:r>
              <a:rPr lang="en-US" sz="2000" dirty="0"/>
              <a:t> will be produced if the metal is </a:t>
            </a:r>
            <a:r>
              <a:rPr lang="en-US" sz="2000" b="1" dirty="0"/>
              <a:t>more</a:t>
            </a:r>
            <a:r>
              <a:rPr lang="en-US" sz="2000" dirty="0"/>
              <a:t> reactive than hydrogen.</a:t>
            </a:r>
          </a:p>
        </p:txBody>
      </p:sp>
      <p:sp>
        <p:nvSpPr>
          <p:cNvPr id="14" name="TextBox 13">
            <a:extLst>
              <a:ext uri="{FF2B5EF4-FFF2-40B4-BE49-F238E27FC236}">
                <a16:creationId xmlns:a16="http://schemas.microsoft.com/office/drawing/2014/main" id="{01DB0CAD-8333-416B-A3B1-730ABFCF1FF2}"/>
              </a:ext>
            </a:extLst>
          </p:cNvPr>
          <p:cNvSpPr txBox="1"/>
          <p:nvPr/>
        </p:nvSpPr>
        <p:spPr>
          <a:xfrm>
            <a:off x="4877780" y="2008655"/>
            <a:ext cx="3852471" cy="9233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b="1" dirty="0"/>
              <a:t>Higher: </a:t>
            </a:r>
            <a:r>
              <a:rPr lang="en-GB" dirty="0"/>
              <a:t>At the anode</a:t>
            </a:r>
          </a:p>
          <a:p>
            <a:pPr algn="ctr"/>
            <a:r>
              <a:rPr lang="pt-BR" b="1" dirty="0">
                <a:solidFill>
                  <a:schemeClr val="accent6">
                    <a:lumMod val="75000"/>
                  </a:schemeClr>
                </a:solidFill>
                <a:effectLst>
                  <a:outerShdw blurRad="38100" dist="38100" dir="2700000" algn="tl">
                    <a:srgbClr val="000000">
                      <a:alpha val="43137"/>
                    </a:srgbClr>
                  </a:outerShdw>
                </a:effectLst>
              </a:rPr>
              <a:t>4OH</a:t>
            </a:r>
            <a:r>
              <a:rPr lang="pt-BR" b="1" baseline="30000" dirty="0">
                <a:solidFill>
                  <a:schemeClr val="accent6">
                    <a:lumMod val="75000"/>
                  </a:schemeClr>
                </a:solidFill>
                <a:effectLst>
                  <a:outerShdw blurRad="38100" dist="38100" dir="2700000" algn="tl">
                    <a:srgbClr val="000000">
                      <a:alpha val="43137"/>
                    </a:srgbClr>
                  </a:outerShdw>
                </a:effectLst>
              </a:rPr>
              <a:t>- </a:t>
            </a:r>
            <a:r>
              <a:rPr lang="pt-BR" b="1" dirty="0">
                <a:solidFill>
                  <a:schemeClr val="accent6">
                    <a:lumMod val="75000"/>
                  </a:schemeClr>
                </a:solidFill>
                <a:effectLst>
                  <a:outerShdw blurRad="38100" dist="38100" dir="2700000" algn="tl">
                    <a:srgbClr val="000000">
                      <a:alpha val="43137"/>
                    </a:srgbClr>
                  </a:outerShdw>
                </a:effectLst>
              </a:rPr>
              <a:t>→ O</a:t>
            </a:r>
            <a:r>
              <a:rPr lang="pt-BR" b="1" baseline="-25000" dirty="0">
                <a:solidFill>
                  <a:schemeClr val="accent6">
                    <a:lumMod val="75000"/>
                  </a:schemeClr>
                </a:solidFill>
                <a:effectLst>
                  <a:outerShdw blurRad="38100" dist="38100" dir="2700000" algn="tl">
                    <a:srgbClr val="000000">
                      <a:alpha val="43137"/>
                    </a:srgbClr>
                  </a:outerShdw>
                </a:effectLst>
              </a:rPr>
              <a:t>2</a:t>
            </a:r>
            <a:r>
              <a:rPr lang="pt-BR" b="1" dirty="0">
                <a:solidFill>
                  <a:schemeClr val="accent6">
                    <a:lumMod val="75000"/>
                  </a:schemeClr>
                </a:solidFill>
                <a:effectLst>
                  <a:outerShdw blurRad="38100" dist="38100" dir="2700000" algn="tl">
                    <a:srgbClr val="000000">
                      <a:alpha val="43137"/>
                    </a:srgbClr>
                  </a:outerShdw>
                </a:effectLst>
              </a:rPr>
              <a:t> + 2H</a:t>
            </a:r>
            <a:r>
              <a:rPr lang="pt-BR" b="1" baseline="-25000" dirty="0">
                <a:solidFill>
                  <a:schemeClr val="accent6">
                    <a:lumMod val="75000"/>
                  </a:schemeClr>
                </a:solidFill>
                <a:effectLst>
                  <a:outerShdw blurRad="38100" dist="38100" dir="2700000" algn="tl">
                    <a:srgbClr val="000000">
                      <a:alpha val="43137"/>
                    </a:srgbClr>
                  </a:outerShdw>
                </a:effectLst>
              </a:rPr>
              <a:t>2</a:t>
            </a:r>
            <a:r>
              <a:rPr lang="pt-BR" b="1" dirty="0">
                <a:solidFill>
                  <a:schemeClr val="accent6">
                    <a:lumMod val="75000"/>
                  </a:schemeClr>
                </a:solidFill>
                <a:effectLst>
                  <a:outerShdw blurRad="38100" dist="38100" dir="2700000" algn="tl">
                    <a:srgbClr val="000000">
                      <a:alpha val="43137"/>
                    </a:srgbClr>
                  </a:outerShdw>
                </a:effectLst>
              </a:rPr>
              <a:t>O + 4e</a:t>
            </a:r>
            <a:r>
              <a:rPr lang="pt-BR" b="1" baseline="30000" dirty="0">
                <a:solidFill>
                  <a:schemeClr val="accent6">
                    <a:lumMod val="75000"/>
                  </a:schemeClr>
                </a:solidFill>
                <a:effectLst>
                  <a:outerShdw blurRad="38100" dist="38100" dir="2700000" algn="tl">
                    <a:srgbClr val="000000">
                      <a:alpha val="43137"/>
                    </a:srgbClr>
                  </a:outerShdw>
                </a:effectLst>
              </a:rPr>
              <a:t>-</a:t>
            </a:r>
            <a:endParaRPr lang="pt-BR" b="1" dirty="0">
              <a:solidFill>
                <a:schemeClr val="accent6">
                  <a:lumMod val="75000"/>
                </a:schemeClr>
              </a:solidFill>
              <a:effectLst>
                <a:outerShdw blurRad="38100" dist="38100" dir="2700000" algn="tl">
                  <a:srgbClr val="000000">
                    <a:alpha val="43137"/>
                  </a:srgbClr>
                </a:outerShdw>
              </a:effectLst>
            </a:endParaRPr>
          </a:p>
          <a:p>
            <a:pPr algn="ctr"/>
            <a:r>
              <a:rPr lang="pt-BR" dirty="0">
                <a:solidFill>
                  <a:schemeClr val="accent6">
                    <a:lumMod val="75000"/>
                  </a:schemeClr>
                </a:solidFill>
              </a:rPr>
              <a:t>or</a:t>
            </a:r>
            <a:r>
              <a:rPr lang="pt-BR" b="1" dirty="0">
                <a:solidFill>
                  <a:schemeClr val="accent6">
                    <a:lumMod val="75000"/>
                  </a:schemeClr>
                </a:solidFill>
                <a:effectLst>
                  <a:outerShdw blurRad="38100" dist="38100" dir="2700000" algn="tl">
                    <a:srgbClr val="000000">
                      <a:alpha val="43137"/>
                    </a:srgbClr>
                  </a:outerShdw>
                </a:effectLst>
              </a:rPr>
              <a:t> 4OH</a:t>
            </a:r>
            <a:r>
              <a:rPr lang="pt-BR" b="1" baseline="30000" dirty="0">
                <a:solidFill>
                  <a:schemeClr val="accent6">
                    <a:lumMod val="75000"/>
                  </a:schemeClr>
                </a:solidFill>
                <a:effectLst>
                  <a:outerShdw blurRad="38100" dist="38100" dir="2700000" algn="tl">
                    <a:srgbClr val="000000">
                      <a:alpha val="43137"/>
                    </a:srgbClr>
                  </a:outerShdw>
                </a:effectLst>
              </a:rPr>
              <a:t>-</a:t>
            </a:r>
            <a:r>
              <a:rPr lang="pt-BR" b="1" dirty="0">
                <a:solidFill>
                  <a:schemeClr val="accent6">
                    <a:lumMod val="75000"/>
                  </a:schemeClr>
                </a:solidFill>
                <a:effectLst>
                  <a:outerShdw blurRad="38100" dist="38100" dir="2700000" algn="tl">
                    <a:srgbClr val="000000">
                      <a:alpha val="43137"/>
                    </a:srgbClr>
                  </a:outerShdw>
                </a:effectLst>
              </a:rPr>
              <a:t> – 4e</a:t>
            </a:r>
            <a:r>
              <a:rPr lang="pt-BR" b="1" baseline="30000" dirty="0">
                <a:solidFill>
                  <a:schemeClr val="accent6">
                    <a:lumMod val="75000"/>
                  </a:schemeClr>
                </a:solidFill>
                <a:effectLst>
                  <a:outerShdw blurRad="38100" dist="38100" dir="2700000" algn="tl">
                    <a:srgbClr val="000000">
                      <a:alpha val="43137"/>
                    </a:srgbClr>
                  </a:outerShdw>
                </a:effectLst>
              </a:rPr>
              <a:t>-</a:t>
            </a:r>
            <a:r>
              <a:rPr lang="pt-BR" b="1" dirty="0">
                <a:solidFill>
                  <a:schemeClr val="accent6">
                    <a:lumMod val="75000"/>
                  </a:schemeClr>
                </a:solidFill>
                <a:effectLst>
                  <a:outerShdw blurRad="38100" dist="38100" dir="2700000" algn="tl">
                    <a:srgbClr val="000000">
                      <a:alpha val="43137"/>
                    </a:srgbClr>
                  </a:outerShdw>
                </a:effectLst>
              </a:rPr>
              <a:t> → O</a:t>
            </a:r>
            <a:r>
              <a:rPr lang="pt-BR" b="1" baseline="-25000" dirty="0">
                <a:solidFill>
                  <a:schemeClr val="accent6">
                    <a:lumMod val="75000"/>
                  </a:schemeClr>
                </a:solidFill>
                <a:effectLst>
                  <a:outerShdw blurRad="38100" dist="38100" dir="2700000" algn="tl">
                    <a:srgbClr val="000000">
                      <a:alpha val="43137"/>
                    </a:srgbClr>
                  </a:outerShdw>
                </a:effectLst>
              </a:rPr>
              <a:t>2</a:t>
            </a:r>
            <a:r>
              <a:rPr lang="pt-BR" b="1" dirty="0">
                <a:solidFill>
                  <a:schemeClr val="accent6">
                    <a:lumMod val="75000"/>
                  </a:schemeClr>
                </a:solidFill>
                <a:effectLst>
                  <a:outerShdw blurRad="38100" dist="38100" dir="2700000" algn="tl">
                    <a:srgbClr val="000000">
                      <a:alpha val="43137"/>
                    </a:srgbClr>
                  </a:outerShdw>
                </a:effectLst>
              </a:rPr>
              <a:t> + 2H</a:t>
            </a:r>
            <a:r>
              <a:rPr lang="pt-BR" b="1" baseline="-25000" dirty="0">
                <a:solidFill>
                  <a:schemeClr val="accent6">
                    <a:lumMod val="75000"/>
                  </a:schemeClr>
                </a:solidFill>
                <a:effectLst>
                  <a:outerShdw blurRad="38100" dist="38100" dir="2700000" algn="tl">
                    <a:srgbClr val="000000">
                      <a:alpha val="43137"/>
                    </a:srgbClr>
                  </a:outerShdw>
                </a:effectLst>
              </a:rPr>
              <a:t>2</a:t>
            </a:r>
            <a:r>
              <a:rPr lang="pt-BR" b="1" dirty="0">
                <a:solidFill>
                  <a:schemeClr val="accent6">
                    <a:lumMod val="75000"/>
                  </a:schemeClr>
                </a:solidFill>
                <a:effectLst>
                  <a:outerShdw blurRad="38100" dist="38100" dir="2700000" algn="tl">
                    <a:srgbClr val="000000">
                      <a:alpha val="43137"/>
                    </a:srgbClr>
                  </a:outerShdw>
                </a:effectLst>
              </a:rPr>
              <a:t>O</a:t>
            </a:r>
            <a:endParaRPr lang="en-US" b="1" dirty="0">
              <a:solidFill>
                <a:schemeClr val="accent6">
                  <a:lumMod val="75000"/>
                </a:schemeClr>
              </a:solidFill>
              <a:effectLst>
                <a:outerShdw blurRad="38100" dist="38100" dir="2700000" algn="tl">
                  <a:srgbClr val="000000">
                    <a:alpha val="43137"/>
                  </a:srgbClr>
                </a:outerShdw>
              </a:effectLst>
            </a:endParaRPr>
          </a:p>
        </p:txBody>
      </p:sp>
      <p:grpSp>
        <p:nvGrpSpPr>
          <p:cNvPr id="16" name="Group 15"/>
          <p:cNvGrpSpPr/>
          <p:nvPr/>
        </p:nvGrpSpPr>
        <p:grpSpPr>
          <a:xfrm>
            <a:off x="157775" y="3195788"/>
            <a:ext cx="4266299" cy="1660795"/>
            <a:chOff x="200996" y="2883870"/>
            <a:chExt cx="4266299" cy="1660795"/>
          </a:xfrm>
        </p:grpSpPr>
        <p:grpSp>
          <p:nvGrpSpPr>
            <p:cNvPr id="17" name="Group 16"/>
            <p:cNvGrpSpPr/>
            <p:nvPr/>
          </p:nvGrpSpPr>
          <p:grpSpPr>
            <a:xfrm>
              <a:off x="1635757" y="2883870"/>
              <a:ext cx="913337" cy="1588672"/>
              <a:chOff x="5852018" y="1681453"/>
              <a:chExt cx="1616428" cy="2713014"/>
            </a:xfrm>
          </p:grpSpPr>
          <p:sp>
            <p:nvSpPr>
              <p:cNvPr id="24" name="Rectangle 23"/>
              <p:cNvSpPr/>
              <p:nvPr/>
            </p:nvSpPr>
            <p:spPr>
              <a:xfrm>
                <a:off x="6381110" y="1988840"/>
                <a:ext cx="663267" cy="320553"/>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p:cNvSpPr/>
              <p:nvPr/>
            </p:nvSpPr>
            <p:spPr>
              <a:xfrm>
                <a:off x="6523071" y="2162088"/>
                <a:ext cx="409192" cy="3725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6" name="Rectangle 25"/>
              <p:cNvSpPr/>
              <p:nvPr/>
            </p:nvSpPr>
            <p:spPr>
              <a:xfrm>
                <a:off x="6282795" y="2229608"/>
                <a:ext cx="238880" cy="191944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Rectangle 26"/>
              <p:cNvSpPr/>
              <p:nvPr/>
            </p:nvSpPr>
            <p:spPr>
              <a:xfrm>
                <a:off x="6660233" y="1872134"/>
                <a:ext cx="98315" cy="1887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Rectangle 27"/>
              <p:cNvSpPr/>
              <p:nvPr/>
            </p:nvSpPr>
            <p:spPr>
              <a:xfrm>
                <a:off x="6925408" y="2229607"/>
                <a:ext cx="238880" cy="191944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ound Same Side Corner Rectangle 28"/>
              <p:cNvSpPr/>
              <p:nvPr/>
            </p:nvSpPr>
            <p:spPr>
              <a:xfrm rot="10800000">
                <a:off x="6045723" y="3306764"/>
                <a:ext cx="1404000" cy="1027134"/>
              </a:xfrm>
              <a:prstGeom prst="round2SameRect">
                <a:avLst>
                  <a:gd name="adj1" fmla="val 10924"/>
                  <a:gd name="adj2" fmla="val 0"/>
                </a:avLst>
              </a:prstGeom>
              <a:gradFill>
                <a:gsLst>
                  <a:gs pos="0">
                    <a:schemeClr val="accent1">
                      <a:tint val="100000"/>
                      <a:shade val="100000"/>
                      <a:satMod val="130000"/>
                      <a:alpha val="17000"/>
                    </a:schemeClr>
                  </a:gs>
                  <a:gs pos="100000">
                    <a:schemeClr val="accent1">
                      <a:tint val="50000"/>
                      <a:shade val="100000"/>
                      <a:satMod val="350000"/>
                    </a:schemeClr>
                  </a:gs>
                </a:gsLs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6660232" y="1916848"/>
                <a:ext cx="0" cy="1440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758548" y="1872134"/>
                <a:ext cx="0" cy="2520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07503" y="1753071"/>
                <a:ext cx="288032" cy="307777"/>
              </a:xfrm>
              <a:prstGeom prst="rect">
                <a:avLst/>
              </a:prstGeom>
              <a:noFill/>
            </p:spPr>
            <p:txBody>
              <a:bodyPr wrap="square" rtlCol="0">
                <a:spAutoFit/>
              </a:bodyPr>
              <a:lstStyle/>
              <a:p>
                <a:r>
                  <a:rPr lang="en-GB" sz="1400"/>
                  <a:t>+</a:t>
                </a:r>
              </a:p>
            </p:txBody>
          </p:sp>
          <p:sp>
            <p:nvSpPr>
              <p:cNvPr id="33" name="TextBox 32"/>
              <p:cNvSpPr txBox="1"/>
              <p:nvPr/>
            </p:nvSpPr>
            <p:spPr>
              <a:xfrm>
                <a:off x="6423247" y="1681453"/>
                <a:ext cx="288032" cy="307777"/>
              </a:xfrm>
              <a:prstGeom prst="rect">
                <a:avLst/>
              </a:prstGeom>
              <a:noFill/>
            </p:spPr>
            <p:txBody>
              <a:bodyPr wrap="square" rtlCol="0">
                <a:spAutoFit/>
              </a:bodyPr>
              <a:lstStyle/>
              <a:p>
                <a:r>
                  <a:rPr lang="en-GB" sz="1400"/>
                  <a:t>_</a:t>
                </a:r>
              </a:p>
            </p:txBody>
          </p:sp>
          <p:sp>
            <p:nvSpPr>
              <p:cNvPr id="34" name="Oval 33"/>
              <p:cNvSpPr>
                <a:spLocks noChangeAspect="1"/>
              </p:cNvSpPr>
              <p:nvPr/>
            </p:nvSpPr>
            <p:spPr>
              <a:xfrm>
                <a:off x="6176010" y="346668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sp>
            <p:nvSpPr>
              <p:cNvPr id="35" name="Oval 34"/>
              <p:cNvSpPr>
                <a:spLocks noChangeAspect="1"/>
              </p:cNvSpPr>
              <p:nvPr/>
            </p:nvSpPr>
            <p:spPr>
              <a:xfrm>
                <a:off x="6789180" y="333995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6" name="Oval 35"/>
              <p:cNvSpPr>
                <a:spLocks noChangeAspect="1"/>
              </p:cNvSpPr>
              <p:nvPr/>
            </p:nvSpPr>
            <p:spPr>
              <a:xfrm>
                <a:off x="6824117" y="4024519"/>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7" name="Oval 36"/>
              <p:cNvSpPr>
                <a:spLocks noChangeAspect="1"/>
              </p:cNvSpPr>
              <p:nvPr/>
            </p:nvSpPr>
            <p:spPr>
              <a:xfrm>
                <a:off x="6865319" y="360588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8" name="Oval 37"/>
              <p:cNvSpPr>
                <a:spLocks noChangeAspect="1"/>
              </p:cNvSpPr>
              <p:nvPr/>
            </p:nvSpPr>
            <p:spPr>
              <a:xfrm>
                <a:off x="7014333" y="3393753"/>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39" name="Oval 38"/>
              <p:cNvSpPr>
                <a:spLocks noChangeAspect="1"/>
              </p:cNvSpPr>
              <p:nvPr/>
            </p:nvSpPr>
            <p:spPr>
              <a:xfrm>
                <a:off x="7044377" y="381801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a:t>-</a:t>
                </a:r>
              </a:p>
            </p:txBody>
          </p:sp>
          <p:sp>
            <p:nvSpPr>
              <p:cNvPr id="40" name="Oval 39"/>
              <p:cNvSpPr>
                <a:spLocks noChangeAspect="1"/>
              </p:cNvSpPr>
              <p:nvPr/>
            </p:nvSpPr>
            <p:spPr>
              <a:xfrm>
                <a:off x="6405567" y="4058151"/>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sp>
            <p:nvSpPr>
              <p:cNvPr id="41" name="Oval 40"/>
              <p:cNvSpPr>
                <a:spLocks noChangeAspect="1"/>
              </p:cNvSpPr>
              <p:nvPr/>
            </p:nvSpPr>
            <p:spPr>
              <a:xfrm>
                <a:off x="6176010" y="390801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sp>
            <p:nvSpPr>
              <p:cNvPr id="42" name="Oval 41"/>
              <p:cNvSpPr>
                <a:spLocks noChangeAspect="1"/>
              </p:cNvSpPr>
              <p:nvPr/>
            </p:nvSpPr>
            <p:spPr>
              <a:xfrm>
                <a:off x="6364239" y="366763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sp>
            <p:nvSpPr>
              <p:cNvPr id="43" name="Oval 42"/>
              <p:cNvSpPr>
                <a:spLocks noChangeAspect="1"/>
              </p:cNvSpPr>
              <p:nvPr/>
            </p:nvSpPr>
            <p:spPr>
              <a:xfrm>
                <a:off x="6413745" y="3339000"/>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a:t>+</a:t>
                </a:r>
              </a:p>
            </p:txBody>
          </p:sp>
          <p:pic>
            <p:nvPicPr>
              <p:cNvPr id="44" name="Picture 43"/>
              <p:cNvPicPr>
                <a:picLocks noChangeAspect="1"/>
              </p:cNvPicPr>
              <p:nvPr/>
            </p:nvPicPr>
            <p:blipFill>
              <a:blip r:embed="rId3"/>
              <a:stretch>
                <a:fillRect/>
              </a:stretch>
            </p:blipFill>
            <p:spPr>
              <a:xfrm>
                <a:off x="5852018" y="2581758"/>
                <a:ext cx="1616428" cy="1812709"/>
              </a:xfrm>
              <a:prstGeom prst="rect">
                <a:avLst/>
              </a:prstGeom>
            </p:spPr>
          </p:pic>
        </p:grpSp>
        <p:sp>
          <p:nvSpPr>
            <p:cNvPr id="18" name="TextBox 17"/>
            <p:cNvSpPr txBox="1"/>
            <p:nvPr/>
          </p:nvSpPr>
          <p:spPr>
            <a:xfrm>
              <a:off x="200996" y="3516346"/>
              <a:ext cx="1367215" cy="338554"/>
            </a:xfrm>
            <a:prstGeom prst="rect">
              <a:avLst/>
            </a:prstGeom>
            <a:noFill/>
          </p:spPr>
          <p:txBody>
            <a:bodyPr wrap="square" rtlCol="0">
              <a:spAutoFit/>
            </a:bodyPr>
            <a:lstStyle/>
            <a:p>
              <a:pPr algn="r"/>
              <a:r>
                <a:rPr lang="en-GB" sz="1600" b="1" dirty="0"/>
                <a:t>Hydrogen H</a:t>
              </a:r>
              <a:r>
                <a:rPr lang="en-GB" sz="1600" b="1" baseline="30000" dirty="0"/>
                <a:t>+</a:t>
              </a:r>
            </a:p>
          </p:txBody>
        </p:sp>
        <p:sp>
          <p:nvSpPr>
            <p:cNvPr id="19" name="TextBox 18"/>
            <p:cNvSpPr txBox="1"/>
            <p:nvPr/>
          </p:nvSpPr>
          <p:spPr>
            <a:xfrm>
              <a:off x="2596433" y="3251576"/>
              <a:ext cx="1870862" cy="338554"/>
            </a:xfrm>
            <a:prstGeom prst="rect">
              <a:avLst/>
            </a:prstGeom>
            <a:noFill/>
          </p:spPr>
          <p:txBody>
            <a:bodyPr wrap="square" rtlCol="0">
              <a:spAutoFit/>
            </a:bodyPr>
            <a:lstStyle/>
            <a:p>
              <a:pPr algn="ctr"/>
              <a:r>
                <a:rPr lang="en-GB" sz="1600" b="1" dirty="0"/>
                <a:t>Chloride Cl </a:t>
              </a:r>
              <a:r>
                <a:rPr lang="en-GB" sz="1600" b="1" baseline="30000" dirty="0"/>
                <a:t>-</a:t>
              </a:r>
            </a:p>
          </p:txBody>
        </p:sp>
        <p:sp>
          <p:nvSpPr>
            <p:cNvPr id="20" name="TextBox 19"/>
            <p:cNvSpPr txBox="1"/>
            <p:nvPr/>
          </p:nvSpPr>
          <p:spPr>
            <a:xfrm>
              <a:off x="2715958" y="3959890"/>
              <a:ext cx="1584176" cy="584775"/>
            </a:xfrm>
            <a:prstGeom prst="rect">
              <a:avLst/>
            </a:prstGeom>
            <a:noFill/>
          </p:spPr>
          <p:txBody>
            <a:bodyPr wrap="square" rtlCol="0">
              <a:spAutoFit/>
            </a:bodyPr>
            <a:lstStyle/>
            <a:p>
              <a:pPr algn="ctr"/>
              <a:r>
                <a:rPr lang="en-GB" sz="1600" b="1" dirty="0"/>
                <a:t>Sodium chloride solution</a:t>
              </a:r>
            </a:p>
          </p:txBody>
        </p:sp>
        <p:cxnSp>
          <p:nvCxnSpPr>
            <p:cNvPr id="21" name="Straight Arrow Connector 20"/>
            <p:cNvCxnSpPr/>
            <p:nvPr/>
          </p:nvCxnSpPr>
          <p:spPr>
            <a:xfrm>
              <a:off x="1472303" y="3743341"/>
              <a:ext cx="406069" cy="258086"/>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a:off x="2394211" y="3516347"/>
              <a:ext cx="631533" cy="419858"/>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H="1">
              <a:off x="2411187" y="4275604"/>
              <a:ext cx="558889" cy="105403"/>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sp>
        <p:nvSpPr>
          <p:cNvPr id="12" name="TextBox 11">
            <a:extLst>
              <a:ext uri="{FF2B5EF4-FFF2-40B4-BE49-F238E27FC236}">
                <a16:creationId xmlns:a16="http://schemas.microsoft.com/office/drawing/2014/main" id="{DC774160-0701-4654-BD1E-DA217DE79B95}"/>
              </a:ext>
            </a:extLst>
          </p:cNvPr>
          <p:cNvSpPr txBox="1"/>
          <p:nvPr/>
        </p:nvSpPr>
        <p:spPr>
          <a:xfrm>
            <a:off x="3308901" y="5479657"/>
            <a:ext cx="1667444" cy="923330"/>
          </a:xfrm>
          <a:prstGeom prst="rect">
            <a:avLst/>
          </a:prstGeom>
          <a:solidFill>
            <a:schemeClr val="accent6">
              <a:lumMod val="20000"/>
              <a:lumOff val="80000"/>
            </a:schemeClr>
          </a:solidFill>
          <a:ln>
            <a:solidFill>
              <a:schemeClr val="accent6">
                <a:lumMod val="75000"/>
              </a:schemeClr>
            </a:solidFill>
          </a:ln>
        </p:spPr>
        <p:txBody>
          <a:bodyPr wrap="none" rtlCol="0">
            <a:spAutoFit/>
          </a:bodyPr>
          <a:lstStyle/>
          <a:p>
            <a:r>
              <a:rPr lang="en-GB" b="1" dirty="0"/>
              <a:t>Higher:</a:t>
            </a:r>
          </a:p>
          <a:p>
            <a:r>
              <a:rPr lang="en-GB" dirty="0"/>
              <a:t>At the cathode</a:t>
            </a:r>
          </a:p>
          <a:p>
            <a:r>
              <a:rPr lang="en-GB" b="1" dirty="0">
                <a:solidFill>
                  <a:schemeClr val="accent6">
                    <a:lumMod val="75000"/>
                  </a:schemeClr>
                </a:solidFill>
                <a:effectLst>
                  <a:outerShdw blurRad="38100" dist="38100" dir="2700000" algn="tl">
                    <a:srgbClr val="000000">
                      <a:alpha val="43137"/>
                    </a:srgbClr>
                  </a:outerShdw>
                </a:effectLst>
              </a:rPr>
              <a:t>2H</a:t>
            </a:r>
            <a:r>
              <a:rPr lang="en-GB" b="1" baseline="30000" dirty="0">
                <a:solidFill>
                  <a:schemeClr val="accent6">
                    <a:lumMod val="75000"/>
                  </a:schemeClr>
                </a:solidFill>
                <a:effectLst>
                  <a:outerShdw blurRad="38100" dist="38100" dir="2700000" algn="tl">
                    <a:srgbClr val="000000">
                      <a:alpha val="43137"/>
                    </a:srgbClr>
                  </a:outerShdw>
                </a:effectLst>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H</a:t>
            </a:r>
            <a:r>
              <a:rPr lang="en-GB"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a:t>
            </a:r>
            <a:endParaRPr lang="en-GB" b="1" baseline="-25000" dirty="0">
              <a:solidFill>
                <a:schemeClr val="accent6">
                  <a:lumMod val="75000"/>
                </a:schemeClr>
              </a:solidFill>
              <a:effectLst>
                <a:outerShdw blurRad="38100" dist="38100" dir="2700000" algn="tl">
                  <a:srgbClr val="000000">
                    <a:alpha val="43137"/>
                  </a:srgbClr>
                </a:outerShdw>
              </a:effectLst>
            </a:endParaRPr>
          </a:p>
        </p:txBody>
      </p:sp>
      <p:sp>
        <p:nvSpPr>
          <p:cNvPr id="13" name="TextBox 12">
            <a:extLst>
              <a:ext uri="{FF2B5EF4-FFF2-40B4-BE49-F238E27FC236}">
                <a16:creationId xmlns:a16="http://schemas.microsoft.com/office/drawing/2014/main" id="{2D3DA521-8334-4D9E-A68C-D99A217B1051}"/>
              </a:ext>
            </a:extLst>
          </p:cNvPr>
          <p:cNvSpPr txBox="1"/>
          <p:nvPr/>
        </p:nvSpPr>
        <p:spPr>
          <a:xfrm>
            <a:off x="5127994" y="5628258"/>
            <a:ext cx="3852471" cy="9233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b="1" dirty="0"/>
              <a:t>Higher:</a:t>
            </a:r>
          </a:p>
          <a:p>
            <a:r>
              <a:rPr lang="en-GB" dirty="0"/>
              <a:t>At the anode</a:t>
            </a:r>
          </a:p>
          <a:p>
            <a:r>
              <a:rPr lang="en-GB" b="1" dirty="0">
                <a:solidFill>
                  <a:schemeClr val="accent6">
                    <a:lumMod val="75000"/>
                  </a:schemeClr>
                </a:solidFill>
                <a:effectLst>
                  <a:outerShdw blurRad="38100" dist="38100" dir="2700000" algn="tl">
                    <a:srgbClr val="000000">
                      <a:alpha val="43137"/>
                    </a:srgbClr>
                  </a:outerShdw>
                </a:effectLst>
              </a:rPr>
              <a:t>2Cl </a:t>
            </a:r>
            <a:r>
              <a:rPr lang="en-GB" b="1" baseline="30000" dirty="0">
                <a:solidFill>
                  <a:schemeClr val="accent6">
                    <a:lumMod val="75000"/>
                  </a:schemeClr>
                </a:solidFill>
                <a:effectLst>
                  <a:outerShdw blurRad="38100" dist="38100" dir="2700000" algn="tl">
                    <a:srgbClr val="000000">
                      <a:alpha val="43137"/>
                    </a:srgbClr>
                  </a:outerShdw>
                </a:effectLst>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Cl</a:t>
            </a:r>
            <a:r>
              <a:rPr lang="en-GB"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dirty="0">
                <a:solidFill>
                  <a:schemeClr val="accent6">
                    <a:lumMod val="75000"/>
                  </a:schemeClr>
                </a:solidFill>
                <a:effectLst>
                  <a:outerShdw blurRad="38100" dist="38100" dir="2700000" algn="tl">
                    <a:srgbClr val="000000">
                      <a:alpha val="43137"/>
                    </a:srgbClr>
                  </a:outerShdw>
                </a:effectLst>
              </a:rPr>
              <a:t>or </a:t>
            </a:r>
            <a:r>
              <a:rPr lang="en-GB" b="1" dirty="0">
                <a:solidFill>
                  <a:schemeClr val="accent6">
                    <a:lumMod val="75000"/>
                  </a:schemeClr>
                </a:solidFill>
                <a:effectLst>
                  <a:outerShdw blurRad="38100" dist="38100" dir="2700000" algn="tl">
                    <a:srgbClr val="000000">
                      <a:alpha val="43137"/>
                    </a:srgbClr>
                  </a:outerShdw>
                </a:effectLst>
              </a:rPr>
              <a:t>   2Cl </a:t>
            </a:r>
            <a:r>
              <a:rPr lang="en-GB" b="1" baseline="30000" dirty="0">
                <a:solidFill>
                  <a:schemeClr val="accent6">
                    <a:lumMod val="75000"/>
                  </a:schemeClr>
                </a:solidFill>
                <a:effectLst>
                  <a:outerShdw blurRad="38100" dist="38100" dir="2700000" algn="tl">
                    <a:srgbClr val="000000">
                      <a:alpha val="43137"/>
                    </a:srgbClr>
                  </a:outerShdw>
                </a:effectLst>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Cl</a:t>
            </a:r>
            <a:r>
              <a:rPr lang="en-GB"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a:t>
            </a:r>
            <a:endParaRPr lang="en-GB" b="1" baseline="30000" dirty="0">
              <a:solidFill>
                <a:schemeClr val="accent6">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09765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6" name="Table 5"/>
          <p:cNvGraphicFramePr>
            <a:graphicFrameLocks noGrp="1"/>
          </p:cNvGraphicFramePr>
          <p:nvPr>
            <p:extLst>
              <p:ext uri="{D42A27DB-BD31-4B8C-83A1-F6EECF244321}">
                <p14:modId xmlns:p14="http://schemas.microsoft.com/office/powerpoint/2010/main" val="1302438554"/>
              </p:ext>
            </p:extLst>
          </p:nvPr>
        </p:nvGraphicFramePr>
        <p:xfrm>
          <a:off x="179512" y="869175"/>
          <a:ext cx="8784975" cy="3048000"/>
        </p:xfrm>
        <a:graphic>
          <a:graphicData uri="http://schemas.openxmlformats.org/drawingml/2006/table">
            <a:tbl>
              <a:tblPr firstRow="1" bandRow="1">
                <a:tableStyleId>{10A1B5D5-9B99-4C35-A422-299274C87663}</a:tableStyleId>
              </a:tblPr>
              <a:tblGrid>
                <a:gridCol w="2928325">
                  <a:extLst>
                    <a:ext uri="{9D8B030D-6E8A-4147-A177-3AD203B41FA5}">
                      <a16:colId xmlns:a16="http://schemas.microsoft.com/office/drawing/2014/main" val="20000"/>
                    </a:ext>
                  </a:extLst>
                </a:gridCol>
                <a:gridCol w="2928325">
                  <a:extLst>
                    <a:ext uri="{9D8B030D-6E8A-4147-A177-3AD203B41FA5}">
                      <a16:colId xmlns:a16="http://schemas.microsoft.com/office/drawing/2014/main" val="20001"/>
                    </a:ext>
                  </a:extLst>
                </a:gridCol>
                <a:gridCol w="2928325">
                  <a:extLst>
                    <a:ext uri="{9D8B030D-6E8A-4147-A177-3AD203B41FA5}">
                      <a16:colId xmlns:a16="http://schemas.microsoft.com/office/drawing/2014/main" val="20002"/>
                    </a:ext>
                  </a:extLst>
                </a:gridCol>
              </a:tblGrid>
              <a:tr h="370840">
                <a:tc>
                  <a:txBody>
                    <a:bodyPr/>
                    <a:lstStyle/>
                    <a:p>
                      <a:pPr algn="ctr"/>
                      <a:r>
                        <a:rPr lang="en-GB" sz="2400" dirty="0">
                          <a:solidFill>
                            <a:schemeClr val="tx1"/>
                          </a:solidFill>
                        </a:rPr>
                        <a:t>Copper chloride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solidFill>
                            <a:schemeClr val="tx1"/>
                          </a:solidFill>
                        </a:rPr>
                        <a:t>Sodium </a:t>
                      </a:r>
                      <a:r>
                        <a:rPr lang="en-GB" sz="2400" dirty="0" err="1">
                          <a:solidFill>
                            <a:schemeClr val="tx1"/>
                          </a:solidFill>
                        </a:rPr>
                        <a:t>sulfate</a:t>
                      </a:r>
                      <a:endParaRPr lang="en-GB"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solidFill>
                            <a:schemeClr val="tx1"/>
                          </a:solidFill>
                        </a:rPr>
                        <a:t>Acidified (H</a:t>
                      </a:r>
                      <a:r>
                        <a:rPr lang="en-GB" sz="2400" baseline="-25000" dirty="0">
                          <a:solidFill>
                            <a:schemeClr val="tx1"/>
                          </a:solidFill>
                        </a:rPr>
                        <a:t>2</a:t>
                      </a:r>
                      <a:r>
                        <a:rPr lang="en-GB" sz="2400" dirty="0">
                          <a:solidFill>
                            <a:schemeClr val="tx1"/>
                          </a:solidFill>
                        </a:rPr>
                        <a:t>SO</a:t>
                      </a:r>
                      <a:r>
                        <a:rPr lang="en-GB" sz="2400" baseline="-25000" dirty="0">
                          <a:solidFill>
                            <a:schemeClr val="tx1"/>
                          </a:solidFill>
                        </a:rPr>
                        <a:t>4</a:t>
                      </a:r>
                      <a:r>
                        <a:rPr lang="en-GB" sz="2400" dirty="0">
                          <a:solidFill>
                            <a:schemeClr val="tx1"/>
                          </a:solidFill>
                        </a:rPr>
                        <a:t>)</a:t>
                      </a:r>
                      <a:r>
                        <a:rPr lang="en-GB" sz="2400" baseline="0" dirty="0">
                          <a:solidFill>
                            <a:schemeClr val="tx1"/>
                          </a:solidFill>
                        </a:rPr>
                        <a:t> water</a:t>
                      </a:r>
                      <a:endParaRPr lang="en-GB" sz="2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a:r>
                        <a:rPr lang="en-GB" sz="2000" dirty="0"/>
                        <a:t>Forms</a:t>
                      </a:r>
                      <a:r>
                        <a:rPr lang="en-GB" sz="2000" baseline="0" dirty="0"/>
                        <a:t> Cu and Cl</a:t>
                      </a:r>
                      <a:r>
                        <a:rPr lang="en-GB" sz="2000" baseline="-25000" dirty="0"/>
                        <a:t>2</a:t>
                      </a:r>
                    </a:p>
                    <a:p>
                      <a:pPr algn="l"/>
                      <a:endParaRPr lang="en-GB" sz="2000" baseline="0" dirty="0"/>
                    </a:p>
                    <a:p>
                      <a:pPr algn="l"/>
                      <a:r>
                        <a:rPr lang="en-GB" sz="2000" baseline="0" dirty="0"/>
                        <a:t>Higher: </a:t>
                      </a:r>
                    </a:p>
                    <a:p>
                      <a:pPr algn="l"/>
                      <a:r>
                        <a:rPr lang="en-GB" sz="2000" baseline="0" dirty="0"/>
                        <a:t>At the cathode</a:t>
                      </a:r>
                    </a:p>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chemeClr val="accent6">
                              <a:lumMod val="75000"/>
                            </a:schemeClr>
                          </a:solidFill>
                          <a:effectLst>
                            <a:outerShdw blurRad="38100" dist="38100" dir="2700000" algn="tl">
                              <a:srgbClr val="000000">
                                <a:alpha val="43137"/>
                              </a:srgbClr>
                            </a:outerShdw>
                          </a:effectLst>
                        </a:rPr>
                        <a:t>Cu </a:t>
                      </a:r>
                      <a:r>
                        <a:rPr lang="en-GB" sz="2000" b="1" baseline="30000" dirty="0">
                          <a:solidFill>
                            <a:schemeClr val="accent6">
                              <a:lumMod val="75000"/>
                            </a:schemeClr>
                          </a:solidFill>
                          <a:effectLst>
                            <a:outerShdw blurRad="38100" dist="38100" dir="2700000" algn="tl">
                              <a:srgbClr val="000000">
                                <a:alpha val="43137"/>
                              </a:srgbClr>
                            </a:outerShdw>
                          </a:effectLst>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Cu</a:t>
                      </a:r>
                      <a:endParaRPr lang="en-GB" sz="2000" baseline="0" dirty="0"/>
                    </a:p>
                    <a:p>
                      <a:pPr algn="l"/>
                      <a:r>
                        <a:rPr lang="en-GB" sz="2000" baseline="0" dirty="0"/>
                        <a:t>At the anode</a:t>
                      </a:r>
                    </a:p>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chemeClr val="accent6">
                              <a:lumMod val="75000"/>
                            </a:schemeClr>
                          </a:solidFill>
                          <a:effectLst>
                            <a:outerShdw blurRad="38100" dist="38100" dir="2700000" algn="tl">
                              <a:srgbClr val="000000">
                                <a:alpha val="43137"/>
                              </a:srgbClr>
                            </a:outerShdw>
                          </a:effectLst>
                        </a:rPr>
                        <a:t>2Cl </a:t>
                      </a:r>
                      <a:r>
                        <a:rPr lang="en-GB" sz="2000" b="1" baseline="30000" dirty="0">
                          <a:solidFill>
                            <a:schemeClr val="accent6">
                              <a:lumMod val="75000"/>
                            </a:schemeClr>
                          </a:solidFill>
                          <a:effectLst>
                            <a:outerShdw blurRad="38100" dist="38100" dir="2700000" algn="tl">
                              <a:srgbClr val="000000">
                                <a:alpha val="43137"/>
                              </a:srgbClr>
                            </a:outerShdw>
                          </a:effectLst>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Cl</a:t>
                      </a:r>
                      <a:r>
                        <a:rPr lang="en-GB" sz="2000"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a:t>
                      </a:r>
                      <a:endParaRPr lang="en-GB" sz="2000" b="1" baseline="30000" dirty="0">
                        <a:solidFill>
                          <a:schemeClr val="accent6">
                            <a:lumMod val="75000"/>
                          </a:schemeClr>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GB" sz="2000" dirty="0"/>
                        <a:t>Forms H</a:t>
                      </a:r>
                      <a:r>
                        <a:rPr lang="en-GB" sz="2000" baseline="-25000" dirty="0"/>
                        <a:t>2</a:t>
                      </a:r>
                      <a:r>
                        <a:rPr lang="en-GB" sz="2000" dirty="0"/>
                        <a:t> and O</a:t>
                      </a:r>
                      <a:r>
                        <a:rPr lang="en-GB" sz="2000" baseline="-25000" dirty="0"/>
                        <a:t>2</a:t>
                      </a:r>
                    </a:p>
                    <a:p>
                      <a:pPr algn="l"/>
                      <a:endParaRPr lang="en-GB" sz="2000" dirty="0"/>
                    </a:p>
                    <a:p>
                      <a:pPr algn="l"/>
                      <a:r>
                        <a:rPr lang="en-GB" sz="2000" baseline="0" dirty="0"/>
                        <a:t>Higher: </a:t>
                      </a:r>
                    </a:p>
                    <a:p>
                      <a:pPr algn="l"/>
                      <a:r>
                        <a:rPr lang="en-GB" sz="2000" baseline="0" dirty="0"/>
                        <a:t>At the cathode</a:t>
                      </a:r>
                    </a:p>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chemeClr val="accent6">
                              <a:lumMod val="75000"/>
                            </a:schemeClr>
                          </a:solidFill>
                          <a:effectLst>
                            <a:outerShdw blurRad="38100" dist="38100" dir="2700000" algn="tl">
                              <a:srgbClr val="000000">
                                <a:alpha val="43137"/>
                              </a:srgbClr>
                            </a:outerShdw>
                          </a:effectLst>
                        </a:rPr>
                        <a:t>2H</a:t>
                      </a:r>
                      <a:r>
                        <a:rPr lang="en-GB" sz="2000" b="1" baseline="30000" dirty="0">
                          <a:solidFill>
                            <a:schemeClr val="accent6">
                              <a:lumMod val="75000"/>
                            </a:schemeClr>
                          </a:solidFill>
                          <a:effectLst>
                            <a:outerShdw blurRad="38100" dist="38100" dir="2700000" algn="tl">
                              <a:srgbClr val="000000">
                                <a:alpha val="43137"/>
                              </a:srgbClr>
                            </a:outerShdw>
                          </a:effectLst>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H</a:t>
                      </a:r>
                      <a:r>
                        <a:rPr lang="en-GB" sz="2000"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a:t>
                      </a:r>
                      <a:endParaRPr lang="en-GB" sz="2000" baseline="-25000" dirty="0"/>
                    </a:p>
                    <a:p>
                      <a:pPr algn="l"/>
                      <a:r>
                        <a:rPr lang="en-GB" sz="2000" baseline="0" dirty="0"/>
                        <a:t>At the anode</a:t>
                      </a:r>
                    </a:p>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chemeClr val="accent6">
                              <a:lumMod val="75000"/>
                            </a:schemeClr>
                          </a:solidFill>
                          <a:effectLst>
                            <a:outerShdw blurRad="38100" dist="38100" dir="2700000" algn="tl">
                              <a:srgbClr val="000000">
                                <a:alpha val="43137"/>
                              </a:srgbClr>
                            </a:outerShdw>
                          </a:effectLst>
                        </a:rPr>
                        <a:t>2O</a:t>
                      </a:r>
                      <a:r>
                        <a:rPr lang="en-GB" sz="2000" b="1" baseline="30000" dirty="0">
                          <a:solidFill>
                            <a:schemeClr val="accent6">
                              <a:lumMod val="75000"/>
                            </a:schemeClr>
                          </a:solidFill>
                          <a:effectLst>
                            <a:outerShdw blurRad="38100" dist="38100" dir="2700000" algn="tl">
                              <a:srgbClr val="000000">
                                <a:alpha val="43137"/>
                              </a:srgbClr>
                            </a:outerShdw>
                          </a:effectLst>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O</a:t>
                      </a:r>
                      <a:r>
                        <a:rPr lang="en-GB" sz="2000"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+ 4e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endParaRPr lang="en-GB" sz="2000" b="1" baseline="30000" dirty="0">
                        <a:solidFill>
                          <a:schemeClr val="accent6">
                            <a:lumMod val="75000"/>
                          </a:schemeClr>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GB" sz="2000" dirty="0"/>
                        <a:t>Forms H</a:t>
                      </a:r>
                      <a:r>
                        <a:rPr lang="en-GB" sz="2000" baseline="-25000" dirty="0"/>
                        <a:t>2</a:t>
                      </a:r>
                      <a:r>
                        <a:rPr lang="en-GB" sz="2000" dirty="0"/>
                        <a:t> and O</a:t>
                      </a:r>
                      <a:r>
                        <a:rPr lang="en-GB" sz="2000" baseline="-25000" dirty="0"/>
                        <a:t>2</a:t>
                      </a:r>
                    </a:p>
                    <a:p>
                      <a:pPr algn="l"/>
                      <a:endParaRPr lang="en-GB" sz="2000" baseline="0" dirty="0"/>
                    </a:p>
                    <a:p>
                      <a:pPr algn="l"/>
                      <a:r>
                        <a:rPr lang="en-GB" sz="2000" baseline="0" dirty="0"/>
                        <a:t>Higher: </a:t>
                      </a:r>
                    </a:p>
                    <a:p>
                      <a:pPr algn="l"/>
                      <a:r>
                        <a:rPr lang="en-GB" sz="2000" baseline="0" dirty="0"/>
                        <a:t>At the cathode</a:t>
                      </a:r>
                    </a:p>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chemeClr val="accent6">
                              <a:lumMod val="75000"/>
                            </a:schemeClr>
                          </a:solidFill>
                          <a:effectLst>
                            <a:outerShdw blurRad="38100" dist="38100" dir="2700000" algn="tl">
                              <a:srgbClr val="000000">
                                <a:alpha val="43137"/>
                              </a:srgbClr>
                            </a:outerShdw>
                          </a:effectLst>
                        </a:rPr>
                        <a:t>2H</a:t>
                      </a:r>
                      <a:r>
                        <a:rPr lang="en-GB" sz="2000" b="1" baseline="30000" dirty="0">
                          <a:solidFill>
                            <a:schemeClr val="accent6">
                              <a:lumMod val="75000"/>
                            </a:schemeClr>
                          </a:solidFill>
                          <a:effectLst>
                            <a:outerShdw blurRad="38100" dist="38100" dir="2700000" algn="tl">
                              <a:srgbClr val="000000">
                                <a:alpha val="43137"/>
                              </a:srgbClr>
                            </a:outerShdw>
                          </a:effectLst>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H</a:t>
                      </a:r>
                      <a:r>
                        <a:rPr lang="en-GB" sz="2000"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a:t>
                      </a:r>
                      <a:endParaRPr lang="en-GB" sz="2000" baseline="-25000" dirty="0"/>
                    </a:p>
                    <a:p>
                      <a:pPr algn="l"/>
                      <a:r>
                        <a:rPr lang="en-GB" sz="2000" baseline="0" dirty="0"/>
                        <a:t>At the anode</a:t>
                      </a:r>
                    </a:p>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chemeClr val="accent6">
                              <a:lumMod val="75000"/>
                            </a:schemeClr>
                          </a:solidFill>
                          <a:effectLst>
                            <a:outerShdw blurRad="38100" dist="38100" dir="2700000" algn="tl">
                              <a:srgbClr val="000000">
                                <a:alpha val="43137"/>
                              </a:srgbClr>
                            </a:outerShdw>
                          </a:effectLst>
                        </a:rPr>
                        <a:t>2O</a:t>
                      </a:r>
                      <a:r>
                        <a:rPr lang="en-GB" sz="2000" b="1" baseline="30000" dirty="0">
                          <a:solidFill>
                            <a:schemeClr val="accent6">
                              <a:lumMod val="75000"/>
                            </a:schemeClr>
                          </a:solidFill>
                          <a:effectLst>
                            <a:outerShdw blurRad="38100" dist="38100" dir="2700000" algn="tl">
                              <a:srgbClr val="000000">
                                <a:alpha val="43137"/>
                              </a:srgbClr>
                            </a:outerShdw>
                          </a:effectLst>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O</a:t>
                      </a:r>
                      <a:r>
                        <a:rPr lang="en-GB" sz="2000"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+ 4e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endParaRPr lang="en-GB" sz="2000" b="1" baseline="30000" dirty="0">
                        <a:solidFill>
                          <a:schemeClr val="accent6">
                            <a:lumMod val="75000"/>
                          </a:schemeClr>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35454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324535"/>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Electrolytic processes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Electrolysis of a molten ionic compound</a:t>
            </a:r>
          </a:p>
          <a:p>
            <a:pPr marL="685800" lvl="1" indent="-342900">
              <a:buFont typeface="Arial" charset="0"/>
              <a:buChar char="•"/>
            </a:pPr>
            <a:r>
              <a:rPr lang="en-US" sz="2400" b="1" dirty="0">
                <a:solidFill>
                  <a:schemeClr val="bg1">
                    <a:lumMod val="50000"/>
                  </a:schemeClr>
                </a:solidFill>
              </a:rPr>
              <a:t>Electrolysis of an aqueous solution</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0746003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802524"/>
            <a:ext cx="8915400"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Why can a molten or dissolved ionic compound conduct electricity?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electrolysis?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What is the name of the electrode that positive ions move to?</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the name of the electrode that the negative ions move to?</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What is produced at the cathode when lead bromide is electrolysed?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produced at the anode when lead bromide is electrolysed?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613950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802524"/>
            <a:ext cx="8915400"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a:solidFill>
                  <a:prstClr val="black"/>
                </a:solidFill>
                <a:latin typeface="Calibri"/>
              </a:rPr>
              <a:t>What is produced at the cathode if the metal in the solution is more reactive than hydrogen?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is produced at the anode if the solution does not contain halide ions?</a:t>
            </a: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endParaRPr kumimoji="0" lang="en-GB" sz="2400" b="0" i="0" u="none" strike="noStrike" kern="1200" cap="none" spc="0" normalizeH="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r>
              <a:rPr lang="en-GB" sz="2400" dirty="0">
                <a:solidFill>
                  <a:prstClr val="black"/>
                </a:solidFill>
                <a:latin typeface="Calibri"/>
              </a:rPr>
              <a:t>HT Only: </a:t>
            </a:r>
            <a:r>
              <a:rPr lang="en-GB" sz="2400" dirty="0"/>
              <a:t>Write half equations for the reactions that happen at the  </a:t>
            </a:r>
          </a:p>
          <a:p>
            <a:r>
              <a:rPr lang="en-GB" sz="2400" dirty="0"/>
              <a:t>       electrodes during the electrolysis of molten copper chloride.</a:t>
            </a:r>
          </a:p>
          <a:p>
            <a:endParaRPr lang="en-GB" sz="2400" dirty="0"/>
          </a:p>
          <a:p>
            <a:r>
              <a:rPr lang="en-GB" sz="2400" dirty="0"/>
              <a:t>10. Predict the products of electrolysis of copper </a:t>
            </a:r>
            <a:r>
              <a:rPr lang="en-GB" sz="2400" dirty="0" err="1"/>
              <a:t>sulfate</a:t>
            </a:r>
            <a:r>
              <a:rPr lang="en-GB" sz="2400" dirty="0"/>
              <a:t> solution.</a:t>
            </a:r>
          </a:p>
          <a:p>
            <a:endParaRPr lang="en-GB" sz="2400" dirty="0"/>
          </a:p>
          <a:p>
            <a:pPr lvl="0">
              <a:defRPr/>
            </a:pPr>
            <a:r>
              <a:rPr lang="en-GB" sz="2400" dirty="0"/>
              <a:t>11. HT Only: Write a half equation for the reactions that happen at the    </a:t>
            </a:r>
          </a:p>
          <a:p>
            <a:pPr lvl="0">
              <a:defRPr/>
            </a:pPr>
            <a:r>
              <a:rPr lang="en-GB" sz="2400" dirty="0"/>
              <a:t>       electrodes during the electrolysis of copper chloride solution.</a:t>
            </a:r>
          </a:p>
        </p:txBody>
      </p:sp>
    </p:spTree>
    <p:extLst>
      <p:ext uri="{BB962C8B-B14F-4D97-AF65-F5344CB8AC3E}">
        <p14:creationId xmlns:p14="http://schemas.microsoft.com/office/powerpoint/2010/main" val="1564361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32453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Electrolytic processes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Electrolysis of a molten ionic compound</a:t>
            </a:r>
          </a:p>
          <a:p>
            <a:pPr marL="685800" lvl="1" indent="-342900">
              <a:buFont typeface="Arial" charset="0"/>
              <a:buChar char="•"/>
            </a:pPr>
            <a:r>
              <a:rPr lang="en-US" sz="2400" b="1" dirty="0">
                <a:solidFill>
                  <a:schemeClr val="bg1">
                    <a:lumMod val="50000"/>
                  </a:schemeClr>
                </a:solidFill>
              </a:rPr>
              <a:t>Electrolysis of an aqueous solution</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4428348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802524"/>
            <a:ext cx="8915400" cy="5632311"/>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Why can a molten or dissolved ionic compound conduct electricity?</a:t>
            </a:r>
          </a:p>
          <a:p>
            <a:pPr lvl="1">
              <a:defRPr/>
            </a:pPr>
            <a:r>
              <a:rPr lang="en-GB" sz="2400" b="1" dirty="0">
                <a:solidFill>
                  <a:srgbClr val="00B050"/>
                </a:solidFill>
              </a:rPr>
              <a:t>Free moving ions.</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electrolysis?</a:t>
            </a:r>
          </a:p>
          <a:p>
            <a:pPr lvl="1">
              <a:defRPr/>
            </a:pPr>
            <a:r>
              <a:rPr lang="en-GB" sz="2400" b="1" dirty="0">
                <a:solidFill>
                  <a:srgbClr val="00B050"/>
                </a:solidFill>
              </a:rPr>
              <a:t>When an electric current is passed through a molten or aqueous ionic solution and the salt breaks down into simpler substances.</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What is the name of the electrode that positive ions move to?</a:t>
            </a:r>
          </a:p>
          <a:p>
            <a:pPr lvl="1">
              <a:defRPr/>
            </a:pPr>
            <a:r>
              <a:rPr lang="en-GB" sz="2400" b="1" dirty="0">
                <a:solidFill>
                  <a:srgbClr val="00B050"/>
                </a:solidFill>
              </a:rPr>
              <a:t>Cathode.</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the name of the electrode that the negative ions move to?</a:t>
            </a:r>
          </a:p>
          <a:p>
            <a:pPr lvl="1">
              <a:defRPr/>
            </a:pPr>
            <a:r>
              <a:rPr lang="en-GB" sz="2400" b="1" dirty="0">
                <a:solidFill>
                  <a:srgbClr val="00B050"/>
                </a:solidFill>
              </a:rPr>
              <a:t>Anode.</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a:solidFill>
                  <a:prstClr val="black"/>
                </a:solidFill>
                <a:latin typeface="Calibri"/>
              </a:rPr>
              <a:t>What is produced at the cathode when lead bromide is electrolysed?</a:t>
            </a:r>
          </a:p>
          <a:p>
            <a:pPr lvl="1">
              <a:defRPr/>
            </a:pPr>
            <a:r>
              <a:rPr lang="en-GB" sz="2400" b="1" dirty="0">
                <a:solidFill>
                  <a:srgbClr val="00B050"/>
                </a:solidFill>
              </a:rPr>
              <a:t>Lead.</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produced at the anode when lead bromide is electrolysed?</a:t>
            </a:r>
          </a:p>
          <a:p>
            <a:pPr lvl="1">
              <a:defRPr/>
            </a:pPr>
            <a:r>
              <a:rPr lang="en-GB" sz="2400" b="1" dirty="0">
                <a:solidFill>
                  <a:srgbClr val="00B050"/>
                </a:solidFill>
              </a:rPr>
              <a:t>Bromine.</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83022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57717" y="657041"/>
            <a:ext cx="8915400" cy="637097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a:solidFill>
                  <a:prstClr val="black"/>
                </a:solidFill>
                <a:latin typeface="Calibri"/>
              </a:rPr>
              <a:t>What is produced at the cathode if the metal in the solution is more reactive than hydrogen?</a:t>
            </a:r>
          </a:p>
          <a:p>
            <a:pPr lvl="1">
              <a:defRPr/>
            </a:pPr>
            <a:r>
              <a:rPr lang="en-GB" sz="2400" b="1" dirty="0">
                <a:solidFill>
                  <a:srgbClr val="00B050"/>
                </a:solidFill>
              </a:rPr>
              <a:t>Hydrogen.</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a:t>
            </a:r>
            <a:r>
              <a:rPr kumimoji="0" lang="en-GB" sz="2400" b="0" i="0" u="none" strike="noStrike" kern="1200" cap="none" spc="0" normalizeH="0" noProof="0" dirty="0">
                <a:ln>
                  <a:noFill/>
                </a:ln>
                <a:solidFill>
                  <a:prstClr val="black"/>
                </a:solidFill>
                <a:effectLst/>
                <a:uLnTx/>
                <a:uFillTx/>
                <a:latin typeface="Calibri"/>
                <a:ea typeface="+mn-ea"/>
                <a:cs typeface="+mn-cs"/>
              </a:rPr>
              <a:t> is produced at the anode if the solution does not contain halide ions?</a:t>
            </a:r>
          </a:p>
          <a:p>
            <a:pPr lvl="1">
              <a:defRPr/>
            </a:pPr>
            <a:r>
              <a:rPr lang="en-GB" sz="2400" b="1" dirty="0">
                <a:solidFill>
                  <a:srgbClr val="00B050"/>
                </a:solidFill>
              </a:rPr>
              <a:t>Oxygen.</a:t>
            </a:r>
            <a:endParaRPr kumimoji="0" lang="en-GB" sz="2400" b="0" i="0" u="none" strike="noStrike" kern="1200" cap="none" spc="0" normalizeH="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r>
              <a:rPr lang="en-GB" sz="2400" dirty="0">
                <a:solidFill>
                  <a:prstClr val="black"/>
                </a:solidFill>
                <a:latin typeface="Calibri"/>
              </a:rPr>
              <a:t>HT Only: </a:t>
            </a:r>
            <a:r>
              <a:rPr lang="en-GB" sz="2400" dirty="0"/>
              <a:t>Write half equations for the reactions that happen at the  </a:t>
            </a:r>
          </a:p>
          <a:p>
            <a:r>
              <a:rPr lang="en-GB" sz="2400" dirty="0"/>
              <a:t>       electrodes during the electrolysis of molten copper chloride.</a:t>
            </a:r>
          </a:p>
          <a:p>
            <a:pPr lvl="0"/>
            <a:r>
              <a:rPr lang="pt-BR" sz="2400" b="1" dirty="0">
                <a:solidFill>
                  <a:srgbClr val="00B050"/>
                </a:solidFill>
              </a:rPr>
              <a:t>       Negative electrode: Cu</a:t>
            </a:r>
            <a:r>
              <a:rPr lang="pt-BR" sz="2400" b="1" baseline="30000" dirty="0">
                <a:solidFill>
                  <a:srgbClr val="00B050"/>
                </a:solidFill>
              </a:rPr>
              <a:t>2+</a:t>
            </a:r>
            <a:r>
              <a:rPr lang="pt-BR" sz="2400" b="1" dirty="0">
                <a:solidFill>
                  <a:srgbClr val="00B050"/>
                </a:solidFill>
              </a:rPr>
              <a:t>(aq)</a:t>
            </a:r>
            <a:r>
              <a:rPr lang="pt-BR" sz="2400" b="1" baseline="30000" dirty="0">
                <a:solidFill>
                  <a:srgbClr val="00B050"/>
                </a:solidFill>
              </a:rPr>
              <a:t> </a:t>
            </a:r>
            <a:r>
              <a:rPr lang="pt-BR" sz="2400" b="1" dirty="0">
                <a:solidFill>
                  <a:srgbClr val="00B050"/>
                </a:solidFill>
              </a:rPr>
              <a:t>+ 2e</a:t>
            </a:r>
            <a:r>
              <a:rPr lang="pt-BR" sz="2400" b="1" baseline="30000" dirty="0">
                <a:solidFill>
                  <a:srgbClr val="00B050"/>
                </a:solidFill>
              </a:rPr>
              <a:t>−</a:t>
            </a:r>
            <a:r>
              <a:rPr lang="pt-BR" sz="2400" b="1" dirty="0">
                <a:solidFill>
                  <a:srgbClr val="00B050"/>
                </a:solidFill>
              </a:rPr>
              <a:t> </a:t>
            </a:r>
            <a:r>
              <a:rPr lang="en-GB" sz="2400" b="1" dirty="0">
                <a:solidFill>
                  <a:srgbClr val="00B050"/>
                </a:solidFill>
                <a:sym typeface="Symbol" panose="05050102010706020507" pitchFamily="18" charset="2"/>
              </a:rPr>
              <a:t></a:t>
            </a:r>
            <a:r>
              <a:rPr lang="pt-BR" sz="2400" b="1" dirty="0">
                <a:solidFill>
                  <a:srgbClr val="00B050"/>
                </a:solidFill>
              </a:rPr>
              <a:t> Cu(s)</a:t>
            </a:r>
            <a:endParaRPr lang="en-GB" sz="2400" b="1" dirty="0">
              <a:solidFill>
                <a:srgbClr val="00B050"/>
              </a:solidFill>
            </a:endParaRPr>
          </a:p>
          <a:p>
            <a:r>
              <a:rPr lang="pt-BR" sz="2400" b="1" dirty="0">
                <a:solidFill>
                  <a:srgbClr val="00B050"/>
                </a:solidFill>
              </a:rPr>
              <a:t>       Positive electrode: 2Cl</a:t>
            </a:r>
            <a:r>
              <a:rPr lang="pt-BR" sz="2400" b="1" baseline="30000" dirty="0">
                <a:solidFill>
                  <a:srgbClr val="00B050"/>
                </a:solidFill>
              </a:rPr>
              <a:t>−</a:t>
            </a:r>
            <a:r>
              <a:rPr lang="pt-BR" sz="2400" b="1" dirty="0">
                <a:solidFill>
                  <a:srgbClr val="00B050"/>
                </a:solidFill>
              </a:rPr>
              <a:t>(aq) </a:t>
            </a:r>
            <a:r>
              <a:rPr lang="en-GB" sz="2400" b="1" dirty="0">
                <a:solidFill>
                  <a:srgbClr val="00B050"/>
                </a:solidFill>
                <a:sym typeface="Symbol" panose="05050102010706020507" pitchFamily="18" charset="2"/>
              </a:rPr>
              <a:t></a:t>
            </a:r>
            <a:r>
              <a:rPr lang="pt-BR" sz="2400" b="1" dirty="0">
                <a:solidFill>
                  <a:srgbClr val="00B050"/>
                </a:solidFill>
              </a:rPr>
              <a:t> Cl</a:t>
            </a:r>
            <a:r>
              <a:rPr lang="pt-BR" sz="2400" b="1" baseline="-25000" dirty="0">
                <a:solidFill>
                  <a:srgbClr val="00B050"/>
                </a:solidFill>
              </a:rPr>
              <a:t>2</a:t>
            </a:r>
            <a:r>
              <a:rPr lang="pt-BR" sz="2400" b="1" dirty="0">
                <a:solidFill>
                  <a:srgbClr val="00B050"/>
                </a:solidFill>
              </a:rPr>
              <a:t>(g) + 2e</a:t>
            </a:r>
            <a:r>
              <a:rPr lang="pt-BR" sz="2400" b="1" baseline="30000" dirty="0">
                <a:solidFill>
                  <a:srgbClr val="00B050"/>
                </a:solidFill>
              </a:rPr>
              <a:t>−</a:t>
            </a:r>
            <a:endParaRPr lang="en-GB" sz="2400" dirty="0"/>
          </a:p>
          <a:p>
            <a:r>
              <a:rPr lang="en-GB" sz="2400" dirty="0"/>
              <a:t>10. Predict the products of electrolysis of copper </a:t>
            </a:r>
            <a:r>
              <a:rPr lang="en-GB" sz="2400" dirty="0" err="1"/>
              <a:t>sulfate</a:t>
            </a:r>
            <a:r>
              <a:rPr lang="en-GB" sz="2400" dirty="0"/>
              <a:t> solution.</a:t>
            </a:r>
          </a:p>
          <a:p>
            <a:pPr lvl="0"/>
            <a:r>
              <a:rPr lang="en-GB" sz="2400" b="1" dirty="0">
                <a:solidFill>
                  <a:srgbClr val="00B050"/>
                </a:solidFill>
              </a:rPr>
              <a:t>       Positive electrode: Oxygen gas; Negative electrode: Copper.</a:t>
            </a:r>
            <a:endParaRPr lang="en-GB" sz="2400" dirty="0"/>
          </a:p>
          <a:p>
            <a:pPr lvl="0">
              <a:defRPr/>
            </a:pPr>
            <a:r>
              <a:rPr lang="en-GB" sz="2400" dirty="0"/>
              <a:t>11. HT Only: Write a half equation for the reactions that happen at the    </a:t>
            </a:r>
          </a:p>
          <a:p>
            <a:pPr lvl="0">
              <a:defRPr/>
            </a:pPr>
            <a:r>
              <a:rPr lang="en-GB" sz="2400" dirty="0"/>
              <a:t>       electrodes during the electrolysis of copper chloride solution.</a:t>
            </a:r>
          </a:p>
          <a:p>
            <a:pPr lvl="0"/>
            <a:r>
              <a:rPr lang="pt-BR" sz="2400" b="1" dirty="0">
                <a:solidFill>
                  <a:srgbClr val="00B050"/>
                </a:solidFill>
              </a:rPr>
              <a:t>       Negative electrode: Cu</a:t>
            </a:r>
            <a:r>
              <a:rPr lang="pt-BR" sz="2400" b="1" baseline="30000" dirty="0">
                <a:solidFill>
                  <a:srgbClr val="00B050"/>
                </a:solidFill>
              </a:rPr>
              <a:t>2+</a:t>
            </a:r>
            <a:r>
              <a:rPr lang="pt-BR" sz="2400" b="1" dirty="0">
                <a:solidFill>
                  <a:srgbClr val="00B050"/>
                </a:solidFill>
              </a:rPr>
              <a:t>(aq)</a:t>
            </a:r>
            <a:r>
              <a:rPr lang="pt-BR" sz="2400" b="1" baseline="30000" dirty="0">
                <a:solidFill>
                  <a:srgbClr val="00B050"/>
                </a:solidFill>
              </a:rPr>
              <a:t> </a:t>
            </a:r>
            <a:r>
              <a:rPr lang="pt-BR" sz="2400" b="1" dirty="0">
                <a:solidFill>
                  <a:srgbClr val="00B050"/>
                </a:solidFill>
              </a:rPr>
              <a:t>+ 2e</a:t>
            </a:r>
            <a:r>
              <a:rPr lang="pt-BR" sz="2400" b="1" baseline="30000" dirty="0">
                <a:solidFill>
                  <a:srgbClr val="00B050"/>
                </a:solidFill>
              </a:rPr>
              <a:t>−</a:t>
            </a:r>
            <a:r>
              <a:rPr lang="pt-BR" sz="2400" b="1" dirty="0">
                <a:solidFill>
                  <a:srgbClr val="00B050"/>
                </a:solidFill>
              </a:rPr>
              <a:t> </a:t>
            </a:r>
            <a:r>
              <a:rPr lang="en-GB" sz="2400" b="1" dirty="0">
                <a:solidFill>
                  <a:srgbClr val="00B050"/>
                </a:solidFill>
                <a:sym typeface="Symbol" panose="05050102010706020507" pitchFamily="18" charset="2"/>
              </a:rPr>
              <a:t></a:t>
            </a:r>
            <a:r>
              <a:rPr lang="pt-BR" sz="2400" b="1" dirty="0">
                <a:solidFill>
                  <a:srgbClr val="00B050"/>
                </a:solidFill>
              </a:rPr>
              <a:t> Cu(s)</a:t>
            </a:r>
            <a:endParaRPr lang="en-GB" sz="2400" b="1" dirty="0">
              <a:solidFill>
                <a:srgbClr val="00B050"/>
              </a:solidFill>
            </a:endParaRPr>
          </a:p>
          <a:p>
            <a:r>
              <a:rPr lang="pt-BR" sz="2400" b="1" dirty="0">
                <a:solidFill>
                  <a:srgbClr val="00B050"/>
                </a:solidFill>
              </a:rPr>
              <a:t>       Positive electrode: 2Cl</a:t>
            </a:r>
            <a:r>
              <a:rPr lang="pt-BR" sz="2400" b="1" baseline="30000" dirty="0">
                <a:solidFill>
                  <a:srgbClr val="00B050"/>
                </a:solidFill>
              </a:rPr>
              <a:t>−</a:t>
            </a:r>
            <a:r>
              <a:rPr lang="pt-BR" sz="2400" b="1" dirty="0">
                <a:solidFill>
                  <a:srgbClr val="00B050"/>
                </a:solidFill>
              </a:rPr>
              <a:t>(aq) </a:t>
            </a:r>
            <a:r>
              <a:rPr lang="en-GB" sz="2400" b="1" dirty="0">
                <a:solidFill>
                  <a:srgbClr val="00B050"/>
                </a:solidFill>
                <a:sym typeface="Symbol" panose="05050102010706020507" pitchFamily="18" charset="2"/>
              </a:rPr>
              <a:t></a:t>
            </a:r>
            <a:r>
              <a:rPr lang="pt-BR" sz="2400" b="1" dirty="0">
                <a:solidFill>
                  <a:srgbClr val="00B050"/>
                </a:solidFill>
              </a:rPr>
              <a:t> Cl</a:t>
            </a:r>
            <a:r>
              <a:rPr lang="pt-BR" sz="2400" b="1" baseline="-25000" dirty="0">
                <a:solidFill>
                  <a:srgbClr val="00B050"/>
                </a:solidFill>
              </a:rPr>
              <a:t>2</a:t>
            </a:r>
            <a:r>
              <a:rPr lang="pt-BR" sz="2400" b="1" dirty="0">
                <a:solidFill>
                  <a:srgbClr val="00B050"/>
                </a:solidFill>
              </a:rPr>
              <a:t>(g) + 2e</a:t>
            </a:r>
            <a:r>
              <a:rPr lang="pt-BR" sz="2400" b="1" baseline="30000" dirty="0">
                <a:solidFill>
                  <a:srgbClr val="00B050"/>
                </a:solidFill>
              </a:rPr>
              <a:t>−</a:t>
            </a:r>
            <a:endParaRPr lang="en-GB" sz="2400" b="1" dirty="0">
              <a:solidFill>
                <a:srgbClr val="00B050"/>
              </a:solidFill>
            </a:endParaRPr>
          </a:p>
          <a:p>
            <a:pPr lvl="0">
              <a:defRPr/>
            </a:pPr>
            <a:endParaRPr lang="en-GB" sz="2400" dirty="0"/>
          </a:p>
        </p:txBody>
      </p:sp>
    </p:spTree>
    <p:extLst>
      <p:ext uri="{BB962C8B-B14F-4D97-AF65-F5344CB8AC3E}">
        <p14:creationId xmlns:p14="http://schemas.microsoft.com/office/powerpoint/2010/main" val="3730914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047536"/>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Electrolytic</a:t>
            </a:r>
          </a:p>
          <a:p>
            <a:r>
              <a:rPr lang="en-GB" sz="3600" b="1" dirty="0">
                <a:solidFill>
                  <a:schemeClr val="tx1">
                    <a:lumMod val="50000"/>
                    <a:lumOff val="50000"/>
                  </a:schemeClr>
                </a:solidFill>
              </a:rPr>
              <a:t>processes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Purification of copper sulfate</a:t>
            </a:r>
          </a:p>
        </p:txBody>
      </p:sp>
    </p:spTree>
    <p:extLst>
      <p:ext uri="{BB962C8B-B14F-4D97-AF65-F5344CB8AC3E}">
        <p14:creationId xmlns:p14="http://schemas.microsoft.com/office/powerpoint/2010/main" val="20154889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id="{069D24D6-BF3E-48D1-A1E3-FB8C618604DE}"/>
              </a:ext>
            </a:extLst>
          </p:cNvPr>
          <p:cNvSpPr txBox="1"/>
          <p:nvPr/>
        </p:nvSpPr>
        <p:spPr>
          <a:xfrm>
            <a:off x="251520" y="718374"/>
            <a:ext cx="8640960" cy="1600438"/>
          </a:xfrm>
          <a:prstGeom prst="rect">
            <a:avLst/>
          </a:prstGeom>
          <a:noFill/>
        </p:spPr>
        <p:txBody>
          <a:bodyPr wrap="square" rtlCol="0">
            <a:spAutoFit/>
          </a:bodyPr>
          <a:lstStyle/>
          <a:p>
            <a:r>
              <a:rPr lang="en-GB" sz="2000" u="sng" dirty="0"/>
              <a:t>Purifying copper by electrolysis</a:t>
            </a:r>
          </a:p>
          <a:p>
            <a:r>
              <a:rPr lang="en-GB" sz="2000" dirty="0"/>
              <a:t>Electrolysis of </a:t>
            </a:r>
            <a:r>
              <a:rPr lang="en-GB" sz="2000" b="1" dirty="0">
                <a:solidFill>
                  <a:schemeClr val="accent6">
                    <a:lumMod val="75000"/>
                  </a:schemeClr>
                </a:solidFill>
              </a:rPr>
              <a:t>copper </a:t>
            </a:r>
            <a:r>
              <a:rPr lang="en-GB" sz="2000" b="1" dirty="0" err="1">
                <a:solidFill>
                  <a:schemeClr val="accent6">
                    <a:lumMod val="75000"/>
                  </a:schemeClr>
                </a:solidFill>
              </a:rPr>
              <a:t>sulfate</a:t>
            </a:r>
            <a:r>
              <a:rPr lang="en-GB" sz="2000" b="1" dirty="0">
                <a:solidFill>
                  <a:schemeClr val="accent6">
                    <a:lumMod val="75000"/>
                  </a:schemeClr>
                </a:solidFill>
              </a:rPr>
              <a:t> </a:t>
            </a:r>
            <a:r>
              <a:rPr lang="en-GB" sz="2000" dirty="0"/>
              <a:t>solution using </a:t>
            </a:r>
            <a:r>
              <a:rPr lang="en-GB" sz="2000" b="1" dirty="0">
                <a:solidFill>
                  <a:schemeClr val="accent6">
                    <a:lumMod val="75000"/>
                  </a:schemeClr>
                </a:solidFill>
              </a:rPr>
              <a:t>copper electrode</a:t>
            </a:r>
            <a:r>
              <a:rPr lang="en-GB" sz="2000" dirty="0"/>
              <a:t>.</a:t>
            </a:r>
          </a:p>
          <a:p>
            <a:pPr marL="285750" indent="-285750">
              <a:buFont typeface="Arial" panose="020B0604020202020204" pitchFamily="34" charset="0"/>
              <a:buChar char="•"/>
            </a:pPr>
            <a:r>
              <a:rPr lang="en-GB" sz="2000" dirty="0"/>
              <a:t>The </a:t>
            </a:r>
            <a:r>
              <a:rPr lang="en-GB" sz="2000" b="1" dirty="0">
                <a:solidFill>
                  <a:schemeClr val="accent6">
                    <a:lumMod val="75000"/>
                  </a:schemeClr>
                </a:solidFill>
              </a:rPr>
              <a:t>anode</a:t>
            </a:r>
            <a:r>
              <a:rPr lang="en-GB" sz="2000" dirty="0"/>
              <a:t> is made from </a:t>
            </a:r>
            <a:r>
              <a:rPr lang="en-GB" sz="2000" b="1" dirty="0">
                <a:solidFill>
                  <a:schemeClr val="accent6">
                    <a:lumMod val="75000"/>
                  </a:schemeClr>
                </a:solidFill>
              </a:rPr>
              <a:t>impure copper</a:t>
            </a:r>
            <a:r>
              <a:rPr lang="en-GB" sz="2000" dirty="0"/>
              <a:t>. </a:t>
            </a:r>
          </a:p>
          <a:p>
            <a:pPr marL="285750" indent="-285750">
              <a:buFont typeface="Arial" panose="020B0604020202020204" pitchFamily="34" charset="0"/>
              <a:buChar char="•"/>
            </a:pPr>
            <a:r>
              <a:rPr lang="en-GB" sz="2000" dirty="0"/>
              <a:t>The </a:t>
            </a:r>
            <a:r>
              <a:rPr lang="en-GB" sz="2000" b="1" dirty="0">
                <a:solidFill>
                  <a:schemeClr val="accent6">
                    <a:lumMod val="75000"/>
                  </a:schemeClr>
                </a:solidFill>
              </a:rPr>
              <a:t>cathode</a:t>
            </a:r>
            <a:r>
              <a:rPr lang="en-GB" sz="2000" dirty="0"/>
              <a:t> is made from </a:t>
            </a:r>
            <a:r>
              <a:rPr lang="en-GB" sz="2000" b="1" dirty="0">
                <a:solidFill>
                  <a:schemeClr val="accent6">
                    <a:lumMod val="75000"/>
                  </a:schemeClr>
                </a:solidFill>
              </a:rPr>
              <a:t>pure copper</a:t>
            </a:r>
            <a:r>
              <a:rPr lang="en-GB" sz="2000" dirty="0"/>
              <a:t>.</a:t>
            </a:r>
          </a:p>
          <a:p>
            <a:pPr algn="ctr"/>
            <a:endParaRPr lang="en-GB" dirty="0"/>
          </a:p>
        </p:txBody>
      </p:sp>
      <p:sp>
        <p:nvSpPr>
          <p:cNvPr id="9" name="TextBox 8">
            <a:extLst>
              <a:ext uri="{FF2B5EF4-FFF2-40B4-BE49-F238E27FC236}">
                <a16:creationId xmlns:a16="http://schemas.microsoft.com/office/drawing/2014/main" id="{ABEF5BE8-1272-49AF-A02C-A315EF12FCA2}"/>
              </a:ext>
            </a:extLst>
          </p:cNvPr>
          <p:cNvSpPr txBox="1"/>
          <p:nvPr/>
        </p:nvSpPr>
        <p:spPr>
          <a:xfrm>
            <a:off x="5620412" y="2842736"/>
            <a:ext cx="2721579" cy="1631216"/>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sz="2000" b="1" dirty="0"/>
              <a:t>Anode – impure copper</a:t>
            </a:r>
          </a:p>
          <a:p>
            <a:pPr marL="285750" indent="-285750">
              <a:buFont typeface="Arial" panose="020B0604020202020204" pitchFamily="34" charset="0"/>
              <a:buChar char="•"/>
            </a:pPr>
            <a:r>
              <a:rPr lang="en-GB" sz="2000" b="1" dirty="0"/>
              <a:t>Decreases in mass</a:t>
            </a:r>
          </a:p>
          <a:p>
            <a:pPr marL="285750" indent="-285750">
              <a:buFont typeface="Arial" panose="020B0604020202020204" pitchFamily="34" charset="0"/>
              <a:buChar char="•"/>
            </a:pPr>
            <a:r>
              <a:rPr lang="en-GB" sz="2000" b="1" dirty="0"/>
              <a:t>Copper ions form</a:t>
            </a:r>
          </a:p>
          <a:p>
            <a:r>
              <a:rPr lang="en-GB" sz="2000" b="1" dirty="0"/>
              <a:t>Higher:</a:t>
            </a:r>
          </a:p>
          <a:p>
            <a:r>
              <a:rPr lang="en-GB" sz="2000" b="1" dirty="0">
                <a:solidFill>
                  <a:schemeClr val="accent6">
                    <a:lumMod val="75000"/>
                  </a:schemeClr>
                </a:solidFill>
              </a:rPr>
              <a:t>Cu </a:t>
            </a:r>
            <a:r>
              <a:rPr lang="en-GB" sz="2000" b="1" dirty="0">
                <a:solidFill>
                  <a:schemeClr val="accent6">
                    <a:lumMod val="75000"/>
                  </a:schemeClr>
                </a:solidFill>
                <a:sym typeface="Wingdings" panose="05000000000000000000" pitchFamily="2" charset="2"/>
              </a:rPr>
              <a:t> Cu</a:t>
            </a:r>
            <a:r>
              <a:rPr lang="en-GB" sz="2000" b="1" baseline="30000" dirty="0">
                <a:solidFill>
                  <a:schemeClr val="accent6">
                    <a:lumMod val="75000"/>
                  </a:schemeClr>
                </a:solidFill>
              </a:rPr>
              <a:t> 2+ </a:t>
            </a:r>
            <a:r>
              <a:rPr lang="en-GB" sz="2000" b="1" dirty="0">
                <a:solidFill>
                  <a:schemeClr val="accent6">
                    <a:lumMod val="75000"/>
                  </a:schemeClr>
                </a:solidFill>
                <a:sym typeface="Wingdings" panose="05000000000000000000" pitchFamily="2" charset="2"/>
              </a:rPr>
              <a:t>+ 2e </a:t>
            </a:r>
            <a:r>
              <a:rPr lang="en-GB" sz="2000" b="1" baseline="30000" dirty="0">
                <a:solidFill>
                  <a:schemeClr val="accent6">
                    <a:lumMod val="75000"/>
                  </a:schemeClr>
                </a:solidFill>
                <a:sym typeface="Wingdings" panose="05000000000000000000" pitchFamily="2" charset="2"/>
              </a:rPr>
              <a:t>– </a:t>
            </a:r>
            <a:endParaRPr lang="en-GB" sz="2000" b="1" dirty="0">
              <a:solidFill>
                <a:schemeClr val="accent6">
                  <a:lumMod val="75000"/>
                </a:schemeClr>
              </a:solidFill>
              <a:sym typeface="Wingdings" panose="05000000000000000000" pitchFamily="2" charset="2"/>
            </a:endParaRPr>
          </a:p>
        </p:txBody>
      </p:sp>
      <p:sp>
        <p:nvSpPr>
          <p:cNvPr id="10" name="TextBox 9">
            <a:extLst>
              <a:ext uri="{FF2B5EF4-FFF2-40B4-BE49-F238E27FC236}">
                <a16:creationId xmlns:a16="http://schemas.microsoft.com/office/drawing/2014/main" id="{DFFD3F56-D97F-4F5B-B8FF-BE4BCD1FD28B}"/>
              </a:ext>
            </a:extLst>
          </p:cNvPr>
          <p:cNvSpPr txBox="1"/>
          <p:nvPr/>
        </p:nvSpPr>
        <p:spPr>
          <a:xfrm>
            <a:off x="227275" y="2967335"/>
            <a:ext cx="2721579" cy="1938992"/>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sz="2000" b="1" dirty="0"/>
              <a:t>Cathode – pure copper</a:t>
            </a:r>
          </a:p>
          <a:p>
            <a:pPr marL="285750" indent="-285750">
              <a:buFont typeface="Arial" panose="020B0604020202020204" pitchFamily="34" charset="0"/>
              <a:buChar char="•"/>
            </a:pPr>
            <a:r>
              <a:rPr lang="en-GB" sz="2000" b="1" dirty="0"/>
              <a:t>Increases in mass</a:t>
            </a:r>
          </a:p>
          <a:p>
            <a:pPr marL="285750" indent="-285750">
              <a:buFont typeface="Arial" panose="020B0604020202020204" pitchFamily="34" charset="0"/>
              <a:buChar char="•"/>
            </a:pPr>
            <a:r>
              <a:rPr lang="en-GB" sz="2000" b="1" dirty="0"/>
              <a:t>Pure copper forms on the surface</a:t>
            </a:r>
          </a:p>
          <a:p>
            <a:r>
              <a:rPr lang="en-GB" sz="2000" b="1" dirty="0"/>
              <a:t>Higher:</a:t>
            </a:r>
          </a:p>
          <a:p>
            <a:r>
              <a:rPr lang="en-GB" sz="2000" b="1" dirty="0">
                <a:solidFill>
                  <a:schemeClr val="accent6">
                    <a:lumMod val="75000"/>
                  </a:schemeClr>
                </a:solidFill>
              </a:rPr>
              <a:t>Cu </a:t>
            </a:r>
            <a:r>
              <a:rPr lang="en-GB" sz="2000" b="1" baseline="30000" dirty="0">
                <a:solidFill>
                  <a:schemeClr val="accent6">
                    <a:lumMod val="75000"/>
                  </a:schemeClr>
                </a:solidFill>
              </a:rPr>
              <a:t>2+ </a:t>
            </a:r>
            <a:r>
              <a:rPr lang="en-GB" sz="2000" b="1" dirty="0">
                <a:solidFill>
                  <a:schemeClr val="accent6">
                    <a:lumMod val="75000"/>
                  </a:schemeClr>
                </a:solidFill>
                <a:sym typeface="Wingdings" panose="05000000000000000000" pitchFamily="2" charset="2"/>
              </a:rPr>
              <a:t>+ 2e </a:t>
            </a:r>
            <a:r>
              <a:rPr lang="en-GB" sz="2000" b="1" baseline="30000" dirty="0">
                <a:solidFill>
                  <a:schemeClr val="accent6">
                    <a:lumMod val="75000"/>
                  </a:schemeClr>
                </a:solidFill>
                <a:sym typeface="Wingdings" panose="05000000000000000000" pitchFamily="2" charset="2"/>
              </a:rPr>
              <a:t>– </a:t>
            </a:r>
            <a:r>
              <a:rPr lang="en-GB" sz="2000" b="1" dirty="0">
                <a:solidFill>
                  <a:schemeClr val="accent6">
                    <a:lumMod val="75000"/>
                  </a:schemeClr>
                </a:solidFill>
                <a:sym typeface="Wingdings" panose="05000000000000000000" pitchFamily="2" charset="2"/>
              </a:rPr>
              <a:t> Cu</a:t>
            </a:r>
          </a:p>
        </p:txBody>
      </p:sp>
      <p:sp>
        <p:nvSpPr>
          <p:cNvPr id="11" name="TextBox 10">
            <a:extLst>
              <a:ext uri="{FF2B5EF4-FFF2-40B4-BE49-F238E27FC236}">
                <a16:creationId xmlns:a16="http://schemas.microsoft.com/office/drawing/2014/main" id="{DFFD3F56-D97F-4F5B-B8FF-BE4BCD1FD28B}"/>
              </a:ext>
            </a:extLst>
          </p:cNvPr>
          <p:cNvSpPr txBox="1"/>
          <p:nvPr/>
        </p:nvSpPr>
        <p:spPr>
          <a:xfrm>
            <a:off x="5600964" y="5226264"/>
            <a:ext cx="3013967" cy="400110"/>
          </a:xfrm>
          <a:prstGeom prst="rect">
            <a:avLst/>
          </a:prstGeom>
          <a:solidFill>
            <a:schemeClr val="accent6">
              <a:lumMod val="20000"/>
              <a:lumOff val="80000"/>
            </a:schemeClr>
          </a:solidFill>
          <a:ln>
            <a:solidFill>
              <a:schemeClr val="accent6">
                <a:lumMod val="75000"/>
              </a:schemeClr>
            </a:solidFill>
          </a:ln>
        </p:spPr>
        <p:txBody>
          <a:bodyPr wrap="none" rtlCol="0">
            <a:spAutoFit/>
          </a:bodyPr>
          <a:lstStyle/>
          <a:p>
            <a:r>
              <a:rPr lang="en-GB" sz="2000" b="1" dirty="0"/>
              <a:t>Copper (II) </a:t>
            </a:r>
            <a:r>
              <a:rPr lang="en-GB" sz="2000" b="1" dirty="0" err="1"/>
              <a:t>sulfate</a:t>
            </a:r>
            <a:r>
              <a:rPr lang="en-GB" sz="2000" b="1" dirty="0"/>
              <a:t> solution</a:t>
            </a:r>
            <a:endPar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endParaRPr>
          </a:p>
        </p:txBody>
      </p:sp>
      <p:grpSp>
        <p:nvGrpSpPr>
          <p:cNvPr id="12" name="Group 11"/>
          <p:cNvGrpSpPr/>
          <p:nvPr/>
        </p:nvGrpSpPr>
        <p:grpSpPr>
          <a:xfrm>
            <a:off x="3021659" y="1919407"/>
            <a:ext cx="3020786" cy="3850181"/>
            <a:chOff x="677603" y="2118106"/>
            <a:chExt cx="3020786" cy="3850181"/>
          </a:xfrm>
        </p:grpSpPr>
        <p:sp>
          <p:nvSpPr>
            <p:cNvPr id="13" name="Rectangle 12"/>
            <p:cNvSpPr/>
            <p:nvPr/>
          </p:nvSpPr>
          <p:spPr>
            <a:xfrm>
              <a:off x="1616859" y="2651964"/>
              <a:ext cx="882969" cy="442417"/>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Rectangle 13"/>
            <p:cNvSpPr/>
            <p:nvPr/>
          </p:nvSpPr>
          <p:spPr>
            <a:xfrm>
              <a:off x="1805844" y="2891075"/>
              <a:ext cx="544733" cy="514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ectangle 14"/>
            <p:cNvSpPr/>
            <p:nvPr/>
          </p:nvSpPr>
          <p:spPr>
            <a:xfrm>
              <a:off x="1485978" y="2984264"/>
              <a:ext cx="318007" cy="2649157"/>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 name="Rectangle 15"/>
            <p:cNvSpPr/>
            <p:nvPr/>
          </p:nvSpPr>
          <p:spPr>
            <a:xfrm>
              <a:off x="1988439" y="2490890"/>
              <a:ext cx="130881" cy="2604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Rectangle 16"/>
            <p:cNvSpPr/>
            <p:nvPr/>
          </p:nvSpPr>
          <p:spPr>
            <a:xfrm>
              <a:off x="2341451" y="2984263"/>
              <a:ext cx="318007" cy="2649157"/>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 name="Round Same Side Corner Rectangle 17"/>
            <p:cNvSpPr/>
            <p:nvPr/>
          </p:nvSpPr>
          <p:spPr>
            <a:xfrm rot="10800000">
              <a:off x="1170378" y="4470921"/>
              <a:ext cx="1869063" cy="1417618"/>
            </a:xfrm>
            <a:prstGeom prst="round2SameRect">
              <a:avLst>
                <a:gd name="adj1" fmla="val 10924"/>
                <a:gd name="adj2" fmla="val 0"/>
              </a:avLst>
            </a:prstGeom>
            <a:gradFill>
              <a:gsLst>
                <a:gs pos="0">
                  <a:schemeClr val="accent1">
                    <a:tint val="100000"/>
                    <a:shade val="100000"/>
                    <a:satMod val="130000"/>
                    <a:alpha val="17000"/>
                  </a:schemeClr>
                </a:gs>
                <a:gs pos="100000">
                  <a:schemeClr val="accent1">
                    <a:tint val="50000"/>
                    <a:shade val="100000"/>
                    <a:satMod val="350000"/>
                  </a:schemeClr>
                </a:gs>
              </a:gsLs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800"/>
            </a:p>
          </p:txBody>
        </p:sp>
        <p:cxnSp>
          <p:nvCxnSpPr>
            <p:cNvPr id="19" name="Straight Connector 18"/>
            <p:cNvCxnSpPr/>
            <p:nvPr/>
          </p:nvCxnSpPr>
          <p:spPr>
            <a:xfrm>
              <a:off x="1988438" y="2552603"/>
              <a:ext cx="0" cy="19874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119320" y="2490890"/>
              <a:ext cx="0" cy="34780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051367" y="2326563"/>
              <a:ext cx="383440" cy="424784"/>
            </a:xfrm>
            <a:prstGeom prst="rect">
              <a:avLst/>
            </a:prstGeom>
            <a:noFill/>
          </p:spPr>
          <p:txBody>
            <a:bodyPr wrap="square" rtlCol="0">
              <a:spAutoFit/>
            </a:bodyPr>
            <a:lstStyle/>
            <a:p>
              <a:r>
                <a:rPr lang="en-GB" sz="1400"/>
                <a:t>+</a:t>
              </a:r>
            </a:p>
          </p:txBody>
        </p:sp>
        <p:sp>
          <p:nvSpPr>
            <p:cNvPr id="22" name="TextBox 21"/>
            <p:cNvSpPr txBox="1"/>
            <p:nvPr/>
          </p:nvSpPr>
          <p:spPr>
            <a:xfrm>
              <a:off x="1727495" y="2276872"/>
              <a:ext cx="383440" cy="424784"/>
            </a:xfrm>
            <a:prstGeom prst="rect">
              <a:avLst/>
            </a:prstGeom>
            <a:noFill/>
          </p:spPr>
          <p:txBody>
            <a:bodyPr wrap="square" rtlCol="0">
              <a:spAutoFit/>
            </a:bodyPr>
            <a:lstStyle/>
            <a:p>
              <a:r>
                <a:rPr lang="en-GB" sz="1400"/>
                <a:t>_</a:t>
              </a:r>
            </a:p>
          </p:txBody>
        </p:sp>
        <p:sp>
          <p:nvSpPr>
            <p:cNvPr id="23" name="Oval 22"/>
            <p:cNvSpPr>
              <a:spLocks noChangeAspect="1"/>
            </p:cNvSpPr>
            <p:nvPr/>
          </p:nvSpPr>
          <p:spPr>
            <a:xfrm>
              <a:off x="1343822" y="4691637"/>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24" name="Oval 23"/>
            <p:cNvSpPr>
              <a:spLocks noChangeAspect="1"/>
            </p:cNvSpPr>
            <p:nvPr/>
          </p:nvSpPr>
          <p:spPr>
            <a:xfrm>
              <a:off x="2160099" y="4516729"/>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5" name="Oval 24"/>
            <p:cNvSpPr>
              <a:spLocks noChangeAspect="1"/>
            </p:cNvSpPr>
            <p:nvPr/>
          </p:nvSpPr>
          <p:spPr>
            <a:xfrm>
              <a:off x="2206609" y="546154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6" name="Oval 25"/>
            <p:cNvSpPr>
              <a:spLocks noChangeAspect="1"/>
            </p:cNvSpPr>
            <p:nvPr/>
          </p:nvSpPr>
          <p:spPr>
            <a:xfrm>
              <a:off x="2261458" y="4883757"/>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7" name="Oval 26"/>
            <p:cNvSpPr>
              <a:spLocks noChangeAspect="1"/>
            </p:cNvSpPr>
            <p:nvPr/>
          </p:nvSpPr>
          <p:spPr>
            <a:xfrm>
              <a:off x="2459832" y="4590980"/>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8" name="Oval 27"/>
            <p:cNvSpPr>
              <a:spLocks noChangeAspect="1"/>
            </p:cNvSpPr>
            <p:nvPr/>
          </p:nvSpPr>
          <p:spPr>
            <a:xfrm>
              <a:off x="2499828" y="517653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a:t>-</a:t>
              </a:r>
            </a:p>
          </p:txBody>
        </p:sp>
        <p:sp>
          <p:nvSpPr>
            <p:cNvPr id="29" name="Oval 28"/>
            <p:cNvSpPr>
              <a:spLocks noChangeAspect="1"/>
            </p:cNvSpPr>
            <p:nvPr/>
          </p:nvSpPr>
          <p:spPr>
            <a:xfrm>
              <a:off x="1649417" y="5507961"/>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30" name="Oval 29"/>
            <p:cNvSpPr>
              <a:spLocks noChangeAspect="1"/>
            </p:cNvSpPr>
            <p:nvPr/>
          </p:nvSpPr>
          <p:spPr>
            <a:xfrm>
              <a:off x="1343822" y="5300748"/>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31" name="Oval 30"/>
            <p:cNvSpPr>
              <a:spLocks noChangeAspect="1"/>
            </p:cNvSpPr>
            <p:nvPr/>
          </p:nvSpPr>
          <p:spPr>
            <a:xfrm>
              <a:off x="1594400" y="496898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32" name="Oval 31"/>
            <p:cNvSpPr>
              <a:spLocks noChangeAspect="1"/>
            </p:cNvSpPr>
            <p:nvPr/>
          </p:nvSpPr>
          <p:spPr>
            <a:xfrm>
              <a:off x="1660304" y="4515412"/>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a:t>+</a:t>
              </a:r>
            </a:p>
          </p:txBody>
        </p:sp>
        <p:sp>
          <p:nvSpPr>
            <p:cNvPr id="33" name="TextBox 32"/>
            <p:cNvSpPr txBox="1"/>
            <p:nvPr/>
          </p:nvSpPr>
          <p:spPr>
            <a:xfrm>
              <a:off x="1064148" y="2118106"/>
              <a:ext cx="2634241" cy="338554"/>
            </a:xfrm>
            <a:prstGeom prst="rect">
              <a:avLst/>
            </a:prstGeom>
            <a:noFill/>
          </p:spPr>
          <p:txBody>
            <a:bodyPr wrap="square" rtlCol="0">
              <a:spAutoFit/>
            </a:bodyPr>
            <a:lstStyle/>
            <a:p>
              <a:r>
                <a:rPr lang="en-GB" sz="1600" dirty="0"/>
                <a:t>Direct current (DC</a:t>
              </a:r>
              <a:r>
                <a:rPr lang="en-GB" sz="1600"/>
                <a:t>) supply</a:t>
              </a:r>
            </a:p>
          </p:txBody>
        </p:sp>
        <p:cxnSp>
          <p:nvCxnSpPr>
            <p:cNvPr id="36" name="Straight Arrow Connector 35"/>
            <p:cNvCxnSpPr/>
            <p:nvPr/>
          </p:nvCxnSpPr>
          <p:spPr>
            <a:xfrm flipH="1">
              <a:off x="2699455" y="3269747"/>
              <a:ext cx="504096" cy="375277"/>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677603" y="3290626"/>
              <a:ext cx="731184" cy="330012"/>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38" name="Picture 37"/>
            <p:cNvPicPr>
              <a:picLocks noChangeAspect="1"/>
            </p:cNvPicPr>
            <p:nvPr/>
          </p:nvPicPr>
          <p:blipFill>
            <a:blip r:embed="rId3"/>
            <a:stretch>
              <a:fillRect/>
            </a:stretch>
          </p:blipFill>
          <p:spPr>
            <a:xfrm>
              <a:off x="912510" y="3466443"/>
              <a:ext cx="2151856" cy="2501844"/>
            </a:xfrm>
            <a:prstGeom prst="rect">
              <a:avLst/>
            </a:prstGeom>
          </p:spPr>
        </p:pic>
      </p:grpSp>
    </p:spTree>
    <p:extLst>
      <p:ext uri="{BB962C8B-B14F-4D97-AF65-F5344CB8AC3E}">
        <p14:creationId xmlns:p14="http://schemas.microsoft.com/office/powerpoint/2010/main" val="37706149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216539"/>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Electrolytic processes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Purification of copper sulfate</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2309734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70656" y="636495"/>
            <a:ext cx="8802688" cy="5585011"/>
          </a:xfrm>
        </p:spPr>
        <p:txBody>
          <a:bodyPr>
            <a:noAutofit/>
          </a:bodyPr>
          <a:lstStyle/>
          <a:p>
            <a:pPr marL="0" indent="0">
              <a:buNone/>
            </a:pPr>
            <a:r>
              <a:rPr lang="en-GB" b="1" i="1" dirty="0">
                <a:latin typeface="+mn-lt"/>
              </a:rPr>
              <a:t>All the following questions relate to the purification of copper using electrolysis.</a:t>
            </a:r>
          </a:p>
          <a:p>
            <a:pPr marL="514350" indent="-514350">
              <a:buFont typeface="+mj-lt"/>
              <a:buAutoNum type="arabicPeriod"/>
            </a:pPr>
            <a:r>
              <a:rPr lang="en-GB" dirty="0">
                <a:latin typeface="+mn-lt"/>
              </a:rPr>
              <a:t>Define oxidation and reduction in terms of electrons.</a:t>
            </a:r>
          </a:p>
          <a:p>
            <a:pPr marL="514350" indent="-514350">
              <a:buFont typeface="+mj-lt"/>
              <a:buAutoNum type="arabicPeriod"/>
            </a:pPr>
            <a:endParaRPr lang="en-GB" dirty="0">
              <a:latin typeface="+mn-lt"/>
            </a:endParaRPr>
          </a:p>
          <a:p>
            <a:pPr marL="514350" indent="-514350">
              <a:buFont typeface="+mj-lt"/>
              <a:buAutoNum type="arabicPeriod"/>
            </a:pPr>
            <a:r>
              <a:rPr lang="en-GB" dirty="0">
                <a:latin typeface="+mn-lt"/>
              </a:rPr>
              <a:t>What is meant by the term ‘cation’?</a:t>
            </a:r>
          </a:p>
          <a:p>
            <a:pPr marL="514350" indent="-514350">
              <a:buFont typeface="+mj-lt"/>
              <a:buAutoNum type="arabicPeriod"/>
            </a:pPr>
            <a:endParaRPr lang="en-GB" dirty="0">
              <a:latin typeface="+mn-lt"/>
            </a:endParaRPr>
          </a:p>
          <a:p>
            <a:pPr marL="514350" indent="-514350">
              <a:buFont typeface="+mj-lt"/>
              <a:buAutoNum type="arabicPeriod"/>
            </a:pPr>
            <a:r>
              <a:rPr lang="en-GB" dirty="0">
                <a:latin typeface="+mn-lt"/>
              </a:rPr>
              <a:t>What are the electrodes made of?</a:t>
            </a:r>
          </a:p>
          <a:p>
            <a:pPr marL="514350" indent="-514350">
              <a:buFont typeface="+mj-lt"/>
              <a:buAutoNum type="arabicPeriod"/>
            </a:pPr>
            <a:endParaRPr lang="en-GB" dirty="0">
              <a:latin typeface="+mn-lt"/>
            </a:endParaRPr>
          </a:p>
          <a:p>
            <a:pPr marL="514350" indent="-514350">
              <a:buFont typeface="+mj-lt"/>
              <a:buAutoNum type="arabicPeriod"/>
            </a:pPr>
            <a:r>
              <a:rPr lang="en-GB" dirty="0">
                <a:latin typeface="+mn-lt"/>
              </a:rPr>
              <a:t>Which electrode would increase in mass? Why?</a:t>
            </a:r>
          </a:p>
          <a:p>
            <a:pPr marL="514350" indent="-514350">
              <a:buFont typeface="+mj-lt"/>
              <a:buAutoNum type="arabicPeriod"/>
            </a:pPr>
            <a:endParaRPr lang="en-GB" dirty="0">
              <a:latin typeface="+mn-lt"/>
            </a:endParaRPr>
          </a:p>
          <a:p>
            <a:pPr marL="514350" indent="-514350">
              <a:buFont typeface="+mj-lt"/>
              <a:buAutoNum type="arabicPeriod"/>
            </a:pPr>
            <a:endParaRPr lang="en-GB" sz="2800" dirty="0">
              <a:latin typeface="+mn-lt"/>
            </a:endParaRPr>
          </a:p>
          <a:p>
            <a:pPr marL="0" indent="0">
              <a:buNone/>
            </a:pPr>
            <a:endParaRPr lang="en-GB" sz="2000" dirty="0">
              <a:latin typeface="+mn-lt"/>
            </a:endParaRPr>
          </a:p>
          <a:p>
            <a:pPr marL="0" indent="0">
              <a:buNone/>
            </a:pPr>
            <a:endParaRPr lang="en-GB" sz="2000" dirty="0">
              <a:latin typeface="+mn-lt"/>
            </a:endParaRPr>
          </a:p>
          <a:p>
            <a:pPr marL="0" indent="0">
              <a:buNone/>
            </a:pPr>
            <a:endParaRPr lang="en-GB" sz="2000" dirty="0">
              <a:latin typeface="+mn-lt"/>
            </a:endParaRPr>
          </a:p>
          <a:p>
            <a:pPr marL="0" indent="0">
              <a:buNone/>
            </a:pPr>
            <a:endParaRPr lang="en-GB" sz="2000" dirty="0">
              <a:latin typeface="+mn-lt"/>
            </a:endParaRPr>
          </a:p>
        </p:txBody>
      </p:sp>
      <p:sp>
        <p:nvSpPr>
          <p:cNvPr id="7" name="Title 1"/>
          <p:cNvSpPr txBox="1">
            <a:spLocks/>
          </p:cNvSpPr>
          <p:nvPr/>
        </p:nvSpPr>
        <p:spPr>
          <a:xfrm>
            <a:off x="827584" y="0"/>
            <a:ext cx="831641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pPr>
            <a:r>
              <a:rPr lang="en-US" sz="2000" b="1" kern="0">
                <a:solidFill>
                  <a:schemeClr val="accent6"/>
                </a:solidFill>
              </a:rPr>
              <a:t>Electrolysis – </a:t>
            </a:r>
            <a:r>
              <a:rPr lang="en-US" sz="2000" b="1" kern="1200">
                <a:solidFill>
                  <a:schemeClr val="tx1"/>
                </a:solidFill>
                <a:latin typeface="Calibri"/>
                <a:ea typeface=""/>
                <a:cs typeface="News Gothic MT"/>
              </a:rPr>
              <a:t>QuestionIT</a:t>
            </a:r>
            <a:endParaRPr lang="en-US" sz="2000" b="1" kern="1200" dirty="0">
              <a:solidFill>
                <a:schemeClr val="tx1"/>
              </a:solidFill>
              <a:latin typeface="Calibri"/>
              <a:ea typeface=""/>
              <a:cs typeface="News Gothic MT"/>
            </a:endParaRPr>
          </a:p>
        </p:txBody>
      </p:sp>
    </p:spTree>
    <p:custDataLst>
      <p:tags r:id="rId1"/>
    </p:custDataLst>
    <p:extLst>
      <p:ext uri="{BB962C8B-B14F-4D97-AF65-F5344CB8AC3E}">
        <p14:creationId xmlns:p14="http://schemas.microsoft.com/office/powerpoint/2010/main" val="2510076383"/>
      </p:ext>
    </p:extLst>
  </p:cSld>
  <p:clrMapOvr>
    <a:masterClrMapping/>
  </p:clrMapOvr>
  <mc:AlternateContent xmlns:mc="http://schemas.openxmlformats.org/markup-compatibility/2006" xmlns:p14="http://schemas.microsoft.com/office/powerpoint/2010/main">
    <mc:Choice Requires="p14">
      <p:transition spd="slow" p14:dur="2000" advTm="28998"/>
    </mc:Choice>
    <mc:Fallback xmlns="">
      <p:transition xmlns:p14="http://schemas.microsoft.com/office/powerpoint/2010/main" spd="slow" advTm="28998"/>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70656" y="636495"/>
            <a:ext cx="8802688" cy="5585011"/>
          </a:xfrm>
        </p:spPr>
        <p:txBody>
          <a:bodyPr>
            <a:noAutofit/>
          </a:bodyPr>
          <a:lstStyle/>
          <a:p>
            <a:pPr marL="0" indent="0">
              <a:buNone/>
            </a:pPr>
            <a:r>
              <a:rPr lang="en-GB" b="1" i="1" dirty="0">
                <a:latin typeface="+mn-lt"/>
              </a:rPr>
              <a:t>All the following questions relate to the purification of copper using electrolysis.</a:t>
            </a:r>
          </a:p>
          <a:p>
            <a:pPr marL="514350" indent="-514350">
              <a:buFont typeface="+mj-lt"/>
              <a:buAutoNum type="arabicPeriod" startAt="5"/>
            </a:pPr>
            <a:r>
              <a:rPr lang="en-GB" dirty="0">
                <a:latin typeface="+mn-lt"/>
              </a:rPr>
              <a:t>What is the electrolyte solution used in the purification of copper?</a:t>
            </a:r>
          </a:p>
          <a:p>
            <a:pPr marL="514350" indent="-514350">
              <a:buFont typeface="+mj-lt"/>
              <a:buAutoNum type="arabicPeriod" startAt="5"/>
            </a:pPr>
            <a:endParaRPr lang="en-GB" dirty="0">
              <a:latin typeface="+mn-lt"/>
            </a:endParaRPr>
          </a:p>
          <a:p>
            <a:pPr marL="514350" indent="-514350">
              <a:buFont typeface="+mj-lt"/>
              <a:buAutoNum type="arabicPeriod" startAt="5"/>
            </a:pPr>
            <a:r>
              <a:rPr lang="en-GB" dirty="0">
                <a:latin typeface="+mn-lt"/>
              </a:rPr>
              <a:t>What happens at the anode?</a:t>
            </a:r>
          </a:p>
          <a:p>
            <a:pPr marL="514350" indent="-514350">
              <a:buFont typeface="+mj-lt"/>
              <a:buAutoNum type="arabicPeriod" startAt="5"/>
            </a:pPr>
            <a:endParaRPr lang="en-GB" dirty="0">
              <a:latin typeface="+mn-lt"/>
            </a:endParaRPr>
          </a:p>
          <a:p>
            <a:pPr marL="514350" indent="-514350">
              <a:buFont typeface="+mj-lt"/>
              <a:buAutoNum type="arabicPeriod" startAt="5"/>
            </a:pPr>
            <a:r>
              <a:rPr lang="en-GB" dirty="0">
                <a:latin typeface="+mn-lt"/>
              </a:rPr>
              <a:t>What is the ionic equation for the reaction taking place at the cathode?</a:t>
            </a:r>
          </a:p>
          <a:p>
            <a:pPr marL="514350" indent="-514350">
              <a:buFont typeface="+mj-lt"/>
              <a:buAutoNum type="arabicPeriod" startAt="5"/>
            </a:pPr>
            <a:endParaRPr lang="en-GB" sz="2800" dirty="0">
              <a:latin typeface="+mn-lt"/>
            </a:endParaRPr>
          </a:p>
          <a:p>
            <a:pPr marL="0" indent="0">
              <a:buNone/>
            </a:pPr>
            <a:endParaRPr lang="en-GB" sz="2000" dirty="0">
              <a:latin typeface="+mn-lt"/>
            </a:endParaRPr>
          </a:p>
          <a:p>
            <a:pPr marL="0" indent="0">
              <a:buNone/>
            </a:pPr>
            <a:endParaRPr lang="en-GB" sz="2000" dirty="0">
              <a:latin typeface="+mn-lt"/>
            </a:endParaRPr>
          </a:p>
          <a:p>
            <a:pPr marL="0" indent="0">
              <a:buNone/>
            </a:pPr>
            <a:endParaRPr lang="en-GB" sz="2000" dirty="0">
              <a:latin typeface="+mn-lt"/>
            </a:endParaRPr>
          </a:p>
          <a:p>
            <a:pPr marL="0" indent="0">
              <a:buNone/>
            </a:pPr>
            <a:endParaRPr lang="en-GB" sz="2000" dirty="0">
              <a:latin typeface="+mn-lt"/>
            </a:endParaRPr>
          </a:p>
        </p:txBody>
      </p:sp>
      <p:sp>
        <p:nvSpPr>
          <p:cNvPr id="7" name="Title 1"/>
          <p:cNvSpPr txBox="1">
            <a:spLocks/>
          </p:cNvSpPr>
          <p:nvPr/>
        </p:nvSpPr>
        <p:spPr>
          <a:xfrm>
            <a:off x="827584" y="0"/>
            <a:ext cx="831641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pPr>
            <a:r>
              <a:rPr lang="en-US" sz="2000" b="1" kern="0">
                <a:solidFill>
                  <a:schemeClr val="accent6"/>
                </a:solidFill>
              </a:rPr>
              <a:t>Electrolysis – </a:t>
            </a:r>
            <a:r>
              <a:rPr lang="en-US" sz="2000" b="1" kern="1200">
                <a:solidFill>
                  <a:schemeClr val="tx1"/>
                </a:solidFill>
                <a:latin typeface="Calibri"/>
                <a:ea typeface=""/>
                <a:cs typeface="News Gothic MT"/>
              </a:rPr>
              <a:t>QuestionIT</a:t>
            </a:r>
            <a:endParaRPr lang="en-US" sz="2000" b="1" kern="1200" dirty="0">
              <a:solidFill>
                <a:schemeClr val="tx1"/>
              </a:solidFill>
              <a:latin typeface="Calibri"/>
              <a:ea typeface=""/>
              <a:cs typeface="News Gothic MT"/>
            </a:endParaRPr>
          </a:p>
        </p:txBody>
      </p:sp>
    </p:spTree>
    <p:custDataLst>
      <p:tags r:id="rId1"/>
    </p:custDataLst>
    <p:extLst>
      <p:ext uri="{BB962C8B-B14F-4D97-AF65-F5344CB8AC3E}">
        <p14:creationId xmlns:p14="http://schemas.microsoft.com/office/powerpoint/2010/main" val="1974372410"/>
      </p:ext>
    </p:extLst>
  </p:cSld>
  <p:clrMapOvr>
    <a:masterClrMapping/>
  </p:clrMapOvr>
  <mc:AlternateContent xmlns:mc="http://schemas.openxmlformats.org/markup-compatibility/2006" xmlns:p14="http://schemas.microsoft.com/office/powerpoint/2010/main">
    <mc:Choice Requires="p14">
      <p:transition spd="slow" p14:dur="2000" advTm="28998"/>
    </mc:Choice>
    <mc:Fallback xmlns="">
      <p:transition xmlns:p14="http://schemas.microsoft.com/office/powerpoint/2010/main" spd="slow" advTm="28998"/>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21653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Electrolytic processes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Purification of copper sulfate</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547938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70656" y="636495"/>
            <a:ext cx="8802688" cy="5585011"/>
          </a:xfrm>
        </p:spPr>
        <p:txBody>
          <a:bodyPr>
            <a:noAutofit/>
          </a:bodyPr>
          <a:lstStyle/>
          <a:p>
            <a:pPr marL="0" indent="0">
              <a:buNone/>
            </a:pPr>
            <a:r>
              <a:rPr lang="en-GB" b="1" i="1" dirty="0">
                <a:latin typeface="+mn-lt"/>
              </a:rPr>
              <a:t>All the following questions relate to the purification of copper using electrolysis.</a:t>
            </a:r>
          </a:p>
          <a:p>
            <a:pPr marL="514350" indent="-514350">
              <a:buFont typeface="+mj-lt"/>
              <a:buAutoNum type="arabicPeriod"/>
            </a:pPr>
            <a:r>
              <a:rPr lang="en-GB" dirty="0">
                <a:latin typeface="+mn-lt"/>
              </a:rPr>
              <a:t>Define oxidation and reduction in terms of electrons.</a:t>
            </a:r>
          </a:p>
          <a:p>
            <a:pPr marL="600075" lvl="2" indent="0">
              <a:buNone/>
            </a:pPr>
            <a:r>
              <a:rPr lang="en-GB" sz="2400" dirty="0">
                <a:solidFill>
                  <a:srgbClr val="00B050"/>
                </a:solidFill>
                <a:latin typeface="+mn-lt"/>
              </a:rPr>
              <a:t>OIL RIG; oxidation is loss of electrons, reduction is gain of electrons.</a:t>
            </a:r>
          </a:p>
          <a:p>
            <a:pPr marL="514350" indent="-514350">
              <a:buFont typeface="+mj-lt"/>
              <a:buAutoNum type="arabicPeriod"/>
            </a:pPr>
            <a:r>
              <a:rPr lang="en-GB" dirty="0">
                <a:latin typeface="+mn-lt"/>
              </a:rPr>
              <a:t>What is meant by the term ‘cation’?</a:t>
            </a:r>
          </a:p>
          <a:p>
            <a:pPr marL="600075" lvl="2" indent="0">
              <a:buNone/>
            </a:pPr>
            <a:r>
              <a:rPr lang="en-GB" sz="2400" dirty="0">
                <a:solidFill>
                  <a:srgbClr val="00B050"/>
                </a:solidFill>
                <a:latin typeface="+mn-lt"/>
              </a:rPr>
              <a:t>Positive ion (normally a metal ion).</a:t>
            </a:r>
          </a:p>
          <a:p>
            <a:pPr marL="514350" indent="-514350">
              <a:buFont typeface="+mj-lt"/>
              <a:buAutoNum type="arabicPeriod"/>
            </a:pPr>
            <a:r>
              <a:rPr lang="en-GB" dirty="0">
                <a:latin typeface="+mn-lt"/>
              </a:rPr>
              <a:t>What are the electrodes made of?</a:t>
            </a:r>
          </a:p>
          <a:p>
            <a:pPr marL="600075" lvl="2" indent="0">
              <a:buNone/>
            </a:pPr>
            <a:r>
              <a:rPr lang="en-GB" sz="2400" dirty="0">
                <a:solidFill>
                  <a:srgbClr val="00B050"/>
                </a:solidFill>
                <a:latin typeface="+mn-lt"/>
              </a:rPr>
              <a:t>Cathode = pure copper; anode = impure copper.</a:t>
            </a:r>
          </a:p>
          <a:p>
            <a:pPr marL="514350" indent="-514350">
              <a:buFont typeface="+mj-lt"/>
              <a:buAutoNum type="arabicPeriod"/>
            </a:pPr>
            <a:r>
              <a:rPr lang="en-GB" dirty="0">
                <a:latin typeface="+mn-lt"/>
              </a:rPr>
              <a:t>Which electrode would increase in mass? Why?</a:t>
            </a:r>
          </a:p>
          <a:p>
            <a:pPr marL="600075" lvl="2" indent="0">
              <a:buNone/>
            </a:pPr>
            <a:r>
              <a:rPr lang="en-GB" sz="2400" dirty="0">
                <a:solidFill>
                  <a:srgbClr val="00B050"/>
                </a:solidFill>
                <a:latin typeface="+mn-lt"/>
              </a:rPr>
              <a:t>Cathode; pure copper is forming on the surface from copper cations in solution.</a:t>
            </a:r>
          </a:p>
          <a:p>
            <a:pPr marL="514350" indent="-514350">
              <a:buFont typeface="+mj-lt"/>
              <a:buAutoNum type="arabicPeriod"/>
            </a:pPr>
            <a:endParaRPr lang="en-GB" sz="2800" dirty="0">
              <a:latin typeface="+mn-lt"/>
            </a:endParaRPr>
          </a:p>
          <a:p>
            <a:pPr marL="0" indent="0">
              <a:buNone/>
            </a:pPr>
            <a:endParaRPr lang="en-GB" sz="2000" dirty="0">
              <a:latin typeface="+mn-lt"/>
            </a:endParaRPr>
          </a:p>
          <a:p>
            <a:pPr marL="0" indent="0">
              <a:buNone/>
            </a:pPr>
            <a:endParaRPr lang="en-GB" sz="2000" dirty="0">
              <a:latin typeface="+mn-lt"/>
            </a:endParaRPr>
          </a:p>
          <a:p>
            <a:pPr marL="0" indent="0">
              <a:buNone/>
            </a:pPr>
            <a:endParaRPr lang="en-GB" sz="2000" dirty="0">
              <a:latin typeface="+mn-lt"/>
            </a:endParaRPr>
          </a:p>
          <a:p>
            <a:pPr marL="0" indent="0">
              <a:buNone/>
            </a:pPr>
            <a:endParaRPr lang="en-GB" sz="2000" dirty="0">
              <a:latin typeface="+mn-lt"/>
            </a:endParaRPr>
          </a:p>
        </p:txBody>
      </p:sp>
      <p:sp>
        <p:nvSpPr>
          <p:cNvPr id="7" name="Title 1"/>
          <p:cNvSpPr txBox="1">
            <a:spLocks/>
          </p:cNvSpPr>
          <p:nvPr/>
        </p:nvSpPr>
        <p:spPr>
          <a:xfrm>
            <a:off x="827584" y="0"/>
            <a:ext cx="831641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pPr>
            <a:r>
              <a:rPr lang="en-US" sz="2000" b="1" kern="0">
                <a:solidFill>
                  <a:schemeClr val="accent6"/>
                </a:solidFill>
              </a:rPr>
              <a:t>Electrolysis – </a:t>
            </a:r>
            <a:r>
              <a:rPr lang="en-US" sz="2000" b="1" kern="1200">
                <a:solidFill>
                  <a:schemeClr val="tx1"/>
                </a:solidFill>
                <a:latin typeface="Calibri"/>
                <a:ea typeface=""/>
                <a:cs typeface="News Gothic MT"/>
              </a:rPr>
              <a:t>QuestionIT</a:t>
            </a:r>
            <a:endParaRPr lang="en-US" sz="2000" b="1" kern="1200" dirty="0">
              <a:solidFill>
                <a:schemeClr val="tx1"/>
              </a:solidFill>
              <a:latin typeface="Calibri"/>
              <a:ea typeface=""/>
              <a:cs typeface="News Gothic MT"/>
            </a:endParaRPr>
          </a:p>
        </p:txBody>
      </p:sp>
    </p:spTree>
    <p:custDataLst>
      <p:tags r:id="rId1"/>
    </p:custDataLst>
    <p:extLst>
      <p:ext uri="{BB962C8B-B14F-4D97-AF65-F5344CB8AC3E}">
        <p14:creationId xmlns:p14="http://schemas.microsoft.com/office/powerpoint/2010/main" val="2280887284"/>
      </p:ext>
    </p:extLst>
  </p:cSld>
  <p:clrMapOvr>
    <a:masterClrMapping/>
  </p:clrMapOvr>
  <mc:AlternateContent xmlns:mc="http://schemas.openxmlformats.org/markup-compatibility/2006" xmlns:p14="http://schemas.microsoft.com/office/powerpoint/2010/main">
    <mc:Choice Requires="p14">
      <p:transition spd="slow" p14:dur="2000" advTm="28998"/>
    </mc:Choice>
    <mc:Fallback xmlns="">
      <p:transition xmlns:p14="http://schemas.microsoft.com/office/powerpoint/2010/main" spd="slow" advTm="28998"/>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70656" y="636495"/>
            <a:ext cx="8802688" cy="5585011"/>
          </a:xfrm>
        </p:spPr>
        <p:txBody>
          <a:bodyPr>
            <a:noAutofit/>
          </a:bodyPr>
          <a:lstStyle/>
          <a:p>
            <a:pPr marL="0" indent="0">
              <a:buNone/>
            </a:pPr>
            <a:r>
              <a:rPr lang="en-GB" b="1" i="1" dirty="0">
                <a:latin typeface="+mn-lt"/>
              </a:rPr>
              <a:t>All the following questions relate to the purification of copper using electrolysis.</a:t>
            </a:r>
          </a:p>
          <a:p>
            <a:pPr marL="514350" indent="-514350">
              <a:buFont typeface="+mj-lt"/>
              <a:buAutoNum type="arabicPeriod" startAt="5"/>
            </a:pPr>
            <a:r>
              <a:rPr lang="en-GB" dirty="0">
                <a:latin typeface="+mn-lt"/>
              </a:rPr>
              <a:t>What is the electrolyte solution used in the purification of copper?</a:t>
            </a:r>
          </a:p>
          <a:p>
            <a:pPr marL="600075" lvl="2" indent="0">
              <a:buNone/>
            </a:pPr>
            <a:r>
              <a:rPr lang="en-GB" sz="2400" dirty="0">
                <a:solidFill>
                  <a:srgbClr val="00B050"/>
                </a:solidFill>
                <a:latin typeface="+mn-lt"/>
              </a:rPr>
              <a:t>Copper </a:t>
            </a:r>
            <a:r>
              <a:rPr lang="en-GB" sz="2400" dirty="0" err="1">
                <a:solidFill>
                  <a:srgbClr val="00B050"/>
                </a:solidFill>
                <a:latin typeface="+mn-lt"/>
              </a:rPr>
              <a:t>sulfate</a:t>
            </a:r>
            <a:r>
              <a:rPr lang="en-GB" sz="2400" dirty="0">
                <a:solidFill>
                  <a:srgbClr val="00B050"/>
                </a:solidFill>
                <a:latin typeface="+mn-lt"/>
              </a:rPr>
              <a:t> solution.</a:t>
            </a:r>
          </a:p>
          <a:p>
            <a:pPr marL="514350" indent="-514350">
              <a:buFont typeface="+mj-lt"/>
              <a:buAutoNum type="arabicPeriod" startAt="5"/>
            </a:pPr>
            <a:r>
              <a:rPr lang="en-GB" dirty="0">
                <a:latin typeface="+mn-lt"/>
              </a:rPr>
              <a:t>What happens at the anode?</a:t>
            </a:r>
          </a:p>
          <a:p>
            <a:pPr marL="600075" lvl="2" indent="0">
              <a:buNone/>
            </a:pPr>
            <a:r>
              <a:rPr lang="en-GB" sz="2400" dirty="0">
                <a:solidFill>
                  <a:srgbClr val="00B050"/>
                </a:solidFill>
                <a:latin typeface="+mn-lt"/>
              </a:rPr>
              <a:t>Decrease in mass; copper cations leave the anode.</a:t>
            </a:r>
          </a:p>
          <a:p>
            <a:pPr marL="514350" indent="-514350">
              <a:buFont typeface="+mj-lt"/>
              <a:buAutoNum type="arabicPeriod" startAt="5"/>
            </a:pPr>
            <a:r>
              <a:rPr lang="en-GB" dirty="0">
                <a:latin typeface="+mn-lt"/>
              </a:rPr>
              <a:t>What is the ionic equation for the reaction taking place at the cathode?</a:t>
            </a:r>
          </a:p>
          <a:p>
            <a:pPr marL="600075" lvl="2" indent="0" algn="ctr">
              <a:buNone/>
            </a:pPr>
            <a:r>
              <a:rPr lang="en-GB" sz="2400" dirty="0">
                <a:solidFill>
                  <a:srgbClr val="00B050"/>
                </a:solidFill>
                <a:latin typeface="+mn-lt"/>
              </a:rPr>
              <a:t>Cu</a:t>
            </a:r>
            <a:r>
              <a:rPr lang="en-GB" sz="2400" baseline="30000" dirty="0">
                <a:solidFill>
                  <a:srgbClr val="00B050"/>
                </a:solidFill>
                <a:latin typeface="+mn-lt"/>
              </a:rPr>
              <a:t>2+ </a:t>
            </a:r>
            <a:r>
              <a:rPr lang="en-GB" sz="2400" dirty="0">
                <a:solidFill>
                  <a:srgbClr val="00B050"/>
                </a:solidFill>
                <a:latin typeface="+mn-lt"/>
              </a:rPr>
              <a:t>+ 2e</a:t>
            </a:r>
            <a:r>
              <a:rPr lang="en-GB" sz="2400" baseline="30000" dirty="0">
                <a:solidFill>
                  <a:srgbClr val="00B050"/>
                </a:solidFill>
                <a:latin typeface="+mn-lt"/>
              </a:rPr>
              <a:t>- </a:t>
            </a:r>
            <a:r>
              <a:rPr lang="en-GB" sz="2400" dirty="0">
                <a:solidFill>
                  <a:srgbClr val="00B050"/>
                </a:solidFill>
                <a:sym typeface="Wingdings" pitchFamily="2" charset="2"/>
              </a:rPr>
              <a:t> </a:t>
            </a:r>
            <a:r>
              <a:rPr lang="en-GB" sz="2400" dirty="0">
                <a:solidFill>
                  <a:srgbClr val="00B050"/>
                </a:solidFill>
                <a:latin typeface="+mn-lt"/>
              </a:rPr>
              <a:t>Cu</a:t>
            </a:r>
          </a:p>
          <a:p>
            <a:pPr marL="0" indent="0">
              <a:buNone/>
            </a:pPr>
            <a:endParaRPr lang="en-GB" sz="2000" dirty="0">
              <a:latin typeface="+mn-lt"/>
            </a:endParaRPr>
          </a:p>
          <a:p>
            <a:pPr marL="0" indent="0">
              <a:buNone/>
            </a:pPr>
            <a:endParaRPr lang="en-GB" sz="2000" dirty="0">
              <a:latin typeface="+mn-lt"/>
            </a:endParaRPr>
          </a:p>
          <a:p>
            <a:pPr marL="0" indent="0">
              <a:buNone/>
            </a:pPr>
            <a:endParaRPr lang="en-GB" sz="2000" dirty="0">
              <a:latin typeface="+mn-lt"/>
            </a:endParaRPr>
          </a:p>
          <a:p>
            <a:pPr marL="0" indent="0">
              <a:buNone/>
            </a:pPr>
            <a:endParaRPr lang="en-GB" sz="2000" dirty="0">
              <a:latin typeface="+mn-lt"/>
            </a:endParaRPr>
          </a:p>
        </p:txBody>
      </p:sp>
      <p:sp>
        <p:nvSpPr>
          <p:cNvPr id="7" name="Title 1"/>
          <p:cNvSpPr txBox="1">
            <a:spLocks/>
          </p:cNvSpPr>
          <p:nvPr/>
        </p:nvSpPr>
        <p:spPr>
          <a:xfrm>
            <a:off x="827584" y="0"/>
            <a:ext cx="831641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pPr>
            <a:r>
              <a:rPr lang="en-US" sz="2000" b="1" kern="0">
                <a:solidFill>
                  <a:schemeClr val="accent6"/>
                </a:solidFill>
              </a:rPr>
              <a:t>Electrolysis – </a:t>
            </a:r>
            <a:r>
              <a:rPr lang="en-US" sz="2000" b="1" kern="1200">
                <a:solidFill>
                  <a:schemeClr val="tx1"/>
                </a:solidFill>
                <a:latin typeface="Calibri"/>
                <a:ea typeface=""/>
                <a:cs typeface="News Gothic MT"/>
              </a:rPr>
              <a:t>QuestionIT</a:t>
            </a:r>
            <a:endParaRPr lang="en-US" sz="2000" b="1" kern="1200" dirty="0">
              <a:solidFill>
                <a:schemeClr val="tx1"/>
              </a:solidFill>
              <a:latin typeface="Calibri"/>
              <a:ea typeface=""/>
              <a:cs typeface="News Gothic MT"/>
            </a:endParaRPr>
          </a:p>
        </p:txBody>
      </p:sp>
    </p:spTree>
    <p:custDataLst>
      <p:tags r:id="rId1"/>
    </p:custDataLst>
    <p:extLst>
      <p:ext uri="{BB962C8B-B14F-4D97-AF65-F5344CB8AC3E}">
        <p14:creationId xmlns:p14="http://schemas.microsoft.com/office/powerpoint/2010/main" val="1350069841"/>
      </p:ext>
    </p:extLst>
  </p:cSld>
  <p:clrMapOvr>
    <a:masterClrMapping/>
  </p:clrMapOvr>
  <mc:AlternateContent xmlns:mc="http://schemas.openxmlformats.org/markup-compatibility/2006" xmlns:p14="http://schemas.microsoft.com/office/powerpoint/2010/main">
    <mc:Choice Requires="p14">
      <p:transition spd="slow" p14:dur="2000" advTm="28998"/>
    </mc:Choice>
    <mc:Fallback xmlns="">
      <p:transition xmlns:p14="http://schemas.microsoft.com/office/powerpoint/2010/main" spd="slow" advTm="2899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5.3|3|1.7"/>
</p:tagLst>
</file>

<file path=ppt/tags/tag2.xml><?xml version="1.0" encoding="utf-8"?>
<p:tagLst xmlns:a="http://schemas.openxmlformats.org/drawingml/2006/main" xmlns:r="http://schemas.openxmlformats.org/officeDocument/2006/relationships" xmlns:p="http://schemas.openxmlformats.org/presentationml/2006/main">
  <p:tag name="TIMING" val="|15.3|3|1.7"/>
</p:tagLst>
</file>

<file path=ppt/tags/tag3.xml><?xml version="1.0" encoding="utf-8"?>
<p:tagLst xmlns:a="http://schemas.openxmlformats.org/drawingml/2006/main" xmlns:r="http://schemas.openxmlformats.org/officeDocument/2006/relationships" xmlns:p="http://schemas.openxmlformats.org/presentationml/2006/main">
  <p:tag name="TIMING" val="|15.3|3|1.7"/>
</p:tagLst>
</file>

<file path=ppt/tags/tag4.xml><?xml version="1.0" encoding="utf-8"?>
<p:tagLst xmlns:a="http://schemas.openxmlformats.org/drawingml/2006/main" xmlns:r="http://schemas.openxmlformats.org/officeDocument/2006/relationships" xmlns:p="http://schemas.openxmlformats.org/presentationml/2006/main">
  <p:tag name="TIMING" val="|15.3|3|1.7"/>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31715</TotalTime>
  <Words>6726</Words>
  <Application>Microsoft Office PowerPoint</Application>
  <PresentationFormat>On-screen Show (4:3)</PresentationFormat>
  <Paragraphs>709</Paragraphs>
  <Slides>50</Slides>
  <Notes>29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50</vt:i4>
      </vt:variant>
    </vt:vector>
  </HeadingPairs>
  <TitlesOfParts>
    <vt:vector size="63" baseType="lpstr">
      <vt:lpstr>Arial</vt:lpstr>
      <vt:lpstr>Beirut</vt:lpstr>
      <vt:lpstr>Calibri</vt:lpstr>
      <vt:lpstr>Calibri Light</vt:lpstr>
      <vt:lpstr>Gill Sans</vt:lpstr>
      <vt:lpstr>Lato Medium</vt:lpstr>
      <vt:lpstr>News Gothic MT</vt:lpstr>
      <vt:lpstr>Symbol</vt:lpstr>
      <vt:lpstr>Times New Roman</vt:lpstr>
      <vt:lpstr>Wingdings</vt:lpstr>
      <vt:lpstr>1_Office Theme</vt:lpstr>
      <vt:lpstr>Custom Design</vt:lpstr>
      <vt:lpstr>PIXL Sci</vt:lpstr>
      <vt:lpstr>PowerPoint Presentation</vt:lpstr>
      <vt:lpstr>Overview   Chemical changes</vt:lpstr>
      <vt:lpstr>PowerPoint Presentation</vt:lpstr>
      <vt:lpstr>Reactions of acids - PART 1</vt:lpstr>
      <vt:lpstr>Reactions of acids - PART 1</vt:lpstr>
      <vt:lpstr>Reactions of acids – HIGHER - PART 1</vt:lpstr>
      <vt:lpstr>Reactions of acids - PART 1</vt:lpstr>
      <vt:lpstr>Reactions of acids – HIGHER - PART 1</vt:lpstr>
      <vt:lpstr>PowerPoint Presentation</vt:lpstr>
      <vt:lpstr>Reactions of acids – QuestionIT</vt:lpstr>
      <vt:lpstr>Reactions of acids – QuestionIT</vt:lpstr>
      <vt:lpstr>Reactions of acids – QuestionIT</vt:lpstr>
      <vt:lpstr>PowerPoint Presentation</vt:lpstr>
      <vt:lpstr>Reactions of acids – QuestionIT</vt:lpstr>
      <vt:lpstr>Reactions of acids – QuestionIT</vt:lpstr>
      <vt:lpstr>Reactions of acids – QuestionIT</vt:lpstr>
      <vt:lpstr>PowerPoint Presentation</vt:lpstr>
      <vt:lpstr>Reactions of acids - PART 2</vt:lpstr>
      <vt:lpstr>Reactions of acids - PART 2</vt:lpstr>
      <vt:lpstr>Reactions of acids - PART 2</vt:lpstr>
      <vt:lpstr>PowerPoint Presentation</vt:lpstr>
      <vt:lpstr>Reactions of acids - PART 2</vt:lpstr>
      <vt:lpstr>Reactions of acids - PART 2</vt:lpstr>
      <vt:lpstr>PowerPoint Presentation</vt:lpstr>
      <vt:lpstr>Reactions of acids – QuestionIT</vt:lpstr>
      <vt:lpstr>Reactions of acids – QuestionIT</vt:lpstr>
      <vt:lpstr>Reactions of acids – QuestionIT</vt:lpstr>
      <vt:lpstr>PowerPoint Presentation</vt:lpstr>
      <vt:lpstr>Reactions of acids – QuestionIT</vt:lpstr>
      <vt:lpstr>Reactions of acids – QuestionIT</vt:lpstr>
      <vt:lpstr>Reactions of acids – QuestionIT</vt:lpstr>
      <vt:lpstr>PowerPoint Presentation</vt:lpstr>
      <vt:lpstr>Electrolysis - PART 1</vt:lpstr>
      <vt:lpstr>Electrolysis - PART 1</vt:lpstr>
      <vt:lpstr>Electrolysis - PART 1</vt:lpstr>
      <vt:lpstr>Electrolysis - PART 1</vt:lpstr>
      <vt:lpstr>PowerPoint Presentation</vt:lpstr>
      <vt:lpstr>Electrolysis – QuestionIT</vt:lpstr>
      <vt:lpstr>Electrolysis – QuestionIT</vt:lpstr>
      <vt:lpstr>PowerPoint Presentation</vt:lpstr>
      <vt:lpstr>Electrolysis – QuestionIT</vt:lpstr>
      <vt:lpstr>Electrolysis – QuestionIT</vt:lpstr>
      <vt:lpstr>PowerPoint Presentation</vt:lpstr>
      <vt:lpstr>Electrolysis - PART 2</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Vicki Pugh</cp:lastModifiedBy>
  <cp:revision>370</cp:revision>
  <dcterms:created xsi:type="dcterms:W3CDTF">2016-03-05T09:38:04Z</dcterms:created>
  <dcterms:modified xsi:type="dcterms:W3CDTF">2018-02-09T00:41:46Z</dcterms:modified>
</cp:coreProperties>
</file>