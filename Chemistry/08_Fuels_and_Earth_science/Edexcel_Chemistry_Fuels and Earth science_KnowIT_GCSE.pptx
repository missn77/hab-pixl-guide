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tiff" ContentType="image/tif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75" r:id="rId3"/>
  </p:sldMasterIdLst>
  <p:notesMasterIdLst>
    <p:notesMasterId r:id="rId58"/>
  </p:notesMasterIdLst>
  <p:sldIdLst>
    <p:sldId id="256" r:id="rId4"/>
    <p:sldId id="281" r:id="rId5"/>
    <p:sldId id="314" r:id="rId6"/>
    <p:sldId id="282" r:id="rId7"/>
    <p:sldId id="459" r:id="rId8"/>
    <p:sldId id="460" r:id="rId9"/>
    <p:sldId id="433" r:id="rId10"/>
    <p:sldId id="362" r:id="rId11"/>
    <p:sldId id="434" r:id="rId12"/>
    <p:sldId id="461" r:id="rId13"/>
    <p:sldId id="462" r:id="rId14"/>
    <p:sldId id="367" r:id="rId15"/>
    <p:sldId id="396" r:id="rId16"/>
    <p:sldId id="435" r:id="rId17"/>
    <p:sldId id="463" r:id="rId18"/>
    <p:sldId id="464" r:id="rId19"/>
    <p:sldId id="370" r:id="rId20"/>
    <p:sldId id="465" r:id="rId21"/>
    <p:sldId id="466" r:id="rId22"/>
    <p:sldId id="471" r:id="rId23"/>
    <p:sldId id="377" r:id="rId24"/>
    <p:sldId id="467" r:id="rId25"/>
    <p:sldId id="468" r:id="rId26"/>
    <p:sldId id="374" r:id="rId27"/>
    <p:sldId id="469" r:id="rId28"/>
    <p:sldId id="470" r:id="rId29"/>
    <p:sldId id="380" r:id="rId30"/>
    <p:sldId id="312" r:id="rId31"/>
    <p:sldId id="440" r:id="rId32"/>
    <p:sldId id="381" r:id="rId33"/>
    <p:sldId id="442" r:id="rId34"/>
    <p:sldId id="383" r:id="rId35"/>
    <p:sldId id="472" r:id="rId36"/>
    <p:sldId id="473" r:id="rId37"/>
    <p:sldId id="475" r:id="rId38"/>
    <p:sldId id="499" r:id="rId39"/>
    <p:sldId id="503" r:id="rId40"/>
    <p:sldId id="476" r:id="rId41"/>
    <p:sldId id="478" r:id="rId42"/>
    <p:sldId id="500" r:id="rId43"/>
    <p:sldId id="479" r:id="rId44"/>
    <p:sldId id="481" r:id="rId45"/>
    <p:sldId id="501" r:id="rId46"/>
    <p:sldId id="502" r:id="rId47"/>
    <p:sldId id="489" r:id="rId48"/>
    <p:sldId id="490" r:id="rId49"/>
    <p:sldId id="491" r:id="rId50"/>
    <p:sldId id="498" r:id="rId51"/>
    <p:sldId id="492" r:id="rId52"/>
    <p:sldId id="493" r:id="rId53"/>
    <p:sldId id="494" r:id="rId54"/>
    <p:sldId id="495" r:id="rId55"/>
    <p:sldId id="496" r:id="rId56"/>
    <p:sldId id="497" r:id="rId5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en Collins" initials="KC" lastIdx="43" clrIdx="0">
    <p:extLst>
      <p:ext uri="{19B8F6BF-5375-455C-9EA6-DF929625EA0E}">
        <p15:presenceInfo xmlns:p15="http://schemas.microsoft.com/office/powerpoint/2012/main" userId="6370e7ac12b07be2" providerId="Windows Live"/>
      </p:ext>
    </p:extLst>
  </p:cmAuthor>
  <p:cmAuthor id="2" name="Vicki Pugh" initials="VP" lastIdx="7" clrIdx="1">
    <p:extLst>
      <p:ext uri="{19B8F6BF-5375-455C-9EA6-DF929625EA0E}">
        <p15:presenceInfo xmlns:p15="http://schemas.microsoft.com/office/powerpoint/2012/main" userId="fb86ba5f6b8255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83654" autoAdjust="0"/>
  </p:normalViewPr>
  <p:slideViewPr>
    <p:cSldViewPr>
      <p:cViewPr varScale="1">
        <p:scale>
          <a:sx n="72" d="100"/>
          <a:sy n="72" d="100"/>
        </p:scale>
        <p:origin x="1224" y="6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5" d="100"/>
          <a:sy n="85" d="100"/>
        </p:scale>
        <p:origin x="1952"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slide" Target="slides/slide52.xml"/><Relationship Id="rId63" Type="http://schemas.openxmlformats.org/officeDocument/2006/relationships/tableStyles" Target="tableStyle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61"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presProps" Target="pres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2D2026-0859-4913-9377-3DA08F595AD2}" type="datetimeFigureOut">
              <a:rPr lang="en-US" smtClean="0"/>
              <a:t>2/9/2018</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9D32D9-63A9-423F-8B77-368638260D4D}" type="slidenum">
              <a:rPr lang="en-US" smtClean="0"/>
              <a:t>‹#›</a:t>
            </a:fld>
            <a:endParaRPr lang="en-US" dirty="0"/>
          </a:p>
        </p:txBody>
      </p:sp>
    </p:spTree>
    <p:extLst>
      <p:ext uri="{BB962C8B-B14F-4D97-AF65-F5344CB8AC3E}">
        <p14:creationId xmlns:p14="http://schemas.microsoft.com/office/powerpoint/2010/main" val="454704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a:t>
            </a:fld>
            <a:endParaRPr lang="en-US" dirty="0"/>
          </a:p>
        </p:txBody>
      </p:sp>
    </p:spTree>
    <p:extLst>
      <p:ext uri="{BB962C8B-B14F-4D97-AF65-F5344CB8AC3E}">
        <p14:creationId xmlns:p14="http://schemas.microsoft.com/office/powerpoint/2010/main" val="203579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a:t>
            </a:fld>
            <a:endParaRPr lang="en-US" dirty="0"/>
          </a:p>
        </p:txBody>
      </p:sp>
    </p:spTree>
    <p:extLst>
      <p:ext uri="{BB962C8B-B14F-4D97-AF65-F5344CB8AC3E}">
        <p14:creationId xmlns:p14="http://schemas.microsoft.com/office/powerpoint/2010/main" val="5987478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a:t>
            </a:fld>
            <a:endParaRPr lang="en-US" dirty="0"/>
          </a:p>
        </p:txBody>
      </p:sp>
    </p:spTree>
    <p:extLst>
      <p:ext uri="{BB962C8B-B14F-4D97-AF65-F5344CB8AC3E}">
        <p14:creationId xmlns:p14="http://schemas.microsoft.com/office/powerpoint/2010/main" val="1022498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a:t>
            </a:fld>
            <a:endParaRPr lang="en-US" dirty="0"/>
          </a:p>
        </p:txBody>
      </p:sp>
    </p:spTree>
    <p:extLst>
      <p:ext uri="{BB962C8B-B14F-4D97-AF65-F5344CB8AC3E}">
        <p14:creationId xmlns:p14="http://schemas.microsoft.com/office/powerpoint/2010/main" val="3419582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6</a:t>
            </a:fld>
            <a:endParaRPr lang="en-US" dirty="0"/>
          </a:p>
        </p:txBody>
      </p:sp>
    </p:spTree>
    <p:extLst>
      <p:ext uri="{BB962C8B-B14F-4D97-AF65-F5344CB8AC3E}">
        <p14:creationId xmlns:p14="http://schemas.microsoft.com/office/powerpoint/2010/main" val="1418108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7</a:t>
            </a:fld>
            <a:endParaRPr lang="en-US" dirty="0"/>
          </a:p>
        </p:txBody>
      </p:sp>
    </p:spTree>
    <p:extLst>
      <p:ext uri="{BB962C8B-B14F-4D97-AF65-F5344CB8AC3E}">
        <p14:creationId xmlns:p14="http://schemas.microsoft.com/office/powerpoint/2010/main" val="8918165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8</a:t>
            </a:fld>
            <a:endParaRPr lang="en-US" dirty="0"/>
          </a:p>
        </p:txBody>
      </p:sp>
    </p:spTree>
    <p:extLst>
      <p:ext uri="{BB962C8B-B14F-4D97-AF65-F5344CB8AC3E}">
        <p14:creationId xmlns:p14="http://schemas.microsoft.com/office/powerpoint/2010/main" val="1564237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12</a:t>
            </a:fld>
            <a:endParaRPr lang="en-US" dirty="0"/>
          </a:p>
        </p:txBody>
      </p:sp>
    </p:spTree>
    <p:extLst>
      <p:ext uri="{BB962C8B-B14F-4D97-AF65-F5344CB8AC3E}">
        <p14:creationId xmlns:p14="http://schemas.microsoft.com/office/powerpoint/2010/main" val="2554309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17</a:t>
            </a:fld>
            <a:endParaRPr lang="en-US" dirty="0"/>
          </a:p>
        </p:txBody>
      </p:sp>
    </p:spTree>
    <p:extLst>
      <p:ext uri="{BB962C8B-B14F-4D97-AF65-F5344CB8AC3E}">
        <p14:creationId xmlns:p14="http://schemas.microsoft.com/office/powerpoint/2010/main" val="7286187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21</a:t>
            </a:fld>
            <a:endParaRPr lang="en-US" dirty="0"/>
          </a:p>
        </p:txBody>
      </p:sp>
    </p:spTree>
    <p:extLst>
      <p:ext uri="{BB962C8B-B14F-4D97-AF65-F5344CB8AC3E}">
        <p14:creationId xmlns:p14="http://schemas.microsoft.com/office/powerpoint/2010/main" val="6478519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24</a:t>
            </a:fld>
            <a:endParaRPr lang="en-US" dirty="0"/>
          </a:p>
        </p:txBody>
      </p:sp>
    </p:spTree>
    <p:extLst>
      <p:ext uri="{BB962C8B-B14F-4D97-AF65-F5344CB8AC3E}">
        <p14:creationId xmlns:p14="http://schemas.microsoft.com/office/powerpoint/2010/main" val="17168717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27</a:t>
            </a:fld>
            <a:endParaRPr lang="en-US" dirty="0"/>
          </a:p>
        </p:txBody>
      </p:sp>
    </p:spTree>
    <p:extLst>
      <p:ext uri="{BB962C8B-B14F-4D97-AF65-F5344CB8AC3E}">
        <p14:creationId xmlns:p14="http://schemas.microsoft.com/office/powerpoint/2010/main" val="1908741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30</a:t>
            </a:fld>
            <a:endParaRPr lang="en-US" dirty="0"/>
          </a:p>
        </p:txBody>
      </p:sp>
    </p:spTree>
    <p:extLst>
      <p:ext uri="{BB962C8B-B14F-4D97-AF65-F5344CB8AC3E}">
        <p14:creationId xmlns:p14="http://schemas.microsoft.com/office/powerpoint/2010/main" val="15900972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32</a:t>
            </a:fld>
            <a:endParaRPr lang="en-US" dirty="0"/>
          </a:p>
        </p:txBody>
      </p:sp>
    </p:spTree>
    <p:extLst>
      <p:ext uri="{BB962C8B-B14F-4D97-AF65-F5344CB8AC3E}">
        <p14:creationId xmlns:p14="http://schemas.microsoft.com/office/powerpoint/2010/main" val="31411796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34</a:t>
            </a:fld>
            <a:endParaRPr lang="en-US" dirty="0"/>
          </a:p>
        </p:txBody>
      </p:sp>
    </p:spTree>
    <p:extLst>
      <p:ext uri="{BB962C8B-B14F-4D97-AF65-F5344CB8AC3E}">
        <p14:creationId xmlns:p14="http://schemas.microsoft.com/office/powerpoint/2010/main" val="39310300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35</a:t>
            </a:fld>
            <a:endParaRPr lang="en-US" dirty="0"/>
          </a:p>
        </p:txBody>
      </p:sp>
    </p:spTree>
    <p:extLst>
      <p:ext uri="{BB962C8B-B14F-4D97-AF65-F5344CB8AC3E}">
        <p14:creationId xmlns:p14="http://schemas.microsoft.com/office/powerpoint/2010/main" val="29630901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36</a:t>
            </a:fld>
            <a:endParaRPr lang="en-US" dirty="0"/>
          </a:p>
        </p:txBody>
      </p:sp>
    </p:spTree>
    <p:extLst>
      <p:ext uri="{BB962C8B-B14F-4D97-AF65-F5344CB8AC3E}">
        <p14:creationId xmlns:p14="http://schemas.microsoft.com/office/powerpoint/2010/main" val="14902936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37</a:t>
            </a:fld>
            <a:endParaRPr lang="en-US" dirty="0"/>
          </a:p>
        </p:txBody>
      </p:sp>
    </p:spTree>
    <p:extLst>
      <p:ext uri="{BB962C8B-B14F-4D97-AF65-F5344CB8AC3E}">
        <p14:creationId xmlns:p14="http://schemas.microsoft.com/office/powerpoint/2010/main" val="15258727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38</a:t>
            </a:fld>
            <a:endParaRPr lang="en-US" dirty="0"/>
          </a:p>
        </p:txBody>
      </p:sp>
    </p:spTree>
    <p:extLst>
      <p:ext uri="{BB962C8B-B14F-4D97-AF65-F5344CB8AC3E}">
        <p14:creationId xmlns:p14="http://schemas.microsoft.com/office/powerpoint/2010/main" val="27160211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41</a:t>
            </a:fld>
            <a:endParaRPr lang="en-US" dirty="0"/>
          </a:p>
        </p:txBody>
      </p:sp>
    </p:spTree>
    <p:extLst>
      <p:ext uri="{BB962C8B-B14F-4D97-AF65-F5344CB8AC3E}">
        <p14:creationId xmlns:p14="http://schemas.microsoft.com/office/powerpoint/2010/main" val="425282462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45</a:t>
            </a:fld>
            <a:endParaRPr lang="en-US" dirty="0"/>
          </a:p>
        </p:txBody>
      </p:sp>
    </p:spTree>
    <p:extLst>
      <p:ext uri="{BB962C8B-B14F-4D97-AF65-F5344CB8AC3E}">
        <p14:creationId xmlns:p14="http://schemas.microsoft.com/office/powerpoint/2010/main" val="9186862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46</a:t>
            </a:fld>
            <a:endParaRPr lang="en-US" dirty="0"/>
          </a:p>
        </p:txBody>
      </p:sp>
    </p:spTree>
    <p:extLst>
      <p:ext uri="{BB962C8B-B14F-4D97-AF65-F5344CB8AC3E}">
        <p14:creationId xmlns:p14="http://schemas.microsoft.com/office/powerpoint/2010/main" val="90560016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47</a:t>
            </a:fld>
            <a:endParaRPr lang="en-US" dirty="0"/>
          </a:p>
        </p:txBody>
      </p:sp>
    </p:spTree>
    <p:extLst>
      <p:ext uri="{BB962C8B-B14F-4D97-AF65-F5344CB8AC3E}">
        <p14:creationId xmlns:p14="http://schemas.microsoft.com/office/powerpoint/2010/main" val="12560861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48</a:t>
            </a:fld>
            <a:endParaRPr lang="en-US" dirty="0"/>
          </a:p>
        </p:txBody>
      </p:sp>
    </p:spTree>
    <p:extLst>
      <p:ext uri="{BB962C8B-B14F-4D97-AF65-F5344CB8AC3E}">
        <p14:creationId xmlns:p14="http://schemas.microsoft.com/office/powerpoint/2010/main" val="3665464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49</a:t>
            </a:fld>
            <a:endParaRPr lang="en-US" dirty="0"/>
          </a:p>
        </p:txBody>
      </p:sp>
    </p:spTree>
    <p:extLst>
      <p:ext uri="{BB962C8B-B14F-4D97-AF65-F5344CB8AC3E}">
        <p14:creationId xmlns:p14="http://schemas.microsoft.com/office/powerpoint/2010/main" val="10956766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C9D32D9-63A9-423F-8B77-368638260D4D}" type="slidenum">
              <a:rPr lang="en-US" smtClean="0"/>
              <a:t>52</a:t>
            </a:fld>
            <a:endParaRPr lang="en-US" dirty="0"/>
          </a:p>
        </p:txBody>
      </p:sp>
    </p:spTree>
    <p:extLst>
      <p:ext uri="{BB962C8B-B14F-4D97-AF65-F5344CB8AC3E}">
        <p14:creationId xmlns:p14="http://schemas.microsoft.com/office/powerpoint/2010/main" val="4091396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3406" y="764704"/>
            <a:ext cx="8964488"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83406" y="2420888"/>
            <a:ext cx="8964488" cy="1752600"/>
          </a:xfrm>
        </p:spPr>
        <p:txBody>
          <a:bodyPr/>
          <a:lstStyle>
            <a:lvl1pPr marL="0" indent="0" algn="ctr">
              <a:buNone/>
              <a:defRPr>
                <a:solidFill>
                  <a:schemeClr val="tx1">
                    <a:tint val="75000"/>
                  </a:schemeClr>
                </a:solidFill>
                <a:latin typeface="News Gothic MT"/>
                <a:cs typeface="News Gothic MT"/>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28817973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65270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ext uri="{BB962C8B-B14F-4D97-AF65-F5344CB8AC3E}">
        <p14:creationId xmlns:p14="http://schemas.microsoft.com/office/powerpoint/2010/main" val="1959166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3987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459971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94769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50867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8" name="Footer Placeholder 7"/>
          <p:cNvSpPr>
            <a:spLocks noGrp="1"/>
          </p:cNvSpPr>
          <p:nvPr>
            <p:ph type="ftr" sz="quarter" idx="11"/>
          </p:nvPr>
        </p:nvSpPr>
        <p:spPr/>
        <p:txBody>
          <a:bodyPr/>
          <a:lstStyle/>
          <a:p>
            <a:endParaRPr lang="en-GB" dirty="0"/>
          </a:p>
        </p:txBody>
      </p:sp>
      <p:sp>
        <p:nvSpPr>
          <p:cNvPr id="9" name="Slide Number Placeholder 8"/>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2243645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4" name="Footer Placeholder 3"/>
          <p:cNvSpPr>
            <a:spLocks noGrp="1"/>
          </p:cNvSpPr>
          <p:nvPr>
            <p:ph type="ftr" sz="quarter" idx="11"/>
          </p:nvPr>
        </p:nvSpPr>
        <p:spPr/>
        <p:txBody>
          <a:bodyPr/>
          <a:lstStyle/>
          <a:p>
            <a:endParaRPr lang="en-GB" dirty="0"/>
          </a:p>
        </p:txBody>
      </p:sp>
      <p:sp>
        <p:nvSpPr>
          <p:cNvPr id="5" name="Slide Number Placeholder 4"/>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70658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21446411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617688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3486064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1486682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ext uri="{BB962C8B-B14F-4D97-AF65-F5344CB8AC3E}">
        <p14:creationId xmlns:p14="http://schemas.microsoft.com/office/powerpoint/2010/main" val="6940739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GB"/>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GB"/>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dirty="0"/>
              <a:t>Drag picture to placeholder or click icon to add</a:t>
            </a:r>
            <a:endParaRPr lang="en-GB"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6" name="Footer Placeholder 5"/>
          <p:cNvSpPr>
            <a:spLocks noGrp="1"/>
          </p:cNvSpPr>
          <p:nvPr>
            <p:ph type="ftr" sz="quarter" idx="11"/>
          </p:nvPr>
        </p:nvSpPr>
        <p:spPr/>
        <p:txBody>
          <a:bodyPr/>
          <a:lstStyle/>
          <a:p>
            <a:endParaRPr lang="en-GB" dirty="0"/>
          </a:p>
        </p:txBody>
      </p:sp>
      <p:sp>
        <p:nvSpPr>
          <p:cNvPr id="7" name="Slide Number Placeholder 6"/>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B595F713-2110-964B-A68E-481EBA276186}" type="datetimeFigureOut">
              <a:rPr lang="en-GB" smtClean="0"/>
              <a:t>09/02/2018</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02CBB9E-F5D3-6E40-A939-4B2058AA44B4}" type="slidenum">
              <a:rPr lang="en-GB" smtClean="0"/>
              <a:t>‹#›</a:t>
            </a:fld>
            <a:endParaRPr lang="en-GB" dirty="0"/>
          </a:p>
        </p:txBody>
      </p:sp>
    </p:spTree>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5600" y="1257300"/>
            <a:ext cx="8458200" cy="749300"/>
          </a:xfrm>
        </p:spPr>
        <p:txBody>
          <a:bodyPr/>
          <a:lstStyle>
            <a:lvl1pPr algn="l">
              <a:defRPr/>
            </a:lvl1pPr>
          </a:lstStyle>
          <a:p>
            <a:r>
              <a:rPr lang="en-US"/>
              <a:t>Click to edit Master title style</a:t>
            </a:r>
            <a:endParaRPr lang="en-US" dirty="0"/>
          </a:p>
        </p:txBody>
      </p:sp>
      <p:sp>
        <p:nvSpPr>
          <p:cNvPr id="3" name="Content Placeholder 2"/>
          <p:cNvSpPr>
            <a:spLocks noGrp="1"/>
          </p:cNvSpPr>
          <p:nvPr>
            <p:ph idx="1"/>
          </p:nvPr>
        </p:nvSpPr>
        <p:spPr>
          <a:xfrm>
            <a:off x="355600" y="2133600"/>
            <a:ext cx="8458200" cy="4165600"/>
          </a:xfrm>
        </p:spPr>
        <p:txBody>
          <a:bodyPr/>
          <a:lstStyle>
            <a:lvl1pPr>
              <a:defRPr>
                <a:latin typeface="News Gothic MT"/>
                <a:cs typeface="News Gothic MT"/>
              </a:defRPr>
            </a:lvl1pPr>
            <a:lvl2pPr>
              <a:defRPr>
                <a:latin typeface="News Gothic MT"/>
                <a:cs typeface="News Gothic MT"/>
              </a:defRPr>
            </a:lvl2pPr>
            <a:lvl3pPr>
              <a:defRPr>
                <a:latin typeface="News Gothic MT"/>
                <a:cs typeface="News Gothic MT"/>
              </a:defRPr>
            </a:lvl3pPr>
            <a:lvl4pPr>
              <a:defRPr>
                <a:latin typeface="News Gothic MT"/>
                <a:cs typeface="News Gothic MT"/>
              </a:defRPr>
            </a:lvl4pPr>
            <a:lvl5pPr>
              <a:defRPr>
                <a:latin typeface="News Gothic MT"/>
                <a:cs typeface="News Gothic M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4"/>
            <a:ext cx="2133600" cy="365125"/>
          </a:xfrm>
          <a:prstGeom prst="rect">
            <a:avLst/>
          </a:prstGeom>
        </p:spPr>
        <p:txBody>
          <a:bodyPr/>
          <a:lstStyle/>
          <a:p>
            <a:fld id="{B595F713-2110-964B-A68E-481EBA276186}" type="datetimeFigureOut">
              <a:rPr lang="en-GB" smtClean="0"/>
              <a:t>09/02/2018</a:t>
            </a:fld>
            <a:endParaRPr lang="en-GB" dirty="0"/>
          </a:p>
        </p:txBody>
      </p:sp>
      <p:sp>
        <p:nvSpPr>
          <p:cNvPr id="3" name="Footer Placeholder 2"/>
          <p:cNvSpPr>
            <a:spLocks noGrp="1"/>
          </p:cNvSpPr>
          <p:nvPr>
            <p:ph type="ftr" sz="quarter" idx="11"/>
          </p:nvPr>
        </p:nvSpPr>
        <p:spPr>
          <a:xfrm>
            <a:off x="3124200" y="6356354"/>
            <a:ext cx="2895600" cy="365125"/>
          </a:xfrm>
          <a:prstGeom prst="rect">
            <a:avLst/>
          </a:prstGeom>
        </p:spPr>
        <p:txBody>
          <a:bodyPr/>
          <a:lstStyle/>
          <a:p>
            <a:endParaRPr lang="en-GB" dirty="0"/>
          </a:p>
        </p:txBody>
      </p:sp>
      <p:sp>
        <p:nvSpPr>
          <p:cNvPr id="4" name="Slide Number Placeholder 3"/>
          <p:cNvSpPr>
            <a:spLocks noGrp="1"/>
          </p:cNvSpPr>
          <p:nvPr>
            <p:ph type="sldNum" sz="quarter" idx="12"/>
          </p:nvPr>
        </p:nvSpPr>
        <p:spPr>
          <a:xfrm>
            <a:off x="6553200" y="6356354"/>
            <a:ext cx="21336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6" name="Shape 6"/>
          <p:cNvSpPr>
            <a:spLocks noGrp="1"/>
          </p:cNvSpPr>
          <p:nvPr>
            <p:ph type="title"/>
          </p:nvPr>
        </p:nvSpPr>
        <p:spPr>
          <a:xfrm>
            <a:off x="457200" y="92079"/>
            <a:ext cx="8229600" cy="1508125"/>
          </a:xfrm>
          <a:prstGeom prst="rect">
            <a:avLst/>
          </a:prstGeom>
        </p:spPr>
        <p:txBody>
          <a:bodyPr lIns="0" tIns="0" rIns="0" bIns="0">
            <a:noAutofit/>
          </a:bodyPr>
          <a:lstStyle>
            <a:lvl1pPr>
              <a:defRPr sz="4425">
                <a:latin typeface="Gill Sans"/>
                <a:ea typeface="Gill Sans"/>
                <a:cs typeface="Gill Sans"/>
                <a:sym typeface="Gill Sans"/>
              </a:defRPr>
            </a:lvl1pPr>
          </a:lstStyle>
          <a:p>
            <a:pPr lvl="0">
              <a:defRPr sz="1800"/>
            </a:pPr>
            <a:r>
              <a:rPr lang="en-US" sz="4425"/>
              <a:t>Click to edit Master title style</a:t>
            </a:r>
            <a:endParaRPr sz="4425"/>
          </a:p>
        </p:txBody>
      </p:sp>
      <p:sp>
        <p:nvSpPr>
          <p:cNvPr id="7" name="Shape 7"/>
          <p:cNvSpPr>
            <a:spLocks noGrp="1"/>
          </p:cNvSpPr>
          <p:nvPr>
            <p:ph type="body" idx="1"/>
          </p:nvPr>
        </p:nvSpPr>
        <p:spPr>
          <a:xfrm>
            <a:off x="457200" y="1600200"/>
            <a:ext cx="8229600" cy="5257800"/>
          </a:xfrm>
          <a:prstGeom prst="rect">
            <a:avLst/>
          </a:prstGeom>
        </p:spPr>
        <p:txBody>
          <a:bodyPr>
            <a:noAutofit/>
          </a:bodyPr>
          <a:lstStyle>
            <a:lvl1pPr marL="0" indent="0" algn="ctr">
              <a:spcBef>
                <a:spcPts val="2475"/>
              </a:spcBef>
              <a:buSzTx/>
              <a:buFontTx/>
              <a:buNone/>
              <a:defRPr>
                <a:latin typeface="Gill Sans"/>
                <a:ea typeface="Gill Sans"/>
                <a:cs typeface="Gill Sans"/>
                <a:sym typeface="Gill Sans"/>
              </a:defRPr>
            </a:lvl1pPr>
            <a:lvl2pPr marL="0" indent="240506" algn="ctr">
              <a:spcBef>
                <a:spcPts val="2475"/>
              </a:spcBef>
              <a:buSzTx/>
              <a:buFontTx/>
              <a:buNone/>
              <a:defRPr>
                <a:latin typeface="Gill Sans"/>
                <a:ea typeface="Gill Sans"/>
                <a:cs typeface="Gill Sans"/>
                <a:sym typeface="Gill Sans"/>
              </a:defRPr>
            </a:lvl2pPr>
            <a:lvl3pPr marL="0" indent="481013" algn="ctr">
              <a:spcBef>
                <a:spcPts val="2475"/>
              </a:spcBef>
              <a:buSzTx/>
              <a:buFontTx/>
              <a:buNone/>
              <a:defRPr>
                <a:latin typeface="Gill Sans"/>
                <a:ea typeface="Gill Sans"/>
                <a:cs typeface="Gill Sans"/>
                <a:sym typeface="Gill Sans"/>
              </a:defRPr>
            </a:lvl3pPr>
            <a:lvl4pPr marL="0" indent="722709" algn="ctr">
              <a:spcBef>
                <a:spcPts val="2475"/>
              </a:spcBef>
              <a:buSzTx/>
              <a:buFontTx/>
              <a:buNone/>
              <a:defRPr>
                <a:latin typeface="Gill Sans"/>
                <a:ea typeface="Gill Sans"/>
                <a:cs typeface="Gill Sans"/>
                <a:sym typeface="Gill Sans"/>
              </a:defRPr>
            </a:lvl4pPr>
            <a:lvl5pPr marL="0" indent="963215" algn="ctr">
              <a:spcBef>
                <a:spcPts val="2475"/>
              </a:spcBef>
              <a:buSzTx/>
              <a:buFontTx/>
              <a:buNone/>
              <a:defRPr>
                <a:latin typeface="Gill Sans"/>
                <a:ea typeface="Gill Sans"/>
                <a:cs typeface="Gill Sans"/>
                <a:sym typeface="Gill Sans"/>
              </a:defRPr>
            </a:lvl5pPr>
          </a:lstStyle>
          <a:p>
            <a:pPr lvl="0">
              <a:defRPr sz="1800"/>
            </a:pPr>
            <a:r>
              <a:rPr lang="en-US" sz="2250"/>
              <a:t>Click to edit Master text styles</a:t>
            </a:r>
          </a:p>
          <a:p>
            <a:pPr lvl="1">
              <a:defRPr sz="1800"/>
            </a:pPr>
            <a:r>
              <a:rPr lang="en-US" sz="2250"/>
              <a:t>Second level</a:t>
            </a:r>
          </a:p>
          <a:p>
            <a:pPr lvl="2">
              <a:defRPr sz="1800"/>
            </a:pPr>
            <a:r>
              <a:rPr lang="en-US" sz="2250"/>
              <a:t>Third level</a:t>
            </a:r>
          </a:p>
          <a:p>
            <a:pPr lvl="3">
              <a:defRPr sz="1800"/>
            </a:pPr>
            <a:r>
              <a:rPr lang="en-US" sz="2250"/>
              <a:t>Fourth level</a:t>
            </a:r>
          </a:p>
          <a:p>
            <a:pPr lvl="4">
              <a:defRPr sz="1800"/>
            </a:pPr>
            <a:r>
              <a:rPr lang="en-US" sz="2250"/>
              <a:t>Fifth level</a:t>
            </a:r>
            <a:endParaRPr sz="2250"/>
          </a:p>
        </p:txBody>
      </p:sp>
    </p:spTree>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79400" y="2130427"/>
            <a:ext cx="8572500" cy="1470025"/>
          </a:xfrm>
          <a:prstGeom prst="rect">
            <a:avLst/>
          </a:prstGeom>
        </p:spPr>
        <p:txBody>
          <a:bodyPr/>
          <a:lstStyle/>
          <a:p>
            <a:r>
              <a:rPr lang="en-US"/>
              <a:t>Click to edit Master title style</a:t>
            </a:r>
            <a:endParaRPr lang="en-US" dirty="0"/>
          </a:p>
        </p:txBody>
      </p:sp>
      <p:sp>
        <p:nvSpPr>
          <p:cNvPr id="3" name="Subtitle 2"/>
          <p:cNvSpPr>
            <a:spLocks noGrp="1"/>
          </p:cNvSpPr>
          <p:nvPr>
            <p:ph type="subTitle" idx="1"/>
          </p:nvPr>
        </p:nvSpPr>
        <p:spPr>
          <a:xfrm>
            <a:off x="279400" y="3886200"/>
            <a:ext cx="8572500" cy="1752600"/>
          </a:xfrm>
          <a:prstGeom prst="rect">
            <a:avLst/>
          </a:prstGeom>
        </p:spPr>
        <p:txBody>
          <a:bodyPr/>
          <a:lstStyle>
            <a:lvl1pPr marL="0" indent="0" algn="ctr">
              <a:buNone/>
              <a:defRPr>
                <a:solidFill>
                  <a:schemeClr val="tx1">
                    <a:tint val="75000"/>
                  </a:schemeClr>
                </a:solidFill>
                <a:latin typeface="News Gothic MT"/>
                <a:cs typeface="News Gothic MT"/>
              </a:defRPr>
            </a:lvl1pPr>
            <a:lvl2pPr marL="457189" indent="0" algn="ctr">
              <a:buNone/>
              <a:defRPr>
                <a:solidFill>
                  <a:schemeClr val="tx1">
                    <a:tint val="75000"/>
                  </a:schemeClr>
                </a:solidFill>
              </a:defRPr>
            </a:lvl2pPr>
            <a:lvl3pPr marL="914378"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2"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Tree>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2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3_Default">
    <p:spTree>
      <p:nvGrpSpPr>
        <p:cNvPr id="1" name=""/>
        <p:cNvGrpSpPr/>
        <p:nvPr/>
      </p:nvGrpSpPr>
      <p:grpSpPr>
        <a:xfrm>
          <a:off x="0" y="0"/>
          <a:ext cx="0" cy="0"/>
          <a:chOff x="0" y="0"/>
          <a:chExt cx="0" cy="0"/>
        </a:xfrm>
      </p:grpSpPr>
    </p:spTree>
    <p:extLst/>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2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4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Picture with Caption">
    <p:spTree>
      <p:nvGrpSpPr>
        <p:cNvPr id="1" name=""/>
        <p:cNvGrpSpPr/>
        <p:nvPr/>
      </p:nvGrpSpPr>
      <p:grpSpPr>
        <a:xfrm>
          <a:off x="0" y="0"/>
          <a:ext cx="0" cy="0"/>
          <a:chOff x="0" y="0"/>
          <a:chExt cx="0" cy="0"/>
        </a:xfrm>
      </p:grpSpPr>
    </p:spTree>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3"/>
            <a:ext cx="2057400" cy="365125"/>
          </a:xfrm>
          <a:prstGeom prst="rect">
            <a:avLst/>
          </a:prstGeom>
        </p:spPr>
        <p:txBody>
          <a:bodyPr/>
          <a:lstStyle/>
          <a:p>
            <a:fld id="{B595F713-2110-964B-A68E-481EBA276186}" type="datetimeFigureOut">
              <a:rPr lang="en-GB" smtClean="0"/>
              <a:t>09/02/2018</a:t>
            </a:fld>
            <a:endParaRPr lang="en-GB" dirty="0"/>
          </a:p>
        </p:txBody>
      </p:sp>
      <p:sp>
        <p:nvSpPr>
          <p:cNvPr id="4" name="Footer Placeholder 3"/>
          <p:cNvSpPr>
            <a:spLocks noGrp="1"/>
          </p:cNvSpPr>
          <p:nvPr>
            <p:ph type="ftr" sz="quarter" idx="11"/>
          </p:nvPr>
        </p:nvSpPr>
        <p:spPr>
          <a:xfrm>
            <a:off x="3028950" y="6356353"/>
            <a:ext cx="3086100" cy="365125"/>
          </a:xfrm>
          <a:prstGeom prst="rect">
            <a:avLst/>
          </a:prstGeom>
        </p:spPr>
        <p:txBody>
          <a:bodyPr/>
          <a:lstStyle/>
          <a:p>
            <a:endParaRPr lang="en-GB" dirty="0"/>
          </a:p>
        </p:txBody>
      </p:sp>
      <p:sp>
        <p:nvSpPr>
          <p:cNvPr id="5" name="Slide Number Placeholder 4"/>
          <p:cNvSpPr>
            <a:spLocks noGrp="1"/>
          </p:cNvSpPr>
          <p:nvPr>
            <p:ph type="sldNum" sz="quarter" idx="12"/>
          </p:nvPr>
        </p:nvSpPr>
        <p:spPr>
          <a:xfrm>
            <a:off x="6457950" y="6356353"/>
            <a:ext cx="2057400" cy="365125"/>
          </a:xfrm>
          <a:prstGeom prst="rect">
            <a:avLst/>
          </a:prstGeom>
        </p:spPr>
        <p:txBody>
          <a:bodyPr/>
          <a:lstStyle/>
          <a:p>
            <a:fld id="{402CBB9E-F5D3-6E40-A939-4B2058AA44B4}" type="slidenum">
              <a:rPr lang="en-GB" smtClean="0"/>
              <a:t>‹#›</a:t>
            </a:fld>
            <a:endParaRPr lang="en-GB" dirty="0"/>
          </a:p>
        </p:txBody>
      </p:sp>
    </p:spTree>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1.xml"/><Relationship Id="rId3" Type="http://schemas.openxmlformats.org/officeDocument/2006/relationships/slideLayout" Target="../slideLayouts/slideLayout6.xml"/><Relationship Id="rId7" Type="http://schemas.openxmlformats.org/officeDocument/2006/relationships/slideLayout" Target="../slideLayouts/slideLayout10.xml"/><Relationship Id="rId12"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slideLayout" Target="../slideLayouts/slideLayout9.xml"/><Relationship Id="rId11" Type="http://schemas.openxmlformats.org/officeDocument/2006/relationships/slideLayout" Target="../slideLayouts/slideLayout14.xml"/><Relationship Id="rId5" Type="http://schemas.openxmlformats.org/officeDocument/2006/relationships/slideLayout" Target="../slideLayouts/slideLayout8.xml"/><Relationship Id="rId10" Type="http://schemas.openxmlformats.org/officeDocument/2006/relationships/slideLayout" Target="../slideLayouts/slideLayout13.xml"/><Relationship Id="rId4" Type="http://schemas.openxmlformats.org/officeDocument/2006/relationships/slideLayout" Target="../slideLayouts/slideLayout7.xml"/><Relationship Id="rId9"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18" Type="http://schemas.openxmlformats.org/officeDocument/2006/relationships/image" Target="../media/image2.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17" Type="http://schemas.openxmlformats.org/officeDocument/2006/relationships/theme" Target="../theme/theme3.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slideLayout" Target="../slideLayouts/slideLayout29.xml"/><Relationship Id="rId10" Type="http://schemas.openxmlformats.org/officeDocument/2006/relationships/slideLayout" Target="../slideLayouts/slideLayout24.xml"/><Relationship Id="rId19" Type="http://schemas.openxmlformats.org/officeDocument/2006/relationships/image" Target="../media/image3.jpeg"/><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99FF99"/>
        </a:solidFill>
        <a:effectLst/>
      </p:bgPr>
    </p:bg>
    <p:spTree>
      <p:nvGrpSpPr>
        <p:cNvPr id="1" name=""/>
        <p:cNvGrpSpPr/>
        <p:nvPr/>
      </p:nvGrpSpPr>
      <p:grpSpPr>
        <a:xfrm>
          <a:off x="0" y="0"/>
          <a:ext cx="0" cy="0"/>
          <a:chOff x="0" y="0"/>
          <a:chExt cx="0" cy="0"/>
        </a:xfrm>
      </p:grpSpPr>
      <p:pic>
        <p:nvPicPr>
          <p:cNvPr id="11" name="Picture 10" descr="pixl ppt back generic 2015.jp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Placeholder 1"/>
          <p:cNvSpPr>
            <a:spLocks noGrp="1"/>
          </p:cNvSpPr>
          <p:nvPr>
            <p:ph type="title"/>
          </p:nvPr>
        </p:nvSpPr>
        <p:spPr>
          <a:xfrm>
            <a:off x="27938" y="774701"/>
            <a:ext cx="9116061" cy="20828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7429" y="2996952"/>
            <a:ext cx="9126570" cy="345638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a:t>
            </a:r>
            <a:r>
              <a:rPr lang="en-US" dirty="0" err="1"/>
              <a:t>hkhkjh</a:t>
            </a:r>
            <a:endParaRPr lang="en-US" dirty="0"/>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117910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92" r:id="rId3"/>
  </p:sldLayoutIdLst>
  <p:txStyles>
    <p:titleStyle>
      <a:lvl1pPr algn="l" defTabSz="342900" rtl="0" eaLnBrk="1" latinLnBrk="0" hangingPunct="1">
        <a:spcBef>
          <a:spcPct val="0"/>
        </a:spcBef>
        <a:buNone/>
        <a:defRPr sz="3300" kern="1200">
          <a:solidFill>
            <a:schemeClr val="tx1"/>
          </a:solidFill>
          <a:latin typeface="+mj-lt"/>
          <a:ea typeface="+mj-ea"/>
          <a:cs typeface="Lato Medium"/>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News Gothic MT"/>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News Gothic MT"/>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News Gothic MT"/>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News Gothic MT"/>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95F713-2110-964B-A68E-481EBA276186}" type="datetimeFigureOut">
              <a:rPr lang="en-GB" smtClean="0"/>
              <a:t>09/02/2018</a:t>
            </a:fld>
            <a:endParaRPr lang="en-GB" dirty="0"/>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2CBB9E-F5D3-6E40-A939-4B2058AA44B4}" type="slidenum">
              <a:rPr lang="en-GB" smtClean="0"/>
              <a:t>‹#›</a:t>
            </a:fld>
            <a:endParaRPr lang="en-GB" dirty="0"/>
          </a:p>
        </p:txBody>
      </p:sp>
    </p:spTree>
    <p:extLst>
      <p:ext uri="{BB962C8B-B14F-4D97-AF65-F5344CB8AC3E}">
        <p14:creationId xmlns:p14="http://schemas.microsoft.com/office/powerpoint/2010/main" val="30590050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B595F713-2110-964B-A68E-481EBA276186}" type="datetimeFigureOut">
              <a:rPr lang="en-GB" smtClean="0"/>
              <a:t>09/02/2018</a:t>
            </a:fld>
            <a:endParaRPr lang="en-GB"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02CBB9E-F5D3-6E40-A939-4B2058AA44B4}" type="slidenum">
              <a:rPr lang="en-GB" smtClean="0"/>
              <a:t>‹#›</a:t>
            </a:fld>
            <a:endParaRPr lang="en-GB" dirty="0"/>
          </a:p>
        </p:txBody>
      </p:sp>
      <p:pic>
        <p:nvPicPr>
          <p:cNvPr id="7" name="Picture 6"/>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8091113" y="16872"/>
            <a:ext cx="1029761" cy="1020648"/>
          </a:xfrm>
          <a:prstGeom prst="rect">
            <a:avLst/>
          </a:prstGeom>
        </p:spPr>
      </p:pic>
      <p:pic>
        <p:nvPicPr>
          <p:cNvPr id="8" name="Picture 7"/>
          <p:cNvPicPr>
            <a:picLocks noChangeAspect="1"/>
          </p:cNvPicPr>
          <p:nvPr/>
        </p:nvPicPr>
        <p:blipFill>
          <a:blip r:embed="rId19" cstate="print">
            <a:extLst>
              <a:ext uri="{28A0092B-C50C-407E-A947-70E740481C1C}">
                <a14:useLocalDpi xmlns:a14="http://schemas.microsoft.com/office/drawing/2010/main" val="0"/>
              </a:ext>
            </a:extLst>
          </a:blip>
          <a:stretch>
            <a:fillRect/>
          </a:stretch>
        </p:blipFill>
        <p:spPr>
          <a:xfrm>
            <a:off x="23126" y="16872"/>
            <a:ext cx="2530113" cy="831540"/>
          </a:xfrm>
          <a:prstGeom prst="rect">
            <a:avLst/>
          </a:prstGeom>
        </p:spPr>
      </p:pic>
      <p:sp>
        <p:nvSpPr>
          <p:cNvPr id="9" name="Rectangle 8"/>
          <p:cNvSpPr/>
          <p:nvPr/>
        </p:nvSpPr>
        <p:spPr>
          <a:xfrm>
            <a:off x="0" y="6561058"/>
            <a:ext cx="9144000" cy="226407"/>
          </a:xfrm>
          <a:prstGeom prst="rect">
            <a:avLst/>
          </a:prstGeom>
        </p:spPr>
        <p:style>
          <a:lnRef idx="3">
            <a:schemeClr val="lt1"/>
          </a:lnRef>
          <a:fillRef idx="1">
            <a:schemeClr val="accent2"/>
          </a:fillRef>
          <a:effectRef idx="1">
            <a:schemeClr val="accent2"/>
          </a:effectRef>
          <a:fontRef idx="minor">
            <a:schemeClr val="lt1"/>
          </a:fontRef>
        </p:style>
        <p:txBody>
          <a:bodyPr rtlCol="0" anchor="ctr"/>
          <a:lstStyle/>
          <a:p>
            <a:pPr algn="ctr"/>
            <a:r>
              <a:rPr lang="en-GB" sz="900" dirty="0">
                <a:latin typeface="Arial" panose="020B0604020202020204" pitchFamily="34" charset="0"/>
                <a:cs typeface="Arial" panose="020B0604020202020204" pitchFamily="34" charset="0"/>
              </a:rPr>
              <a:t>better hope – brighter</a:t>
            </a:r>
            <a:r>
              <a:rPr lang="en-GB" sz="900" baseline="0" dirty="0">
                <a:latin typeface="Arial" panose="020B0604020202020204" pitchFamily="34" charset="0"/>
                <a:cs typeface="Arial" panose="020B0604020202020204" pitchFamily="34" charset="0"/>
              </a:rPr>
              <a:t> future</a:t>
            </a:r>
            <a:endParaRPr lang="en-GB" sz="9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745701"/>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0.xml"/><Relationship Id="rId5" Type="http://schemas.openxmlformats.org/officeDocument/2006/relationships/image" Target="../media/image5.jpeg"/><Relationship Id="rId4" Type="http://schemas.openxmlformats.org/officeDocument/2006/relationships/hyperlink" Target="http://www.pixl.org.uk/" TargetMode="External"/></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hyperlink" Target="https://www.google.co.uk/url?sa=i&amp;rct=j&amp;q=&amp;esrc=s&amp;source=images&amp;cd=&amp;cad=rja&amp;uact=8&amp;ved=0ahUKEwinr5ORo_zWAhVGPRoKHUUsC6gQjRwIBw&amp;url=https://commons.wikimedia.org/wiki/File:Bunsen_burner_flame_types.jpg&amp;psig=AOvVaw0cKR8wtUXZDq7xlVFpOs-d&amp;ust=1508488333339830" TargetMode="External"/><Relationship Id="rId1" Type="http://schemas.openxmlformats.org/officeDocument/2006/relationships/slideLayout" Target="../slideLayouts/slideLayout1.xml"/><Relationship Id="rId5" Type="http://schemas.openxmlformats.org/officeDocument/2006/relationships/image" Target="../media/image17.jpg"/><Relationship Id="rId4" Type="http://schemas.openxmlformats.org/officeDocument/2006/relationships/image" Target="../media/image16.jpeg"/></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hyperlink" Target="https://www.google.co.uk/url?sa=i&amp;rct=j&amp;q=&amp;esrc=s&amp;source=images&amp;cd=&amp;cad=rja&amp;uact=8&amp;ved=0ahUKEwjVqOa-ovDXAhWOLVAKHSj2DHUQjRwIBw&amp;url=https://commons.wikimedia.org/wiki/File:Hexane_displayed.svg&amp;psig=AOvVaw0JLvjcUk6uecT7Mex8akaa&amp;ust=1512473900175124" TargetMode="Externa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jAgfagmvzWAhUHBBoKHTrdBEUQjRwIBw&amp;url=https://www.vexels.com/png-svg/preview/132603/volcano-icon&amp;psig=AOvVaw1wcIWt4fPDBak7MVJVYEUm&amp;ust=1508485959662369"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7.tiff"/><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ijh_X6nfzWAhWMBBoKHVTnBr0QjRwIBw&amp;url=https://pixabay.com/en/earth-planet-world-globe-drawing-310882/&amp;psig=AOvVaw15VP4x7nDHLFgPvmorECf8&amp;ust=1508486948303121" TargetMode="Externa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4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hyperlink" Target="https://www.google.co.uk/url?sa=i&amp;rct=j&amp;q=&amp;esrc=s&amp;source=images&amp;cd=&amp;cad=rja&amp;uact=8&amp;ved=0ahUKEwiIsP_HmPzWAhVFWxoKHfp4CJQQjRwIBw&amp;url=https://pixabay.com/en/earth-planet-world-globe-drawing-310882/&amp;psig=AOvVaw10fOJKbjKxz4nKbEBPPFhj&amp;ust=1508485458923048" TargetMode="Externa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49.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08520" y="0"/>
            <a:ext cx="9252520" cy="7571303"/>
          </a:xfrm>
          <a:prstGeom prst="rect">
            <a:avLst/>
          </a:prstGeom>
          <a:noFill/>
        </p:spPr>
        <p:txBody>
          <a:bodyPr wrap="square" rtlCol="0">
            <a:spAutoFit/>
          </a:bodyPr>
          <a:lstStyle/>
          <a:p>
            <a:r>
              <a:rPr lang="en-GB" sz="900" dirty="0">
                <a:solidFill>
                  <a:schemeClr val="bg1">
                    <a:lumMod val="85000"/>
                  </a:schemeClr>
                </a:solidFill>
              </a:rPr>
              <a:t>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 The PiXL Club</a:t>
            </a:r>
          </a:p>
        </p:txBody>
      </p:sp>
      <p:pic>
        <p:nvPicPr>
          <p:cNvPr id="1026" name="Picture 2" descr="pixl-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44624"/>
            <a:ext cx="1639040" cy="792088"/>
          </a:xfrm>
          <a:prstGeom prst="rect">
            <a:avLst/>
          </a:prstGeom>
          <a:noFill/>
          <a:ln w="9525">
            <a:solidFill>
              <a:srgbClr val="000000"/>
            </a:solidFill>
            <a:miter lim="800000"/>
            <a:headEnd/>
            <a:tailEnd/>
          </a:ln>
          <a:effectLst>
            <a:outerShdw dist="107763" dir="2700000" algn="ctr" rotWithShape="0">
              <a:srgbClr val="808080">
                <a:alpha val="50000"/>
              </a:srgbClr>
            </a:outerShdw>
          </a:effectLst>
          <a:extLst>
            <a:ext uri="{909E8E84-426E-40dd-AFC4-6F175D3DCCD1}">
              <a14:hiddenFill xmlns="" xmlns:a14="http://schemas.microsoft.com/office/drawing/2010/main">
                <a:solidFill>
                  <a:srgbClr val="FFFFFF"/>
                </a:solidFill>
              </a14:hiddenFill>
            </a:ext>
          </a:extLst>
        </p:spPr>
      </p:pic>
      <p:sp>
        <p:nvSpPr>
          <p:cNvPr id="5" name="Text Box 3"/>
          <p:cNvSpPr txBox="1">
            <a:spLocks noChangeArrowheads="1"/>
          </p:cNvSpPr>
          <p:nvPr/>
        </p:nvSpPr>
        <p:spPr bwMode="auto">
          <a:xfrm>
            <a:off x="215516" y="5217942"/>
            <a:ext cx="8820979" cy="887304"/>
          </a:xfrm>
          <a:prstGeom prst="rect">
            <a:avLst/>
          </a:prstGeom>
          <a:solidFill>
            <a:srgbClr val="FFFFFF"/>
          </a:solidFill>
          <a:ln w="38100" cmpd="dbl">
            <a:solidFill>
              <a:srgbClr val="000000"/>
            </a:solidFill>
            <a:miter lim="800000"/>
            <a:headEnd/>
            <a:tailEnd/>
          </a:ln>
          <a:effectLst/>
          <a:extLst>
            <a:ext uri="{AF507438-7753-43e0-B8FC-AC1667EBCBE1}">
              <a14:hiddenEffects xmlns="" xmlns:a14="http://schemas.microsoft.com/office/drawing/2010/main">
                <a:effectLst>
                  <a:outerShdw dist="35921" dir="2700000" algn="ctr" rotWithShape="0">
                    <a:srgbClr val="868686"/>
                  </a:outerShdw>
                </a:effectLst>
              </a14:hiddenEffects>
            </a:ext>
          </a:extLst>
        </p:spPr>
        <p:txBody>
          <a:bodyPr vert="horz" wrap="square" lIns="91440" tIns="45720" rIns="91440" bIns="45720" numCol="1" anchor="t" anchorCtr="0" compatLnSpc="1">
            <a:prstTxWarp prst="textNoShape">
              <a:avLst/>
            </a:prstTxWarp>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This resource is strictly for the use of member schools for as long as they remain members of The PiXL Club. It may not be copied, sold nor transferred to a third party or used by the school after membership ceases. Until such time it may be freely used within the member school.</a:t>
            </a:r>
          </a:p>
          <a:p>
            <a:pPr marL="0" marR="0" lvl="0" indent="0" algn="just" defTabSz="914400" rtl="0" eaLnBrk="1" fontAlgn="base" latinLnBrk="0" hangingPunct="1">
              <a:lnSpc>
                <a:spcPct val="100000"/>
              </a:lnSpc>
              <a:spcBef>
                <a:spcPct val="0"/>
              </a:spcBef>
              <a:spcAft>
                <a:spcPct val="0"/>
              </a:spcAft>
              <a:buClrTx/>
              <a:buSzTx/>
              <a:buFontTx/>
              <a:buNone/>
              <a:tabLst/>
            </a:pPr>
            <a:endParaRPr kumimoji="0" lang="en-GB" altLang="en-US" sz="100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GB" altLang="en-US" sz="1000" b="0" i="0" u="none" strike="noStrike" cap="none" normalizeH="0" baseline="0" dirty="0">
                <a:ln>
                  <a:noFill/>
                </a:ln>
                <a:solidFill>
                  <a:schemeClr val="tx1"/>
                </a:solidFill>
                <a:effectLst/>
                <a:latin typeface="Arial" pitchFamily="34" charset="0"/>
                <a:cs typeface="Arial" pitchFamily="34" charset="0"/>
              </a:rPr>
              <a:t>All opinions and contributions are those of the authors. The contents of this resource are not connected with nor endorsed by any other company, organisation or institution.</a:t>
            </a:r>
            <a:endParaRPr kumimoji="0" lang="en-US" altLang="en-US" sz="1800" b="0" i="0" u="none" strike="noStrike" cap="none" normalizeH="0" baseline="0" dirty="0">
              <a:ln>
                <a:noFill/>
              </a:ln>
              <a:solidFill>
                <a:schemeClr val="tx1"/>
              </a:solidFill>
              <a:effectLst/>
              <a:latin typeface="Arial" pitchFamily="34" charset="0"/>
              <a:cs typeface="Arial" pitchFamily="34" charset="0"/>
            </a:endParaRPr>
          </a:p>
        </p:txBody>
      </p:sp>
      <p:sp>
        <p:nvSpPr>
          <p:cNvPr id="6" name="TextBox 5"/>
          <p:cNvSpPr txBox="1"/>
          <p:nvPr/>
        </p:nvSpPr>
        <p:spPr>
          <a:xfrm>
            <a:off x="827584" y="6237312"/>
            <a:ext cx="7272808" cy="400110"/>
          </a:xfrm>
          <a:prstGeom prst="rect">
            <a:avLst/>
          </a:prstGeom>
          <a:noFill/>
        </p:spPr>
        <p:txBody>
          <a:bodyPr wrap="square" rtlCol="0">
            <a:spAutoFit/>
          </a:bodyPr>
          <a:lstStyle/>
          <a:p>
            <a:r>
              <a:rPr lang="en-US" sz="1000" u="sng" dirty="0">
                <a:hlinkClick r:id="rId4"/>
              </a:rPr>
              <a:t>www.pixl.org.uk</a:t>
            </a:r>
            <a:r>
              <a:rPr lang="en-US" sz="1000" dirty="0"/>
              <a:t>					The PiXL Club Ltd, Company number 07321607</a:t>
            </a:r>
            <a:endParaRPr lang="en-GB" sz="1000" dirty="0"/>
          </a:p>
          <a:p>
            <a:endParaRPr lang="en-GB" sz="1000" dirty="0"/>
          </a:p>
        </p:txBody>
      </p:sp>
      <p:sp>
        <p:nvSpPr>
          <p:cNvPr id="7" name="TextBox 6"/>
          <p:cNvSpPr txBox="1"/>
          <p:nvPr/>
        </p:nvSpPr>
        <p:spPr>
          <a:xfrm>
            <a:off x="2555775" y="4747322"/>
            <a:ext cx="3816424" cy="338554"/>
          </a:xfrm>
          <a:prstGeom prst="rect">
            <a:avLst/>
          </a:prstGeom>
          <a:noFill/>
        </p:spPr>
        <p:txBody>
          <a:bodyPr wrap="square" rtlCol="0">
            <a:spAutoFit/>
          </a:bodyPr>
          <a:lstStyle/>
          <a:p>
            <a:pPr algn="ctr"/>
            <a:r>
              <a:rPr lang="en-GB" sz="1600" dirty="0"/>
              <a:t>© Copyright The PiXL Club Ltd, 2017</a:t>
            </a:r>
          </a:p>
        </p:txBody>
      </p:sp>
      <p:sp>
        <p:nvSpPr>
          <p:cNvPr id="8" name="TextBox 7"/>
          <p:cNvSpPr txBox="1"/>
          <p:nvPr/>
        </p:nvSpPr>
        <p:spPr>
          <a:xfrm>
            <a:off x="233952" y="881336"/>
            <a:ext cx="8496943" cy="4742837"/>
          </a:xfrm>
          <a:prstGeom prst="rect">
            <a:avLst/>
          </a:prstGeom>
          <a:noFill/>
        </p:spPr>
        <p:txBody>
          <a:bodyPr wrap="square" rtlCol="0">
            <a:spAutoFit/>
          </a:bodyPr>
          <a:lstStyle/>
          <a:p>
            <a:pPr algn="ctr">
              <a:lnSpc>
                <a:spcPct val="115000"/>
              </a:lnSpc>
              <a:spcAft>
                <a:spcPts val="0"/>
              </a:spcAft>
            </a:pPr>
            <a:r>
              <a:rPr lang="en-GB" sz="7200" b="1" dirty="0"/>
              <a:t>PiXL KnowIT!</a:t>
            </a:r>
          </a:p>
          <a:p>
            <a:pPr algn="ctr">
              <a:lnSpc>
                <a:spcPct val="115000"/>
              </a:lnSpc>
              <a:spcAft>
                <a:spcPts val="0"/>
              </a:spcAft>
            </a:pPr>
            <a:r>
              <a:rPr lang="en-GB" sz="3600" b="1" dirty="0">
                <a:latin typeface="Arial" panose="020B0604020202020204" pitchFamily="34" charset="0"/>
                <a:ea typeface="Calibri" panose="020F0502020204030204" pitchFamily="34" charset="0"/>
                <a:cs typeface="Times New Roman" panose="02020603050405020304" pitchFamily="18" charset="0"/>
              </a:rPr>
              <a:t>GCSE Chemistry</a:t>
            </a:r>
            <a:endParaRPr lang="en-US" sz="1400" dirty="0">
              <a:latin typeface="Calibri" panose="020F0502020204030204" pitchFamily="34" charset="0"/>
              <a:ea typeface="Calibri" panose="020F0502020204030204" pitchFamily="34" charset="0"/>
              <a:cs typeface="Times New Roman" panose="02020603050405020304" pitchFamily="18" charset="0"/>
            </a:endParaRPr>
          </a:p>
          <a:p>
            <a:pPr algn="ctr"/>
            <a:r>
              <a:rPr lang="en-GB" dirty="0"/>
              <a:t> </a:t>
            </a:r>
          </a:p>
          <a:p>
            <a:pPr algn="ctr"/>
            <a:endParaRPr lang="en-GB" dirty="0"/>
          </a:p>
          <a:p>
            <a:pPr algn="ctr"/>
            <a:r>
              <a:rPr lang="en-GB" sz="4400" b="1" dirty="0">
                <a:solidFill>
                  <a:schemeClr val="accent2"/>
                </a:solidFill>
              </a:rPr>
              <a:t>Edexcel Topic – Fuels and Earth Science</a:t>
            </a:r>
          </a:p>
          <a:p>
            <a:pPr algn="ctr"/>
            <a:r>
              <a:rPr lang="en-GB" dirty="0"/>
              <a:t>  </a:t>
            </a:r>
          </a:p>
          <a:p>
            <a:pPr algn="ctr"/>
            <a:r>
              <a:rPr lang="en-GB" dirty="0"/>
              <a:t> </a:t>
            </a:r>
          </a:p>
          <a:p>
            <a:pPr algn="ctr"/>
            <a:endParaRPr lang="en-GB" dirty="0"/>
          </a:p>
        </p:txBody>
      </p:sp>
      <p:pic>
        <p:nvPicPr>
          <p:cNvPr id="9" name="374f7cfc-9279-43ad-9851-155d90395642" descr="image001"/>
          <p:cNvPicPr>
            <a:picLocks noChangeAspect="1" noChangeArrowheads="1"/>
          </p:cNvPicPr>
          <p:nvPr/>
        </p:nvPicPr>
        <p:blipFill>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5552" y="58096"/>
            <a:ext cx="1484057" cy="1104724"/>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93743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339752" y="35655"/>
            <a:ext cx="6804248" cy="1017081"/>
          </a:xfrm>
        </p:spPr>
        <p:txBody>
          <a:bodyPr>
            <a:normAutofit/>
          </a:bodyPr>
          <a:lstStyle/>
          <a:p>
            <a:pPr algn="r"/>
            <a:r>
              <a:rPr lang="en-GB" sz="2800" b="1" dirty="0">
                <a:solidFill>
                  <a:schemeClr val="accent6"/>
                </a:solidFill>
              </a:rPr>
              <a:t>Overview </a:t>
            </a:r>
            <a:br>
              <a:rPr lang="en-GB" sz="2800" b="1" dirty="0">
                <a:solidFill>
                  <a:schemeClr val="accent6"/>
                </a:solidFill>
              </a:rPr>
            </a:br>
            <a:r>
              <a:rPr lang="en-GB" sz="2800" b="1" dirty="0">
                <a:solidFill>
                  <a:schemeClr val="accent6"/>
                </a:solidFill>
              </a:rPr>
              <a:t> Fuels and Earth Sciences</a:t>
            </a:r>
          </a:p>
        </p:txBody>
      </p:sp>
      <p:sp>
        <p:nvSpPr>
          <p:cNvPr id="3" name="Subtitle 2"/>
          <p:cNvSpPr>
            <a:spLocks noGrp="1"/>
          </p:cNvSpPr>
          <p:nvPr>
            <p:ph type="subTitle" idx="1"/>
          </p:nvPr>
        </p:nvSpPr>
        <p:spPr>
          <a:xfrm>
            <a:off x="179512" y="908720"/>
            <a:ext cx="4896544" cy="5472608"/>
          </a:xfrm>
        </p:spPr>
        <p:txBody>
          <a:bodyPr>
            <a:normAutofit/>
          </a:bodyPr>
          <a:lstStyle/>
          <a:p>
            <a:pPr algn="l"/>
            <a:r>
              <a:rPr lang="en-US" b="1" dirty="0">
                <a:solidFill>
                  <a:schemeClr val="tx1"/>
                </a:solidFill>
                <a:latin typeface="+mn-lt"/>
              </a:rPr>
              <a:t>Fuels</a:t>
            </a:r>
          </a:p>
          <a:p>
            <a:pPr marL="685800" lvl="1" indent="-342900" algn="l">
              <a:buFont typeface="Arial" charset="0"/>
              <a:buChar char="•"/>
            </a:pPr>
            <a:r>
              <a:rPr lang="en-US" sz="2000" dirty="0">
                <a:solidFill>
                  <a:schemeClr val="tx1"/>
                </a:solidFill>
              </a:rPr>
              <a:t>Crude oil, hydrocarbons, alkanes </a:t>
            </a:r>
          </a:p>
          <a:p>
            <a:pPr lvl="2" algn="l"/>
            <a:r>
              <a:rPr lang="en-US" sz="2000" dirty="0">
                <a:solidFill>
                  <a:schemeClr val="tx1"/>
                </a:solidFill>
              </a:rPr>
              <a:t>and fractional distillation</a:t>
            </a:r>
          </a:p>
          <a:p>
            <a:pPr marL="685800" lvl="1" indent="-342900" algn="l">
              <a:buFont typeface="Arial" charset="0"/>
              <a:buChar char="•"/>
            </a:pPr>
            <a:r>
              <a:rPr lang="en-US" sz="2000" dirty="0">
                <a:solidFill>
                  <a:schemeClr val="tx1"/>
                </a:solidFill>
              </a:rPr>
              <a:t>Combustion and pollution</a:t>
            </a:r>
          </a:p>
          <a:p>
            <a:pPr marL="685800" lvl="1" indent="-342900" algn="l">
              <a:buFont typeface="Arial" charset="0"/>
              <a:buChar char="•"/>
            </a:pPr>
            <a:r>
              <a:rPr lang="en-US" sz="2000" dirty="0">
                <a:solidFill>
                  <a:schemeClr val="tx1"/>
                </a:solidFill>
              </a:rPr>
              <a:t>Cracking</a:t>
            </a:r>
          </a:p>
          <a:p>
            <a:pPr algn="l"/>
            <a:r>
              <a:rPr lang="en-US" b="1" dirty="0">
                <a:solidFill>
                  <a:schemeClr val="tx1"/>
                </a:solidFill>
                <a:latin typeface="+mn-lt"/>
              </a:rPr>
              <a:t>Earth and atmospheric science</a:t>
            </a:r>
          </a:p>
          <a:p>
            <a:pPr marL="685800" lvl="1" indent="-342900" algn="l">
              <a:buFont typeface="Arial" charset="0"/>
              <a:buChar char="•"/>
            </a:pPr>
            <a:r>
              <a:rPr lang="en-US" sz="2000" dirty="0">
                <a:solidFill>
                  <a:schemeClr val="tx1"/>
                </a:solidFill>
              </a:rPr>
              <a:t>Earth’s early atmosphere</a:t>
            </a:r>
          </a:p>
          <a:p>
            <a:pPr marL="685800" lvl="1" indent="-342900" algn="l">
              <a:buFont typeface="Arial" charset="0"/>
              <a:buChar char="•"/>
            </a:pPr>
            <a:r>
              <a:rPr lang="en-US" sz="2000" dirty="0">
                <a:solidFill>
                  <a:schemeClr val="tx1"/>
                </a:solidFill>
              </a:rPr>
              <a:t>The greenhouse effect and climate change</a:t>
            </a:r>
          </a:p>
          <a:p>
            <a:pPr marL="685800" lvl="1" indent="-342900" algn="l">
              <a:buFont typeface="Arial" charset="0"/>
              <a:buChar char="•"/>
            </a:pPr>
            <a:r>
              <a:rPr lang="en-US" sz="2000" dirty="0">
                <a:solidFill>
                  <a:schemeClr val="tx1"/>
                </a:solidFill>
              </a:rPr>
              <a:t>Today’s atmosphere</a:t>
            </a: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pPr algn="l"/>
            <a:endParaRPr lang="en-US" dirty="0">
              <a:solidFill>
                <a:schemeClr val="tx1"/>
              </a:solidFill>
            </a:endParaRPr>
          </a:p>
          <a:p>
            <a:endParaRPr lang="en-GB" dirty="0">
              <a:solidFill>
                <a:schemeClr val="tx1"/>
              </a:solidFill>
            </a:endParaRPr>
          </a:p>
        </p:txBody>
      </p:sp>
      <p:pic>
        <p:nvPicPr>
          <p:cNvPr id="4" name="Picture 3"/>
          <p:cNvPicPr>
            <a:picLocks noChangeAspect="1"/>
          </p:cNvPicPr>
          <p:nvPr/>
        </p:nvPicPr>
        <p:blipFill>
          <a:blip r:embed="rId2"/>
          <a:stretch>
            <a:fillRect/>
          </a:stretch>
        </p:blipFill>
        <p:spPr>
          <a:xfrm>
            <a:off x="4644008" y="1052736"/>
            <a:ext cx="4104456" cy="5184576"/>
          </a:xfrm>
          <a:prstGeom prst="rect">
            <a:avLst/>
          </a:prstGeom>
        </p:spPr>
      </p:pic>
    </p:spTree>
    <p:extLst>
      <p:ext uri="{BB962C8B-B14F-4D97-AF65-F5344CB8AC3E}">
        <p14:creationId xmlns:p14="http://schemas.microsoft.com/office/powerpoint/2010/main" val="7324485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4616648"/>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3200" b="1" dirty="0"/>
              <a:t>Fuels – Part 1</a:t>
            </a:r>
          </a:p>
          <a:p>
            <a:endParaRPr lang="en-US" sz="2800" b="1" dirty="0"/>
          </a:p>
          <a:p>
            <a:pPr marL="685800" lvl="1" indent="-342900">
              <a:buFont typeface="Arial" charset="0"/>
              <a:buChar char="•"/>
            </a:pPr>
            <a:r>
              <a:rPr lang="en-US" sz="2400" dirty="0">
                <a:solidFill>
                  <a:schemeClr val="tx1">
                    <a:lumMod val="50000"/>
                    <a:lumOff val="50000"/>
                  </a:schemeClr>
                </a:solidFill>
              </a:rPr>
              <a:t>Crude oil, hydrocarbons, alkanes and fractional distillation</a:t>
            </a:r>
          </a:p>
        </p:txBody>
      </p:sp>
    </p:spTree>
    <p:extLst>
      <p:ext uri="{BB962C8B-B14F-4D97-AF65-F5344CB8AC3E}">
        <p14:creationId xmlns:p14="http://schemas.microsoft.com/office/powerpoint/2010/main" val="6323850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lvl="1" algn="r"/>
            <a:r>
              <a:rPr lang="en-US" sz="2400" dirty="0">
                <a:solidFill>
                  <a:schemeClr val="accent6"/>
                </a:solidFill>
              </a:rPr>
              <a:t>Crude oil and hydrocarbons</a:t>
            </a:r>
          </a:p>
        </p:txBody>
      </p:sp>
      <p:sp>
        <p:nvSpPr>
          <p:cNvPr id="3" name="TextBox 2"/>
          <p:cNvSpPr txBox="1"/>
          <p:nvPr/>
        </p:nvSpPr>
        <p:spPr>
          <a:xfrm>
            <a:off x="179512" y="836712"/>
            <a:ext cx="8568952" cy="1323439"/>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Crude oil </a:t>
            </a:r>
            <a:r>
              <a:rPr lang="en-GB" sz="2000" dirty="0"/>
              <a:t>is a </a:t>
            </a:r>
            <a:r>
              <a:rPr lang="en-GB" sz="2000" b="1" dirty="0">
                <a:solidFill>
                  <a:schemeClr val="accent6">
                    <a:lumMod val="75000"/>
                  </a:schemeClr>
                </a:solidFill>
              </a:rPr>
              <a:t>finite resource </a:t>
            </a:r>
            <a:r>
              <a:rPr lang="en-GB" sz="2000" dirty="0"/>
              <a:t>containing a </a:t>
            </a:r>
            <a:r>
              <a:rPr lang="en-GB" sz="2000" b="1" dirty="0">
                <a:solidFill>
                  <a:schemeClr val="accent6">
                    <a:lumMod val="75000"/>
                  </a:schemeClr>
                </a:solidFill>
              </a:rPr>
              <a:t>complex mixture of hydrocarbons</a:t>
            </a:r>
            <a:r>
              <a:rPr lang="en-GB" sz="2000" dirty="0"/>
              <a:t>.</a:t>
            </a:r>
          </a:p>
          <a:p>
            <a:r>
              <a:rPr lang="en-GB" sz="2000" dirty="0"/>
              <a:t>It contains molecules in which </a:t>
            </a:r>
            <a:r>
              <a:rPr lang="en-GB" sz="2000" b="1" dirty="0">
                <a:solidFill>
                  <a:schemeClr val="accent6">
                    <a:lumMod val="75000"/>
                  </a:schemeClr>
                </a:solidFill>
              </a:rPr>
              <a:t>carbon atoms are in chains or rings </a:t>
            </a:r>
            <a:r>
              <a:rPr lang="en-GB" sz="2000" dirty="0"/>
              <a:t>and is an important source of useful substances such as </a:t>
            </a:r>
            <a:r>
              <a:rPr lang="en-GB" sz="2000" b="1" dirty="0">
                <a:solidFill>
                  <a:schemeClr val="accent6">
                    <a:lumMod val="75000"/>
                  </a:schemeClr>
                </a:solidFill>
              </a:rPr>
              <a:t>fuels and feedstock </a:t>
            </a:r>
            <a:r>
              <a:rPr lang="en-GB" sz="2000" dirty="0"/>
              <a:t>for the petrochemical industry. </a:t>
            </a:r>
          </a:p>
        </p:txBody>
      </p:sp>
      <p:sp>
        <p:nvSpPr>
          <p:cNvPr id="9" name="TextBox 8"/>
          <p:cNvSpPr txBox="1"/>
          <p:nvPr/>
        </p:nvSpPr>
        <p:spPr>
          <a:xfrm>
            <a:off x="187912" y="5208911"/>
            <a:ext cx="5904656" cy="707886"/>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Hydrocarbons </a:t>
            </a:r>
            <a:r>
              <a:rPr lang="en-GB" sz="2000" dirty="0"/>
              <a:t>are compounds that contain </a:t>
            </a:r>
            <a:r>
              <a:rPr lang="en-GB" sz="2000" b="1" dirty="0">
                <a:solidFill>
                  <a:schemeClr val="accent6">
                    <a:lumMod val="75000"/>
                  </a:schemeClr>
                </a:solidFill>
              </a:rPr>
              <a:t>hydrogen and carbon </a:t>
            </a:r>
            <a:r>
              <a:rPr lang="en-GB" sz="2000" b="1" u="sng" dirty="0">
                <a:solidFill>
                  <a:schemeClr val="accent6">
                    <a:lumMod val="75000"/>
                  </a:schemeClr>
                </a:solidFill>
              </a:rPr>
              <a:t>only.</a:t>
            </a:r>
          </a:p>
        </p:txBody>
      </p:sp>
      <p:sp>
        <p:nvSpPr>
          <p:cNvPr id="11" name="TextBox 10"/>
          <p:cNvSpPr txBox="1"/>
          <p:nvPr/>
        </p:nvSpPr>
        <p:spPr>
          <a:xfrm>
            <a:off x="3059832" y="2993499"/>
            <a:ext cx="2520280" cy="1323439"/>
          </a:xfrm>
          <a:prstGeom prst="rect">
            <a:avLst/>
          </a:prstGeom>
          <a:solidFill>
            <a:schemeClr val="accent6"/>
          </a:solidFill>
          <a:ln w="28575">
            <a:solidFill>
              <a:schemeClr val="tx1"/>
            </a:solidFill>
          </a:ln>
        </p:spPr>
        <p:txBody>
          <a:bodyPr wrap="square" rtlCol="0">
            <a:spAutoFit/>
          </a:bodyPr>
          <a:lstStyle/>
          <a:p>
            <a:r>
              <a:rPr lang="en-GB" sz="2000" dirty="0"/>
              <a:t>The two definitions are very important. You must learn both of them.</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79512" y="2450294"/>
            <a:ext cx="1986954" cy="2582323"/>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0112" y="2187764"/>
            <a:ext cx="4267597" cy="4274213"/>
          </a:xfrm>
          <a:prstGeom prst="rect">
            <a:avLst/>
          </a:prstGeom>
        </p:spPr>
      </p:pic>
    </p:spTree>
    <p:extLst>
      <p:ext uri="{BB962C8B-B14F-4D97-AF65-F5344CB8AC3E}">
        <p14:creationId xmlns:p14="http://schemas.microsoft.com/office/powerpoint/2010/main" val="12704805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46248" y="46565"/>
            <a:ext cx="8028384" cy="657041"/>
          </a:xfrm>
        </p:spPr>
        <p:txBody>
          <a:bodyPr>
            <a:noAutofit/>
          </a:bodyPr>
          <a:lstStyle/>
          <a:p>
            <a:pPr marL="342900" lvl="1" algn="r"/>
            <a:r>
              <a:rPr lang="en-US" sz="2400" dirty="0">
                <a:solidFill>
                  <a:schemeClr val="accent6"/>
                </a:solidFill>
              </a:rPr>
              <a:t>Fractional distillation</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6" name="TextBox 5"/>
          <p:cNvSpPr txBox="1"/>
          <p:nvPr/>
        </p:nvSpPr>
        <p:spPr>
          <a:xfrm>
            <a:off x="179512" y="836712"/>
            <a:ext cx="5066318" cy="1323439"/>
          </a:xfrm>
          <a:prstGeom prst="rect">
            <a:avLst/>
          </a:prstGeom>
          <a:noFill/>
          <a:ln w="28575">
            <a:solidFill>
              <a:schemeClr val="accent6"/>
            </a:solidFill>
          </a:ln>
        </p:spPr>
        <p:txBody>
          <a:bodyPr wrap="square" rtlCol="0">
            <a:spAutoFit/>
          </a:bodyPr>
          <a:lstStyle/>
          <a:p>
            <a:r>
              <a:rPr lang="en-GB" sz="2000" dirty="0"/>
              <a:t>The many hydrocarbons in crude oil may be separated into </a:t>
            </a:r>
            <a:r>
              <a:rPr lang="en-GB" sz="2000" b="1" dirty="0">
                <a:solidFill>
                  <a:schemeClr val="accent6">
                    <a:lumMod val="75000"/>
                  </a:schemeClr>
                </a:solidFill>
              </a:rPr>
              <a:t>fractions</a:t>
            </a:r>
            <a:r>
              <a:rPr lang="en-GB" sz="2000" dirty="0"/>
              <a:t>, each of which contains molecules with a </a:t>
            </a:r>
            <a:r>
              <a:rPr lang="en-GB" sz="2000" b="1" dirty="0">
                <a:solidFill>
                  <a:schemeClr val="accent6">
                    <a:lumMod val="75000"/>
                  </a:schemeClr>
                </a:solidFill>
              </a:rPr>
              <a:t>similar number of carbon atoms</a:t>
            </a:r>
            <a:r>
              <a:rPr lang="en-GB" sz="2000" dirty="0"/>
              <a:t> by fractional distillation.</a:t>
            </a:r>
          </a:p>
        </p:txBody>
      </p:sp>
      <p:sp>
        <p:nvSpPr>
          <p:cNvPr id="8" name="TextBox 7"/>
          <p:cNvSpPr txBox="1"/>
          <p:nvPr/>
        </p:nvSpPr>
        <p:spPr>
          <a:xfrm>
            <a:off x="5449686" y="836711"/>
            <a:ext cx="3672408" cy="1323439"/>
          </a:xfrm>
          <a:prstGeom prst="rect">
            <a:avLst/>
          </a:prstGeom>
          <a:solidFill>
            <a:schemeClr val="accent6"/>
          </a:solidFill>
          <a:ln w="28575">
            <a:solidFill>
              <a:schemeClr val="tx1"/>
            </a:solidFill>
          </a:ln>
        </p:spPr>
        <p:txBody>
          <a:bodyPr wrap="square" rtlCol="0">
            <a:spAutoFit/>
          </a:bodyPr>
          <a:lstStyle/>
          <a:p>
            <a:r>
              <a:rPr lang="en-GB" sz="2000" b="1" dirty="0"/>
              <a:t>Below is a diagram of a fractional distillation column, learn the order of the fractions on the right hand side</a:t>
            </a:r>
          </a:p>
        </p:txBody>
      </p:sp>
      <p:sp>
        <p:nvSpPr>
          <p:cNvPr id="15" name="TextBox 14"/>
          <p:cNvSpPr txBox="1"/>
          <p:nvPr/>
        </p:nvSpPr>
        <p:spPr>
          <a:xfrm>
            <a:off x="179512" y="2192526"/>
            <a:ext cx="6696744" cy="1323439"/>
          </a:xfrm>
          <a:custGeom>
            <a:avLst/>
            <a:gdLst>
              <a:gd name="connsiteX0" fmla="*/ 0 w 4680520"/>
              <a:gd name="connsiteY0" fmla="*/ 0 h 1477328"/>
              <a:gd name="connsiteX1" fmla="*/ 4680520 w 4680520"/>
              <a:gd name="connsiteY1" fmla="*/ 0 h 1477328"/>
              <a:gd name="connsiteX2" fmla="*/ 4680520 w 4680520"/>
              <a:gd name="connsiteY2" fmla="*/ 1477328 h 1477328"/>
              <a:gd name="connsiteX3" fmla="*/ 0 w 4680520"/>
              <a:gd name="connsiteY3" fmla="*/ 1477328 h 1477328"/>
              <a:gd name="connsiteX4" fmla="*/ 0 w 4680520"/>
              <a:gd name="connsiteY4" fmla="*/ 0 h 1477328"/>
              <a:gd name="connsiteX0" fmla="*/ 25758 w 4680520"/>
              <a:gd name="connsiteY0" fmla="*/ 0 h 1554601"/>
              <a:gd name="connsiteX1" fmla="*/ 4680520 w 4680520"/>
              <a:gd name="connsiteY1" fmla="*/ 77273 h 1554601"/>
              <a:gd name="connsiteX2" fmla="*/ 4680520 w 4680520"/>
              <a:gd name="connsiteY2" fmla="*/ 1554601 h 1554601"/>
              <a:gd name="connsiteX3" fmla="*/ 0 w 4680520"/>
              <a:gd name="connsiteY3" fmla="*/ 1554601 h 1554601"/>
              <a:gd name="connsiteX4" fmla="*/ 25758 w 4680520"/>
              <a:gd name="connsiteY4" fmla="*/ 0 h 1554601"/>
              <a:gd name="connsiteX0" fmla="*/ 25758 w 4680520"/>
              <a:gd name="connsiteY0" fmla="*/ 25758 h 1580359"/>
              <a:gd name="connsiteX1" fmla="*/ 4680520 w 4680520"/>
              <a:gd name="connsiteY1" fmla="*/ 0 h 1580359"/>
              <a:gd name="connsiteX2" fmla="*/ 4680520 w 4680520"/>
              <a:gd name="connsiteY2" fmla="*/ 1580359 h 1580359"/>
              <a:gd name="connsiteX3" fmla="*/ 0 w 4680520"/>
              <a:gd name="connsiteY3" fmla="*/ 1580359 h 1580359"/>
              <a:gd name="connsiteX4" fmla="*/ 25758 w 4680520"/>
              <a:gd name="connsiteY4" fmla="*/ 25758 h 1580359"/>
              <a:gd name="connsiteX0" fmla="*/ 25758 w 4680520"/>
              <a:gd name="connsiteY0" fmla="*/ 12879 h 1567480"/>
              <a:gd name="connsiteX1" fmla="*/ 4680520 w 4680520"/>
              <a:gd name="connsiteY1" fmla="*/ 0 h 1567480"/>
              <a:gd name="connsiteX2" fmla="*/ 4680520 w 4680520"/>
              <a:gd name="connsiteY2" fmla="*/ 1567480 h 1567480"/>
              <a:gd name="connsiteX3" fmla="*/ 0 w 4680520"/>
              <a:gd name="connsiteY3" fmla="*/ 1567480 h 1567480"/>
              <a:gd name="connsiteX4" fmla="*/ 25758 w 4680520"/>
              <a:gd name="connsiteY4" fmla="*/ 12879 h 15674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567480">
                <a:moveTo>
                  <a:pt x="25758" y="12879"/>
                </a:moveTo>
                <a:lnTo>
                  <a:pt x="4680520" y="0"/>
                </a:lnTo>
                <a:lnTo>
                  <a:pt x="4680520" y="1567480"/>
                </a:lnTo>
                <a:lnTo>
                  <a:pt x="0" y="1567480"/>
                </a:lnTo>
                <a:lnTo>
                  <a:pt x="25758" y="12879"/>
                </a:lnTo>
                <a:close/>
              </a:path>
            </a:pathLst>
          </a:custGeom>
          <a:noFill/>
        </p:spPr>
        <p:txBody>
          <a:bodyPr wrap="square" rtlCol="0">
            <a:spAutoFit/>
          </a:bodyPr>
          <a:lstStyle/>
          <a:p>
            <a:r>
              <a:rPr lang="en-GB" sz="2000" dirty="0"/>
              <a:t>If we look at the diagram on the right all the hydrocarbon molecules are in the highest fraction – </a:t>
            </a:r>
            <a:r>
              <a:rPr lang="en-GB" sz="2000" b="1" dirty="0">
                <a:solidFill>
                  <a:schemeClr val="accent6">
                    <a:lumMod val="75000"/>
                  </a:schemeClr>
                </a:solidFill>
              </a:rPr>
              <a:t>liquefied petroleum gases </a:t>
            </a:r>
            <a:r>
              <a:rPr lang="en-GB" sz="2000" dirty="0"/>
              <a:t>will have between </a:t>
            </a:r>
            <a:r>
              <a:rPr lang="en-GB" sz="2000" b="1" dirty="0">
                <a:solidFill>
                  <a:schemeClr val="accent6">
                    <a:lumMod val="75000"/>
                  </a:schemeClr>
                </a:solidFill>
              </a:rPr>
              <a:t>1 and 4 carbons</a:t>
            </a:r>
            <a:r>
              <a:rPr lang="en-GB" sz="2000" dirty="0"/>
              <a:t>. All the hydrocarbon molecules in </a:t>
            </a:r>
            <a:r>
              <a:rPr lang="en-GB" sz="2000" b="1" dirty="0">
                <a:solidFill>
                  <a:schemeClr val="accent6">
                    <a:lumMod val="75000"/>
                  </a:schemeClr>
                </a:solidFill>
              </a:rPr>
              <a:t>petrol</a:t>
            </a:r>
            <a:r>
              <a:rPr lang="en-GB" sz="2000" dirty="0"/>
              <a:t> will have between </a:t>
            </a:r>
            <a:r>
              <a:rPr lang="en-GB" sz="2000" b="1" dirty="0">
                <a:solidFill>
                  <a:schemeClr val="accent6">
                    <a:lumMod val="75000"/>
                  </a:schemeClr>
                </a:solidFill>
              </a:rPr>
              <a:t>5 and 9 carbons</a:t>
            </a:r>
            <a:r>
              <a:rPr lang="en-GB" sz="2000" dirty="0"/>
              <a:t>. </a:t>
            </a:r>
          </a:p>
        </p:txBody>
      </p:sp>
      <p:sp>
        <p:nvSpPr>
          <p:cNvPr id="16" name="TextBox 15"/>
          <p:cNvSpPr txBox="1"/>
          <p:nvPr/>
        </p:nvSpPr>
        <p:spPr>
          <a:xfrm>
            <a:off x="179512" y="3464648"/>
            <a:ext cx="5066318" cy="1938992"/>
          </a:xfrm>
          <a:prstGeom prst="rect">
            <a:avLst/>
          </a:prstGeom>
          <a:noFill/>
          <a:ln w="28575">
            <a:solidFill>
              <a:schemeClr val="accent6"/>
            </a:solidFill>
          </a:ln>
        </p:spPr>
        <p:txBody>
          <a:bodyPr wrap="square" rtlCol="0">
            <a:spAutoFit/>
          </a:bodyPr>
          <a:lstStyle/>
          <a:p>
            <a:r>
              <a:rPr lang="en-GB" sz="2000" dirty="0"/>
              <a:t>Some properties of hydrocarbons depend on the </a:t>
            </a:r>
            <a:r>
              <a:rPr lang="en-GB" sz="2000" b="1" dirty="0">
                <a:solidFill>
                  <a:schemeClr val="accent6">
                    <a:lumMod val="75000"/>
                  </a:schemeClr>
                </a:solidFill>
              </a:rPr>
              <a:t>size of their molecules</a:t>
            </a:r>
            <a:r>
              <a:rPr lang="en-GB" sz="2000" dirty="0"/>
              <a:t>, including:</a:t>
            </a:r>
          </a:p>
          <a:p>
            <a:pPr marL="285750" indent="-285750">
              <a:buFont typeface="Arial" panose="020B0604020202020204" pitchFamily="34" charset="0"/>
              <a:buChar char="•"/>
            </a:pPr>
            <a:r>
              <a:rPr lang="en-GB" sz="2000" b="1" dirty="0">
                <a:solidFill>
                  <a:schemeClr val="accent6">
                    <a:lumMod val="75000"/>
                  </a:schemeClr>
                </a:solidFill>
              </a:rPr>
              <a:t>Boiling point</a:t>
            </a:r>
          </a:p>
          <a:p>
            <a:pPr marL="285750" indent="-285750">
              <a:buFont typeface="Arial" panose="020B0604020202020204" pitchFamily="34" charset="0"/>
              <a:buChar char="•"/>
            </a:pPr>
            <a:r>
              <a:rPr lang="en-GB" sz="2000" b="1" dirty="0">
                <a:solidFill>
                  <a:schemeClr val="accent6">
                    <a:lumMod val="75000"/>
                  </a:schemeClr>
                </a:solidFill>
              </a:rPr>
              <a:t>Viscosity</a:t>
            </a:r>
          </a:p>
          <a:p>
            <a:pPr marL="285750" indent="-285750">
              <a:buFont typeface="Arial" panose="020B0604020202020204" pitchFamily="34" charset="0"/>
              <a:buChar char="•"/>
            </a:pPr>
            <a:r>
              <a:rPr lang="en-GB" sz="2000" b="1" dirty="0">
                <a:solidFill>
                  <a:schemeClr val="accent6">
                    <a:lumMod val="75000"/>
                  </a:schemeClr>
                </a:solidFill>
              </a:rPr>
              <a:t>Flammability</a:t>
            </a:r>
          </a:p>
          <a:p>
            <a:r>
              <a:rPr lang="en-GB" sz="2000" dirty="0"/>
              <a:t>These change with increasing molecular size.</a:t>
            </a:r>
          </a:p>
        </p:txBody>
      </p:sp>
      <p:sp>
        <p:nvSpPr>
          <p:cNvPr id="17" name="TextBox 16"/>
          <p:cNvSpPr txBox="1"/>
          <p:nvPr/>
        </p:nvSpPr>
        <p:spPr>
          <a:xfrm>
            <a:off x="179512" y="5403640"/>
            <a:ext cx="5544616" cy="1015663"/>
          </a:xfrm>
          <a:prstGeom prst="rect">
            <a:avLst/>
          </a:prstGeom>
          <a:noFill/>
        </p:spPr>
        <p:txBody>
          <a:bodyPr wrap="square" rtlCol="0">
            <a:spAutoFit/>
          </a:bodyPr>
          <a:lstStyle/>
          <a:p>
            <a:r>
              <a:rPr lang="en-GB" sz="2000" dirty="0"/>
              <a:t>We know that as we go </a:t>
            </a:r>
            <a:r>
              <a:rPr lang="en-GB" sz="2000" b="1" dirty="0">
                <a:solidFill>
                  <a:schemeClr val="accent6">
                    <a:lumMod val="75000"/>
                  </a:schemeClr>
                </a:solidFill>
              </a:rPr>
              <a:t>up </a:t>
            </a:r>
            <a:r>
              <a:rPr lang="en-GB" sz="2000" dirty="0"/>
              <a:t>the fractional distillation column, the boiling point and viscosity </a:t>
            </a:r>
            <a:r>
              <a:rPr lang="en-GB" sz="2000" b="1" dirty="0">
                <a:solidFill>
                  <a:schemeClr val="accent6">
                    <a:lumMod val="75000"/>
                  </a:schemeClr>
                </a:solidFill>
              </a:rPr>
              <a:t>decrease</a:t>
            </a:r>
            <a:r>
              <a:rPr lang="en-GB" sz="2000" dirty="0"/>
              <a:t> and the flammability </a:t>
            </a:r>
            <a:r>
              <a:rPr lang="en-GB" sz="2000" b="1" dirty="0">
                <a:solidFill>
                  <a:schemeClr val="accent6">
                    <a:lumMod val="75000"/>
                  </a:schemeClr>
                </a:solidFill>
              </a:rPr>
              <a:t>increases</a:t>
            </a:r>
            <a:r>
              <a:rPr lang="en-GB" sz="2000" dirty="0"/>
              <a: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97800" y="2212157"/>
            <a:ext cx="3138696" cy="4128954"/>
          </a:xfrm>
          <a:prstGeom prst="rect">
            <a:avLst/>
          </a:prstGeom>
        </p:spPr>
      </p:pic>
    </p:spTree>
    <p:extLst>
      <p:ext uri="{BB962C8B-B14F-4D97-AF65-F5344CB8AC3E}">
        <p14:creationId xmlns:p14="http://schemas.microsoft.com/office/powerpoint/2010/main" val="2631701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lvl="1" algn="r"/>
            <a:r>
              <a:rPr lang="en-US" sz="2400" dirty="0">
                <a:solidFill>
                  <a:schemeClr val="accent6"/>
                </a:solidFill>
              </a:rPr>
              <a:t>Fractional distillation</a:t>
            </a: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251520" y="806182"/>
            <a:ext cx="8568952" cy="1015663"/>
          </a:xfrm>
          <a:prstGeom prst="rect">
            <a:avLst/>
          </a:prstGeom>
          <a:noFill/>
          <a:ln w="28575">
            <a:solidFill>
              <a:schemeClr val="accent6"/>
            </a:solidFill>
          </a:ln>
        </p:spPr>
        <p:txBody>
          <a:bodyPr wrap="square" rtlCol="0">
            <a:spAutoFit/>
          </a:bodyPr>
          <a:lstStyle/>
          <a:p>
            <a:r>
              <a:rPr lang="en-GB" sz="2000" dirty="0"/>
              <a:t>The fractions produced in fractional distillation can be </a:t>
            </a:r>
            <a:r>
              <a:rPr lang="en-GB" sz="2000" dirty="0">
                <a:solidFill>
                  <a:schemeClr val="accent6">
                    <a:lumMod val="75000"/>
                  </a:schemeClr>
                </a:solidFill>
              </a:rPr>
              <a:t>processed</a:t>
            </a:r>
            <a:r>
              <a:rPr lang="en-GB" sz="2000" dirty="0"/>
              <a:t> to produce fuels e.g. </a:t>
            </a:r>
            <a:r>
              <a:rPr lang="en-GB" sz="2000" dirty="0">
                <a:solidFill>
                  <a:schemeClr val="accent6">
                    <a:lumMod val="75000"/>
                  </a:schemeClr>
                </a:solidFill>
              </a:rPr>
              <a:t>petrol</a:t>
            </a:r>
            <a:r>
              <a:rPr lang="en-GB" sz="2000" dirty="0"/>
              <a:t>, and </a:t>
            </a:r>
            <a:r>
              <a:rPr lang="en-GB" sz="2000" dirty="0">
                <a:solidFill>
                  <a:schemeClr val="accent6">
                    <a:lumMod val="75000"/>
                  </a:schemeClr>
                </a:solidFill>
              </a:rPr>
              <a:t>feedstock</a:t>
            </a:r>
            <a:r>
              <a:rPr lang="en-GB" sz="2000" dirty="0"/>
              <a:t> (reactants for further chemical reactions) for the petrochemical industry.</a:t>
            </a:r>
          </a:p>
        </p:txBody>
      </p:sp>
      <p:sp>
        <p:nvSpPr>
          <p:cNvPr id="5" name="TextBox 4"/>
          <p:cNvSpPr txBox="1"/>
          <p:nvPr/>
        </p:nvSpPr>
        <p:spPr>
          <a:xfrm>
            <a:off x="251520" y="1836986"/>
            <a:ext cx="5531737" cy="4401205"/>
          </a:xfrm>
          <a:custGeom>
            <a:avLst/>
            <a:gdLst>
              <a:gd name="connsiteX0" fmla="*/ 0 w 8568952"/>
              <a:gd name="connsiteY0" fmla="*/ 0 h 369332"/>
              <a:gd name="connsiteX1" fmla="*/ 8568952 w 8568952"/>
              <a:gd name="connsiteY1" fmla="*/ 0 h 369332"/>
              <a:gd name="connsiteX2" fmla="*/ 8568952 w 8568952"/>
              <a:gd name="connsiteY2" fmla="*/ 369332 h 369332"/>
              <a:gd name="connsiteX3" fmla="*/ 0 w 8568952"/>
              <a:gd name="connsiteY3" fmla="*/ 369332 h 369332"/>
              <a:gd name="connsiteX4" fmla="*/ 0 w 8568952"/>
              <a:gd name="connsiteY4" fmla="*/ 0 h 369332"/>
              <a:gd name="connsiteX0" fmla="*/ 12878 w 8568952"/>
              <a:gd name="connsiteY0" fmla="*/ 0 h 704183"/>
              <a:gd name="connsiteX1" fmla="*/ 8568952 w 8568952"/>
              <a:gd name="connsiteY1" fmla="*/ 334851 h 704183"/>
              <a:gd name="connsiteX2" fmla="*/ 8568952 w 8568952"/>
              <a:gd name="connsiteY2" fmla="*/ 704183 h 704183"/>
              <a:gd name="connsiteX3" fmla="*/ 0 w 8568952"/>
              <a:gd name="connsiteY3" fmla="*/ 704183 h 704183"/>
              <a:gd name="connsiteX4" fmla="*/ 12878 w 8568952"/>
              <a:gd name="connsiteY4" fmla="*/ 0 h 704183"/>
              <a:gd name="connsiteX0" fmla="*/ 12878 w 8568952"/>
              <a:gd name="connsiteY0" fmla="*/ 25758 h 729941"/>
              <a:gd name="connsiteX1" fmla="*/ 8568952 w 8568952"/>
              <a:gd name="connsiteY1" fmla="*/ 0 h 729941"/>
              <a:gd name="connsiteX2" fmla="*/ 8568952 w 8568952"/>
              <a:gd name="connsiteY2" fmla="*/ 729941 h 729941"/>
              <a:gd name="connsiteX3" fmla="*/ 0 w 8568952"/>
              <a:gd name="connsiteY3" fmla="*/ 729941 h 729941"/>
              <a:gd name="connsiteX4" fmla="*/ 12878 w 8568952"/>
              <a:gd name="connsiteY4" fmla="*/ 25758 h 729941"/>
              <a:gd name="connsiteX0" fmla="*/ 0 w 8556074"/>
              <a:gd name="connsiteY0" fmla="*/ 25758 h 1167823"/>
              <a:gd name="connsiteX1" fmla="*/ 8556074 w 8556074"/>
              <a:gd name="connsiteY1" fmla="*/ 0 h 1167823"/>
              <a:gd name="connsiteX2" fmla="*/ 8556074 w 8556074"/>
              <a:gd name="connsiteY2" fmla="*/ 729941 h 1167823"/>
              <a:gd name="connsiteX3" fmla="*/ 12880 w 8556074"/>
              <a:gd name="connsiteY3" fmla="*/ 1167823 h 1167823"/>
              <a:gd name="connsiteX4" fmla="*/ 0 w 8556074"/>
              <a:gd name="connsiteY4" fmla="*/ 25758 h 1167823"/>
              <a:gd name="connsiteX0" fmla="*/ 0 w 8556074"/>
              <a:gd name="connsiteY0" fmla="*/ 25758 h 1167823"/>
              <a:gd name="connsiteX1" fmla="*/ 8556074 w 8556074"/>
              <a:gd name="connsiteY1" fmla="*/ 0 h 1167823"/>
              <a:gd name="connsiteX2" fmla="*/ 8556074 w 8556074"/>
              <a:gd name="connsiteY2" fmla="*/ 729941 h 1167823"/>
              <a:gd name="connsiteX3" fmla="*/ 1 w 8556074"/>
              <a:gd name="connsiteY3" fmla="*/ 1167823 h 1167823"/>
              <a:gd name="connsiteX4" fmla="*/ 0 w 8556074"/>
              <a:gd name="connsiteY4" fmla="*/ 25758 h 1167823"/>
              <a:gd name="connsiteX0" fmla="*/ 0 w 8568953"/>
              <a:gd name="connsiteY0" fmla="*/ 25758 h 1193581"/>
              <a:gd name="connsiteX1" fmla="*/ 8556074 w 8568953"/>
              <a:gd name="connsiteY1" fmla="*/ 0 h 1193581"/>
              <a:gd name="connsiteX2" fmla="*/ 8568953 w 8568953"/>
              <a:gd name="connsiteY2" fmla="*/ 1193581 h 1193581"/>
              <a:gd name="connsiteX3" fmla="*/ 1 w 8568953"/>
              <a:gd name="connsiteY3" fmla="*/ 1167823 h 1193581"/>
              <a:gd name="connsiteX4" fmla="*/ 0 w 8568953"/>
              <a:gd name="connsiteY4" fmla="*/ 25758 h 1193581"/>
              <a:gd name="connsiteX0" fmla="*/ 0 w 8568953"/>
              <a:gd name="connsiteY0" fmla="*/ 25758 h 1167823"/>
              <a:gd name="connsiteX1" fmla="*/ 8556074 w 8568953"/>
              <a:gd name="connsiteY1" fmla="*/ 0 h 1167823"/>
              <a:gd name="connsiteX2" fmla="*/ 8568953 w 8568953"/>
              <a:gd name="connsiteY2" fmla="*/ 1167823 h 1167823"/>
              <a:gd name="connsiteX3" fmla="*/ 1 w 8568953"/>
              <a:gd name="connsiteY3" fmla="*/ 1167823 h 1167823"/>
              <a:gd name="connsiteX4" fmla="*/ 0 w 8568953"/>
              <a:gd name="connsiteY4" fmla="*/ 25758 h 1167823"/>
              <a:gd name="connsiteX0" fmla="*/ 0 w 8568953"/>
              <a:gd name="connsiteY0" fmla="*/ 12879 h 1154944"/>
              <a:gd name="connsiteX1" fmla="*/ 8556074 w 8568953"/>
              <a:gd name="connsiteY1" fmla="*/ 0 h 1154944"/>
              <a:gd name="connsiteX2" fmla="*/ 8568953 w 8568953"/>
              <a:gd name="connsiteY2" fmla="*/ 1154944 h 1154944"/>
              <a:gd name="connsiteX3" fmla="*/ 1 w 8568953"/>
              <a:gd name="connsiteY3" fmla="*/ 1154944 h 1154944"/>
              <a:gd name="connsiteX4" fmla="*/ 0 w 8568953"/>
              <a:gd name="connsiteY4" fmla="*/ 12879 h 1154944"/>
              <a:gd name="connsiteX0" fmla="*/ 0 w 8568953"/>
              <a:gd name="connsiteY0" fmla="*/ 0 h 1142065"/>
              <a:gd name="connsiteX1" fmla="*/ 8556074 w 8568953"/>
              <a:gd name="connsiteY1" fmla="*/ 0 h 1142065"/>
              <a:gd name="connsiteX2" fmla="*/ 8568953 w 8568953"/>
              <a:gd name="connsiteY2" fmla="*/ 1142065 h 1142065"/>
              <a:gd name="connsiteX3" fmla="*/ 1 w 8568953"/>
              <a:gd name="connsiteY3" fmla="*/ 1142065 h 1142065"/>
              <a:gd name="connsiteX4" fmla="*/ 0 w 8568953"/>
              <a:gd name="connsiteY4" fmla="*/ 0 h 1142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68953" h="1142065">
                <a:moveTo>
                  <a:pt x="0" y="0"/>
                </a:moveTo>
                <a:lnTo>
                  <a:pt x="8556074" y="0"/>
                </a:lnTo>
                <a:lnTo>
                  <a:pt x="8568953" y="1142065"/>
                </a:lnTo>
                <a:lnTo>
                  <a:pt x="1" y="1142065"/>
                </a:lnTo>
                <a:cubicBezTo>
                  <a:pt x="1" y="761377"/>
                  <a:pt x="0" y="380688"/>
                  <a:pt x="0" y="0"/>
                </a:cubicBezTo>
                <a:close/>
              </a:path>
            </a:pathLst>
          </a:custGeom>
          <a:noFill/>
        </p:spPr>
        <p:txBody>
          <a:bodyPr wrap="square" rtlCol="0">
            <a:spAutoFit/>
          </a:bodyPr>
          <a:lstStyle/>
          <a:p>
            <a:r>
              <a:rPr lang="en-GB" sz="2000" dirty="0"/>
              <a:t>Examples of fractions and their uses are:</a:t>
            </a:r>
          </a:p>
          <a:p>
            <a:endParaRPr lang="en-GB" sz="2000" dirty="0"/>
          </a:p>
          <a:p>
            <a:pPr marL="342900" indent="-342900">
              <a:buFont typeface="Arial" panose="020B0604020202020204" pitchFamily="34" charset="0"/>
              <a:buChar char="•"/>
            </a:pPr>
            <a:r>
              <a:rPr lang="en-GB" sz="2000" dirty="0"/>
              <a:t>Gases, used in domestic heating and cooking</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Petrol, used as a fuel in cars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Kerosene, used as fuel for aircraft</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Diesel oil, used as a fuel for some cars and trains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Fuel oil, used as fuel for large ships and some power stations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Bitumen, used to surface roads and roofs</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90162" y="2831378"/>
            <a:ext cx="679292" cy="1343654"/>
          </a:xfrm>
          <a:prstGeom prst="rect">
            <a:avLst/>
          </a:prstGeom>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78440" y="2117218"/>
            <a:ext cx="2742032" cy="4120973"/>
          </a:xfrm>
          <a:prstGeom prst="rect">
            <a:avLst/>
          </a:prstGeom>
        </p:spPr>
      </p:pic>
    </p:spTree>
    <p:extLst>
      <p:ext uri="{BB962C8B-B14F-4D97-AF65-F5344CB8AC3E}">
        <p14:creationId xmlns:p14="http://schemas.microsoft.com/office/powerpoint/2010/main" val="12144204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19672" y="35655"/>
            <a:ext cx="7524328" cy="657041"/>
          </a:xfrm>
        </p:spPr>
        <p:txBody>
          <a:bodyPr>
            <a:noAutofit/>
          </a:bodyPr>
          <a:lstStyle/>
          <a:p>
            <a:pPr marL="342900" lvl="1" algn="r"/>
            <a:r>
              <a:rPr lang="en-US" sz="2400" dirty="0">
                <a:solidFill>
                  <a:schemeClr val="accent6"/>
                </a:solidFill>
              </a:rPr>
              <a:t>Crude oil, hydrocarbons and alkanes</a:t>
            </a:r>
          </a:p>
        </p:txBody>
      </p:sp>
      <p:sp>
        <p:nvSpPr>
          <p:cNvPr id="12" name="TextBox 11"/>
          <p:cNvSpPr txBox="1"/>
          <p:nvPr/>
        </p:nvSpPr>
        <p:spPr>
          <a:xfrm>
            <a:off x="179512" y="891729"/>
            <a:ext cx="8568952" cy="707886"/>
          </a:xfrm>
          <a:prstGeom prst="rect">
            <a:avLst/>
          </a:prstGeom>
          <a:noFill/>
          <a:ln w="28575">
            <a:solidFill>
              <a:schemeClr val="accent6"/>
            </a:solidFill>
          </a:ln>
        </p:spPr>
        <p:txBody>
          <a:bodyPr wrap="square" rtlCol="0">
            <a:spAutoFit/>
          </a:bodyPr>
          <a:lstStyle/>
          <a:p>
            <a:r>
              <a:rPr lang="en-GB" sz="2000" dirty="0"/>
              <a:t>Most of the hydrocarbons in crude oil are hydrocarbons called </a:t>
            </a:r>
            <a:r>
              <a:rPr lang="en-GB" sz="2000" b="1" dirty="0">
                <a:solidFill>
                  <a:schemeClr val="accent6">
                    <a:lumMod val="75000"/>
                  </a:schemeClr>
                </a:solidFill>
              </a:rPr>
              <a:t>alkanes</a:t>
            </a:r>
            <a:r>
              <a:rPr lang="en-GB" sz="2000" dirty="0"/>
              <a:t>. </a:t>
            </a:r>
          </a:p>
          <a:p>
            <a:r>
              <a:rPr lang="en-GB" sz="2000" dirty="0"/>
              <a:t>Alkanes form part of a </a:t>
            </a:r>
            <a:r>
              <a:rPr lang="en-GB" sz="2000" b="1" dirty="0">
                <a:solidFill>
                  <a:schemeClr val="accent6">
                    <a:lumMod val="75000"/>
                  </a:schemeClr>
                </a:solidFill>
              </a:rPr>
              <a:t>homologous series </a:t>
            </a:r>
            <a:r>
              <a:rPr lang="en-GB" sz="2000" dirty="0"/>
              <a:t>with the same general formula </a:t>
            </a:r>
            <a:r>
              <a:rPr lang="en-GB" sz="2000" b="1" dirty="0">
                <a:solidFill>
                  <a:schemeClr val="accent6">
                    <a:lumMod val="75000"/>
                  </a:schemeClr>
                </a:solidFill>
              </a:rPr>
              <a:t>C</a:t>
            </a:r>
            <a:r>
              <a:rPr lang="en-GB" sz="2000" b="1" baseline="-25000" dirty="0">
                <a:solidFill>
                  <a:schemeClr val="accent6">
                    <a:lumMod val="75000"/>
                  </a:schemeClr>
                </a:solidFill>
              </a:rPr>
              <a:t>n</a:t>
            </a:r>
            <a:r>
              <a:rPr lang="en-GB" sz="2000" b="1" dirty="0">
                <a:solidFill>
                  <a:schemeClr val="accent6">
                    <a:lumMod val="75000"/>
                  </a:schemeClr>
                </a:solidFill>
              </a:rPr>
              <a:t>H</a:t>
            </a:r>
            <a:r>
              <a:rPr lang="en-GB" sz="2000" b="1" baseline="-25000" dirty="0">
                <a:solidFill>
                  <a:schemeClr val="accent6">
                    <a:lumMod val="75000"/>
                  </a:schemeClr>
                </a:solidFill>
              </a:rPr>
              <a:t>2n+2</a:t>
            </a:r>
          </a:p>
        </p:txBody>
      </p:sp>
      <p:sp>
        <p:nvSpPr>
          <p:cNvPr id="14" name="TextBox 13"/>
          <p:cNvSpPr txBox="1"/>
          <p:nvPr/>
        </p:nvSpPr>
        <p:spPr>
          <a:xfrm>
            <a:off x="93835" y="1798232"/>
            <a:ext cx="8654629" cy="3375283"/>
          </a:xfrm>
          <a:custGeom>
            <a:avLst/>
            <a:gdLst>
              <a:gd name="connsiteX0" fmla="*/ 0 w 8568952"/>
              <a:gd name="connsiteY0" fmla="*/ 0 h 1323439"/>
              <a:gd name="connsiteX1" fmla="*/ 8568952 w 8568952"/>
              <a:gd name="connsiteY1" fmla="*/ 0 h 1323439"/>
              <a:gd name="connsiteX2" fmla="*/ 8568952 w 8568952"/>
              <a:gd name="connsiteY2" fmla="*/ 1323439 h 1323439"/>
              <a:gd name="connsiteX3" fmla="*/ 0 w 8568952"/>
              <a:gd name="connsiteY3" fmla="*/ 1323439 h 1323439"/>
              <a:gd name="connsiteX4" fmla="*/ 0 w 8568952"/>
              <a:gd name="connsiteY4" fmla="*/ 0 h 1323439"/>
              <a:gd name="connsiteX0" fmla="*/ 0 w 8568952"/>
              <a:gd name="connsiteY0" fmla="*/ 12878 h 1336317"/>
              <a:gd name="connsiteX1" fmla="*/ 6546969 w 8568952"/>
              <a:gd name="connsiteY1" fmla="*/ 0 h 1336317"/>
              <a:gd name="connsiteX2" fmla="*/ 8568952 w 8568952"/>
              <a:gd name="connsiteY2" fmla="*/ 1336317 h 1336317"/>
              <a:gd name="connsiteX3" fmla="*/ 0 w 8568952"/>
              <a:gd name="connsiteY3" fmla="*/ 1336317 h 1336317"/>
              <a:gd name="connsiteX4" fmla="*/ 0 w 8568952"/>
              <a:gd name="connsiteY4" fmla="*/ 12878 h 1336317"/>
              <a:gd name="connsiteX0" fmla="*/ 0 w 6624242"/>
              <a:gd name="connsiteY0" fmla="*/ 12878 h 1336317"/>
              <a:gd name="connsiteX1" fmla="*/ 6546969 w 6624242"/>
              <a:gd name="connsiteY1" fmla="*/ 0 h 1336317"/>
              <a:gd name="connsiteX2" fmla="*/ 6624242 w 6624242"/>
              <a:gd name="connsiteY2" fmla="*/ 1336317 h 1336317"/>
              <a:gd name="connsiteX3" fmla="*/ 0 w 6624242"/>
              <a:gd name="connsiteY3" fmla="*/ 1336317 h 1336317"/>
              <a:gd name="connsiteX4" fmla="*/ 0 w 6624242"/>
              <a:gd name="connsiteY4" fmla="*/ 12878 h 1336317"/>
              <a:gd name="connsiteX0" fmla="*/ 0 w 6765910"/>
              <a:gd name="connsiteY0" fmla="*/ 12878 h 1336317"/>
              <a:gd name="connsiteX1" fmla="*/ 6546969 w 6765910"/>
              <a:gd name="connsiteY1" fmla="*/ 0 h 1336317"/>
              <a:gd name="connsiteX2" fmla="*/ 6765910 w 6765910"/>
              <a:gd name="connsiteY2" fmla="*/ 1336317 h 1336317"/>
              <a:gd name="connsiteX3" fmla="*/ 0 w 6765910"/>
              <a:gd name="connsiteY3" fmla="*/ 1336317 h 1336317"/>
              <a:gd name="connsiteX4" fmla="*/ 0 w 6765910"/>
              <a:gd name="connsiteY4" fmla="*/ 12878 h 1336317"/>
              <a:gd name="connsiteX0" fmla="*/ 0 w 6765910"/>
              <a:gd name="connsiteY0" fmla="*/ 12878 h 1336317"/>
              <a:gd name="connsiteX1" fmla="*/ 6753031 w 6765910"/>
              <a:gd name="connsiteY1" fmla="*/ 0 h 1336317"/>
              <a:gd name="connsiteX2" fmla="*/ 6765910 w 6765910"/>
              <a:gd name="connsiteY2" fmla="*/ 1336317 h 1336317"/>
              <a:gd name="connsiteX3" fmla="*/ 0 w 6765910"/>
              <a:gd name="connsiteY3" fmla="*/ 1336317 h 1336317"/>
              <a:gd name="connsiteX4" fmla="*/ 0 w 6765910"/>
              <a:gd name="connsiteY4" fmla="*/ 12878 h 1336317"/>
              <a:gd name="connsiteX0" fmla="*/ 0 w 6765910"/>
              <a:gd name="connsiteY0" fmla="*/ 12878 h 1336317"/>
              <a:gd name="connsiteX1" fmla="*/ 6765910 w 6765910"/>
              <a:gd name="connsiteY1" fmla="*/ 0 h 1336317"/>
              <a:gd name="connsiteX2" fmla="*/ 6765910 w 6765910"/>
              <a:gd name="connsiteY2" fmla="*/ 1336317 h 1336317"/>
              <a:gd name="connsiteX3" fmla="*/ 0 w 6765910"/>
              <a:gd name="connsiteY3" fmla="*/ 1336317 h 1336317"/>
              <a:gd name="connsiteX4" fmla="*/ 0 w 6765910"/>
              <a:gd name="connsiteY4" fmla="*/ 12878 h 1336317"/>
              <a:gd name="connsiteX0" fmla="*/ 0 w 6765910"/>
              <a:gd name="connsiteY0" fmla="*/ 0 h 1323439"/>
              <a:gd name="connsiteX1" fmla="*/ 6765910 w 6765910"/>
              <a:gd name="connsiteY1" fmla="*/ 1 h 1323439"/>
              <a:gd name="connsiteX2" fmla="*/ 6765910 w 6765910"/>
              <a:gd name="connsiteY2" fmla="*/ 1323439 h 1323439"/>
              <a:gd name="connsiteX3" fmla="*/ 0 w 6765910"/>
              <a:gd name="connsiteY3" fmla="*/ 1323439 h 1323439"/>
              <a:gd name="connsiteX4" fmla="*/ 0 w 6765910"/>
              <a:gd name="connsiteY4" fmla="*/ 0 h 132343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65910" h="1323439">
                <a:moveTo>
                  <a:pt x="0" y="0"/>
                </a:moveTo>
                <a:lnTo>
                  <a:pt x="6765910" y="1"/>
                </a:lnTo>
                <a:lnTo>
                  <a:pt x="6765910" y="1323439"/>
                </a:lnTo>
                <a:lnTo>
                  <a:pt x="0" y="1323439"/>
                </a:lnTo>
                <a:lnTo>
                  <a:pt x="0" y="0"/>
                </a:lnTo>
                <a:close/>
              </a:path>
            </a:pathLst>
          </a:custGeom>
          <a:noFill/>
        </p:spPr>
        <p:txBody>
          <a:bodyPr wrap="square" rtlCol="0">
            <a:spAutoFit/>
          </a:bodyPr>
          <a:lstStyle/>
          <a:p>
            <a:r>
              <a:rPr lang="en-GB" sz="2000" dirty="0"/>
              <a:t>A homologous series is a series of compounds which:</a:t>
            </a:r>
          </a:p>
          <a:p>
            <a:pPr marL="342900" indent="-342900">
              <a:buFont typeface="Arial" panose="020B0604020202020204" pitchFamily="34" charset="0"/>
              <a:buChar char="•"/>
            </a:pPr>
            <a:r>
              <a:rPr lang="en-GB" sz="2000" dirty="0"/>
              <a:t>Have the same general formula e.g. </a:t>
            </a:r>
            <a:r>
              <a:rPr lang="en-GB" sz="2000" b="1" dirty="0">
                <a:solidFill>
                  <a:schemeClr val="accent6">
                    <a:lumMod val="75000"/>
                  </a:schemeClr>
                </a:solidFill>
              </a:rPr>
              <a:t>C</a:t>
            </a:r>
            <a:r>
              <a:rPr lang="en-GB" sz="2000" b="1" baseline="-25000" dirty="0">
                <a:solidFill>
                  <a:schemeClr val="accent6">
                    <a:lumMod val="75000"/>
                  </a:schemeClr>
                </a:solidFill>
              </a:rPr>
              <a:t>n</a:t>
            </a:r>
            <a:r>
              <a:rPr lang="en-GB" sz="2000" b="1" dirty="0">
                <a:solidFill>
                  <a:schemeClr val="accent6">
                    <a:lumMod val="75000"/>
                  </a:schemeClr>
                </a:solidFill>
              </a:rPr>
              <a:t>H</a:t>
            </a:r>
            <a:r>
              <a:rPr lang="en-GB" sz="2000" b="1" baseline="-25000" dirty="0">
                <a:solidFill>
                  <a:schemeClr val="accent6">
                    <a:lumMod val="75000"/>
                  </a:schemeClr>
                </a:solidFill>
              </a:rPr>
              <a:t>2n+2</a:t>
            </a:r>
            <a:r>
              <a:rPr lang="en-GB" sz="2000" b="1" dirty="0">
                <a:solidFill>
                  <a:schemeClr val="accent6">
                    <a:lumMod val="75000"/>
                  </a:schemeClr>
                </a:solidFill>
              </a:rPr>
              <a:t> for alkanes</a:t>
            </a:r>
          </a:p>
          <a:p>
            <a:pPr marL="342900" indent="-342900">
              <a:buFont typeface="Arial" panose="020B0604020202020204" pitchFamily="34" charset="0"/>
              <a:buChar char="•"/>
            </a:pPr>
            <a:endParaRPr lang="en-GB" sz="2000" dirty="0"/>
          </a:p>
          <a:p>
            <a:pPr marL="342900" indent="-342900">
              <a:buFont typeface="Arial" panose="020B0604020202020204" pitchFamily="34" charset="0"/>
              <a:buChar char="•"/>
            </a:pPr>
            <a:r>
              <a:rPr lang="en-GB" sz="2000" dirty="0"/>
              <a:t>Differ by CH</a:t>
            </a:r>
            <a:r>
              <a:rPr lang="en-GB" sz="2000" baseline="-25000" dirty="0"/>
              <a:t>2</a:t>
            </a:r>
            <a:r>
              <a:rPr lang="en-GB" sz="2000" dirty="0"/>
              <a:t> in molecular formulae from neighbouring compounds e.g. </a:t>
            </a:r>
            <a:r>
              <a:rPr lang="en-GB" sz="2000" b="1" dirty="0">
                <a:solidFill>
                  <a:schemeClr val="accent6">
                    <a:lumMod val="75000"/>
                  </a:schemeClr>
                </a:solidFill>
              </a:rPr>
              <a:t>Methane = CH</a:t>
            </a:r>
            <a:r>
              <a:rPr lang="en-GB" sz="2000" b="1" baseline="-25000" dirty="0">
                <a:solidFill>
                  <a:schemeClr val="accent6">
                    <a:lumMod val="75000"/>
                  </a:schemeClr>
                </a:solidFill>
              </a:rPr>
              <a:t>4</a:t>
            </a:r>
            <a:r>
              <a:rPr lang="en-GB" sz="2000" b="1" dirty="0">
                <a:solidFill>
                  <a:schemeClr val="accent6">
                    <a:lumMod val="75000"/>
                  </a:schemeClr>
                </a:solidFill>
              </a:rPr>
              <a:t>, ethane = C</a:t>
            </a:r>
            <a:r>
              <a:rPr lang="en-GB" sz="2000" b="1" baseline="-25000" dirty="0">
                <a:solidFill>
                  <a:schemeClr val="accent6">
                    <a:lumMod val="75000"/>
                  </a:schemeClr>
                </a:solidFill>
              </a:rPr>
              <a:t>2</a:t>
            </a:r>
            <a:r>
              <a:rPr lang="en-GB" sz="2000" b="1" dirty="0">
                <a:solidFill>
                  <a:schemeClr val="accent6">
                    <a:lumMod val="75000"/>
                  </a:schemeClr>
                </a:solidFill>
              </a:rPr>
              <a:t>H</a:t>
            </a:r>
            <a:r>
              <a:rPr lang="en-GB" sz="2000" b="1" baseline="-25000" dirty="0">
                <a:solidFill>
                  <a:schemeClr val="accent6">
                    <a:lumMod val="75000"/>
                  </a:schemeClr>
                </a:solidFill>
              </a:rPr>
              <a:t>6</a:t>
            </a:r>
          </a:p>
          <a:p>
            <a:pPr marL="342900" indent="-342900">
              <a:buFont typeface="Arial" panose="020B0604020202020204" pitchFamily="34" charset="0"/>
              <a:buChar char="•"/>
            </a:pPr>
            <a:endParaRPr lang="en-GB" sz="2000" b="1" baseline="-25000" dirty="0">
              <a:solidFill>
                <a:schemeClr val="accent6">
                  <a:lumMod val="75000"/>
                </a:schemeClr>
              </a:solidFill>
            </a:endParaRPr>
          </a:p>
          <a:p>
            <a:pPr marL="342900" indent="-342900">
              <a:buFont typeface="Arial" panose="020B0604020202020204" pitchFamily="34" charset="0"/>
              <a:buChar char="•"/>
            </a:pPr>
            <a:r>
              <a:rPr lang="en-GB" sz="2000" dirty="0"/>
              <a:t>Show a gradual variation in physical properties e.g. </a:t>
            </a:r>
            <a:r>
              <a:rPr lang="en-GB" sz="2000" b="1" dirty="0">
                <a:solidFill>
                  <a:schemeClr val="accent6">
                    <a:lumMod val="75000"/>
                  </a:schemeClr>
                </a:solidFill>
              </a:rPr>
              <a:t>increasing length of carbon chain for alkanes increases the boiling point; methane = -162</a:t>
            </a:r>
            <a:r>
              <a:rPr lang="en-GB" sz="2000" b="1" baseline="30000" dirty="0">
                <a:solidFill>
                  <a:schemeClr val="accent6">
                    <a:lumMod val="75000"/>
                  </a:schemeClr>
                </a:solidFill>
              </a:rPr>
              <a:t>o</a:t>
            </a:r>
            <a:r>
              <a:rPr lang="en-GB" sz="2000" b="1" dirty="0">
                <a:solidFill>
                  <a:schemeClr val="accent6">
                    <a:lumMod val="75000"/>
                  </a:schemeClr>
                </a:solidFill>
              </a:rPr>
              <a:t>C, ethane = -89</a:t>
            </a:r>
            <a:r>
              <a:rPr lang="en-GB" sz="2000" b="1" baseline="30000" dirty="0">
                <a:solidFill>
                  <a:schemeClr val="accent6">
                    <a:lumMod val="75000"/>
                  </a:schemeClr>
                </a:solidFill>
              </a:rPr>
              <a:t>o</a:t>
            </a:r>
            <a:r>
              <a:rPr lang="en-GB" sz="2000" b="1" dirty="0">
                <a:solidFill>
                  <a:schemeClr val="accent6">
                    <a:lumMod val="75000"/>
                  </a:schemeClr>
                </a:solidFill>
              </a:rPr>
              <a:t>C.</a:t>
            </a:r>
          </a:p>
          <a:p>
            <a:pPr marL="342900" indent="-342900">
              <a:buFont typeface="Arial" panose="020B0604020202020204" pitchFamily="34" charset="0"/>
              <a:buChar char="•"/>
            </a:pPr>
            <a:endParaRPr lang="en-GB" sz="2000" b="1" dirty="0">
              <a:solidFill>
                <a:schemeClr val="accent6">
                  <a:lumMod val="75000"/>
                </a:schemeClr>
              </a:solidFill>
            </a:endParaRPr>
          </a:p>
          <a:p>
            <a:pPr marL="342900" indent="-342900">
              <a:buFont typeface="Arial" panose="020B0604020202020204" pitchFamily="34" charset="0"/>
              <a:buChar char="•"/>
            </a:pPr>
            <a:r>
              <a:rPr lang="en-GB" sz="2000" dirty="0"/>
              <a:t>Have similar chemical properties</a:t>
            </a:r>
          </a:p>
        </p:txBody>
      </p:sp>
    </p:spTree>
    <p:extLst>
      <p:ext uri="{BB962C8B-B14F-4D97-AF65-F5344CB8AC3E}">
        <p14:creationId xmlns:p14="http://schemas.microsoft.com/office/powerpoint/2010/main" val="24156134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339650"/>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3200" b="1" dirty="0"/>
              <a:t>Fuels – Part 1</a:t>
            </a:r>
          </a:p>
          <a:p>
            <a:endParaRPr lang="en-US" sz="2800" b="1" dirty="0"/>
          </a:p>
          <a:p>
            <a:pPr marL="685800" lvl="1" indent="-342900">
              <a:buFont typeface="Arial" charset="0"/>
              <a:buChar char="•"/>
            </a:pPr>
            <a:r>
              <a:rPr lang="en-US" sz="2400" dirty="0">
                <a:solidFill>
                  <a:schemeClr val="tx1">
                    <a:lumMod val="50000"/>
                    <a:lumOff val="50000"/>
                  </a:schemeClr>
                </a:solidFill>
              </a:rPr>
              <a:t>Crude oil, hydrocarbons, alkanes and fractional distillation</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134652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970318"/>
          </a:xfrm>
          <a:prstGeom prst="rect">
            <a:avLst/>
          </a:prstGeom>
          <a:noFill/>
        </p:spPr>
        <p:txBody>
          <a:bodyPr wrap="square" rtlCol="0">
            <a:spAutoFit/>
          </a:bodyPr>
          <a:lstStyle/>
          <a:p>
            <a:pPr marL="457200" indent="-457200">
              <a:lnSpc>
                <a:spcPct val="150000"/>
              </a:lnSpc>
              <a:buAutoNum type="arabicPeriod"/>
            </a:pPr>
            <a:r>
              <a:rPr lang="en-GB" sz="2400" dirty="0"/>
              <a:t>Crude oil is a finite resource. What does finite mean?</a:t>
            </a:r>
          </a:p>
          <a:p>
            <a:pPr marL="457200" indent="-457200">
              <a:lnSpc>
                <a:spcPct val="150000"/>
              </a:lnSpc>
              <a:buAutoNum type="arabicPeriod"/>
            </a:pPr>
            <a:r>
              <a:rPr lang="en-GB" sz="2400" dirty="0"/>
              <a:t>What is crude oil?</a:t>
            </a:r>
          </a:p>
          <a:p>
            <a:pPr marL="457200" indent="-457200">
              <a:lnSpc>
                <a:spcPct val="150000"/>
              </a:lnSpc>
              <a:buAutoNum type="arabicPeriod"/>
            </a:pPr>
            <a:r>
              <a:rPr lang="en-GB" sz="2400" dirty="0"/>
              <a:t>What is the definition of a hydrocarbon?</a:t>
            </a:r>
          </a:p>
          <a:p>
            <a:pPr marL="457200" indent="-457200">
              <a:lnSpc>
                <a:spcPct val="150000"/>
              </a:lnSpc>
              <a:buFont typeface="+mj-lt"/>
              <a:buAutoNum type="arabicPeriod"/>
            </a:pPr>
            <a:r>
              <a:rPr lang="en-GB" sz="2400" dirty="0"/>
              <a:t>What is the general formula of the alkanes?</a:t>
            </a:r>
          </a:p>
          <a:p>
            <a:pPr marL="457200" indent="-457200">
              <a:lnSpc>
                <a:spcPct val="150000"/>
              </a:lnSpc>
              <a:buFont typeface="+mj-lt"/>
              <a:buAutoNum type="arabicPeriod"/>
            </a:pPr>
            <a:r>
              <a:rPr lang="en-GB" sz="2400" dirty="0"/>
              <a:t>What would be the formula of an alkane with nine carbons?</a:t>
            </a:r>
          </a:p>
          <a:p>
            <a:pPr marL="457200" indent="-457200">
              <a:lnSpc>
                <a:spcPct val="150000"/>
              </a:lnSpc>
              <a:buAutoNum type="arabicPeriod"/>
            </a:pP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3727179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0" i="0" u="none" strike="noStrike" kern="1200" cap="none" spc="0" normalizeH="0" baseline="0" noProof="0" dirty="0">
                <a:ln>
                  <a:noFill/>
                </a:ln>
                <a:solidFill>
                  <a:srgbClr val="F79646"/>
                </a:solidFill>
                <a:effectLst/>
                <a:uLnTx/>
                <a:uFillTx/>
                <a:latin typeface="Calibri"/>
                <a:ea typeface="+mj-ea"/>
              </a:rPr>
              <a:t>Crude oil, hydrocarbons and alkanes </a:t>
            </a:r>
            <a:r>
              <a:rPr lang="en-US" sz="1500" dirty="0">
                <a:solidFill>
                  <a:schemeClr val="accent6"/>
                </a:solidFill>
              </a:rPr>
              <a:t>-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6"/>
            </a:pPr>
            <a:r>
              <a:rPr lang="en-GB" sz="2400" dirty="0"/>
              <a:t>What do we call the many hydrocarbons in crude oil?</a:t>
            </a:r>
          </a:p>
          <a:p>
            <a:pPr marL="457200" indent="-457200">
              <a:buAutoNum type="arabicPeriod" startAt="6"/>
            </a:pPr>
            <a:endParaRPr lang="en-GB" sz="2400" dirty="0"/>
          </a:p>
          <a:p>
            <a:pPr marL="457200" indent="-457200">
              <a:buAutoNum type="arabicPeriod" startAt="6"/>
            </a:pPr>
            <a:r>
              <a:rPr lang="en-GB" sz="2400" dirty="0"/>
              <a:t>How can the hydrocarbons in crude oil be separated out?</a:t>
            </a:r>
          </a:p>
          <a:p>
            <a:pPr marL="457200" indent="-457200">
              <a:buAutoNum type="arabicPeriod" startAt="6"/>
            </a:pPr>
            <a:endParaRPr lang="en-GB" sz="2400" dirty="0"/>
          </a:p>
          <a:p>
            <a:pPr marL="457200" indent="-457200">
              <a:buAutoNum type="arabicPeriod" startAt="6"/>
            </a:pPr>
            <a:r>
              <a:rPr lang="en-GB" sz="2400" dirty="0"/>
              <a:t>List the following fractions from fractional distillation in order of boiling point (the fraction with the lowest boiling point should be first). </a:t>
            </a:r>
          </a:p>
          <a:p>
            <a:pPr lvl="1"/>
            <a:r>
              <a:rPr lang="en-GB" sz="2400" dirty="0"/>
              <a:t>Kerosene, diesel oil, heavy fuel oil, liquefied petroleum gases, petrol.</a:t>
            </a:r>
          </a:p>
          <a:p>
            <a:pPr lvl="1"/>
            <a:endParaRPr lang="en-GB" sz="2400" dirty="0"/>
          </a:p>
        </p:txBody>
      </p:sp>
    </p:spTree>
    <p:extLst>
      <p:ext uri="{BB962C8B-B14F-4D97-AF65-F5344CB8AC3E}">
        <p14:creationId xmlns:p14="http://schemas.microsoft.com/office/powerpoint/2010/main" val="425707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0" i="0" u="none" strike="noStrike" kern="1200" cap="none" spc="0" normalizeH="0" baseline="0" noProof="0" dirty="0">
                <a:ln>
                  <a:noFill/>
                </a:ln>
                <a:solidFill>
                  <a:srgbClr val="F79646"/>
                </a:solidFill>
                <a:effectLst/>
                <a:uLnTx/>
                <a:uFillTx/>
                <a:latin typeface="Calibri"/>
                <a:ea typeface="+mj-ea"/>
              </a:rPr>
              <a:t>Crude oil, hydrocarbons and alkanes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046988"/>
          </a:xfrm>
          <a:prstGeom prst="rect">
            <a:avLst/>
          </a:prstGeom>
          <a:noFill/>
        </p:spPr>
        <p:txBody>
          <a:bodyPr wrap="square" rtlCol="0">
            <a:spAutoFit/>
          </a:bodyPr>
          <a:lstStyle/>
          <a:p>
            <a:pPr marL="457200" indent="-457200">
              <a:buFont typeface="+mj-lt"/>
              <a:buAutoNum type="arabicPeriod" startAt="9"/>
            </a:pPr>
            <a:r>
              <a:rPr lang="en-GB" sz="2400" dirty="0"/>
              <a:t>How would you describe the boiling point, the viscosity and the flammability of a very large alkane molecule?</a:t>
            </a:r>
          </a:p>
          <a:p>
            <a:pPr marL="457200" indent="-457200">
              <a:buFont typeface="+mj-lt"/>
              <a:buAutoNum type="arabicPeriod" startAt="9"/>
            </a:pPr>
            <a:endParaRPr lang="en-GB" sz="2400" dirty="0"/>
          </a:p>
          <a:p>
            <a:pPr marL="457200" indent="-457200">
              <a:buAutoNum type="arabicPeriod" startAt="9"/>
            </a:pPr>
            <a:r>
              <a:rPr lang="en-GB" sz="2400" dirty="0"/>
              <a:t>State the uses of the following fractions of crude oil:</a:t>
            </a:r>
          </a:p>
          <a:p>
            <a:pPr marL="1828800" lvl="3" indent="-457200">
              <a:buFont typeface="+mj-lt"/>
              <a:buAutoNum type="alphaLcParenR"/>
            </a:pPr>
            <a:r>
              <a:rPr lang="en-GB" sz="2400" dirty="0"/>
              <a:t>Gases</a:t>
            </a:r>
          </a:p>
          <a:p>
            <a:pPr marL="1828800" lvl="3" indent="-457200">
              <a:buFont typeface="+mj-lt"/>
              <a:buAutoNum type="alphaLcParenR"/>
            </a:pPr>
            <a:r>
              <a:rPr lang="en-GB" sz="2400" dirty="0"/>
              <a:t>Kerosene</a:t>
            </a:r>
          </a:p>
          <a:p>
            <a:pPr marL="1828800" lvl="3" indent="-457200">
              <a:buFont typeface="+mj-lt"/>
              <a:buAutoNum type="alphaLcParenR"/>
            </a:pPr>
            <a:r>
              <a:rPr lang="en-GB" sz="2400" dirty="0"/>
              <a:t>Fuel oil</a:t>
            </a:r>
          </a:p>
          <a:p>
            <a:pPr marL="1828800" lvl="3" indent="-457200">
              <a:buFont typeface="+mj-lt"/>
              <a:buAutoNum type="alphaLcParenR"/>
            </a:pPr>
            <a:r>
              <a:rPr lang="en-GB" sz="2400" dirty="0"/>
              <a:t>Bitumen</a:t>
            </a:r>
          </a:p>
        </p:txBody>
      </p:sp>
    </p:spTree>
    <p:extLst>
      <p:ext uri="{BB962C8B-B14F-4D97-AF65-F5344CB8AC3E}">
        <p14:creationId xmlns:p14="http://schemas.microsoft.com/office/powerpoint/2010/main" val="22938806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33965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3200" b="1" dirty="0"/>
              <a:t>Fuels – Part 1</a:t>
            </a:r>
          </a:p>
          <a:p>
            <a:endParaRPr lang="en-US" sz="2800" b="1" dirty="0"/>
          </a:p>
          <a:p>
            <a:pPr marL="685800" lvl="1" indent="-342900">
              <a:buFont typeface="Arial" charset="0"/>
              <a:buChar char="•"/>
            </a:pPr>
            <a:r>
              <a:rPr lang="en-US" sz="2400" dirty="0">
                <a:solidFill>
                  <a:schemeClr val="tx1">
                    <a:lumMod val="50000"/>
                    <a:lumOff val="50000"/>
                  </a:schemeClr>
                </a:solidFill>
              </a:rPr>
              <a:t>Crude oil, hydrocarbons alkanes and fractional distillation</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8815725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AutoNum type="arabicPeriod"/>
            </a:pPr>
            <a:r>
              <a:rPr lang="en-GB" sz="2400" dirty="0"/>
              <a:t>Crude oil is a finite resource. What does finite mean?</a:t>
            </a:r>
          </a:p>
          <a:p>
            <a:pPr lvl="1"/>
            <a:r>
              <a:rPr lang="en-GB" sz="2400" dirty="0">
                <a:solidFill>
                  <a:srgbClr val="00B050"/>
                </a:solidFill>
              </a:rPr>
              <a:t>Being used up faster than it is being formed.</a:t>
            </a:r>
          </a:p>
          <a:p>
            <a:pPr lvl="1"/>
            <a:endParaRPr lang="en-GB" sz="2400" dirty="0"/>
          </a:p>
          <a:p>
            <a:pPr marL="457200" indent="-457200">
              <a:buAutoNum type="arabicPeriod"/>
            </a:pPr>
            <a:r>
              <a:rPr lang="en-GB" sz="2400" dirty="0"/>
              <a:t>What is crude oil?</a:t>
            </a:r>
          </a:p>
          <a:p>
            <a:pPr lvl="1"/>
            <a:r>
              <a:rPr lang="en-GB" sz="2400" dirty="0">
                <a:solidFill>
                  <a:srgbClr val="00B050"/>
                </a:solidFill>
              </a:rPr>
              <a:t>Mixture of a very large number of compounds, most of which are hydrocarbons. A finite resource containing molecules in which carbon atoms are in chains or rings and an important source of fuels and feedstock.</a:t>
            </a:r>
          </a:p>
          <a:p>
            <a:pPr lvl="1"/>
            <a:endParaRPr lang="en-GB" sz="2400" dirty="0"/>
          </a:p>
          <a:p>
            <a:pPr marL="457200" indent="-457200">
              <a:buAutoNum type="arabicPeriod"/>
            </a:pPr>
            <a:r>
              <a:rPr lang="en-GB" sz="2400" dirty="0"/>
              <a:t>What is the definition of a hydrocarbon?</a:t>
            </a:r>
          </a:p>
          <a:p>
            <a:pPr lvl="1"/>
            <a:r>
              <a:rPr lang="en-GB" sz="2400" dirty="0">
                <a:solidFill>
                  <a:srgbClr val="00B050"/>
                </a:solidFill>
              </a:rPr>
              <a:t>Compound containing hydrogen and carbon </a:t>
            </a:r>
            <a:r>
              <a:rPr lang="en-GB" sz="2400" u="sng" dirty="0">
                <a:solidFill>
                  <a:srgbClr val="00B050"/>
                </a:solidFill>
              </a:rPr>
              <a:t>only</a:t>
            </a:r>
            <a:r>
              <a:rPr lang="en-GB" sz="2400" dirty="0">
                <a:solidFill>
                  <a:srgbClr val="00B050"/>
                </a:solidFill>
              </a:rPr>
              <a:t>.</a:t>
            </a:r>
            <a:endParaRPr lang="en-GB" sz="2400" dirty="0"/>
          </a:p>
          <a:p>
            <a:pPr marL="457200" indent="-457200">
              <a:lnSpc>
                <a:spcPct val="150000"/>
              </a:lnSpc>
              <a:buAutoNum type="arabicPeriod"/>
            </a:pP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1565757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a:t>
            </a:r>
            <a:r>
              <a:rPr lang="en-US" sz="2400" b="1" kern="1200" dirty="0">
                <a:solidFill>
                  <a:schemeClr val="accent6"/>
                </a:solidFill>
                <a:latin typeface="Calibri"/>
                <a:ea typeface=""/>
                <a:cs typeface="News Gothic MT"/>
              </a:rPr>
              <a:t>– </a:t>
            </a:r>
            <a:r>
              <a:rPr lang="en-US" sz="2400" b="1" kern="1200" dirty="0" err="1">
                <a:solidFill>
                  <a:schemeClr val="tx1"/>
                </a:solidFill>
                <a:latin typeface="Calibri"/>
                <a:ea typeface=""/>
                <a:cs typeface="News Gothic MT"/>
              </a:rPr>
              <a:t>QuestionIT</a:t>
            </a:r>
            <a:endParaRPr kumimoji="0" lang="en-US" sz="24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170099"/>
          </a:xfrm>
          <a:prstGeom prst="rect">
            <a:avLst/>
          </a:prstGeom>
          <a:noFill/>
        </p:spPr>
        <p:txBody>
          <a:bodyPr wrap="square" rtlCol="0">
            <a:spAutoFit/>
          </a:bodyPr>
          <a:lstStyle/>
          <a:p>
            <a:pPr marL="457200" indent="-457200">
              <a:buFont typeface="+mj-lt"/>
              <a:buAutoNum type="arabicPeriod" startAt="4"/>
            </a:pPr>
            <a:r>
              <a:rPr lang="en-GB" sz="2400" dirty="0"/>
              <a:t>What is the general formula of the alkanes?</a:t>
            </a:r>
          </a:p>
          <a:p>
            <a:pPr lvl="1"/>
            <a:r>
              <a:rPr lang="en-GB" sz="2400" dirty="0">
                <a:solidFill>
                  <a:srgbClr val="00B050"/>
                </a:solidFill>
              </a:rPr>
              <a:t>C</a:t>
            </a:r>
            <a:r>
              <a:rPr lang="en-GB" sz="2400" baseline="-25000" dirty="0">
                <a:solidFill>
                  <a:srgbClr val="00B050"/>
                </a:solidFill>
              </a:rPr>
              <a:t>n</a:t>
            </a:r>
            <a:r>
              <a:rPr lang="en-GB" sz="2400" dirty="0">
                <a:solidFill>
                  <a:srgbClr val="00B050"/>
                </a:solidFill>
              </a:rPr>
              <a:t>H</a:t>
            </a:r>
            <a:r>
              <a:rPr lang="en-GB" sz="2400" baseline="-25000" dirty="0">
                <a:solidFill>
                  <a:srgbClr val="00B050"/>
                </a:solidFill>
              </a:rPr>
              <a:t>2n+2</a:t>
            </a:r>
          </a:p>
          <a:p>
            <a:pPr lvl="1"/>
            <a:endParaRPr lang="en-GB" sz="2400" baseline="-25000" dirty="0">
              <a:solidFill>
                <a:srgbClr val="00B050"/>
              </a:solidFill>
            </a:endParaRPr>
          </a:p>
          <a:p>
            <a:pPr lvl="1"/>
            <a:endParaRPr lang="en-GB" sz="2400" baseline="-25000" dirty="0"/>
          </a:p>
          <a:p>
            <a:pPr marL="457200" indent="-457200">
              <a:buFont typeface="+mj-lt"/>
              <a:buAutoNum type="arabicPeriod" startAt="4"/>
            </a:pPr>
            <a:r>
              <a:rPr lang="en-GB" sz="2400" dirty="0"/>
              <a:t>What would be the formula of an alkane with nine carbons?</a:t>
            </a:r>
          </a:p>
          <a:p>
            <a:pPr lvl="1"/>
            <a:r>
              <a:rPr lang="en-GB" sz="2400" dirty="0">
                <a:solidFill>
                  <a:srgbClr val="00B050"/>
                </a:solidFill>
              </a:rPr>
              <a:t>C</a:t>
            </a:r>
            <a:r>
              <a:rPr lang="en-GB" sz="2400" baseline="-25000" dirty="0">
                <a:solidFill>
                  <a:srgbClr val="00B050"/>
                </a:solidFill>
              </a:rPr>
              <a:t>9</a:t>
            </a:r>
            <a:r>
              <a:rPr lang="en-GB" sz="2400" dirty="0">
                <a:solidFill>
                  <a:srgbClr val="00B050"/>
                </a:solidFill>
              </a:rPr>
              <a:t>H</a:t>
            </a:r>
            <a:r>
              <a:rPr lang="en-GB" sz="2400" baseline="-25000" dirty="0">
                <a:solidFill>
                  <a:srgbClr val="00B050"/>
                </a:solidFill>
              </a:rPr>
              <a:t>20</a:t>
            </a:r>
            <a:endParaRPr lang="en-GB" sz="2400" baseline="-25000" dirty="0"/>
          </a:p>
          <a:p>
            <a:pPr marL="457200" indent="-457200">
              <a:lnSpc>
                <a:spcPct val="150000"/>
              </a:lnSpc>
              <a:buAutoNum type="arabicPeriod" startAt="4"/>
            </a:pP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27632891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sz="2400" dirty="0">
                <a:solidFill>
                  <a:schemeClr val="accent6"/>
                </a:solidFill>
              </a:rPr>
              <a:t>Crude oil, hydrocarbons and alkanes </a:t>
            </a:r>
            <a:r>
              <a:rPr lang="en-US" sz="1500" dirty="0">
                <a:solidFill>
                  <a:schemeClr val="accent6"/>
                </a:solidFill>
              </a:rPr>
              <a:t>-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Font typeface="+mj-lt"/>
              <a:buAutoNum type="arabicPeriod" startAt="6"/>
            </a:pPr>
            <a:r>
              <a:rPr lang="en-GB" sz="2400" dirty="0"/>
              <a:t>What do we call the many hydrocarbons in crude oil?</a:t>
            </a:r>
          </a:p>
          <a:p>
            <a:pPr lvl="1"/>
            <a:r>
              <a:rPr lang="en-GB" sz="2400" dirty="0">
                <a:solidFill>
                  <a:srgbClr val="00B050"/>
                </a:solidFill>
              </a:rPr>
              <a:t>Fractions.</a:t>
            </a:r>
          </a:p>
          <a:p>
            <a:pPr lvl="1"/>
            <a:endParaRPr lang="en-GB" sz="2400" dirty="0"/>
          </a:p>
          <a:p>
            <a:pPr marL="457200" indent="-457200">
              <a:buAutoNum type="arabicPeriod" startAt="6"/>
            </a:pPr>
            <a:r>
              <a:rPr lang="en-GB" sz="2400" dirty="0"/>
              <a:t>How can the hydrocarbons in crude oil be separated out?</a:t>
            </a:r>
          </a:p>
          <a:p>
            <a:pPr lvl="1"/>
            <a:r>
              <a:rPr lang="en-GB" sz="2400" dirty="0">
                <a:solidFill>
                  <a:srgbClr val="00B050"/>
                </a:solidFill>
              </a:rPr>
              <a:t>Fractional distillation.</a:t>
            </a:r>
          </a:p>
          <a:p>
            <a:pPr lvl="1"/>
            <a:endParaRPr lang="en-GB" sz="2400" dirty="0"/>
          </a:p>
          <a:p>
            <a:pPr marL="457200" indent="-457200">
              <a:buAutoNum type="arabicPeriod" startAt="6"/>
            </a:pPr>
            <a:r>
              <a:rPr lang="en-GB" sz="2400" dirty="0"/>
              <a:t>List the following fractions from fractional distillation in order of boiling point (the fraction with the lowest boiling point should be first). </a:t>
            </a:r>
          </a:p>
          <a:p>
            <a:pPr lvl="1"/>
            <a:r>
              <a:rPr lang="en-GB" sz="2400" dirty="0"/>
              <a:t>Kerosene, diesel oil, heavy fuel oil, liquefied petroleum gases, petrol.</a:t>
            </a:r>
          </a:p>
          <a:p>
            <a:pPr lvl="1"/>
            <a:r>
              <a:rPr lang="en-GB" sz="2400" dirty="0">
                <a:solidFill>
                  <a:srgbClr val="00B050"/>
                </a:solidFill>
              </a:rPr>
              <a:t>LPG, petrol, diesel oil, kerosene, heavy fuel oil</a:t>
            </a:r>
            <a:endParaRPr lang="en-GB" sz="2400" dirty="0"/>
          </a:p>
        </p:txBody>
      </p:sp>
    </p:spTree>
    <p:extLst>
      <p:ext uri="{BB962C8B-B14F-4D97-AF65-F5344CB8AC3E}">
        <p14:creationId xmlns:p14="http://schemas.microsoft.com/office/powerpoint/2010/main" val="42001654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kumimoji="0" lang="en-US" sz="2400" b="0" i="0" u="none" strike="noStrike" kern="1200" cap="none" spc="0" normalizeH="0" baseline="0" noProof="0" dirty="0">
                <a:ln>
                  <a:noFill/>
                </a:ln>
                <a:solidFill>
                  <a:srgbClr val="F79646"/>
                </a:solidFill>
                <a:effectLst/>
                <a:uLnTx/>
                <a:uFillTx/>
                <a:latin typeface="Calibri"/>
                <a:ea typeface="+mj-ea"/>
              </a:rPr>
              <a:t>Crude oil, hydrocarbons and alkanes </a:t>
            </a:r>
            <a:r>
              <a:rPr lang="en-US" sz="1500" dirty="0">
                <a:solidFill>
                  <a:schemeClr val="accent6"/>
                </a:solidFill>
              </a:rPr>
              <a:t>-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524315"/>
          </a:xfrm>
          <a:prstGeom prst="rect">
            <a:avLst/>
          </a:prstGeom>
          <a:noFill/>
        </p:spPr>
        <p:txBody>
          <a:bodyPr wrap="square" rtlCol="0">
            <a:spAutoFit/>
          </a:bodyPr>
          <a:lstStyle/>
          <a:p>
            <a:pPr marL="457200" indent="-457200">
              <a:buFont typeface="+mj-lt"/>
              <a:buAutoNum type="arabicPeriod" startAt="9"/>
            </a:pPr>
            <a:r>
              <a:rPr lang="en-GB" sz="2400" dirty="0"/>
              <a:t>How would you describe the boiling point, the viscosity and the flammability of a very large alkane molecule?</a:t>
            </a:r>
          </a:p>
          <a:p>
            <a:pPr lvl="1"/>
            <a:r>
              <a:rPr lang="en-GB" sz="2400" dirty="0">
                <a:solidFill>
                  <a:srgbClr val="00B050"/>
                </a:solidFill>
              </a:rPr>
              <a:t>High boiling point, high viscosity, low flammability.</a:t>
            </a:r>
          </a:p>
          <a:p>
            <a:pPr lvl="1"/>
            <a:endParaRPr lang="en-GB" sz="2400" dirty="0"/>
          </a:p>
          <a:p>
            <a:pPr marL="457200" indent="-457200">
              <a:buAutoNum type="arabicPeriod" startAt="9"/>
            </a:pPr>
            <a:r>
              <a:rPr lang="en-GB" sz="2400" dirty="0"/>
              <a:t>State the uses of the following fractions of crude oil:</a:t>
            </a:r>
          </a:p>
          <a:p>
            <a:pPr marL="1828800" lvl="3" indent="-457200">
              <a:buFont typeface="+mj-lt"/>
              <a:buAutoNum type="alphaLcParenR"/>
            </a:pPr>
            <a:r>
              <a:rPr lang="en-GB" sz="2400" dirty="0"/>
              <a:t>Gases		</a:t>
            </a:r>
            <a:r>
              <a:rPr lang="en-GB" sz="2400" dirty="0">
                <a:solidFill>
                  <a:srgbClr val="00B050"/>
                </a:solidFill>
              </a:rPr>
              <a:t>heating and cooking</a:t>
            </a:r>
            <a:endParaRPr lang="en-GB" sz="2400" dirty="0"/>
          </a:p>
          <a:p>
            <a:pPr marL="1828800" lvl="3" indent="-457200">
              <a:buFont typeface="+mj-lt"/>
              <a:buAutoNum type="alphaLcParenR"/>
            </a:pPr>
            <a:r>
              <a:rPr lang="en-GB" sz="2400" dirty="0"/>
              <a:t>Kerosene	</a:t>
            </a:r>
            <a:r>
              <a:rPr lang="en-GB" sz="2400" dirty="0">
                <a:solidFill>
                  <a:srgbClr val="00B050"/>
                </a:solidFill>
              </a:rPr>
              <a:t>fuel for aircraft</a:t>
            </a:r>
            <a:endParaRPr lang="en-GB" sz="2400" dirty="0"/>
          </a:p>
          <a:p>
            <a:pPr marL="1828800" lvl="3" indent="-457200">
              <a:buFont typeface="+mj-lt"/>
              <a:buAutoNum type="alphaLcParenR"/>
            </a:pPr>
            <a:r>
              <a:rPr lang="en-GB" sz="2400" dirty="0"/>
              <a:t>Fuel oil		</a:t>
            </a:r>
            <a:r>
              <a:rPr lang="en-GB" sz="2400" dirty="0">
                <a:solidFill>
                  <a:srgbClr val="00B050"/>
                </a:solidFill>
              </a:rPr>
              <a:t>Fuel for large ships and power stations</a:t>
            </a:r>
            <a:endParaRPr lang="en-GB" sz="2400" dirty="0"/>
          </a:p>
          <a:p>
            <a:pPr marL="1828800" lvl="3" indent="-457200">
              <a:buFont typeface="+mj-lt"/>
              <a:buAutoNum type="alphaLcParenR"/>
            </a:pPr>
            <a:r>
              <a:rPr lang="en-GB" sz="2400" dirty="0"/>
              <a:t>Bitumen	</a:t>
            </a:r>
            <a:r>
              <a:rPr lang="en-GB" sz="2400" dirty="0">
                <a:solidFill>
                  <a:srgbClr val="00B050"/>
                </a:solidFill>
              </a:rPr>
              <a:t>surface roads and roofs</a:t>
            </a:r>
            <a:endParaRPr lang="en-GB" sz="2400" dirty="0"/>
          </a:p>
          <a:p>
            <a:pPr marL="457200" indent="-457200">
              <a:buFont typeface="+mj-lt"/>
              <a:buAutoNum type="arabicPeriod" startAt="9"/>
            </a:pPr>
            <a:endParaRPr lang="en-GB" sz="2400" dirty="0"/>
          </a:p>
          <a:p>
            <a:pPr lvl="1"/>
            <a:endParaRPr lang="en-GB" sz="2400" dirty="0"/>
          </a:p>
          <a:p>
            <a:pPr lvl="1"/>
            <a:endParaRPr lang="en-GB" sz="2400" dirty="0"/>
          </a:p>
        </p:txBody>
      </p:sp>
    </p:spTree>
    <p:extLst>
      <p:ext uri="{BB962C8B-B14F-4D97-AF65-F5344CB8AC3E}">
        <p14:creationId xmlns:p14="http://schemas.microsoft.com/office/powerpoint/2010/main" val="36125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3491880" cy="5324535"/>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3200" b="1" dirty="0"/>
              <a:t>Fuels – Part 2</a:t>
            </a:r>
          </a:p>
          <a:p>
            <a:endParaRPr lang="en-US" sz="2800" b="1" dirty="0"/>
          </a:p>
          <a:p>
            <a:pPr marL="685800" lvl="1" indent="-342900">
              <a:buFont typeface="Arial" charset="0"/>
              <a:buChar char="•"/>
            </a:pPr>
            <a:r>
              <a:rPr lang="en-US" sz="2400" dirty="0">
                <a:solidFill>
                  <a:schemeClr val="tx1">
                    <a:lumMod val="50000"/>
                    <a:lumOff val="50000"/>
                  </a:schemeClr>
                </a:solidFill>
              </a:rPr>
              <a:t>Combustion and </a:t>
            </a:r>
          </a:p>
          <a:p>
            <a:pPr marL="800100" lvl="2"/>
            <a:r>
              <a:rPr lang="en-US" sz="2400" dirty="0">
                <a:solidFill>
                  <a:schemeClr val="tx1">
                    <a:lumMod val="50000"/>
                    <a:lumOff val="50000"/>
                  </a:schemeClr>
                </a:solidFill>
              </a:rPr>
              <a:t>pollution</a:t>
            </a:r>
          </a:p>
          <a:p>
            <a:pPr>
              <a:lnSpc>
                <a:spcPct val="150000"/>
              </a:lnSpc>
            </a:pPr>
            <a:endParaRPr lang="en-GB" sz="2000" b="1" dirty="0">
              <a:solidFill>
                <a:schemeClr val="tx1">
                  <a:lumMod val="50000"/>
                  <a:lumOff val="50000"/>
                </a:schemeClr>
              </a:solidFill>
            </a:endParaRPr>
          </a:p>
          <a:p>
            <a:endParaRPr lang="en-GB" sz="2000" b="1" dirty="0">
              <a:solidFill>
                <a:schemeClr val="tx1">
                  <a:lumMod val="50000"/>
                  <a:lumOff val="50000"/>
                </a:schemeClr>
              </a:solidFill>
            </a:endParaRPr>
          </a:p>
          <a:p>
            <a:endParaRPr lang="en-GB" sz="2000" dirty="0"/>
          </a:p>
        </p:txBody>
      </p:sp>
    </p:spTree>
    <p:extLst>
      <p:ext uri="{BB962C8B-B14F-4D97-AF65-F5344CB8AC3E}">
        <p14:creationId xmlns:p14="http://schemas.microsoft.com/office/powerpoint/2010/main" val="19818674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Common atmospheric pollutants and their sources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251520" y="1048960"/>
            <a:ext cx="8640960" cy="5016758"/>
          </a:xfrm>
          <a:custGeom>
            <a:avLst/>
            <a:gdLst>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1200329 h 1200329"/>
              <a:gd name="connsiteX4" fmla="*/ 0 w 8640960"/>
              <a:gd name="connsiteY4" fmla="*/ 0 h 1200329"/>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916994 h 1200329"/>
              <a:gd name="connsiteX4" fmla="*/ 0 w 8640960"/>
              <a:gd name="connsiteY4" fmla="*/ 0 h 1200329"/>
              <a:gd name="connsiteX0" fmla="*/ 0 w 8640960"/>
              <a:gd name="connsiteY0" fmla="*/ 0 h 916994"/>
              <a:gd name="connsiteX1" fmla="*/ 8640960 w 8640960"/>
              <a:gd name="connsiteY1" fmla="*/ 0 h 916994"/>
              <a:gd name="connsiteX2" fmla="*/ 8640960 w 8640960"/>
              <a:gd name="connsiteY2" fmla="*/ 904115 h 916994"/>
              <a:gd name="connsiteX3" fmla="*/ 0 w 8640960"/>
              <a:gd name="connsiteY3" fmla="*/ 916994 h 916994"/>
              <a:gd name="connsiteX4" fmla="*/ 0 w 8640960"/>
              <a:gd name="connsiteY4" fmla="*/ 0 h 916994"/>
              <a:gd name="connsiteX0" fmla="*/ 0 w 8653838"/>
              <a:gd name="connsiteY0" fmla="*/ 0 h 929873"/>
              <a:gd name="connsiteX1" fmla="*/ 8640960 w 8653838"/>
              <a:gd name="connsiteY1" fmla="*/ 0 h 929873"/>
              <a:gd name="connsiteX2" fmla="*/ 8653838 w 8653838"/>
              <a:gd name="connsiteY2" fmla="*/ 929873 h 929873"/>
              <a:gd name="connsiteX3" fmla="*/ 0 w 8653838"/>
              <a:gd name="connsiteY3" fmla="*/ 916994 h 929873"/>
              <a:gd name="connsiteX4" fmla="*/ 0 w 8653838"/>
              <a:gd name="connsiteY4" fmla="*/ 0 h 929873"/>
              <a:gd name="connsiteX0" fmla="*/ 0 w 8640960"/>
              <a:gd name="connsiteY0" fmla="*/ 0 h 929873"/>
              <a:gd name="connsiteX1" fmla="*/ 8640960 w 8640960"/>
              <a:gd name="connsiteY1" fmla="*/ 0 h 929873"/>
              <a:gd name="connsiteX2" fmla="*/ 8640960 w 8640960"/>
              <a:gd name="connsiteY2" fmla="*/ 929873 h 929873"/>
              <a:gd name="connsiteX3" fmla="*/ 0 w 8640960"/>
              <a:gd name="connsiteY3" fmla="*/ 916994 h 929873"/>
              <a:gd name="connsiteX4" fmla="*/ 0 w 8640960"/>
              <a:gd name="connsiteY4" fmla="*/ 0 h 929873"/>
              <a:gd name="connsiteX0" fmla="*/ 0 w 8640960"/>
              <a:gd name="connsiteY0" fmla="*/ 0 h 929873"/>
              <a:gd name="connsiteX1" fmla="*/ 8640960 w 8640960"/>
              <a:gd name="connsiteY1" fmla="*/ 0 h 929873"/>
              <a:gd name="connsiteX2" fmla="*/ 8640960 w 8640960"/>
              <a:gd name="connsiteY2" fmla="*/ 929873 h 929873"/>
              <a:gd name="connsiteX3" fmla="*/ 0 w 8640960"/>
              <a:gd name="connsiteY3" fmla="*/ 697499 h 929873"/>
              <a:gd name="connsiteX4" fmla="*/ 0 w 8640960"/>
              <a:gd name="connsiteY4" fmla="*/ 0 h 929873"/>
              <a:gd name="connsiteX0" fmla="*/ 0 w 8640960"/>
              <a:gd name="connsiteY0" fmla="*/ 0 h 697499"/>
              <a:gd name="connsiteX1" fmla="*/ 8640960 w 8640960"/>
              <a:gd name="connsiteY1" fmla="*/ 0 h 697499"/>
              <a:gd name="connsiteX2" fmla="*/ 8640960 w 8640960"/>
              <a:gd name="connsiteY2" fmla="*/ 690424 h 697499"/>
              <a:gd name="connsiteX3" fmla="*/ 0 w 8640960"/>
              <a:gd name="connsiteY3" fmla="*/ 697499 h 697499"/>
              <a:gd name="connsiteX4" fmla="*/ 0 w 8640960"/>
              <a:gd name="connsiteY4" fmla="*/ 0 h 6974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40960" h="697499">
                <a:moveTo>
                  <a:pt x="0" y="0"/>
                </a:moveTo>
                <a:lnTo>
                  <a:pt x="8640960" y="0"/>
                </a:lnTo>
                <a:lnTo>
                  <a:pt x="8640960" y="690424"/>
                </a:lnTo>
                <a:lnTo>
                  <a:pt x="0" y="697499"/>
                </a:lnTo>
                <a:lnTo>
                  <a:pt x="0" y="0"/>
                </a:lnTo>
                <a:close/>
              </a:path>
            </a:pathLst>
          </a:custGeom>
          <a:noFill/>
          <a:ln w="28575">
            <a:solidFill>
              <a:schemeClr val="accent6"/>
            </a:solidFill>
          </a:ln>
        </p:spPr>
        <p:txBody>
          <a:bodyPr wrap="square" rtlCol="0">
            <a:spAutoFit/>
          </a:bodyPr>
          <a:lstStyle/>
          <a:p>
            <a:r>
              <a:rPr lang="en-GB" sz="2000" dirty="0"/>
              <a:t>The </a:t>
            </a:r>
            <a:r>
              <a:rPr lang="en-GB" sz="2000" b="1" dirty="0">
                <a:solidFill>
                  <a:schemeClr val="accent6">
                    <a:lumMod val="75000"/>
                  </a:schemeClr>
                </a:solidFill>
              </a:rPr>
              <a:t>complete combustion </a:t>
            </a:r>
            <a:r>
              <a:rPr lang="en-GB" sz="2000" dirty="0"/>
              <a:t>of hydrocarbons as fuels </a:t>
            </a:r>
            <a:r>
              <a:rPr lang="en-GB" sz="2000" b="1" dirty="0">
                <a:solidFill>
                  <a:schemeClr val="accent6">
                    <a:lumMod val="75000"/>
                  </a:schemeClr>
                </a:solidFill>
              </a:rPr>
              <a:t>releases energy </a:t>
            </a:r>
            <a:r>
              <a:rPr lang="en-GB" sz="2000" dirty="0"/>
              <a:t>and </a:t>
            </a:r>
            <a:r>
              <a:rPr lang="en-GB" sz="2000" b="1" dirty="0">
                <a:solidFill>
                  <a:schemeClr val="accent6">
                    <a:lumMod val="75000"/>
                  </a:schemeClr>
                </a:solidFill>
              </a:rPr>
              <a:t>produces carbon dioxide and water</a:t>
            </a:r>
            <a:r>
              <a:rPr lang="en-GB" sz="2000" dirty="0"/>
              <a:t>.</a:t>
            </a:r>
          </a:p>
          <a:p>
            <a:pPr algn="ctr"/>
            <a:endParaRPr lang="en-GB" sz="2000" dirty="0"/>
          </a:p>
          <a:p>
            <a:pPr algn="ctr"/>
            <a:endParaRPr lang="en-GB" sz="2000" dirty="0"/>
          </a:p>
          <a:p>
            <a:pPr algn="ctr"/>
            <a:endParaRPr lang="en-GB" sz="2000" dirty="0"/>
          </a:p>
          <a:p>
            <a:pPr algn="ctr"/>
            <a:endParaRPr lang="en-GB" sz="2000" dirty="0"/>
          </a:p>
          <a:p>
            <a:r>
              <a:rPr lang="en-GB" sz="2000" b="1" dirty="0">
                <a:solidFill>
                  <a:schemeClr val="accent6">
                    <a:lumMod val="75000"/>
                  </a:schemeClr>
                </a:solidFill>
              </a:rPr>
              <a:t>Incomplete combustion </a:t>
            </a:r>
            <a:r>
              <a:rPr lang="en-GB" sz="2000" dirty="0"/>
              <a:t>occurs when there is a </a:t>
            </a:r>
            <a:r>
              <a:rPr lang="en-GB" sz="2000" b="1" dirty="0">
                <a:solidFill>
                  <a:schemeClr val="accent6">
                    <a:lumMod val="75000"/>
                  </a:schemeClr>
                </a:solidFill>
              </a:rPr>
              <a:t>lack of oxygen</a:t>
            </a:r>
            <a:r>
              <a:rPr lang="en-GB" sz="2000" dirty="0"/>
              <a:t>, consequently producing </a:t>
            </a:r>
            <a:r>
              <a:rPr lang="en-GB" sz="2000" b="1" dirty="0">
                <a:solidFill>
                  <a:schemeClr val="accent6">
                    <a:lumMod val="75000"/>
                  </a:schemeClr>
                </a:solidFill>
              </a:rPr>
              <a:t>carbon monoxide </a:t>
            </a:r>
            <a:r>
              <a:rPr lang="en-GB" sz="2000" dirty="0"/>
              <a:t>and </a:t>
            </a:r>
            <a:r>
              <a:rPr lang="en-GB" sz="2000" b="1" dirty="0">
                <a:solidFill>
                  <a:schemeClr val="accent6">
                    <a:lumMod val="75000"/>
                  </a:schemeClr>
                </a:solidFill>
              </a:rPr>
              <a:t>carbon (soot)</a:t>
            </a:r>
            <a:r>
              <a:rPr lang="en-GB" sz="2000" dirty="0"/>
              <a:t> rather than carbon dioxide.</a:t>
            </a:r>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p:txBody>
      </p:sp>
      <p:pic>
        <p:nvPicPr>
          <p:cNvPr id="7" name="irc_mi" descr="Image result for bunsen flames blue orange">
            <a:hlinkClick r:id="rId2"/>
          </p:cNvPr>
          <p:cNvPicPr/>
          <p:nvPr/>
        </p:nvPicPr>
        <p:blipFill rotWithShape="1">
          <a:blip r:embed="rId3" cstate="print">
            <a:extLst>
              <a:ext uri="{28A0092B-C50C-407E-A947-70E740481C1C}">
                <a14:useLocalDpi xmlns:a14="http://schemas.microsoft.com/office/drawing/2010/main" val="0"/>
              </a:ext>
            </a:extLst>
          </a:blip>
          <a:srcRect l="5966" r="75580" b="7692"/>
          <a:stretch/>
        </p:blipFill>
        <p:spPr bwMode="auto">
          <a:xfrm>
            <a:off x="8002416" y="3822247"/>
            <a:ext cx="672653" cy="1656886"/>
          </a:xfrm>
          <a:prstGeom prst="rect">
            <a:avLst/>
          </a:prstGeom>
          <a:noFill/>
          <a:ln>
            <a:noFill/>
          </a:ln>
          <a:extLst>
            <a:ext uri="{53640926-AAD7-44D8-BBD7-CCE9431645EC}">
              <a14:shadowObscured xmlns:a14="http://schemas.microsoft.com/office/drawing/2010/main"/>
            </a:ext>
          </a:extLst>
        </p:spPr>
      </p:pic>
      <p:pic>
        <p:nvPicPr>
          <p:cNvPr id="8" name="irc_mi" descr="Image result for bunsen flames blue orange">
            <a:hlinkClick r:id="rId2"/>
          </p:cNvPr>
          <p:cNvPicPr/>
          <p:nvPr/>
        </p:nvPicPr>
        <p:blipFill rotWithShape="1">
          <a:blip r:embed="rId4" cstate="print">
            <a:extLst>
              <a:ext uri="{28A0092B-C50C-407E-A947-70E740481C1C}">
                <a14:useLocalDpi xmlns:a14="http://schemas.microsoft.com/office/drawing/2010/main" val="0"/>
              </a:ext>
            </a:extLst>
          </a:blip>
          <a:srcRect l="68258" r="14671" b="7818"/>
          <a:stretch/>
        </p:blipFill>
        <p:spPr bwMode="auto">
          <a:xfrm>
            <a:off x="7956376" y="1268760"/>
            <a:ext cx="669406" cy="1656886"/>
          </a:xfrm>
          <a:prstGeom prst="rect">
            <a:avLst/>
          </a:prstGeom>
          <a:noFill/>
          <a:ln>
            <a:noFill/>
          </a:ln>
          <a:extLst>
            <a:ext uri="{53640926-AAD7-44D8-BBD7-CCE9431645EC}">
              <a14:shadowObscured xmlns:a14="http://schemas.microsoft.com/office/drawing/2010/main"/>
            </a:ext>
          </a:extLst>
        </p:spPr>
      </p:pic>
      <p:sp>
        <p:nvSpPr>
          <p:cNvPr id="5" name="TextBox 4"/>
          <p:cNvSpPr txBox="1"/>
          <p:nvPr/>
        </p:nvSpPr>
        <p:spPr>
          <a:xfrm>
            <a:off x="2339752" y="1988840"/>
            <a:ext cx="3024336" cy="461665"/>
          </a:xfrm>
          <a:prstGeom prst="rect">
            <a:avLst/>
          </a:prstGeom>
          <a:noFill/>
        </p:spPr>
        <p:txBody>
          <a:bodyPr wrap="square" rtlCol="0">
            <a:spAutoFit/>
          </a:bodyPr>
          <a:lstStyle/>
          <a:p>
            <a:r>
              <a:rPr lang="en-GB" sz="2400" b="1" dirty="0">
                <a:solidFill>
                  <a:schemeClr val="accent6">
                    <a:lumMod val="75000"/>
                  </a:schemeClr>
                </a:solidFill>
              </a:rPr>
              <a:t>CH</a:t>
            </a:r>
            <a:r>
              <a:rPr lang="en-GB" sz="2400" b="1" baseline="-25000" dirty="0">
                <a:solidFill>
                  <a:schemeClr val="accent6">
                    <a:lumMod val="75000"/>
                  </a:schemeClr>
                </a:solidFill>
              </a:rPr>
              <a:t>4</a:t>
            </a:r>
            <a:r>
              <a:rPr lang="en-GB" sz="2400" b="1" dirty="0">
                <a:solidFill>
                  <a:schemeClr val="accent6">
                    <a:lumMod val="75000"/>
                  </a:schemeClr>
                </a:solidFill>
              </a:rPr>
              <a:t> + O</a:t>
            </a:r>
            <a:r>
              <a:rPr lang="en-GB" sz="2400" b="1" baseline="-25000" dirty="0">
                <a:solidFill>
                  <a:schemeClr val="accent6">
                    <a:lumMod val="75000"/>
                  </a:schemeClr>
                </a:solidFill>
              </a:rPr>
              <a:t>2</a:t>
            </a:r>
            <a:r>
              <a:rPr lang="en-GB" sz="2400" b="1" dirty="0">
                <a:solidFill>
                  <a:schemeClr val="accent6">
                    <a:lumMod val="75000"/>
                  </a:schemeClr>
                </a:solidFill>
              </a:rPr>
              <a:t> </a:t>
            </a:r>
            <a:r>
              <a:rPr lang="en-US" sz="2400" b="1" dirty="0">
                <a:solidFill>
                  <a:schemeClr val="accent6">
                    <a:lumMod val="75000"/>
                  </a:schemeClr>
                </a:solidFill>
                <a:sym typeface="Wingdings"/>
              </a:rPr>
              <a:t></a:t>
            </a:r>
            <a:r>
              <a:rPr lang="en-GB" sz="2400" b="1" dirty="0">
                <a:solidFill>
                  <a:schemeClr val="accent6">
                    <a:lumMod val="75000"/>
                  </a:schemeClr>
                </a:solidFill>
              </a:rPr>
              <a:t> H</a:t>
            </a:r>
            <a:r>
              <a:rPr lang="en-GB" sz="2400" b="1" baseline="-25000" dirty="0">
                <a:solidFill>
                  <a:schemeClr val="accent6">
                    <a:lumMod val="75000"/>
                  </a:schemeClr>
                </a:solidFill>
              </a:rPr>
              <a:t>2</a:t>
            </a:r>
            <a:r>
              <a:rPr lang="en-GB" sz="2400" b="1" dirty="0">
                <a:solidFill>
                  <a:schemeClr val="accent6">
                    <a:lumMod val="75000"/>
                  </a:schemeClr>
                </a:solidFill>
              </a:rPr>
              <a:t>O + CO</a:t>
            </a:r>
            <a:r>
              <a:rPr lang="en-GB" sz="2400" b="1" baseline="-25000" dirty="0">
                <a:solidFill>
                  <a:schemeClr val="accent6">
                    <a:lumMod val="75000"/>
                  </a:schemeClr>
                </a:solidFill>
              </a:rPr>
              <a:t>2</a:t>
            </a:r>
          </a:p>
        </p:txBody>
      </p:sp>
      <p:sp>
        <p:nvSpPr>
          <p:cNvPr id="6" name="TextBox 5"/>
          <p:cNvSpPr txBox="1"/>
          <p:nvPr/>
        </p:nvSpPr>
        <p:spPr>
          <a:xfrm>
            <a:off x="4046274" y="3882912"/>
            <a:ext cx="3675611" cy="1938992"/>
          </a:xfrm>
          <a:prstGeom prst="rect">
            <a:avLst/>
          </a:prstGeom>
          <a:noFill/>
        </p:spPr>
        <p:txBody>
          <a:bodyPr wrap="square" rtlCol="0">
            <a:spAutoFit/>
          </a:bodyPr>
          <a:lstStyle/>
          <a:p>
            <a:r>
              <a:rPr lang="en-GB" sz="2000" dirty="0"/>
              <a:t>Appliances, such as domestic boilers, can carry out incomplete combustion if there is insufficient oxygen. </a:t>
            </a:r>
            <a:r>
              <a:rPr lang="en-GB" sz="2000" b="1" dirty="0">
                <a:solidFill>
                  <a:schemeClr val="accent6">
                    <a:lumMod val="75000"/>
                  </a:schemeClr>
                </a:solidFill>
              </a:rPr>
              <a:t>Soot</a:t>
            </a:r>
            <a:r>
              <a:rPr lang="en-GB" sz="2000" dirty="0"/>
              <a:t> will build up inside the appliance and </a:t>
            </a:r>
            <a:r>
              <a:rPr lang="en-GB" sz="2000" b="1" dirty="0">
                <a:solidFill>
                  <a:schemeClr val="accent6">
                    <a:lumMod val="75000"/>
                  </a:schemeClr>
                </a:solidFill>
              </a:rPr>
              <a:t>toxic carbon monoxide</a:t>
            </a:r>
            <a:r>
              <a:rPr lang="en-GB" sz="2000" dirty="0"/>
              <a:t> will be released.</a:t>
            </a:r>
          </a:p>
        </p:txBody>
      </p:sp>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8113" y="4005064"/>
            <a:ext cx="3401568" cy="1694688"/>
          </a:xfrm>
          <a:prstGeom prst="rect">
            <a:avLst/>
          </a:prstGeom>
        </p:spPr>
      </p:pic>
    </p:spTree>
    <p:extLst>
      <p:ext uri="{BB962C8B-B14F-4D97-AF65-F5344CB8AC3E}">
        <p14:creationId xmlns:p14="http://schemas.microsoft.com/office/powerpoint/2010/main" val="4061483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dirty="0">
                <a:solidFill>
                  <a:schemeClr val="accent6"/>
                </a:solidFill>
              </a:rPr>
              <a:t>Common atmospheric pollutants and their sources</a:t>
            </a:r>
            <a:endParaRPr kumimoji="0" lang="en-US" sz="20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5" name="TextBox 4"/>
          <p:cNvSpPr txBox="1"/>
          <p:nvPr/>
        </p:nvSpPr>
        <p:spPr>
          <a:xfrm>
            <a:off x="285471" y="980728"/>
            <a:ext cx="8615203" cy="1323439"/>
          </a:xfrm>
          <a:custGeom>
            <a:avLst/>
            <a:gdLst>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1200329 h 1200329"/>
              <a:gd name="connsiteX4" fmla="*/ 0 w 8640960"/>
              <a:gd name="connsiteY4" fmla="*/ 0 h 1200329"/>
              <a:gd name="connsiteX0" fmla="*/ 0 w 8640960"/>
              <a:gd name="connsiteY0" fmla="*/ 0 h 1200329"/>
              <a:gd name="connsiteX1" fmla="*/ 8640960 w 8640960"/>
              <a:gd name="connsiteY1" fmla="*/ 0 h 1200329"/>
              <a:gd name="connsiteX2" fmla="*/ 8640960 w 8640960"/>
              <a:gd name="connsiteY2" fmla="*/ 1200329 h 1200329"/>
              <a:gd name="connsiteX3" fmla="*/ 0 w 8640960"/>
              <a:gd name="connsiteY3" fmla="*/ 904115 h 1200329"/>
              <a:gd name="connsiteX4" fmla="*/ 0 w 8640960"/>
              <a:gd name="connsiteY4" fmla="*/ 0 h 1200329"/>
              <a:gd name="connsiteX0" fmla="*/ 0 w 8640960"/>
              <a:gd name="connsiteY0" fmla="*/ 0 h 916993"/>
              <a:gd name="connsiteX1" fmla="*/ 8640960 w 8640960"/>
              <a:gd name="connsiteY1" fmla="*/ 0 h 916993"/>
              <a:gd name="connsiteX2" fmla="*/ 8640960 w 8640960"/>
              <a:gd name="connsiteY2" fmla="*/ 916993 h 916993"/>
              <a:gd name="connsiteX3" fmla="*/ 0 w 8640960"/>
              <a:gd name="connsiteY3" fmla="*/ 904115 h 916993"/>
              <a:gd name="connsiteX4" fmla="*/ 0 w 8640960"/>
              <a:gd name="connsiteY4" fmla="*/ 0 h 916993"/>
              <a:gd name="connsiteX0" fmla="*/ 0 w 8640960"/>
              <a:gd name="connsiteY0" fmla="*/ 0 h 904115"/>
              <a:gd name="connsiteX1" fmla="*/ 8640960 w 8640960"/>
              <a:gd name="connsiteY1" fmla="*/ 0 h 904115"/>
              <a:gd name="connsiteX2" fmla="*/ 8640960 w 8640960"/>
              <a:gd name="connsiteY2" fmla="*/ 904114 h 904115"/>
              <a:gd name="connsiteX3" fmla="*/ 0 w 8640960"/>
              <a:gd name="connsiteY3" fmla="*/ 904115 h 904115"/>
              <a:gd name="connsiteX4" fmla="*/ 0 w 8640960"/>
              <a:gd name="connsiteY4" fmla="*/ 0 h 904115"/>
              <a:gd name="connsiteX0" fmla="*/ 0 w 8640960"/>
              <a:gd name="connsiteY0" fmla="*/ 0 h 1148813"/>
              <a:gd name="connsiteX1" fmla="*/ 8640960 w 8640960"/>
              <a:gd name="connsiteY1" fmla="*/ 0 h 1148813"/>
              <a:gd name="connsiteX2" fmla="*/ 8640960 w 8640960"/>
              <a:gd name="connsiteY2" fmla="*/ 904114 h 1148813"/>
              <a:gd name="connsiteX3" fmla="*/ 12878 w 8640960"/>
              <a:gd name="connsiteY3" fmla="*/ 1148813 h 1148813"/>
              <a:gd name="connsiteX4" fmla="*/ 0 w 8640960"/>
              <a:gd name="connsiteY4" fmla="*/ 0 h 1148813"/>
              <a:gd name="connsiteX0" fmla="*/ 0 w 8640960"/>
              <a:gd name="connsiteY0" fmla="*/ 0 h 1148813"/>
              <a:gd name="connsiteX1" fmla="*/ 8640960 w 8640960"/>
              <a:gd name="connsiteY1" fmla="*/ 0 h 1148813"/>
              <a:gd name="connsiteX2" fmla="*/ 8628081 w 8640960"/>
              <a:gd name="connsiteY2" fmla="*/ 1135933 h 1148813"/>
              <a:gd name="connsiteX3" fmla="*/ 12878 w 8640960"/>
              <a:gd name="connsiteY3" fmla="*/ 1148813 h 1148813"/>
              <a:gd name="connsiteX4" fmla="*/ 0 w 8640960"/>
              <a:gd name="connsiteY4" fmla="*/ 0 h 1148813"/>
              <a:gd name="connsiteX0" fmla="*/ 0 w 8628081"/>
              <a:gd name="connsiteY0" fmla="*/ 0 h 1148813"/>
              <a:gd name="connsiteX1" fmla="*/ 8628081 w 8628081"/>
              <a:gd name="connsiteY1" fmla="*/ 244699 h 1148813"/>
              <a:gd name="connsiteX2" fmla="*/ 8628081 w 8628081"/>
              <a:gd name="connsiteY2" fmla="*/ 1135933 h 1148813"/>
              <a:gd name="connsiteX3" fmla="*/ 12878 w 8628081"/>
              <a:gd name="connsiteY3" fmla="*/ 1148813 h 1148813"/>
              <a:gd name="connsiteX4" fmla="*/ 0 w 8628081"/>
              <a:gd name="connsiteY4" fmla="*/ 0 h 1148813"/>
              <a:gd name="connsiteX0" fmla="*/ 0 w 8615203"/>
              <a:gd name="connsiteY0" fmla="*/ 12879 h 904114"/>
              <a:gd name="connsiteX1" fmla="*/ 8615203 w 8615203"/>
              <a:gd name="connsiteY1" fmla="*/ 0 h 904114"/>
              <a:gd name="connsiteX2" fmla="*/ 8615203 w 8615203"/>
              <a:gd name="connsiteY2" fmla="*/ 891234 h 904114"/>
              <a:gd name="connsiteX3" fmla="*/ 0 w 8615203"/>
              <a:gd name="connsiteY3" fmla="*/ 904114 h 904114"/>
              <a:gd name="connsiteX4" fmla="*/ 0 w 8615203"/>
              <a:gd name="connsiteY4" fmla="*/ 12879 h 904114"/>
              <a:gd name="connsiteX0" fmla="*/ 0 w 8615203"/>
              <a:gd name="connsiteY0" fmla="*/ 0 h 929872"/>
              <a:gd name="connsiteX1" fmla="*/ 8615203 w 8615203"/>
              <a:gd name="connsiteY1" fmla="*/ 25758 h 929872"/>
              <a:gd name="connsiteX2" fmla="*/ 8615203 w 8615203"/>
              <a:gd name="connsiteY2" fmla="*/ 916992 h 929872"/>
              <a:gd name="connsiteX3" fmla="*/ 0 w 8615203"/>
              <a:gd name="connsiteY3" fmla="*/ 929872 h 929872"/>
              <a:gd name="connsiteX4" fmla="*/ 0 w 8615203"/>
              <a:gd name="connsiteY4" fmla="*/ 0 h 929872"/>
              <a:gd name="connsiteX0" fmla="*/ 0 w 8615203"/>
              <a:gd name="connsiteY0" fmla="*/ 0 h 916993"/>
              <a:gd name="connsiteX1" fmla="*/ 8615203 w 8615203"/>
              <a:gd name="connsiteY1" fmla="*/ 12879 h 916993"/>
              <a:gd name="connsiteX2" fmla="*/ 8615203 w 8615203"/>
              <a:gd name="connsiteY2" fmla="*/ 904113 h 916993"/>
              <a:gd name="connsiteX3" fmla="*/ 0 w 8615203"/>
              <a:gd name="connsiteY3" fmla="*/ 916993 h 916993"/>
              <a:gd name="connsiteX4" fmla="*/ 0 w 8615203"/>
              <a:gd name="connsiteY4" fmla="*/ 0 h 916993"/>
              <a:gd name="connsiteX0" fmla="*/ 0 w 8615203"/>
              <a:gd name="connsiteY0" fmla="*/ 0 h 995704"/>
              <a:gd name="connsiteX1" fmla="*/ 8615203 w 8615203"/>
              <a:gd name="connsiteY1" fmla="*/ 91590 h 995704"/>
              <a:gd name="connsiteX2" fmla="*/ 8615203 w 8615203"/>
              <a:gd name="connsiteY2" fmla="*/ 982824 h 995704"/>
              <a:gd name="connsiteX3" fmla="*/ 0 w 8615203"/>
              <a:gd name="connsiteY3" fmla="*/ 995704 h 995704"/>
              <a:gd name="connsiteX4" fmla="*/ 0 w 8615203"/>
              <a:gd name="connsiteY4" fmla="*/ 0 h 995704"/>
              <a:gd name="connsiteX0" fmla="*/ 0 w 8615203"/>
              <a:gd name="connsiteY0" fmla="*/ 6798 h 1002502"/>
              <a:gd name="connsiteX1" fmla="*/ 8615203 w 8615203"/>
              <a:gd name="connsiteY1" fmla="*/ 0 h 1002502"/>
              <a:gd name="connsiteX2" fmla="*/ 8615203 w 8615203"/>
              <a:gd name="connsiteY2" fmla="*/ 989622 h 1002502"/>
              <a:gd name="connsiteX3" fmla="*/ 0 w 8615203"/>
              <a:gd name="connsiteY3" fmla="*/ 1002502 h 1002502"/>
              <a:gd name="connsiteX4" fmla="*/ 0 w 8615203"/>
              <a:gd name="connsiteY4" fmla="*/ 6798 h 1002502"/>
              <a:gd name="connsiteX0" fmla="*/ 0 w 8615203"/>
              <a:gd name="connsiteY0" fmla="*/ 6798 h 989622"/>
              <a:gd name="connsiteX1" fmla="*/ 8615203 w 8615203"/>
              <a:gd name="connsiteY1" fmla="*/ 0 h 989622"/>
              <a:gd name="connsiteX2" fmla="*/ 8615203 w 8615203"/>
              <a:gd name="connsiteY2" fmla="*/ 989622 h 989622"/>
              <a:gd name="connsiteX3" fmla="*/ 12879 w 8615203"/>
              <a:gd name="connsiteY3" fmla="*/ 707337 h 989622"/>
              <a:gd name="connsiteX4" fmla="*/ 0 w 8615203"/>
              <a:gd name="connsiteY4" fmla="*/ 6798 h 989622"/>
              <a:gd name="connsiteX0" fmla="*/ 0 w 8615203"/>
              <a:gd name="connsiteY0" fmla="*/ 6798 h 707337"/>
              <a:gd name="connsiteX1" fmla="*/ 8615203 w 8615203"/>
              <a:gd name="connsiteY1" fmla="*/ 0 h 707337"/>
              <a:gd name="connsiteX2" fmla="*/ 8615203 w 8615203"/>
              <a:gd name="connsiteY2" fmla="*/ 704296 h 707337"/>
              <a:gd name="connsiteX3" fmla="*/ 12879 w 8615203"/>
              <a:gd name="connsiteY3" fmla="*/ 707337 h 707337"/>
              <a:gd name="connsiteX4" fmla="*/ 0 w 8615203"/>
              <a:gd name="connsiteY4" fmla="*/ 6798 h 707337"/>
              <a:gd name="connsiteX0" fmla="*/ 0 w 8615203"/>
              <a:gd name="connsiteY0" fmla="*/ 6798 h 707337"/>
              <a:gd name="connsiteX1" fmla="*/ 8615203 w 8615203"/>
              <a:gd name="connsiteY1" fmla="*/ 0 h 707337"/>
              <a:gd name="connsiteX2" fmla="*/ 8615203 w 8615203"/>
              <a:gd name="connsiteY2" fmla="*/ 704296 h 707337"/>
              <a:gd name="connsiteX3" fmla="*/ 0 w 8615203"/>
              <a:gd name="connsiteY3" fmla="*/ 707337 h 707337"/>
              <a:gd name="connsiteX4" fmla="*/ 0 w 8615203"/>
              <a:gd name="connsiteY4" fmla="*/ 6798 h 707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15203" h="707337">
                <a:moveTo>
                  <a:pt x="0" y="6798"/>
                </a:moveTo>
                <a:lnTo>
                  <a:pt x="8615203" y="0"/>
                </a:lnTo>
                <a:lnTo>
                  <a:pt x="8615203" y="704296"/>
                </a:lnTo>
                <a:lnTo>
                  <a:pt x="0" y="707337"/>
                </a:lnTo>
                <a:lnTo>
                  <a:pt x="0" y="6798"/>
                </a:lnTo>
                <a:close/>
              </a:path>
            </a:pathLst>
          </a:custGeom>
          <a:noFill/>
          <a:ln w="28575">
            <a:solidFill>
              <a:schemeClr val="accent6"/>
            </a:solidFill>
          </a:ln>
        </p:spPr>
        <p:txBody>
          <a:bodyPr wrap="square" rtlCol="0">
            <a:spAutoFit/>
          </a:bodyPr>
          <a:lstStyle/>
          <a:p>
            <a:r>
              <a:rPr lang="en-GB" sz="2000" dirty="0"/>
              <a:t>The gases released into the atmosphere when a fuel is burnt may include </a:t>
            </a:r>
            <a:r>
              <a:rPr lang="en-GB" sz="2000" b="1" dirty="0">
                <a:solidFill>
                  <a:schemeClr val="accent6">
                    <a:lumMod val="75000"/>
                  </a:schemeClr>
                </a:solidFill>
              </a:rPr>
              <a:t>carbon dioxide</a:t>
            </a:r>
            <a:r>
              <a:rPr lang="en-GB" sz="2000" dirty="0">
                <a:solidFill>
                  <a:schemeClr val="accent6">
                    <a:lumMod val="75000"/>
                  </a:schemeClr>
                </a:solidFill>
              </a:rPr>
              <a:t>, </a:t>
            </a:r>
            <a:r>
              <a:rPr lang="en-GB" sz="2000" b="1" dirty="0">
                <a:solidFill>
                  <a:schemeClr val="accent6">
                    <a:lumMod val="75000"/>
                  </a:schemeClr>
                </a:solidFill>
              </a:rPr>
              <a:t>water vapour</a:t>
            </a:r>
            <a:r>
              <a:rPr lang="en-GB" sz="2000" dirty="0">
                <a:solidFill>
                  <a:schemeClr val="accent6">
                    <a:lumMod val="75000"/>
                  </a:schemeClr>
                </a:solidFill>
              </a:rPr>
              <a:t>, </a:t>
            </a:r>
            <a:r>
              <a:rPr lang="en-GB" sz="2000" b="1" dirty="0">
                <a:solidFill>
                  <a:schemeClr val="accent6">
                    <a:lumMod val="75000"/>
                  </a:schemeClr>
                </a:solidFill>
              </a:rPr>
              <a:t>carbon monoxide</a:t>
            </a:r>
            <a:r>
              <a:rPr lang="en-GB" sz="2000" dirty="0">
                <a:solidFill>
                  <a:schemeClr val="accent6">
                    <a:lumMod val="75000"/>
                  </a:schemeClr>
                </a:solidFill>
              </a:rPr>
              <a:t>, </a:t>
            </a:r>
            <a:r>
              <a:rPr lang="en-GB" sz="2000" b="1" dirty="0" err="1">
                <a:solidFill>
                  <a:schemeClr val="accent6">
                    <a:lumMod val="75000"/>
                  </a:schemeClr>
                </a:solidFill>
              </a:rPr>
              <a:t>sulfur</a:t>
            </a:r>
            <a:r>
              <a:rPr lang="en-GB" sz="2000" b="1" dirty="0">
                <a:solidFill>
                  <a:schemeClr val="accent6">
                    <a:lumMod val="75000"/>
                  </a:schemeClr>
                </a:solidFill>
              </a:rPr>
              <a:t> dioxide </a:t>
            </a:r>
            <a:r>
              <a:rPr lang="en-GB" sz="2000" dirty="0"/>
              <a:t>and </a:t>
            </a:r>
            <a:r>
              <a:rPr lang="en-GB" sz="2000" b="1" dirty="0">
                <a:solidFill>
                  <a:schemeClr val="accent6">
                    <a:lumMod val="75000"/>
                  </a:schemeClr>
                </a:solidFill>
              </a:rPr>
              <a:t>oxides of nitrogen</a:t>
            </a:r>
            <a:r>
              <a:rPr lang="en-GB" sz="2000" dirty="0"/>
              <a:t>. Solid particles and unburned hydrocarbons may also be released, forming </a:t>
            </a:r>
            <a:r>
              <a:rPr lang="en-GB" sz="2000" b="1" dirty="0">
                <a:solidFill>
                  <a:schemeClr val="accent6">
                    <a:lumMod val="75000"/>
                  </a:schemeClr>
                </a:solidFill>
              </a:rPr>
              <a:t>particulates</a:t>
            </a:r>
            <a:r>
              <a:rPr lang="en-GB" sz="2000" dirty="0"/>
              <a:t> in the atmosphere.</a:t>
            </a:r>
          </a:p>
        </p:txBody>
      </p:sp>
      <p:sp>
        <p:nvSpPr>
          <p:cNvPr id="6" name="TextBox 5"/>
          <p:cNvSpPr txBox="1"/>
          <p:nvPr/>
        </p:nvSpPr>
        <p:spPr>
          <a:xfrm>
            <a:off x="285471" y="2592199"/>
            <a:ext cx="8603562" cy="3785652"/>
          </a:xfrm>
          <a:custGeom>
            <a:avLst/>
            <a:gdLst>
              <a:gd name="connsiteX0" fmla="*/ 0 w 8640960"/>
              <a:gd name="connsiteY0" fmla="*/ 0 h 2031325"/>
              <a:gd name="connsiteX1" fmla="*/ 8640960 w 8640960"/>
              <a:gd name="connsiteY1" fmla="*/ 0 h 2031325"/>
              <a:gd name="connsiteX2" fmla="*/ 8640960 w 8640960"/>
              <a:gd name="connsiteY2" fmla="*/ 2031325 h 2031325"/>
              <a:gd name="connsiteX3" fmla="*/ 0 w 8640960"/>
              <a:gd name="connsiteY3" fmla="*/ 2031325 h 2031325"/>
              <a:gd name="connsiteX4" fmla="*/ 0 w 8640960"/>
              <a:gd name="connsiteY4" fmla="*/ 0 h 2031325"/>
              <a:gd name="connsiteX0" fmla="*/ 0 w 8640960"/>
              <a:gd name="connsiteY0" fmla="*/ 0 h 2224508"/>
              <a:gd name="connsiteX1" fmla="*/ 8640960 w 8640960"/>
              <a:gd name="connsiteY1" fmla="*/ 0 h 2224508"/>
              <a:gd name="connsiteX2" fmla="*/ 8640960 w 8640960"/>
              <a:gd name="connsiteY2" fmla="*/ 2031325 h 2224508"/>
              <a:gd name="connsiteX3" fmla="*/ 12878 w 8640960"/>
              <a:gd name="connsiteY3" fmla="*/ 2224508 h 2224508"/>
              <a:gd name="connsiteX4" fmla="*/ 0 w 8640960"/>
              <a:gd name="connsiteY4" fmla="*/ 0 h 2224508"/>
              <a:gd name="connsiteX0" fmla="*/ 0 w 8640960"/>
              <a:gd name="connsiteY0" fmla="*/ 0 h 2237386"/>
              <a:gd name="connsiteX1" fmla="*/ 8640960 w 8640960"/>
              <a:gd name="connsiteY1" fmla="*/ 0 h 2237386"/>
              <a:gd name="connsiteX2" fmla="*/ 8628081 w 8640960"/>
              <a:gd name="connsiteY2" fmla="*/ 2237386 h 2237386"/>
              <a:gd name="connsiteX3" fmla="*/ 12878 w 8640960"/>
              <a:gd name="connsiteY3" fmla="*/ 2224508 h 2237386"/>
              <a:gd name="connsiteX4" fmla="*/ 0 w 8640960"/>
              <a:gd name="connsiteY4" fmla="*/ 0 h 2237386"/>
              <a:gd name="connsiteX0" fmla="*/ 0 w 8640960"/>
              <a:gd name="connsiteY0" fmla="*/ 0 h 2224508"/>
              <a:gd name="connsiteX1" fmla="*/ 8640960 w 8640960"/>
              <a:gd name="connsiteY1" fmla="*/ 0 h 2224508"/>
              <a:gd name="connsiteX2" fmla="*/ 8628081 w 8640960"/>
              <a:gd name="connsiteY2" fmla="*/ 2224508 h 2224508"/>
              <a:gd name="connsiteX3" fmla="*/ 12878 w 8640960"/>
              <a:gd name="connsiteY3" fmla="*/ 2224508 h 2224508"/>
              <a:gd name="connsiteX4" fmla="*/ 0 w 8640960"/>
              <a:gd name="connsiteY4" fmla="*/ 0 h 2224508"/>
              <a:gd name="connsiteX0" fmla="*/ 0 w 8640960"/>
              <a:gd name="connsiteY0" fmla="*/ 0 h 2224508"/>
              <a:gd name="connsiteX1" fmla="*/ 8640960 w 8640960"/>
              <a:gd name="connsiteY1" fmla="*/ 0 h 2224508"/>
              <a:gd name="connsiteX2" fmla="*/ 8640960 w 8640960"/>
              <a:gd name="connsiteY2" fmla="*/ 2224508 h 2224508"/>
              <a:gd name="connsiteX3" fmla="*/ 12878 w 8640960"/>
              <a:gd name="connsiteY3" fmla="*/ 2224508 h 2224508"/>
              <a:gd name="connsiteX4" fmla="*/ 0 w 8640960"/>
              <a:gd name="connsiteY4" fmla="*/ 0 h 2224508"/>
              <a:gd name="connsiteX0" fmla="*/ 0 w 8640960"/>
              <a:gd name="connsiteY0" fmla="*/ 0 h 2224508"/>
              <a:gd name="connsiteX1" fmla="*/ 8640960 w 8640960"/>
              <a:gd name="connsiteY1" fmla="*/ 321972 h 2224508"/>
              <a:gd name="connsiteX2" fmla="*/ 8640960 w 8640960"/>
              <a:gd name="connsiteY2" fmla="*/ 2224508 h 2224508"/>
              <a:gd name="connsiteX3" fmla="*/ 12878 w 8640960"/>
              <a:gd name="connsiteY3" fmla="*/ 2224508 h 2224508"/>
              <a:gd name="connsiteX4" fmla="*/ 0 w 8640960"/>
              <a:gd name="connsiteY4" fmla="*/ 0 h 2224508"/>
              <a:gd name="connsiteX0" fmla="*/ 13450 w 8628653"/>
              <a:gd name="connsiteY0" fmla="*/ 0 h 1941173"/>
              <a:gd name="connsiteX1" fmla="*/ 8628653 w 8628653"/>
              <a:gd name="connsiteY1" fmla="*/ 38637 h 1941173"/>
              <a:gd name="connsiteX2" fmla="*/ 8628653 w 8628653"/>
              <a:gd name="connsiteY2" fmla="*/ 1941173 h 1941173"/>
              <a:gd name="connsiteX3" fmla="*/ 571 w 8628653"/>
              <a:gd name="connsiteY3" fmla="*/ 1941173 h 1941173"/>
              <a:gd name="connsiteX4" fmla="*/ 13450 w 8628653"/>
              <a:gd name="connsiteY4" fmla="*/ 0 h 1941173"/>
              <a:gd name="connsiteX0" fmla="*/ 13450 w 8628653"/>
              <a:gd name="connsiteY0" fmla="*/ 0 h 1928294"/>
              <a:gd name="connsiteX1" fmla="*/ 8628653 w 8628653"/>
              <a:gd name="connsiteY1" fmla="*/ 25758 h 1928294"/>
              <a:gd name="connsiteX2" fmla="*/ 8628653 w 8628653"/>
              <a:gd name="connsiteY2" fmla="*/ 1928294 h 1928294"/>
              <a:gd name="connsiteX3" fmla="*/ 571 w 8628653"/>
              <a:gd name="connsiteY3" fmla="*/ 1928294 h 1928294"/>
              <a:gd name="connsiteX4" fmla="*/ 13450 w 8628653"/>
              <a:gd name="connsiteY4" fmla="*/ 0 h 1928294"/>
              <a:gd name="connsiteX0" fmla="*/ 13450 w 8628653"/>
              <a:gd name="connsiteY0" fmla="*/ 0 h 1915415"/>
              <a:gd name="connsiteX1" fmla="*/ 8628653 w 8628653"/>
              <a:gd name="connsiteY1" fmla="*/ 12879 h 1915415"/>
              <a:gd name="connsiteX2" fmla="*/ 8628653 w 8628653"/>
              <a:gd name="connsiteY2" fmla="*/ 1915415 h 1915415"/>
              <a:gd name="connsiteX3" fmla="*/ 571 w 8628653"/>
              <a:gd name="connsiteY3" fmla="*/ 1915415 h 1915415"/>
              <a:gd name="connsiteX4" fmla="*/ 13450 w 8628653"/>
              <a:gd name="connsiteY4" fmla="*/ 0 h 1915415"/>
              <a:gd name="connsiteX0" fmla="*/ 1239 w 8629321"/>
              <a:gd name="connsiteY0" fmla="*/ 0 h 1915415"/>
              <a:gd name="connsiteX1" fmla="*/ 8629321 w 8629321"/>
              <a:gd name="connsiteY1" fmla="*/ 12879 h 1915415"/>
              <a:gd name="connsiteX2" fmla="*/ 8629321 w 8629321"/>
              <a:gd name="connsiteY2" fmla="*/ 1915415 h 1915415"/>
              <a:gd name="connsiteX3" fmla="*/ 1239 w 8629321"/>
              <a:gd name="connsiteY3" fmla="*/ 1915415 h 1915415"/>
              <a:gd name="connsiteX4" fmla="*/ 1239 w 8629321"/>
              <a:gd name="connsiteY4" fmla="*/ 0 h 1915415"/>
              <a:gd name="connsiteX0" fmla="*/ 1239 w 8629321"/>
              <a:gd name="connsiteY0" fmla="*/ 436448 h 1902536"/>
              <a:gd name="connsiteX1" fmla="*/ 8629321 w 8629321"/>
              <a:gd name="connsiteY1" fmla="*/ 0 h 1902536"/>
              <a:gd name="connsiteX2" fmla="*/ 8629321 w 8629321"/>
              <a:gd name="connsiteY2" fmla="*/ 1902536 h 1902536"/>
              <a:gd name="connsiteX3" fmla="*/ 1239 w 8629321"/>
              <a:gd name="connsiteY3" fmla="*/ 1902536 h 1902536"/>
              <a:gd name="connsiteX4" fmla="*/ 1239 w 8629321"/>
              <a:gd name="connsiteY4" fmla="*/ 436448 h 1902536"/>
              <a:gd name="connsiteX0" fmla="*/ 1239 w 8629321"/>
              <a:gd name="connsiteY0" fmla="*/ 0 h 1466088"/>
              <a:gd name="connsiteX1" fmla="*/ 8603559 w 8629321"/>
              <a:gd name="connsiteY1" fmla="*/ 735 h 1466088"/>
              <a:gd name="connsiteX2" fmla="*/ 8629321 w 8629321"/>
              <a:gd name="connsiteY2" fmla="*/ 1466088 h 1466088"/>
              <a:gd name="connsiteX3" fmla="*/ 1239 w 8629321"/>
              <a:gd name="connsiteY3" fmla="*/ 1466088 h 1466088"/>
              <a:gd name="connsiteX4" fmla="*/ 1239 w 8629321"/>
              <a:gd name="connsiteY4" fmla="*/ 0 h 1466088"/>
              <a:gd name="connsiteX0" fmla="*/ 26134 w 8628455"/>
              <a:gd name="connsiteY0" fmla="*/ 0 h 1818263"/>
              <a:gd name="connsiteX1" fmla="*/ 8602693 w 8628455"/>
              <a:gd name="connsiteY1" fmla="*/ 352910 h 1818263"/>
              <a:gd name="connsiteX2" fmla="*/ 8628455 w 8628455"/>
              <a:gd name="connsiteY2" fmla="*/ 1818263 h 1818263"/>
              <a:gd name="connsiteX3" fmla="*/ 373 w 8628455"/>
              <a:gd name="connsiteY3" fmla="*/ 1818263 h 1818263"/>
              <a:gd name="connsiteX4" fmla="*/ 26134 w 8628455"/>
              <a:gd name="connsiteY4" fmla="*/ 0 h 1818263"/>
              <a:gd name="connsiteX0" fmla="*/ 26134 w 8628455"/>
              <a:gd name="connsiteY0" fmla="*/ 11410 h 1829673"/>
              <a:gd name="connsiteX1" fmla="*/ 8628455 w 8628455"/>
              <a:gd name="connsiteY1" fmla="*/ 0 h 1829673"/>
              <a:gd name="connsiteX2" fmla="*/ 8628455 w 8628455"/>
              <a:gd name="connsiteY2" fmla="*/ 1829673 h 1829673"/>
              <a:gd name="connsiteX3" fmla="*/ 373 w 8628455"/>
              <a:gd name="connsiteY3" fmla="*/ 1829673 h 1829673"/>
              <a:gd name="connsiteX4" fmla="*/ 26134 w 8628455"/>
              <a:gd name="connsiteY4" fmla="*/ 11410 h 1829673"/>
              <a:gd name="connsiteX0" fmla="*/ 1240 w 8603561"/>
              <a:gd name="connsiteY0" fmla="*/ 11410 h 1829673"/>
              <a:gd name="connsiteX1" fmla="*/ 8603561 w 8603561"/>
              <a:gd name="connsiteY1" fmla="*/ 0 h 1829673"/>
              <a:gd name="connsiteX2" fmla="*/ 8603561 w 8603561"/>
              <a:gd name="connsiteY2" fmla="*/ 1829673 h 1829673"/>
              <a:gd name="connsiteX3" fmla="*/ 1240 w 8603561"/>
              <a:gd name="connsiteY3" fmla="*/ 1696090 h 1829673"/>
              <a:gd name="connsiteX4" fmla="*/ 1240 w 8603561"/>
              <a:gd name="connsiteY4" fmla="*/ 11410 h 1829673"/>
              <a:gd name="connsiteX0" fmla="*/ 1240 w 8603561"/>
              <a:gd name="connsiteY0" fmla="*/ 11410 h 1708233"/>
              <a:gd name="connsiteX1" fmla="*/ 8603561 w 8603561"/>
              <a:gd name="connsiteY1" fmla="*/ 0 h 1708233"/>
              <a:gd name="connsiteX2" fmla="*/ 8590680 w 8603561"/>
              <a:gd name="connsiteY2" fmla="*/ 1708233 h 1708233"/>
              <a:gd name="connsiteX3" fmla="*/ 1240 w 8603561"/>
              <a:gd name="connsiteY3" fmla="*/ 1696090 h 1708233"/>
              <a:gd name="connsiteX4" fmla="*/ 1240 w 8603561"/>
              <a:gd name="connsiteY4" fmla="*/ 11410 h 1708233"/>
              <a:gd name="connsiteX0" fmla="*/ 1240 w 8603561"/>
              <a:gd name="connsiteY0" fmla="*/ 11410 h 1696090"/>
              <a:gd name="connsiteX1" fmla="*/ 8603561 w 8603561"/>
              <a:gd name="connsiteY1" fmla="*/ 0 h 1696090"/>
              <a:gd name="connsiteX2" fmla="*/ 8590680 w 8603561"/>
              <a:gd name="connsiteY2" fmla="*/ 1696089 h 1696090"/>
              <a:gd name="connsiteX3" fmla="*/ 1240 w 8603561"/>
              <a:gd name="connsiteY3" fmla="*/ 1696090 h 1696090"/>
              <a:gd name="connsiteX4" fmla="*/ 1240 w 8603561"/>
              <a:gd name="connsiteY4" fmla="*/ 11410 h 1696090"/>
              <a:gd name="connsiteX0" fmla="*/ 1240 w 8604800"/>
              <a:gd name="connsiteY0" fmla="*/ 11410 h 1696090"/>
              <a:gd name="connsiteX1" fmla="*/ 8603561 w 8604800"/>
              <a:gd name="connsiteY1" fmla="*/ 0 h 1696090"/>
              <a:gd name="connsiteX2" fmla="*/ 8603561 w 8604800"/>
              <a:gd name="connsiteY2" fmla="*/ 1696089 h 1696090"/>
              <a:gd name="connsiteX3" fmla="*/ 1240 w 8604800"/>
              <a:gd name="connsiteY3" fmla="*/ 1696090 h 1696090"/>
              <a:gd name="connsiteX4" fmla="*/ 1240 w 8604800"/>
              <a:gd name="connsiteY4" fmla="*/ 11410 h 1696090"/>
              <a:gd name="connsiteX0" fmla="*/ 1240 w 8604800"/>
              <a:gd name="connsiteY0" fmla="*/ 11410 h 1696089"/>
              <a:gd name="connsiteX1" fmla="*/ 8603561 w 8604800"/>
              <a:gd name="connsiteY1" fmla="*/ 0 h 1696089"/>
              <a:gd name="connsiteX2" fmla="*/ 8603561 w 8604800"/>
              <a:gd name="connsiteY2" fmla="*/ 1696089 h 1696089"/>
              <a:gd name="connsiteX3" fmla="*/ 1240 w 8604800"/>
              <a:gd name="connsiteY3" fmla="*/ 1545542 h 1696089"/>
              <a:gd name="connsiteX4" fmla="*/ 1240 w 8604800"/>
              <a:gd name="connsiteY4" fmla="*/ 11410 h 1696089"/>
              <a:gd name="connsiteX0" fmla="*/ 1240 w 8604800"/>
              <a:gd name="connsiteY0" fmla="*/ 11410 h 1577802"/>
              <a:gd name="connsiteX1" fmla="*/ 8603561 w 8604800"/>
              <a:gd name="connsiteY1" fmla="*/ 0 h 1577802"/>
              <a:gd name="connsiteX2" fmla="*/ 8603561 w 8604800"/>
              <a:gd name="connsiteY2" fmla="*/ 1577802 h 1577802"/>
              <a:gd name="connsiteX3" fmla="*/ 1240 w 8604800"/>
              <a:gd name="connsiteY3" fmla="*/ 1545542 h 1577802"/>
              <a:gd name="connsiteX4" fmla="*/ 1240 w 8604800"/>
              <a:gd name="connsiteY4" fmla="*/ 11410 h 1577802"/>
              <a:gd name="connsiteX0" fmla="*/ 1240 w 8604800"/>
              <a:gd name="connsiteY0" fmla="*/ 11410 h 1567048"/>
              <a:gd name="connsiteX1" fmla="*/ 8603561 w 8604800"/>
              <a:gd name="connsiteY1" fmla="*/ 0 h 1567048"/>
              <a:gd name="connsiteX2" fmla="*/ 8603561 w 8604800"/>
              <a:gd name="connsiteY2" fmla="*/ 1567048 h 1567048"/>
              <a:gd name="connsiteX3" fmla="*/ 1240 w 8604800"/>
              <a:gd name="connsiteY3" fmla="*/ 1545542 h 1567048"/>
              <a:gd name="connsiteX4" fmla="*/ 1240 w 8604800"/>
              <a:gd name="connsiteY4" fmla="*/ 11410 h 1567048"/>
              <a:gd name="connsiteX0" fmla="*/ 1240 w 8604800"/>
              <a:gd name="connsiteY0" fmla="*/ 11410 h 1556294"/>
              <a:gd name="connsiteX1" fmla="*/ 8603561 w 8604800"/>
              <a:gd name="connsiteY1" fmla="*/ 0 h 1556294"/>
              <a:gd name="connsiteX2" fmla="*/ 8603561 w 8604800"/>
              <a:gd name="connsiteY2" fmla="*/ 1556294 h 1556294"/>
              <a:gd name="connsiteX3" fmla="*/ 1240 w 8604800"/>
              <a:gd name="connsiteY3" fmla="*/ 1545542 h 1556294"/>
              <a:gd name="connsiteX4" fmla="*/ 1240 w 8604800"/>
              <a:gd name="connsiteY4" fmla="*/ 11410 h 1556294"/>
              <a:gd name="connsiteX0" fmla="*/ 1240 w 8604800"/>
              <a:gd name="connsiteY0" fmla="*/ 11410 h 1545542"/>
              <a:gd name="connsiteX1" fmla="*/ 8603561 w 8604800"/>
              <a:gd name="connsiteY1" fmla="*/ 0 h 1545542"/>
              <a:gd name="connsiteX2" fmla="*/ 8603561 w 8604800"/>
              <a:gd name="connsiteY2" fmla="*/ 1545540 h 1545542"/>
              <a:gd name="connsiteX3" fmla="*/ 1240 w 8604800"/>
              <a:gd name="connsiteY3" fmla="*/ 1545542 h 1545542"/>
              <a:gd name="connsiteX4" fmla="*/ 1240 w 8604800"/>
              <a:gd name="connsiteY4" fmla="*/ 11410 h 1545542"/>
              <a:gd name="connsiteX0" fmla="*/ 0 w 8603560"/>
              <a:gd name="connsiteY0" fmla="*/ 11410 h 1545540"/>
              <a:gd name="connsiteX1" fmla="*/ 8602321 w 8603560"/>
              <a:gd name="connsiteY1" fmla="*/ 0 h 1545540"/>
              <a:gd name="connsiteX2" fmla="*/ 8602321 w 8603560"/>
              <a:gd name="connsiteY2" fmla="*/ 1545540 h 1545540"/>
              <a:gd name="connsiteX3" fmla="*/ 25762 w 8603560"/>
              <a:gd name="connsiteY3" fmla="*/ 1391559 h 1545540"/>
              <a:gd name="connsiteX4" fmla="*/ 0 w 8603560"/>
              <a:gd name="connsiteY4" fmla="*/ 11410 h 1545540"/>
              <a:gd name="connsiteX0" fmla="*/ 0 w 8603560"/>
              <a:gd name="connsiteY0" fmla="*/ 11410 h 1545540"/>
              <a:gd name="connsiteX1" fmla="*/ 8602321 w 8603560"/>
              <a:gd name="connsiteY1" fmla="*/ 0 h 1545540"/>
              <a:gd name="connsiteX2" fmla="*/ 8602321 w 8603560"/>
              <a:gd name="connsiteY2" fmla="*/ 1545540 h 1545540"/>
              <a:gd name="connsiteX3" fmla="*/ 12881 w 8603560"/>
              <a:gd name="connsiteY3" fmla="*/ 1391559 h 1545540"/>
              <a:gd name="connsiteX4" fmla="*/ 0 w 8603560"/>
              <a:gd name="connsiteY4" fmla="*/ 11410 h 1545540"/>
              <a:gd name="connsiteX0" fmla="*/ 1239 w 8604799"/>
              <a:gd name="connsiteY0" fmla="*/ 11410 h 1545540"/>
              <a:gd name="connsiteX1" fmla="*/ 8603560 w 8604799"/>
              <a:gd name="connsiteY1" fmla="*/ 0 h 1545540"/>
              <a:gd name="connsiteX2" fmla="*/ 8603560 w 8604799"/>
              <a:gd name="connsiteY2" fmla="*/ 1545540 h 1545540"/>
              <a:gd name="connsiteX3" fmla="*/ 1239 w 8604799"/>
              <a:gd name="connsiteY3" fmla="*/ 1391559 h 1545540"/>
              <a:gd name="connsiteX4" fmla="*/ 1239 w 8604799"/>
              <a:gd name="connsiteY4" fmla="*/ 11410 h 1545540"/>
              <a:gd name="connsiteX0" fmla="*/ 1239 w 8604799"/>
              <a:gd name="connsiteY0" fmla="*/ 11410 h 1391559"/>
              <a:gd name="connsiteX1" fmla="*/ 8603560 w 8604799"/>
              <a:gd name="connsiteY1" fmla="*/ 0 h 1391559"/>
              <a:gd name="connsiteX2" fmla="*/ 8603560 w 8604799"/>
              <a:gd name="connsiteY2" fmla="*/ 1371025 h 1391559"/>
              <a:gd name="connsiteX3" fmla="*/ 1239 w 8604799"/>
              <a:gd name="connsiteY3" fmla="*/ 1391559 h 1391559"/>
              <a:gd name="connsiteX4" fmla="*/ 1239 w 8604799"/>
              <a:gd name="connsiteY4" fmla="*/ 11410 h 1391559"/>
              <a:gd name="connsiteX0" fmla="*/ 1239 w 8604799"/>
              <a:gd name="connsiteY0" fmla="*/ 11410 h 1391559"/>
              <a:gd name="connsiteX1" fmla="*/ 8603560 w 8604799"/>
              <a:gd name="connsiteY1" fmla="*/ 0 h 1391559"/>
              <a:gd name="connsiteX2" fmla="*/ 8603560 w 8604799"/>
              <a:gd name="connsiteY2" fmla="*/ 1391557 h 1391559"/>
              <a:gd name="connsiteX3" fmla="*/ 1239 w 8604799"/>
              <a:gd name="connsiteY3" fmla="*/ 1391559 h 1391559"/>
              <a:gd name="connsiteX4" fmla="*/ 1239 w 8604799"/>
              <a:gd name="connsiteY4" fmla="*/ 11410 h 1391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04799" h="1391559">
                <a:moveTo>
                  <a:pt x="1239" y="11410"/>
                </a:moveTo>
                <a:lnTo>
                  <a:pt x="8603560" y="0"/>
                </a:lnTo>
                <a:cubicBezTo>
                  <a:pt x="8599266" y="569411"/>
                  <a:pt x="8607854" y="822146"/>
                  <a:pt x="8603560" y="1391557"/>
                </a:cubicBezTo>
                <a:lnTo>
                  <a:pt x="1239" y="1391559"/>
                </a:lnTo>
                <a:cubicBezTo>
                  <a:pt x="-3054" y="650056"/>
                  <a:pt x="5532" y="752913"/>
                  <a:pt x="1239" y="11410"/>
                </a:cubicBezTo>
                <a:close/>
              </a:path>
            </a:pathLst>
          </a:custGeom>
          <a:noFill/>
          <a:ln w="28575">
            <a:solidFill>
              <a:schemeClr val="accent6"/>
            </a:solidFill>
          </a:ln>
        </p:spPr>
        <p:txBody>
          <a:bodyPr wrap="square" rtlCol="0">
            <a:spAutoFit/>
          </a:bodyPr>
          <a:lstStyle/>
          <a:p>
            <a:pPr marL="285750" indent="-285750">
              <a:buFont typeface="Arial" panose="020B0604020202020204" pitchFamily="34" charset="0"/>
              <a:buChar char="•"/>
            </a:pPr>
            <a:r>
              <a:rPr lang="en-GB" sz="2000" b="1" dirty="0">
                <a:solidFill>
                  <a:schemeClr val="accent6">
                    <a:lumMod val="75000"/>
                  </a:schemeClr>
                </a:solidFill>
              </a:rPr>
              <a:t>Carbon monoxide </a:t>
            </a:r>
            <a:r>
              <a:rPr lang="en-GB" sz="2000" dirty="0"/>
              <a:t>is a </a:t>
            </a:r>
            <a:r>
              <a:rPr lang="en-GB" sz="2000" b="1" dirty="0">
                <a:solidFill>
                  <a:schemeClr val="accent6">
                    <a:lumMod val="75000"/>
                  </a:schemeClr>
                </a:solidFill>
              </a:rPr>
              <a:t>toxic gas</a:t>
            </a:r>
            <a:r>
              <a:rPr lang="en-GB" sz="2000" dirty="0"/>
              <a:t>. It is </a:t>
            </a:r>
            <a:r>
              <a:rPr lang="en-GB" sz="2000" b="1" dirty="0">
                <a:solidFill>
                  <a:schemeClr val="accent6">
                    <a:lumMod val="75000"/>
                  </a:schemeClr>
                </a:solidFill>
              </a:rPr>
              <a:t>colourless</a:t>
            </a:r>
            <a:r>
              <a:rPr lang="en-GB" sz="2000" dirty="0"/>
              <a:t> and </a:t>
            </a:r>
            <a:r>
              <a:rPr lang="en-GB" sz="2000" b="1" dirty="0">
                <a:solidFill>
                  <a:schemeClr val="accent6">
                    <a:lumMod val="75000"/>
                  </a:schemeClr>
                </a:solidFill>
              </a:rPr>
              <a:t>odourless</a:t>
            </a:r>
            <a:r>
              <a:rPr lang="en-GB" sz="2000" dirty="0"/>
              <a:t> and so is not easily detected.</a:t>
            </a:r>
          </a:p>
          <a:p>
            <a:pPr marL="171450" indent="-171450">
              <a:buFont typeface="Arial" panose="020B0604020202020204" pitchFamily="34" charset="0"/>
              <a:buChar char="•"/>
            </a:pPr>
            <a:endParaRPr lang="en-GB" sz="2000" dirty="0"/>
          </a:p>
          <a:p>
            <a:pPr marL="285750" indent="-285750">
              <a:buFont typeface="Arial" panose="020B0604020202020204" pitchFamily="34" charset="0"/>
              <a:buChar char="•"/>
            </a:pPr>
            <a:r>
              <a:rPr lang="en-GB" sz="2000" b="1" dirty="0" err="1">
                <a:solidFill>
                  <a:schemeClr val="accent6">
                    <a:lumMod val="75000"/>
                  </a:schemeClr>
                </a:solidFill>
              </a:rPr>
              <a:t>Sulfur</a:t>
            </a:r>
            <a:r>
              <a:rPr lang="en-GB" sz="2000" b="1" dirty="0">
                <a:solidFill>
                  <a:schemeClr val="accent6">
                    <a:lumMod val="75000"/>
                  </a:schemeClr>
                </a:solidFill>
              </a:rPr>
              <a:t> dioxide </a:t>
            </a:r>
            <a:r>
              <a:rPr lang="en-GB" sz="2000" dirty="0"/>
              <a:t>from impurities in some hydrocarbon fuels. When </a:t>
            </a:r>
            <a:r>
              <a:rPr lang="en-GB" sz="2000" dirty="0" err="1"/>
              <a:t>sulfur</a:t>
            </a:r>
            <a:r>
              <a:rPr lang="en-GB" sz="2000" dirty="0"/>
              <a:t> dioxide dissolves in rainwater it produces </a:t>
            </a:r>
            <a:r>
              <a:rPr lang="en-GB" sz="2000" b="1" dirty="0">
                <a:solidFill>
                  <a:schemeClr val="accent6">
                    <a:lumMod val="75000"/>
                  </a:schemeClr>
                </a:solidFill>
              </a:rPr>
              <a:t>acid rain</a:t>
            </a:r>
            <a:r>
              <a:rPr lang="en-GB" sz="2000" dirty="0"/>
              <a:t>, which can lead to acidification of lakes, destruction of trees and weathering of rocks and buildings.</a:t>
            </a:r>
          </a:p>
          <a:p>
            <a:pPr marL="171450" indent="-171450">
              <a:buFont typeface="Arial" panose="020B0604020202020204" pitchFamily="34" charset="0"/>
              <a:buChar char="•"/>
            </a:pPr>
            <a:endParaRPr lang="en-GB" sz="2000" dirty="0"/>
          </a:p>
          <a:p>
            <a:pPr marL="171450" indent="-171450">
              <a:buFont typeface="Arial" panose="020B0604020202020204" pitchFamily="34" charset="0"/>
              <a:buChar char="•"/>
            </a:pPr>
            <a:endParaRPr lang="en-GB" sz="2000" dirty="0"/>
          </a:p>
          <a:p>
            <a:pPr marL="171450" indent="-171450">
              <a:buFont typeface="Arial" panose="020B0604020202020204" pitchFamily="34" charset="0"/>
              <a:buChar char="•"/>
            </a:pPr>
            <a:endParaRPr lang="en-GB" sz="2000" dirty="0"/>
          </a:p>
          <a:p>
            <a:pPr marL="171450" indent="-171450">
              <a:buFont typeface="Arial" panose="020B0604020202020204" pitchFamily="34" charset="0"/>
              <a:buChar char="•"/>
            </a:pPr>
            <a:endParaRPr lang="en-GB" sz="2000" dirty="0"/>
          </a:p>
          <a:p>
            <a:pPr marL="171450" indent="-171450">
              <a:buFont typeface="Arial" panose="020B0604020202020204" pitchFamily="34" charset="0"/>
              <a:buChar char="•"/>
            </a:pPr>
            <a:endParaRPr lang="en-GB" sz="2000" dirty="0"/>
          </a:p>
          <a:p>
            <a:pPr marL="171450" indent="-171450">
              <a:buFont typeface="Arial" panose="020B0604020202020204" pitchFamily="34" charset="0"/>
              <a:buChar char="•"/>
            </a:pPr>
            <a:endParaRPr lang="en-GB" sz="2000"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444208" y="4526298"/>
            <a:ext cx="2202386" cy="1651789"/>
          </a:xfrm>
          <a:prstGeom prst="rect">
            <a:avLst/>
          </a:prstGeom>
        </p:spPr>
      </p:pic>
      <p:sp>
        <p:nvSpPr>
          <p:cNvPr id="4" name="Rectangle 3"/>
          <p:cNvSpPr/>
          <p:nvPr/>
        </p:nvSpPr>
        <p:spPr>
          <a:xfrm>
            <a:off x="432043" y="4854648"/>
            <a:ext cx="5806233" cy="1323439"/>
          </a:xfrm>
          <a:prstGeom prst="rect">
            <a:avLst/>
          </a:prstGeom>
        </p:spPr>
        <p:txBody>
          <a:bodyPr wrap="square">
            <a:spAutoFit/>
          </a:bodyPr>
          <a:lstStyle/>
          <a:p>
            <a:pPr marL="171450" indent="-171450">
              <a:buFont typeface="Arial" panose="020B0604020202020204" pitchFamily="34" charset="0"/>
              <a:buChar char="•"/>
            </a:pPr>
            <a:r>
              <a:rPr lang="en-GB" sz="2000" dirty="0"/>
              <a:t>When fuels are burnt in engines, </a:t>
            </a:r>
            <a:r>
              <a:rPr lang="en-GB" sz="2000" b="1" dirty="0">
                <a:solidFill>
                  <a:schemeClr val="accent6">
                    <a:lumMod val="75000"/>
                  </a:schemeClr>
                </a:solidFill>
              </a:rPr>
              <a:t>oxygen and nitrogen </a:t>
            </a:r>
            <a:r>
              <a:rPr lang="en-GB" sz="2000" dirty="0"/>
              <a:t>can react together at </a:t>
            </a:r>
            <a:r>
              <a:rPr lang="en-GB" sz="2000" b="1" dirty="0">
                <a:solidFill>
                  <a:schemeClr val="accent6">
                    <a:lumMod val="75000"/>
                  </a:schemeClr>
                </a:solidFill>
              </a:rPr>
              <a:t>high temperatures </a:t>
            </a:r>
            <a:r>
              <a:rPr lang="en-GB" sz="2000" dirty="0"/>
              <a:t>to produce </a:t>
            </a:r>
            <a:r>
              <a:rPr lang="en-GB" sz="2000" b="1" dirty="0">
                <a:solidFill>
                  <a:schemeClr val="accent6">
                    <a:lumMod val="75000"/>
                  </a:schemeClr>
                </a:solidFill>
              </a:rPr>
              <a:t>oxides of nitrogen </a:t>
            </a:r>
            <a:r>
              <a:rPr lang="en-GB" sz="2000" dirty="0"/>
              <a:t>which are also pollutants.</a:t>
            </a:r>
          </a:p>
        </p:txBody>
      </p:sp>
    </p:spTree>
    <p:extLst>
      <p:ext uri="{BB962C8B-B14F-4D97-AF65-F5344CB8AC3E}">
        <p14:creationId xmlns:p14="http://schemas.microsoft.com/office/powerpoint/2010/main" val="42022959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dirty="0">
                <a:solidFill>
                  <a:schemeClr val="accent6"/>
                </a:solidFill>
              </a:rPr>
              <a:t>Hydrogen versus petrol </a:t>
            </a:r>
            <a:endParaRPr kumimoji="0" lang="en-US" sz="2400" i="0" u="none" strike="noStrike" kern="1200" cap="none" spc="0" normalizeH="0" baseline="0" noProof="0" dirty="0">
              <a:ln>
                <a:noFill/>
              </a:ln>
              <a:solidFill>
                <a:schemeClr val="accent6"/>
              </a:solidFill>
              <a:effectLst/>
              <a:uLnTx/>
              <a:uFillTx/>
              <a:latin typeface="Calibri"/>
              <a:ea typeface=""/>
              <a:cs typeface="News Gothic MT"/>
            </a:endParaRPr>
          </a:p>
        </p:txBody>
      </p:sp>
      <p:graphicFrame>
        <p:nvGraphicFramePr>
          <p:cNvPr id="4" name="Table 3"/>
          <p:cNvGraphicFramePr>
            <a:graphicFrameLocks noGrp="1"/>
          </p:cNvGraphicFramePr>
          <p:nvPr>
            <p:extLst>
              <p:ext uri="{D42A27DB-BD31-4B8C-83A1-F6EECF244321}">
                <p14:modId xmlns:p14="http://schemas.microsoft.com/office/powerpoint/2010/main" val="728035020"/>
              </p:ext>
            </p:extLst>
          </p:nvPr>
        </p:nvGraphicFramePr>
        <p:xfrm>
          <a:off x="395536" y="1052736"/>
          <a:ext cx="8352928" cy="4815840"/>
        </p:xfrm>
        <a:graphic>
          <a:graphicData uri="http://schemas.openxmlformats.org/drawingml/2006/table">
            <a:tbl>
              <a:tblPr firstRow="1" bandRow="1">
                <a:tableStyleId>{912C8C85-51F0-491E-9774-3900AFEF0FD7}</a:tableStyleId>
              </a:tblPr>
              <a:tblGrid>
                <a:gridCol w="4176464">
                  <a:extLst>
                    <a:ext uri="{9D8B030D-6E8A-4147-A177-3AD203B41FA5}">
                      <a16:colId xmlns:a16="http://schemas.microsoft.com/office/drawing/2014/main" val="20000"/>
                    </a:ext>
                  </a:extLst>
                </a:gridCol>
                <a:gridCol w="4176464">
                  <a:extLst>
                    <a:ext uri="{9D8B030D-6E8A-4147-A177-3AD203B41FA5}">
                      <a16:colId xmlns:a16="http://schemas.microsoft.com/office/drawing/2014/main" val="20001"/>
                    </a:ext>
                  </a:extLst>
                </a:gridCol>
              </a:tblGrid>
              <a:tr h="370840">
                <a:tc>
                  <a:txBody>
                    <a:bodyPr/>
                    <a:lstStyle/>
                    <a:p>
                      <a:pPr algn="ctr"/>
                      <a:r>
                        <a:rPr lang="en-GB" sz="2400" dirty="0"/>
                        <a:t>Hydrogen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2400" dirty="0"/>
                        <a:t>Petrol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70840">
                <a:tc>
                  <a:txBody>
                    <a:bodyPr/>
                    <a:lstStyle/>
                    <a:p>
                      <a:pPr marL="342900" indent="-342900">
                        <a:buFont typeface="Arial" panose="020B0604020202020204" pitchFamily="34" charset="0"/>
                        <a:buChar char="•"/>
                      </a:pPr>
                      <a:r>
                        <a:rPr lang="en-GB" sz="2000" dirty="0"/>
                        <a:t>Product</a:t>
                      </a:r>
                      <a:r>
                        <a:rPr lang="en-GB" sz="2000" baseline="0" dirty="0"/>
                        <a:t> is water, no harmful CO</a:t>
                      </a:r>
                      <a:r>
                        <a:rPr lang="en-GB" sz="2000" baseline="-25000" dirty="0"/>
                        <a:t>2</a:t>
                      </a:r>
                      <a:r>
                        <a:rPr lang="en-GB" sz="2000" baseline="0" dirty="0"/>
                        <a:t> or oxides of nitrogen produced by car.</a:t>
                      </a:r>
                    </a:p>
                    <a:p>
                      <a:pPr marL="342900" indent="-342900">
                        <a:buFont typeface="Arial" panose="020B0604020202020204" pitchFamily="34" charset="0"/>
                        <a:buChar char="•"/>
                      </a:pPr>
                      <a:r>
                        <a:rPr lang="en-GB" sz="2000" baseline="0" dirty="0"/>
                        <a:t>Hydrogen fuel cells are very efficient. </a:t>
                      </a:r>
                    </a:p>
                    <a:p>
                      <a:pPr marL="342900" indent="-342900">
                        <a:buFont typeface="Arial" panose="020B0604020202020204" pitchFamily="34" charset="0"/>
                        <a:buChar char="•"/>
                      </a:pPr>
                      <a:r>
                        <a:rPr lang="en-GB" sz="2000" baseline="0" dirty="0"/>
                        <a:t>Most hydrogen is produced by reacting steam with non-renewable coal or natural gas.</a:t>
                      </a:r>
                    </a:p>
                    <a:p>
                      <a:pPr marL="342900" indent="-342900">
                        <a:buFont typeface="Arial" panose="020B0604020202020204" pitchFamily="34" charset="0"/>
                        <a:buChar char="•"/>
                      </a:pPr>
                      <a:r>
                        <a:rPr lang="en-GB" sz="2000" baseline="0" dirty="0"/>
                        <a:t>Few filling stations selling hydrogen.</a:t>
                      </a:r>
                    </a:p>
                    <a:p>
                      <a:pPr marL="342900" indent="-342900">
                        <a:buFont typeface="Arial" panose="020B0604020202020204" pitchFamily="34" charset="0"/>
                        <a:buChar char="•"/>
                      </a:pPr>
                      <a:r>
                        <a:rPr lang="en-GB" sz="2000" baseline="0" dirty="0"/>
                        <a:t>Hydrogen has to be compressed and liquefied, stored in tough insulated tanks.</a:t>
                      </a:r>
                    </a:p>
                    <a:p>
                      <a:pPr marL="342900" indent="-342900">
                        <a:buFont typeface="Arial" panose="020B0604020202020204" pitchFamily="34" charset="0"/>
                        <a:buChar char="•"/>
                      </a:pPr>
                      <a:r>
                        <a:rPr lang="en-GB" sz="2000" baseline="0" dirty="0"/>
                        <a:t>Does not work at very low temperatures.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342900" indent="-342900">
                        <a:buFont typeface="Arial" panose="020B0604020202020204" pitchFamily="34" charset="0"/>
                        <a:buChar char="•"/>
                      </a:pPr>
                      <a:r>
                        <a:rPr lang="en-GB" sz="2000" dirty="0"/>
                        <a:t>Products</a:t>
                      </a:r>
                      <a:r>
                        <a:rPr lang="en-GB" sz="2000" baseline="0" dirty="0"/>
                        <a:t> are water and CO</a:t>
                      </a:r>
                      <a:r>
                        <a:rPr lang="en-GB" sz="2000" baseline="-25000" dirty="0"/>
                        <a:t>2,</a:t>
                      </a:r>
                      <a:r>
                        <a:rPr lang="en-GB" sz="2000" baseline="0" dirty="0"/>
                        <a:t> a greenhouse gas.</a:t>
                      </a:r>
                    </a:p>
                    <a:p>
                      <a:pPr marL="342900" indent="-342900">
                        <a:buFont typeface="Arial" panose="020B0604020202020204" pitchFamily="34" charset="0"/>
                        <a:buChar char="•"/>
                      </a:pPr>
                      <a:r>
                        <a:rPr lang="en-GB" sz="2000" baseline="0" dirty="0"/>
                        <a:t>Produces oxides of nitrogen.</a:t>
                      </a:r>
                    </a:p>
                    <a:p>
                      <a:pPr marL="342900" indent="-342900">
                        <a:buFont typeface="Arial" panose="020B0604020202020204" pitchFamily="34" charset="0"/>
                        <a:buChar char="•"/>
                      </a:pPr>
                      <a:r>
                        <a:rPr lang="en-GB" sz="2000" baseline="0" dirty="0"/>
                        <a:t>Petrol is a fraction of the non-renewable crude oil.</a:t>
                      </a:r>
                    </a:p>
                    <a:p>
                      <a:pPr marL="342900" indent="-342900">
                        <a:buFont typeface="Arial" panose="020B0604020202020204" pitchFamily="34" charset="0"/>
                        <a:buChar char="•"/>
                      </a:pPr>
                      <a:r>
                        <a:rPr lang="en-GB" sz="2000" baseline="0" dirty="0"/>
                        <a:t>Produces large amounts of energy.</a:t>
                      </a:r>
                    </a:p>
                    <a:p>
                      <a:pPr marL="342900" indent="-342900">
                        <a:buFont typeface="Arial" panose="020B0604020202020204" pitchFamily="34" charset="0"/>
                        <a:buChar char="•"/>
                      </a:pPr>
                      <a:r>
                        <a:rPr lang="en-GB" sz="2000" baseline="0" dirty="0"/>
                        <a:t>Lots of petrol stations available to fill up the car.</a:t>
                      </a:r>
                    </a:p>
                    <a:p>
                      <a:pPr marL="342900" indent="-342900">
                        <a:buFont typeface="Arial" panose="020B0604020202020204" pitchFamily="34" charset="0"/>
                        <a:buChar char="•"/>
                      </a:pPr>
                      <a:r>
                        <a:rPr lang="en-GB" sz="2000" baseline="0" dirty="0"/>
                        <a:t>Easily stored and transported.</a:t>
                      </a:r>
                    </a:p>
                    <a:p>
                      <a:pPr marL="342900" indent="-342900">
                        <a:buFont typeface="Arial" panose="020B0604020202020204" pitchFamily="34" charset="0"/>
                        <a:buChar char="•"/>
                      </a:pPr>
                      <a:r>
                        <a:rPr lang="en-GB" sz="2000" baseline="0" dirty="0"/>
                        <a:t>Works at low temperatures.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7517166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970318"/>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3200" b="1" dirty="0"/>
              <a:t>Fuels – Part 2</a:t>
            </a:r>
          </a:p>
          <a:p>
            <a:endParaRPr lang="en-US" sz="2800" b="1" dirty="0"/>
          </a:p>
          <a:p>
            <a:pPr marL="685800" lvl="1" indent="-342900">
              <a:buFont typeface="Arial" charset="0"/>
              <a:buChar char="•"/>
            </a:pPr>
            <a:r>
              <a:rPr lang="en-US" sz="2400" dirty="0">
                <a:solidFill>
                  <a:schemeClr val="tx1">
                    <a:lumMod val="50000"/>
                    <a:lumOff val="50000"/>
                  </a:schemeClr>
                </a:solidFill>
              </a:rPr>
              <a:t>Combustion and </a:t>
            </a:r>
          </a:p>
          <a:p>
            <a:pPr marL="800100" lvl="2"/>
            <a:r>
              <a:rPr lang="en-US" sz="2400" dirty="0">
                <a:solidFill>
                  <a:schemeClr val="tx1">
                    <a:lumMod val="50000"/>
                    <a:lumOff val="50000"/>
                  </a:schemeClr>
                </a:solidFill>
              </a:rPr>
              <a:t>pollution</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38366778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262979"/>
          </a:xfrm>
          <a:prstGeom prst="rect">
            <a:avLst/>
          </a:prstGeom>
          <a:noFill/>
        </p:spPr>
        <p:txBody>
          <a:bodyPr wrap="square" rtlCol="0">
            <a:spAutoFit/>
          </a:bodyPr>
          <a:lstStyle/>
          <a:p>
            <a:pPr marL="457200" indent="-457200">
              <a:buFont typeface="+mj-lt"/>
              <a:buAutoNum type="arabicPeriod"/>
            </a:pPr>
            <a:r>
              <a:rPr lang="en-GB" sz="2400" dirty="0"/>
              <a:t>What are the two main elements in most fuels?</a:t>
            </a:r>
            <a:r>
              <a:rPr lang="en-GB" sz="2400" b="1" i="1" dirty="0">
                <a:solidFill>
                  <a:srgbClr val="00B050"/>
                </a:solidFill>
              </a:rPr>
              <a:t>	</a:t>
            </a:r>
          </a:p>
          <a:p>
            <a:pPr marL="457200" indent="-457200">
              <a:buFont typeface="+mj-lt"/>
              <a:buAutoNum type="arabicPeriod"/>
            </a:pPr>
            <a:endParaRPr lang="en-GB" sz="2400" b="1" i="1" dirty="0">
              <a:solidFill>
                <a:srgbClr val="00B050"/>
              </a:solidFill>
            </a:endParaRPr>
          </a:p>
          <a:p>
            <a:pPr marL="457200" indent="-457200">
              <a:buFont typeface="+mj-lt"/>
              <a:buAutoNum type="arabicPeriod"/>
            </a:pPr>
            <a:r>
              <a:rPr lang="en-GB" sz="2400" dirty="0"/>
              <a:t>What other potentially polluting element may be present in fossil fuels?</a:t>
            </a:r>
          </a:p>
          <a:p>
            <a:pPr marL="457200" indent="-457200">
              <a:buFont typeface="+mj-lt"/>
              <a:buAutoNum type="arabicPeriod"/>
            </a:pPr>
            <a:endParaRPr lang="en-GB" sz="2400" dirty="0"/>
          </a:p>
          <a:p>
            <a:pPr marL="457200" indent="-457200">
              <a:buFont typeface="+mj-lt"/>
              <a:buAutoNum type="arabicPeriod"/>
            </a:pPr>
            <a:r>
              <a:rPr lang="en-GB" sz="2400" dirty="0"/>
              <a:t>What gases may be released into the atmosphere when a fuel is burned?</a:t>
            </a:r>
          </a:p>
          <a:p>
            <a:pPr marL="457200" indent="-457200">
              <a:buFont typeface="+mj-lt"/>
              <a:buAutoNum type="arabicPeriod"/>
            </a:pPr>
            <a:endParaRPr lang="en-GB" sz="2400" dirty="0"/>
          </a:p>
          <a:p>
            <a:pPr marL="457200" indent="-457200">
              <a:buFont typeface="+mj-lt"/>
              <a:buAutoNum type="arabicPeriod"/>
            </a:pPr>
            <a:r>
              <a:rPr lang="en-GB" sz="2400" dirty="0"/>
              <a:t>Which of these gases can lead to acid rain? </a:t>
            </a:r>
          </a:p>
          <a:p>
            <a:pPr marL="457200" indent="-457200">
              <a:buFont typeface="+mj-lt"/>
              <a:buAutoNum type="arabicPeriod"/>
            </a:pPr>
            <a:endParaRPr lang="en-GB" sz="2400" dirty="0"/>
          </a:p>
          <a:p>
            <a:pPr marL="457200" indent="-457200">
              <a:buFont typeface="+mj-lt"/>
              <a:buAutoNum type="arabicPeriod"/>
            </a:pPr>
            <a:r>
              <a:rPr lang="en-GB" sz="2400" dirty="0"/>
              <a:t>Write the balanced symbol equation for the complete combustion of pentane C</a:t>
            </a:r>
            <a:r>
              <a:rPr lang="en-GB" sz="2400" baseline="-25000" dirty="0"/>
              <a:t>5</a:t>
            </a:r>
            <a:r>
              <a:rPr lang="en-GB" sz="2400" dirty="0"/>
              <a:t>H</a:t>
            </a:r>
            <a:r>
              <a:rPr lang="en-GB" sz="2400" baseline="-25000" dirty="0"/>
              <a:t>12</a:t>
            </a:r>
            <a:r>
              <a:rPr lang="en-GB" sz="2400" dirty="0"/>
              <a:t> . </a:t>
            </a:r>
          </a:p>
          <a:p>
            <a:pPr marL="457200" indent="-457200">
              <a:buFont typeface="+mj-lt"/>
              <a:buAutoNum type="arabicPeriod"/>
            </a:pPr>
            <a:endParaRPr lang="en-GB" sz="2400" dirty="0"/>
          </a:p>
          <a:p>
            <a:pPr marL="457200" indent="-457200">
              <a:buFont typeface="+mj-lt"/>
              <a:buAutoNum type="arabicPeriod"/>
            </a:pPr>
            <a:endParaRPr lang="en-GB" sz="2400" dirty="0"/>
          </a:p>
        </p:txBody>
      </p:sp>
    </p:spTree>
    <p:extLst>
      <p:ext uri="{BB962C8B-B14F-4D97-AF65-F5344CB8AC3E}">
        <p14:creationId xmlns:p14="http://schemas.microsoft.com/office/powerpoint/2010/main" val="2233677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endParaRPr lang="en-GB" sz="2400" dirty="0"/>
          </a:p>
          <a:p>
            <a:pPr marL="457200" indent="-457200">
              <a:buFont typeface="+mj-lt"/>
              <a:buAutoNum type="arabicPeriod" startAt="6"/>
            </a:pPr>
            <a:r>
              <a:rPr lang="en-GB" sz="2400" dirty="0"/>
              <a:t>Which two substances would be formed if this was an incomplete combustion reaction? </a:t>
            </a:r>
          </a:p>
          <a:p>
            <a:pPr marL="457200" indent="-457200">
              <a:buFont typeface="+mj-lt"/>
              <a:buAutoNum type="arabicPeriod" startAt="6"/>
            </a:pPr>
            <a:endParaRPr lang="en-GB" sz="2400" dirty="0"/>
          </a:p>
          <a:p>
            <a:pPr marL="457200" indent="-457200">
              <a:buFont typeface="+mj-lt"/>
              <a:buAutoNum type="arabicPeriod" startAt="6"/>
            </a:pPr>
            <a:r>
              <a:rPr lang="en-GB" sz="2400" dirty="0"/>
              <a:t>Describe the gas, carbon monoxide.</a:t>
            </a:r>
          </a:p>
          <a:p>
            <a:pPr marL="457200" indent="-457200">
              <a:buFont typeface="+mj-lt"/>
              <a:buAutoNum type="arabicPeriod" startAt="6"/>
            </a:pPr>
            <a:endParaRPr lang="en-GB" sz="2400" dirty="0"/>
          </a:p>
          <a:p>
            <a:pPr marL="457200" indent="-457200">
              <a:buFont typeface="+mj-lt"/>
              <a:buAutoNum type="arabicPeriod" startAt="6"/>
            </a:pPr>
            <a:r>
              <a:rPr lang="en-GB" sz="2400" dirty="0"/>
              <a:t>Why is carbon monoxide difficult to detect?</a:t>
            </a:r>
          </a:p>
          <a:p>
            <a:pPr marL="457200" indent="-457200">
              <a:buFont typeface="+mj-lt"/>
              <a:buAutoNum type="arabicPeriod" startAt="6"/>
            </a:pPr>
            <a:endParaRPr lang="en-GB" sz="2400" b="1" i="1" dirty="0">
              <a:solidFill>
                <a:srgbClr val="00B050"/>
              </a:solidFill>
              <a:sym typeface="Wingdings" panose="05000000000000000000" pitchFamily="2" charset="2"/>
            </a:endParaRPr>
          </a:p>
          <a:p>
            <a:pPr marL="457200" indent="-457200">
              <a:buFont typeface="+mj-lt"/>
              <a:buAutoNum type="arabicPeriod" startAt="6"/>
            </a:pPr>
            <a:r>
              <a:rPr lang="en-GB" sz="2400" dirty="0">
                <a:sym typeface="Wingdings" panose="05000000000000000000" pitchFamily="2" charset="2"/>
              </a:rPr>
              <a:t>Give two advantages of using hydrogen in cars, rather than petrol.</a:t>
            </a:r>
          </a:p>
          <a:p>
            <a:pPr marL="457200" indent="-457200">
              <a:buFont typeface="+mj-lt"/>
              <a:buAutoNum type="arabicPeriod" startAt="6"/>
            </a:pPr>
            <a:endParaRPr lang="en-GB" sz="2400" dirty="0">
              <a:sym typeface="Wingdings" panose="05000000000000000000" pitchFamily="2" charset="2"/>
            </a:endParaRPr>
          </a:p>
          <a:p>
            <a:pPr marL="457200" indent="-457200">
              <a:buFont typeface="+mj-lt"/>
              <a:buAutoNum type="arabicPeriod" startAt="6"/>
            </a:pPr>
            <a:r>
              <a:rPr lang="en-GB" sz="2400" dirty="0">
                <a:sym typeface="Wingdings" panose="05000000000000000000" pitchFamily="2" charset="2"/>
              </a:rPr>
              <a:t>Give two advantages of using petrol in cars, rather than hydrogen.</a:t>
            </a:r>
          </a:p>
        </p:txBody>
      </p:sp>
    </p:spTree>
    <p:extLst>
      <p:ext uri="{BB962C8B-B14F-4D97-AF65-F5344CB8AC3E}">
        <p14:creationId xmlns:p14="http://schemas.microsoft.com/office/powerpoint/2010/main" val="27779070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693319"/>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US" sz="3200" b="1" dirty="0"/>
              <a:t>Fuels – Part 2</a:t>
            </a:r>
          </a:p>
          <a:p>
            <a:endParaRPr lang="en-US" sz="2800" b="1" dirty="0"/>
          </a:p>
          <a:p>
            <a:pPr marL="685800" lvl="1" indent="-342900">
              <a:buFont typeface="Arial" charset="0"/>
              <a:buChar char="•"/>
            </a:pPr>
            <a:r>
              <a:rPr lang="en-US" sz="2400" dirty="0">
                <a:solidFill>
                  <a:schemeClr val="tx1">
                    <a:lumMod val="50000"/>
                    <a:lumOff val="50000"/>
                  </a:schemeClr>
                </a:solidFill>
              </a:rPr>
              <a:t>Combustion and </a:t>
            </a:r>
          </a:p>
          <a:p>
            <a:pPr marL="800100" lvl="2"/>
            <a:r>
              <a:rPr lang="en-US" sz="2400" dirty="0">
                <a:solidFill>
                  <a:schemeClr val="tx1">
                    <a:lumMod val="50000"/>
                    <a:lumOff val="50000"/>
                  </a:schemeClr>
                </a:solidFill>
              </a:rPr>
              <a:t>pollution</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2400140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154984"/>
          </a:xfrm>
          <a:prstGeom prst="rect">
            <a:avLst/>
          </a:prstGeom>
          <a:noFill/>
        </p:spPr>
        <p:txBody>
          <a:bodyPr wrap="square" rtlCol="0">
            <a:spAutoFit/>
          </a:bodyPr>
          <a:lstStyle/>
          <a:p>
            <a:pPr marL="457200" indent="-457200">
              <a:buFont typeface="+mj-lt"/>
              <a:buAutoNum type="arabicPeriod"/>
            </a:pPr>
            <a:r>
              <a:rPr lang="en-GB" sz="2400" dirty="0"/>
              <a:t>What are the two main elements in most fuels?</a:t>
            </a:r>
            <a:r>
              <a:rPr lang="en-GB" sz="2400" b="1" i="1" dirty="0">
                <a:solidFill>
                  <a:srgbClr val="00B050"/>
                </a:solidFill>
              </a:rPr>
              <a:t>	</a:t>
            </a:r>
          </a:p>
          <a:p>
            <a:pPr lvl="1"/>
            <a:r>
              <a:rPr lang="en-GB" sz="2400" dirty="0">
                <a:solidFill>
                  <a:srgbClr val="00B050"/>
                </a:solidFill>
              </a:rPr>
              <a:t>Hydrogen and carbon.</a:t>
            </a:r>
          </a:p>
          <a:p>
            <a:pPr marL="457200" indent="-457200">
              <a:buFont typeface="+mj-lt"/>
              <a:buAutoNum type="arabicPeriod"/>
            </a:pPr>
            <a:r>
              <a:rPr lang="en-GB" sz="2400" dirty="0"/>
              <a:t>What other potentially polluting element may be present in fossil fuels?</a:t>
            </a:r>
          </a:p>
          <a:p>
            <a:pPr lvl="1"/>
            <a:r>
              <a:rPr lang="en-GB" sz="2400" dirty="0" err="1">
                <a:solidFill>
                  <a:srgbClr val="00B050"/>
                </a:solidFill>
              </a:rPr>
              <a:t>Sulfur</a:t>
            </a:r>
            <a:r>
              <a:rPr lang="en-GB" sz="2400" dirty="0">
                <a:solidFill>
                  <a:srgbClr val="00B050"/>
                </a:solidFill>
              </a:rPr>
              <a:t>.</a:t>
            </a:r>
          </a:p>
          <a:p>
            <a:pPr marL="457200" indent="-457200">
              <a:buFont typeface="+mj-lt"/>
              <a:buAutoNum type="arabicPeriod"/>
            </a:pPr>
            <a:r>
              <a:rPr lang="en-GB" sz="2400" dirty="0"/>
              <a:t>What gases may be released into the atmosphere when a fuel is burned?</a:t>
            </a:r>
          </a:p>
          <a:p>
            <a:pPr lvl="1"/>
            <a:r>
              <a:rPr lang="en-GB" sz="2400" dirty="0">
                <a:solidFill>
                  <a:srgbClr val="00B050"/>
                </a:solidFill>
              </a:rPr>
              <a:t>Carbon dioxide, water vapour, carbon monoxide, </a:t>
            </a:r>
            <a:r>
              <a:rPr lang="en-GB" sz="2400" dirty="0" err="1">
                <a:solidFill>
                  <a:srgbClr val="00B050"/>
                </a:solidFill>
              </a:rPr>
              <a:t>sulfur</a:t>
            </a:r>
            <a:r>
              <a:rPr lang="en-GB" sz="2400" dirty="0">
                <a:solidFill>
                  <a:srgbClr val="00B050"/>
                </a:solidFill>
              </a:rPr>
              <a:t> dioxide and oxides of nitrogen.</a:t>
            </a:r>
          </a:p>
          <a:p>
            <a:pPr marL="457200" indent="-457200">
              <a:buFont typeface="+mj-lt"/>
              <a:buAutoNum type="arabicPeriod"/>
            </a:pPr>
            <a:r>
              <a:rPr lang="en-GB" sz="2400" dirty="0"/>
              <a:t>Which of these gases can lead to acid rain?</a:t>
            </a:r>
          </a:p>
          <a:p>
            <a:pPr lvl="1"/>
            <a:r>
              <a:rPr lang="en-GB" sz="2400" dirty="0" err="1">
                <a:solidFill>
                  <a:srgbClr val="00B050"/>
                </a:solidFill>
              </a:rPr>
              <a:t>Sulfur</a:t>
            </a:r>
            <a:r>
              <a:rPr lang="en-GB" sz="2400" dirty="0">
                <a:solidFill>
                  <a:srgbClr val="00B050"/>
                </a:solidFill>
              </a:rPr>
              <a:t> dioxide.</a:t>
            </a:r>
          </a:p>
        </p:txBody>
      </p:sp>
    </p:spTree>
    <p:extLst>
      <p:ext uri="{BB962C8B-B14F-4D97-AF65-F5344CB8AC3E}">
        <p14:creationId xmlns:p14="http://schemas.microsoft.com/office/powerpoint/2010/main" val="7427203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27584" y="0"/>
            <a:ext cx="8316416" cy="657041"/>
          </a:xfrm>
        </p:spPr>
        <p:txBody>
          <a:bodyPr>
            <a:noAutofit/>
          </a:bodyPr>
          <a:lstStyle/>
          <a:p>
            <a:pPr marL="342900" lvl="1" algn="r" defTabSz="342900" rtl="0">
              <a:spcBef>
                <a:spcPct val="20000"/>
              </a:spcBef>
            </a:pPr>
            <a:r>
              <a:rPr lang="en-US" dirty="0">
                <a:solidFill>
                  <a:schemeClr val="accent6"/>
                </a:solidFill>
              </a:rPr>
              <a:t>Common atmospheric pollutants and their sources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Font typeface="+mj-lt"/>
              <a:buAutoNum type="arabicPeriod" startAt="5"/>
            </a:pPr>
            <a:r>
              <a:rPr lang="en-GB" sz="2400" dirty="0"/>
              <a:t>Write the balanced symbol equation for the complete combustion of pentane C</a:t>
            </a:r>
            <a:r>
              <a:rPr lang="en-GB" sz="2400" baseline="-25000" dirty="0"/>
              <a:t>5</a:t>
            </a:r>
            <a:r>
              <a:rPr lang="en-GB" sz="2400" dirty="0"/>
              <a:t>H</a:t>
            </a:r>
            <a:r>
              <a:rPr lang="en-GB" sz="2400" baseline="-25000" dirty="0"/>
              <a:t>12</a:t>
            </a:r>
            <a:r>
              <a:rPr lang="en-GB" sz="2400" dirty="0"/>
              <a:t> . </a:t>
            </a:r>
          </a:p>
          <a:p>
            <a:pPr lvl="1" algn="ctr"/>
            <a:r>
              <a:rPr lang="en-GB" sz="2400" dirty="0">
                <a:solidFill>
                  <a:srgbClr val="00B050"/>
                </a:solidFill>
              </a:rPr>
              <a:t>C</a:t>
            </a:r>
            <a:r>
              <a:rPr lang="en-GB" sz="2400" baseline="-25000" dirty="0">
                <a:solidFill>
                  <a:srgbClr val="00B050"/>
                </a:solidFill>
              </a:rPr>
              <a:t>5</a:t>
            </a:r>
            <a:r>
              <a:rPr lang="en-GB" sz="2400" dirty="0">
                <a:solidFill>
                  <a:srgbClr val="00B050"/>
                </a:solidFill>
              </a:rPr>
              <a:t>H</a:t>
            </a:r>
            <a:r>
              <a:rPr lang="en-GB" sz="2400" baseline="-25000" dirty="0">
                <a:solidFill>
                  <a:srgbClr val="00B050"/>
                </a:solidFill>
              </a:rPr>
              <a:t>12</a:t>
            </a:r>
            <a:r>
              <a:rPr lang="en-GB" sz="2400" dirty="0">
                <a:solidFill>
                  <a:srgbClr val="00B050"/>
                </a:solidFill>
              </a:rPr>
              <a:t> + 8O</a:t>
            </a:r>
            <a:r>
              <a:rPr lang="en-GB" sz="2400" baseline="-25000" dirty="0">
                <a:solidFill>
                  <a:srgbClr val="00B050"/>
                </a:solidFill>
              </a:rPr>
              <a:t>2</a:t>
            </a:r>
            <a:r>
              <a:rPr lang="en-GB" sz="2400" dirty="0">
                <a:solidFill>
                  <a:srgbClr val="00B050"/>
                </a:solidFill>
              </a:rPr>
              <a:t>                  5CO</a:t>
            </a:r>
            <a:r>
              <a:rPr lang="en-GB" sz="2400" baseline="-25000" dirty="0">
                <a:solidFill>
                  <a:srgbClr val="00B050"/>
                </a:solidFill>
              </a:rPr>
              <a:t>2 </a:t>
            </a:r>
            <a:r>
              <a:rPr lang="en-GB" sz="2400" dirty="0">
                <a:solidFill>
                  <a:srgbClr val="00B050"/>
                </a:solidFill>
              </a:rPr>
              <a:t>+ 6H</a:t>
            </a:r>
            <a:r>
              <a:rPr lang="en-GB" sz="2400" baseline="-25000" dirty="0">
                <a:solidFill>
                  <a:srgbClr val="00B050"/>
                </a:solidFill>
              </a:rPr>
              <a:t>2</a:t>
            </a:r>
            <a:r>
              <a:rPr lang="en-GB" sz="2400" dirty="0">
                <a:solidFill>
                  <a:srgbClr val="00B050"/>
                </a:solidFill>
              </a:rPr>
              <a:t>O</a:t>
            </a:r>
            <a:endParaRPr lang="en-GB" sz="2400" baseline="-25000" dirty="0">
              <a:solidFill>
                <a:srgbClr val="00B050"/>
              </a:solidFill>
            </a:endParaRPr>
          </a:p>
          <a:p>
            <a:pPr marL="457200" indent="-457200">
              <a:buFont typeface="+mj-lt"/>
              <a:buAutoNum type="arabicPeriod" startAt="5"/>
            </a:pPr>
            <a:r>
              <a:rPr lang="en-GB" sz="2400" dirty="0"/>
              <a:t>Which two substances would be formed if this was an incomplete combustion reaction? </a:t>
            </a:r>
          </a:p>
          <a:p>
            <a:pPr lvl="1"/>
            <a:r>
              <a:rPr lang="en-GB" sz="2400" dirty="0">
                <a:solidFill>
                  <a:srgbClr val="00B050"/>
                </a:solidFill>
              </a:rPr>
              <a:t>Water and carbon monoxide and/ or soot</a:t>
            </a:r>
          </a:p>
          <a:p>
            <a:pPr marL="457200" indent="-457200">
              <a:buFont typeface="+mj-lt"/>
              <a:buAutoNum type="arabicPeriod" startAt="5"/>
            </a:pPr>
            <a:r>
              <a:rPr lang="en-GB" sz="2400" dirty="0"/>
              <a:t>Describe the gas, carbon monoxide.</a:t>
            </a:r>
          </a:p>
          <a:p>
            <a:pPr lvl="1"/>
            <a:r>
              <a:rPr lang="en-GB" sz="2400" dirty="0">
                <a:solidFill>
                  <a:srgbClr val="00B050"/>
                </a:solidFill>
              </a:rPr>
              <a:t>Toxic gas; colourless and odourless.</a:t>
            </a:r>
          </a:p>
          <a:p>
            <a:pPr marL="457200" indent="-457200">
              <a:buFont typeface="+mj-lt"/>
              <a:buAutoNum type="arabicPeriod" startAt="5"/>
            </a:pPr>
            <a:r>
              <a:rPr lang="en-GB" sz="2400" dirty="0"/>
              <a:t>Why is carbon monoxide difficult to detect?</a:t>
            </a:r>
          </a:p>
          <a:p>
            <a:pPr lvl="1"/>
            <a:r>
              <a:rPr lang="en-GB" sz="2400" dirty="0">
                <a:solidFill>
                  <a:srgbClr val="00B050"/>
                </a:solidFill>
              </a:rPr>
              <a:t>Colourless and odourless.</a:t>
            </a:r>
          </a:p>
          <a:p>
            <a:pPr marL="457200" indent="-457200">
              <a:buFont typeface="+mj-lt"/>
              <a:buAutoNum type="arabicPeriod" startAt="9"/>
            </a:pPr>
            <a:r>
              <a:rPr lang="en-GB" sz="2400" dirty="0">
                <a:sym typeface="Wingdings" panose="05000000000000000000" pitchFamily="2" charset="2"/>
              </a:rPr>
              <a:t>Give two advantages of using hydrogen in cars, rather than petrol.</a:t>
            </a:r>
          </a:p>
          <a:p>
            <a:pPr lvl="1"/>
            <a:r>
              <a:rPr lang="en-GB" sz="2400" dirty="0">
                <a:solidFill>
                  <a:srgbClr val="00B050"/>
                </a:solidFill>
                <a:sym typeface="Wingdings" panose="05000000000000000000" pitchFamily="2" charset="2"/>
              </a:rPr>
              <a:t>No CO</a:t>
            </a:r>
            <a:r>
              <a:rPr lang="en-GB" sz="2400" baseline="-25000" dirty="0">
                <a:solidFill>
                  <a:srgbClr val="00B050"/>
                </a:solidFill>
                <a:sym typeface="Wingdings" panose="05000000000000000000" pitchFamily="2" charset="2"/>
              </a:rPr>
              <a:t>2</a:t>
            </a:r>
            <a:r>
              <a:rPr lang="en-GB" sz="2400" dirty="0">
                <a:solidFill>
                  <a:srgbClr val="00B050"/>
                </a:solidFill>
                <a:sym typeface="Wingdings" panose="05000000000000000000" pitchFamily="2" charset="2"/>
              </a:rPr>
              <a:t> or oxide of nitrogen emissions by the car; very efficient.</a:t>
            </a:r>
          </a:p>
          <a:p>
            <a:pPr marL="457200" indent="-457200">
              <a:buFont typeface="+mj-lt"/>
              <a:buAutoNum type="arabicPeriod" startAt="9"/>
            </a:pPr>
            <a:r>
              <a:rPr lang="en-GB" sz="2400" dirty="0">
                <a:sym typeface="Wingdings" panose="05000000000000000000" pitchFamily="2" charset="2"/>
              </a:rPr>
              <a:t>Give two advantages of using petrol in cars, rather than hydrogen.</a:t>
            </a:r>
          </a:p>
          <a:p>
            <a:pPr lvl="1"/>
            <a:r>
              <a:rPr lang="en-GB" sz="2400" dirty="0">
                <a:solidFill>
                  <a:srgbClr val="00B050"/>
                </a:solidFill>
              </a:rPr>
              <a:t>Lots of filling stations available, works at low temperature, produces a lot of energy.</a:t>
            </a:r>
          </a:p>
        </p:txBody>
      </p:sp>
      <p:cxnSp>
        <p:nvCxnSpPr>
          <p:cNvPr id="5" name="Straight Arrow Connector 4"/>
          <p:cNvCxnSpPr/>
          <p:nvPr/>
        </p:nvCxnSpPr>
        <p:spPr>
          <a:xfrm>
            <a:off x="4211960" y="1700808"/>
            <a:ext cx="1152128" cy="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15528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33062" y="1150665"/>
            <a:ext cx="3491880" cy="4939814"/>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3200" b="1" dirty="0"/>
              <a:t>Fuels – Part 3</a:t>
            </a:r>
          </a:p>
          <a:p>
            <a:endParaRPr lang="en-US" sz="2800" b="1" dirty="0"/>
          </a:p>
          <a:p>
            <a:pPr marL="685800" lvl="1" indent="-342900">
              <a:buFont typeface="Arial" charset="0"/>
              <a:buChar char="•"/>
            </a:pPr>
            <a:r>
              <a:rPr lang="en-US" sz="2400" dirty="0">
                <a:solidFill>
                  <a:schemeClr val="tx1">
                    <a:lumMod val="50000"/>
                    <a:lumOff val="50000"/>
                  </a:schemeClr>
                </a:solidFill>
              </a:rPr>
              <a:t>Cracking</a:t>
            </a:r>
          </a:p>
          <a:p>
            <a:pPr>
              <a:lnSpc>
                <a:spcPct val="150000"/>
              </a:lnSpc>
            </a:pPr>
            <a:endParaRPr lang="en-GB" b="1" dirty="0">
              <a:solidFill>
                <a:schemeClr val="tx1">
                  <a:lumMod val="50000"/>
                  <a:lumOff val="50000"/>
                </a:schemeClr>
              </a:solidFill>
            </a:endParaRPr>
          </a:p>
          <a:p>
            <a:endParaRPr lang="en-GB" sz="2400" b="1" dirty="0">
              <a:solidFill>
                <a:schemeClr val="tx1">
                  <a:lumMod val="50000"/>
                  <a:lumOff val="50000"/>
                </a:schemeClr>
              </a:solidFill>
            </a:endParaRPr>
          </a:p>
          <a:p>
            <a:endParaRPr lang="en-GB" dirty="0"/>
          </a:p>
        </p:txBody>
      </p:sp>
    </p:spTree>
    <p:extLst>
      <p:ext uri="{BB962C8B-B14F-4D97-AF65-F5344CB8AC3E}">
        <p14:creationId xmlns:p14="http://schemas.microsoft.com/office/powerpoint/2010/main" val="38287290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dirty="0">
                <a:solidFill>
                  <a:schemeClr val="accent6"/>
                </a:solidFill>
              </a:rPr>
              <a:t>Cracking and alkenes</a:t>
            </a:r>
            <a:endParaRPr kumimoji="0" lang="en-US" sz="24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3" name="TextBox 2"/>
          <p:cNvSpPr txBox="1"/>
          <p:nvPr/>
        </p:nvSpPr>
        <p:spPr>
          <a:xfrm>
            <a:off x="179512" y="836712"/>
            <a:ext cx="5832648" cy="1015663"/>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Larger saturated hydrocarbons </a:t>
            </a:r>
            <a:r>
              <a:rPr lang="en-GB" sz="2000" dirty="0"/>
              <a:t>can be broken down (cracked) to produce </a:t>
            </a:r>
            <a:r>
              <a:rPr lang="en-GB" sz="2000" b="1" dirty="0">
                <a:solidFill>
                  <a:schemeClr val="accent6">
                    <a:lumMod val="75000"/>
                  </a:schemeClr>
                </a:solidFill>
              </a:rPr>
              <a:t>smaller</a:t>
            </a:r>
            <a:r>
              <a:rPr lang="en-GB" sz="2000" dirty="0"/>
              <a:t> </a:t>
            </a:r>
            <a:r>
              <a:rPr lang="en-GB" sz="2000" b="1" dirty="0">
                <a:solidFill>
                  <a:schemeClr val="accent6">
                    <a:lumMod val="75000"/>
                  </a:schemeClr>
                </a:solidFill>
              </a:rPr>
              <a:t>more useful </a:t>
            </a:r>
            <a:r>
              <a:rPr lang="en-GB" sz="2000" dirty="0"/>
              <a:t>molecules. Some of which are </a:t>
            </a:r>
            <a:r>
              <a:rPr lang="en-GB" sz="2000" b="1" dirty="0">
                <a:solidFill>
                  <a:schemeClr val="accent6">
                    <a:lumMod val="75000"/>
                  </a:schemeClr>
                </a:solidFill>
              </a:rPr>
              <a:t>unsaturated alkenes</a:t>
            </a:r>
            <a:r>
              <a:rPr lang="en-GB" sz="2000" dirty="0"/>
              <a:t>.</a:t>
            </a:r>
          </a:p>
        </p:txBody>
      </p:sp>
      <p:sp>
        <p:nvSpPr>
          <p:cNvPr id="4" name="TextBox 3"/>
          <p:cNvSpPr txBox="1"/>
          <p:nvPr/>
        </p:nvSpPr>
        <p:spPr>
          <a:xfrm>
            <a:off x="136226" y="2190323"/>
            <a:ext cx="8712968" cy="461665"/>
          </a:xfrm>
          <a:custGeom>
            <a:avLst/>
            <a:gdLst>
              <a:gd name="connsiteX0" fmla="*/ 0 w 8712968"/>
              <a:gd name="connsiteY0" fmla="*/ 0 h 400110"/>
              <a:gd name="connsiteX1" fmla="*/ 8712968 w 8712968"/>
              <a:gd name="connsiteY1" fmla="*/ 0 h 400110"/>
              <a:gd name="connsiteX2" fmla="*/ 8712968 w 8712968"/>
              <a:gd name="connsiteY2" fmla="*/ 400110 h 400110"/>
              <a:gd name="connsiteX3" fmla="*/ 0 w 8712968"/>
              <a:gd name="connsiteY3" fmla="*/ 400110 h 400110"/>
              <a:gd name="connsiteX4" fmla="*/ 0 w 8712968"/>
              <a:gd name="connsiteY4" fmla="*/ 0 h 400110"/>
              <a:gd name="connsiteX0" fmla="*/ 0 w 8712968"/>
              <a:gd name="connsiteY0" fmla="*/ 0 h 580414"/>
              <a:gd name="connsiteX1" fmla="*/ 8712968 w 8712968"/>
              <a:gd name="connsiteY1" fmla="*/ 0 h 580414"/>
              <a:gd name="connsiteX2" fmla="*/ 8712968 w 8712968"/>
              <a:gd name="connsiteY2" fmla="*/ 400110 h 580414"/>
              <a:gd name="connsiteX3" fmla="*/ 12879 w 8712968"/>
              <a:gd name="connsiteY3" fmla="*/ 580414 h 580414"/>
              <a:gd name="connsiteX4" fmla="*/ 0 w 8712968"/>
              <a:gd name="connsiteY4" fmla="*/ 0 h 580414"/>
              <a:gd name="connsiteX0" fmla="*/ 0 w 8712968"/>
              <a:gd name="connsiteY0" fmla="*/ 0 h 657687"/>
              <a:gd name="connsiteX1" fmla="*/ 8712968 w 8712968"/>
              <a:gd name="connsiteY1" fmla="*/ 0 h 657687"/>
              <a:gd name="connsiteX2" fmla="*/ 8712968 w 8712968"/>
              <a:gd name="connsiteY2" fmla="*/ 657687 h 657687"/>
              <a:gd name="connsiteX3" fmla="*/ 12879 w 8712968"/>
              <a:gd name="connsiteY3" fmla="*/ 580414 h 657687"/>
              <a:gd name="connsiteX4" fmla="*/ 0 w 8712968"/>
              <a:gd name="connsiteY4" fmla="*/ 0 h 657687"/>
              <a:gd name="connsiteX0" fmla="*/ 0 w 8712968"/>
              <a:gd name="connsiteY0" fmla="*/ 0 h 631930"/>
              <a:gd name="connsiteX1" fmla="*/ 8712968 w 8712968"/>
              <a:gd name="connsiteY1" fmla="*/ 0 h 631930"/>
              <a:gd name="connsiteX2" fmla="*/ 8712968 w 8712968"/>
              <a:gd name="connsiteY2" fmla="*/ 631930 h 631930"/>
              <a:gd name="connsiteX3" fmla="*/ 12879 w 8712968"/>
              <a:gd name="connsiteY3" fmla="*/ 580414 h 631930"/>
              <a:gd name="connsiteX4" fmla="*/ 0 w 8712968"/>
              <a:gd name="connsiteY4" fmla="*/ 0 h 631930"/>
              <a:gd name="connsiteX0" fmla="*/ 0 w 8712968"/>
              <a:gd name="connsiteY0" fmla="*/ 0 h 619051"/>
              <a:gd name="connsiteX1" fmla="*/ 8712968 w 8712968"/>
              <a:gd name="connsiteY1" fmla="*/ 0 h 619051"/>
              <a:gd name="connsiteX2" fmla="*/ 8712968 w 8712968"/>
              <a:gd name="connsiteY2" fmla="*/ 619051 h 619051"/>
              <a:gd name="connsiteX3" fmla="*/ 12879 w 8712968"/>
              <a:gd name="connsiteY3" fmla="*/ 580414 h 619051"/>
              <a:gd name="connsiteX4" fmla="*/ 0 w 8712968"/>
              <a:gd name="connsiteY4" fmla="*/ 0 h 619051"/>
              <a:gd name="connsiteX0" fmla="*/ 0 w 8712968"/>
              <a:gd name="connsiteY0" fmla="*/ 0 h 593293"/>
              <a:gd name="connsiteX1" fmla="*/ 8712968 w 8712968"/>
              <a:gd name="connsiteY1" fmla="*/ 0 h 593293"/>
              <a:gd name="connsiteX2" fmla="*/ 8712968 w 8712968"/>
              <a:gd name="connsiteY2" fmla="*/ 593293 h 593293"/>
              <a:gd name="connsiteX3" fmla="*/ 12879 w 8712968"/>
              <a:gd name="connsiteY3" fmla="*/ 580414 h 593293"/>
              <a:gd name="connsiteX4" fmla="*/ 0 w 8712968"/>
              <a:gd name="connsiteY4" fmla="*/ 0 h 593293"/>
              <a:gd name="connsiteX0" fmla="*/ 0 w 8712968"/>
              <a:gd name="connsiteY0" fmla="*/ 154546 h 593293"/>
              <a:gd name="connsiteX1" fmla="*/ 8712968 w 8712968"/>
              <a:gd name="connsiteY1" fmla="*/ 0 h 593293"/>
              <a:gd name="connsiteX2" fmla="*/ 8712968 w 8712968"/>
              <a:gd name="connsiteY2" fmla="*/ 593293 h 593293"/>
              <a:gd name="connsiteX3" fmla="*/ 12879 w 8712968"/>
              <a:gd name="connsiteY3" fmla="*/ 580414 h 593293"/>
              <a:gd name="connsiteX4" fmla="*/ 0 w 8712968"/>
              <a:gd name="connsiteY4" fmla="*/ 154546 h 593293"/>
              <a:gd name="connsiteX0" fmla="*/ 0 w 8712968"/>
              <a:gd name="connsiteY0" fmla="*/ 154546 h 580414"/>
              <a:gd name="connsiteX1" fmla="*/ 8712968 w 8712968"/>
              <a:gd name="connsiteY1" fmla="*/ 0 h 580414"/>
              <a:gd name="connsiteX2" fmla="*/ 8712968 w 8712968"/>
              <a:gd name="connsiteY2" fmla="*/ 580414 h 580414"/>
              <a:gd name="connsiteX3" fmla="*/ 12879 w 8712968"/>
              <a:gd name="connsiteY3" fmla="*/ 580414 h 580414"/>
              <a:gd name="connsiteX4" fmla="*/ 0 w 8712968"/>
              <a:gd name="connsiteY4" fmla="*/ 154546 h 580414"/>
              <a:gd name="connsiteX0" fmla="*/ 0 w 8712968"/>
              <a:gd name="connsiteY0" fmla="*/ 51515 h 477383"/>
              <a:gd name="connsiteX1" fmla="*/ 8712968 w 8712968"/>
              <a:gd name="connsiteY1" fmla="*/ 0 h 477383"/>
              <a:gd name="connsiteX2" fmla="*/ 8712968 w 8712968"/>
              <a:gd name="connsiteY2" fmla="*/ 477383 h 477383"/>
              <a:gd name="connsiteX3" fmla="*/ 12879 w 8712968"/>
              <a:gd name="connsiteY3" fmla="*/ 477383 h 477383"/>
              <a:gd name="connsiteX4" fmla="*/ 0 w 8712968"/>
              <a:gd name="connsiteY4" fmla="*/ 51515 h 477383"/>
              <a:gd name="connsiteX0" fmla="*/ 0 w 8712968"/>
              <a:gd name="connsiteY0" fmla="*/ 25757 h 451625"/>
              <a:gd name="connsiteX1" fmla="*/ 8712968 w 8712968"/>
              <a:gd name="connsiteY1" fmla="*/ 0 h 451625"/>
              <a:gd name="connsiteX2" fmla="*/ 8712968 w 8712968"/>
              <a:gd name="connsiteY2" fmla="*/ 451625 h 451625"/>
              <a:gd name="connsiteX3" fmla="*/ 12879 w 8712968"/>
              <a:gd name="connsiteY3" fmla="*/ 451625 h 451625"/>
              <a:gd name="connsiteX4" fmla="*/ 0 w 8712968"/>
              <a:gd name="connsiteY4" fmla="*/ 25757 h 451625"/>
              <a:gd name="connsiteX0" fmla="*/ 0 w 8712968"/>
              <a:gd name="connsiteY0" fmla="*/ 0 h 425868"/>
              <a:gd name="connsiteX1" fmla="*/ 8712968 w 8712968"/>
              <a:gd name="connsiteY1" fmla="*/ 0 h 425868"/>
              <a:gd name="connsiteX2" fmla="*/ 8712968 w 8712968"/>
              <a:gd name="connsiteY2" fmla="*/ 425868 h 425868"/>
              <a:gd name="connsiteX3" fmla="*/ 12879 w 8712968"/>
              <a:gd name="connsiteY3" fmla="*/ 425868 h 425868"/>
              <a:gd name="connsiteX4" fmla="*/ 0 w 8712968"/>
              <a:gd name="connsiteY4" fmla="*/ 0 h 425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425868">
                <a:moveTo>
                  <a:pt x="0" y="0"/>
                </a:moveTo>
                <a:lnTo>
                  <a:pt x="8712968" y="0"/>
                </a:lnTo>
                <a:lnTo>
                  <a:pt x="8712968" y="425868"/>
                </a:lnTo>
                <a:lnTo>
                  <a:pt x="12879" y="425868"/>
                </a:lnTo>
                <a:lnTo>
                  <a:pt x="0" y="0"/>
                </a:lnTo>
                <a:close/>
              </a:path>
            </a:pathLst>
          </a:custGeom>
          <a:noFill/>
        </p:spPr>
        <p:txBody>
          <a:bodyPr wrap="square" rtlCol="0">
            <a:spAutoFit/>
          </a:bodyPr>
          <a:lstStyle/>
          <a:p>
            <a:pPr algn="ctr"/>
            <a:r>
              <a:rPr lang="en-GB" sz="2400" b="1" dirty="0"/>
              <a:t>C</a:t>
            </a:r>
            <a:r>
              <a:rPr lang="en-GB" sz="2400" b="1" baseline="-25000" dirty="0"/>
              <a:t>10</a:t>
            </a:r>
            <a:r>
              <a:rPr lang="en-GB" sz="2400" b="1" dirty="0"/>
              <a:t>H</a:t>
            </a:r>
            <a:r>
              <a:rPr lang="en-GB" sz="2400" b="1" baseline="-25000" dirty="0"/>
              <a:t>22</a:t>
            </a:r>
            <a:r>
              <a:rPr lang="en-GB" sz="2400" b="1" dirty="0"/>
              <a:t> </a:t>
            </a:r>
            <a:r>
              <a:rPr lang="en-GB" sz="2400" b="1" dirty="0">
                <a:sym typeface="Wingdings" panose="05000000000000000000" pitchFamily="2" charset="2"/>
              </a:rPr>
              <a:t>   C</a:t>
            </a:r>
            <a:r>
              <a:rPr lang="en-GB" sz="2400" b="1" baseline="-25000" dirty="0">
                <a:sym typeface="Wingdings" panose="05000000000000000000" pitchFamily="2" charset="2"/>
              </a:rPr>
              <a:t>8</a:t>
            </a:r>
            <a:r>
              <a:rPr lang="en-GB" sz="2400" b="1" dirty="0">
                <a:sym typeface="Wingdings" panose="05000000000000000000" pitchFamily="2" charset="2"/>
              </a:rPr>
              <a:t>H</a:t>
            </a:r>
            <a:r>
              <a:rPr lang="en-GB" sz="2400" b="1" baseline="-25000" dirty="0">
                <a:sym typeface="Wingdings" panose="05000000000000000000" pitchFamily="2" charset="2"/>
              </a:rPr>
              <a:t>18</a:t>
            </a:r>
            <a:r>
              <a:rPr lang="en-GB" sz="2400" b="1" dirty="0">
                <a:sym typeface="Wingdings" panose="05000000000000000000" pitchFamily="2" charset="2"/>
              </a:rPr>
              <a:t>    +    C</a:t>
            </a:r>
            <a:r>
              <a:rPr lang="en-GB" sz="2400" b="1" baseline="-25000" dirty="0">
                <a:sym typeface="Wingdings" panose="05000000000000000000" pitchFamily="2" charset="2"/>
              </a:rPr>
              <a:t>2</a:t>
            </a:r>
            <a:r>
              <a:rPr lang="en-GB" sz="2400" b="1" dirty="0">
                <a:sym typeface="Wingdings" panose="05000000000000000000" pitchFamily="2" charset="2"/>
              </a:rPr>
              <a:t>H</a:t>
            </a:r>
            <a:r>
              <a:rPr lang="en-GB" sz="2400" b="1" baseline="-25000" dirty="0">
                <a:sym typeface="Wingdings" panose="05000000000000000000" pitchFamily="2" charset="2"/>
              </a:rPr>
              <a:t>4</a:t>
            </a:r>
            <a:endParaRPr lang="en-GB" sz="2400" b="1" baseline="-25000" dirty="0"/>
          </a:p>
        </p:txBody>
      </p:sp>
      <p:sp>
        <p:nvSpPr>
          <p:cNvPr id="5" name="TextBox 4"/>
          <p:cNvSpPr txBox="1"/>
          <p:nvPr/>
        </p:nvSpPr>
        <p:spPr>
          <a:xfrm>
            <a:off x="6472930" y="929456"/>
            <a:ext cx="2376264" cy="707886"/>
          </a:xfrm>
          <a:prstGeom prst="rect">
            <a:avLst/>
          </a:prstGeom>
          <a:solidFill>
            <a:schemeClr val="accent6"/>
          </a:solidFill>
          <a:ln w="28575">
            <a:solidFill>
              <a:schemeClr val="tx1"/>
            </a:solidFill>
          </a:ln>
        </p:spPr>
        <p:txBody>
          <a:bodyPr wrap="square" rtlCol="0">
            <a:spAutoFit/>
          </a:bodyPr>
          <a:lstStyle/>
          <a:p>
            <a:pPr algn="ctr"/>
            <a:r>
              <a:rPr lang="en-GB" sz="2000" dirty="0"/>
              <a:t>This is an important definition.</a:t>
            </a:r>
          </a:p>
        </p:txBody>
      </p:sp>
      <p:sp>
        <p:nvSpPr>
          <p:cNvPr id="7" name="TextBox 6"/>
          <p:cNvSpPr txBox="1"/>
          <p:nvPr/>
        </p:nvSpPr>
        <p:spPr>
          <a:xfrm>
            <a:off x="142641" y="2789881"/>
            <a:ext cx="8712968" cy="1015663"/>
          </a:xfrm>
          <a:custGeom>
            <a:avLst/>
            <a:gdLst>
              <a:gd name="connsiteX0" fmla="*/ 0 w 8712968"/>
              <a:gd name="connsiteY0" fmla="*/ 0 h 923330"/>
              <a:gd name="connsiteX1" fmla="*/ 8712968 w 8712968"/>
              <a:gd name="connsiteY1" fmla="*/ 0 h 923330"/>
              <a:gd name="connsiteX2" fmla="*/ 8712968 w 8712968"/>
              <a:gd name="connsiteY2" fmla="*/ 923330 h 923330"/>
              <a:gd name="connsiteX3" fmla="*/ 0 w 8712968"/>
              <a:gd name="connsiteY3" fmla="*/ 923330 h 923330"/>
              <a:gd name="connsiteX4" fmla="*/ 0 w 8712968"/>
              <a:gd name="connsiteY4" fmla="*/ 0 h 923330"/>
              <a:gd name="connsiteX0" fmla="*/ 0 w 8712968"/>
              <a:gd name="connsiteY0" fmla="*/ 0 h 1013482"/>
              <a:gd name="connsiteX1" fmla="*/ 8712968 w 8712968"/>
              <a:gd name="connsiteY1" fmla="*/ 90152 h 1013482"/>
              <a:gd name="connsiteX2" fmla="*/ 8712968 w 8712968"/>
              <a:gd name="connsiteY2" fmla="*/ 1013482 h 1013482"/>
              <a:gd name="connsiteX3" fmla="*/ 0 w 8712968"/>
              <a:gd name="connsiteY3" fmla="*/ 1013482 h 1013482"/>
              <a:gd name="connsiteX4" fmla="*/ 0 w 8712968"/>
              <a:gd name="connsiteY4" fmla="*/ 0 h 1013482"/>
              <a:gd name="connsiteX0" fmla="*/ 0 w 8712968"/>
              <a:gd name="connsiteY0" fmla="*/ 0 h 1013482"/>
              <a:gd name="connsiteX1" fmla="*/ 8712968 w 8712968"/>
              <a:gd name="connsiteY1" fmla="*/ 12879 h 1013482"/>
              <a:gd name="connsiteX2" fmla="*/ 8712968 w 8712968"/>
              <a:gd name="connsiteY2" fmla="*/ 1013482 h 1013482"/>
              <a:gd name="connsiteX3" fmla="*/ 0 w 8712968"/>
              <a:gd name="connsiteY3" fmla="*/ 1013482 h 1013482"/>
              <a:gd name="connsiteX4" fmla="*/ 0 w 8712968"/>
              <a:gd name="connsiteY4" fmla="*/ 0 h 1013482"/>
              <a:gd name="connsiteX0" fmla="*/ 0 w 8725846"/>
              <a:gd name="connsiteY0" fmla="*/ 0 h 1013482"/>
              <a:gd name="connsiteX1" fmla="*/ 8712968 w 8725846"/>
              <a:gd name="connsiteY1" fmla="*/ 12879 h 1013482"/>
              <a:gd name="connsiteX2" fmla="*/ 8725846 w 8725846"/>
              <a:gd name="connsiteY2" fmla="*/ 833177 h 1013482"/>
              <a:gd name="connsiteX3" fmla="*/ 0 w 8725846"/>
              <a:gd name="connsiteY3" fmla="*/ 1013482 h 1013482"/>
              <a:gd name="connsiteX4" fmla="*/ 0 w 8725846"/>
              <a:gd name="connsiteY4" fmla="*/ 0 h 1013482"/>
              <a:gd name="connsiteX0" fmla="*/ 0 w 8725846"/>
              <a:gd name="connsiteY0" fmla="*/ 0 h 858935"/>
              <a:gd name="connsiteX1" fmla="*/ 8712968 w 8725846"/>
              <a:gd name="connsiteY1" fmla="*/ 12879 h 858935"/>
              <a:gd name="connsiteX2" fmla="*/ 8725846 w 8725846"/>
              <a:gd name="connsiteY2" fmla="*/ 833177 h 858935"/>
              <a:gd name="connsiteX3" fmla="*/ 0 w 8725846"/>
              <a:gd name="connsiteY3" fmla="*/ 858935 h 858935"/>
              <a:gd name="connsiteX4" fmla="*/ 0 w 8725846"/>
              <a:gd name="connsiteY4" fmla="*/ 0 h 858935"/>
              <a:gd name="connsiteX0" fmla="*/ 0 w 8725846"/>
              <a:gd name="connsiteY0" fmla="*/ 0 h 846057"/>
              <a:gd name="connsiteX1" fmla="*/ 8712968 w 8725846"/>
              <a:gd name="connsiteY1" fmla="*/ 12879 h 846057"/>
              <a:gd name="connsiteX2" fmla="*/ 8725846 w 8725846"/>
              <a:gd name="connsiteY2" fmla="*/ 833177 h 846057"/>
              <a:gd name="connsiteX3" fmla="*/ 0 w 8725846"/>
              <a:gd name="connsiteY3" fmla="*/ 846057 h 846057"/>
              <a:gd name="connsiteX4" fmla="*/ 0 w 8725846"/>
              <a:gd name="connsiteY4" fmla="*/ 0 h 846057"/>
              <a:gd name="connsiteX0" fmla="*/ 0 w 8712968"/>
              <a:gd name="connsiteY0" fmla="*/ 0 h 858934"/>
              <a:gd name="connsiteX1" fmla="*/ 8712968 w 8712968"/>
              <a:gd name="connsiteY1" fmla="*/ 12879 h 858934"/>
              <a:gd name="connsiteX2" fmla="*/ 8687209 w 8712968"/>
              <a:gd name="connsiteY2" fmla="*/ 858934 h 858934"/>
              <a:gd name="connsiteX3" fmla="*/ 0 w 8712968"/>
              <a:gd name="connsiteY3" fmla="*/ 846057 h 858934"/>
              <a:gd name="connsiteX4" fmla="*/ 0 w 8712968"/>
              <a:gd name="connsiteY4" fmla="*/ 0 h 858934"/>
              <a:gd name="connsiteX0" fmla="*/ 0 w 8712968"/>
              <a:gd name="connsiteY0" fmla="*/ 0 h 858934"/>
              <a:gd name="connsiteX1" fmla="*/ 8712968 w 8712968"/>
              <a:gd name="connsiteY1" fmla="*/ 12879 h 858934"/>
              <a:gd name="connsiteX2" fmla="*/ 8712967 w 8712968"/>
              <a:gd name="connsiteY2" fmla="*/ 858934 h 858934"/>
              <a:gd name="connsiteX3" fmla="*/ 0 w 8712968"/>
              <a:gd name="connsiteY3" fmla="*/ 846057 h 858934"/>
              <a:gd name="connsiteX4" fmla="*/ 0 w 8712968"/>
              <a:gd name="connsiteY4" fmla="*/ 0 h 858934"/>
              <a:gd name="connsiteX0" fmla="*/ 0 w 8725846"/>
              <a:gd name="connsiteY0" fmla="*/ 0 h 846057"/>
              <a:gd name="connsiteX1" fmla="*/ 8712968 w 8725846"/>
              <a:gd name="connsiteY1" fmla="*/ 12879 h 846057"/>
              <a:gd name="connsiteX2" fmla="*/ 8725846 w 8725846"/>
              <a:gd name="connsiteY2" fmla="*/ 846056 h 846057"/>
              <a:gd name="connsiteX3" fmla="*/ 0 w 8725846"/>
              <a:gd name="connsiteY3" fmla="*/ 846057 h 846057"/>
              <a:gd name="connsiteX4" fmla="*/ 0 w 8725846"/>
              <a:gd name="connsiteY4" fmla="*/ 0 h 846057"/>
              <a:gd name="connsiteX0" fmla="*/ 0 w 8712968"/>
              <a:gd name="connsiteY0" fmla="*/ 0 h 846057"/>
              <a:gd name="connsiteX1" fmla="*/ 8712968 w 8712968"/>
              <a:gd name="connsiteY1" fmla="*/ 12879 h 846057"/>
              <a:gd name="connsiteX2" fmla="*/ 8700088 w 8712968"/>
              <a:gd name="connsiteY2" fmla="*/ 846056 h 846057"/>
              <a:gd name="connsiteX3" fmla="*/ 0 w 8712968"/>
              <a:gd name="connsiteY3" fmla="*/ 846057 h 846057"/>
              <a:gd name="connsiteX4" fmla="*/ 0 w 8712968"/>
              <a:gd name="connsiteY4" fmla="*/ 0 h 846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846057">
                <a:moveTo>
                  <a:pt x="0" y="0"/>
                </a:moveTo>
                <a:lnTo>
                  <a:pt x="8712968" y="12879"/>
                </a:lnTo>
                <a:cubicBezTo>
                  <a:pt x="8712968" y="294897"/>
                  <a:pt x="8700088" y="564038"/>
                  <a:pt x="8700088" y="846056"/>
                </a:cubicBezTo>
                <a:lnTo>
                  <a:pt x="0" y="846057"/>
                </a:lnTo>
                <a:lnTo>
                  <a:pt x="0" y="0"/>
                </a:lnTo>
                <a:close/>
              </a:path>
            </a:pathLst>
          </a:custGeom>
          <a:noFill/>
        </p:spPr>
        <p:txBody>
          <a:bodyPr wrap="square" rtlCol="0">
            <a:spAutoFit/>
          </a:bodyPr>
          <a:lstStyle/>
          <a:p>
            <a:r>
              <a:rPr lang="en-GB" sz="2000" dirty="0"/>
              <a:t>The two products made are both more useful than the starting hydrocarbon, but notice that there are always the </a:t>
            </a:r>
            <a:r>
              <a:rPr lang="en-GB" sz="2000" b="1" dirty="0">
                <a:solidFill>
                  <a:schemeClr val="accent6">
                    <a:lumMod val="75000"/>
                  </a:schemeClr>
                </a:solidFill>
              </a:rPr>
              <a:t>same number </a:t>
            </a:r>
            <a:r>
              <a:rPr lang="en-GB" sz="2000" dirty="0"/>
              <a:t>of carbons and hydrogens on the left hand side of the equation and on the right hand side.</a:t>
            </a:r>
          </a:p>
        </p:txBody>
      </p:sp>
      <p:sp>
        <p:nvSpPr>
          <p:cNvPr id="24" name="TextBox 23"/>
          <p:cNvSpPr txBox="1"/>
          <p:nvPr/>
        </p:nvSpPr>
        <p:spPr>
          <a:xfrm>
            <a:off x="166633" y="3897271"/>
            <a:ext cx="8725847" cy="1015663"/>
          </a:xfrm>
          <a:custGeom>
            <a:avLst/>
            <a:gdLst>
              <a:gd name="connsiteX0" fmla="*/ 0 w 8712968"/>
              <a:gd name="connsiteY0" fmla="*/ 0 h 923330"/>
              <a:gd name="connsiteX1" fmla="*/ 8712968 w 8712968"/>
              <a:gd name="connsiteY1" fmla="*/ 0 h 923330"/>
              <a:gd name="connsiteX2" fmla="*/ 8712968 w 8712968"/>
              <a:gd name="connsiteY2" fmla="*/ 923330 h 923330"/>
              <a:gd name="connsiteX3" fmla="*/ 0 w 8712968"/>
              <a:gd name="connsiteY3" fmla="*/ 923330 h 923330"/>
              <a:gd name="connsiteX4" fmla="*/ 0 w 8712968"/>
              <a:gd name="connsiteY4" fmla="*/ 0 h 923330"/>
              <a:gd name="connsiteX0" fmla="*/ 0 w 8725847"/>
              <a:gd name="connsiteY0" fmla="*/ 0 h 1232423"/>
              <a:gd name="connsiteX1" fmla="*/ 8725847 w 8725847"/>
              <a:gd name="connsiteY1" fmla="*/ 309093 h 1232423"/>
              <a:gd name="connsiteX2" fmla="*/ 8725847 w 8725847"/>
              <a:gd name="connsiteY2" fmla="*/ 1232423 h 1232423"/>
              <a:gd name="connsiteX3" fmla="*/ 12879 w 8725847"/>
              <a:gd name="connsiteY3" fmla="*/ 1232423 h 1232423"/>
              <a:gd name="connsiteX4" fmla="*/ 0 w 8725847"/>
              <a:gd name="connsiteY4" fmla="*/ 0 h 1232423"/>
              <a:gd name="connsiteX0" fmla="*/ 0 w 8725847"/>
              <a:gd name="connsiteY0" fmla="*/ 0 h 1232423"/>
              <a:gd name="connsiteX1" fmla="*/ 8725847 w 8725847"/>
              <a:gd name="connsiteY1" fmla="*/ 0 h 1232423"/>
              <a:gd name="connsiteX2" fmla="*/ 8725847 w 8725847"/>
              <a:gd name="connsiteY2" fmla="*/ 1232423 h 1232423"/>
              <a:gd name="connsiteX3" fmla="*/ 12879 w 8725847"/>
              <a:gd name="connsiteY3" fmla="*/ 1232423 h 1232423"/>
              <a:gd name="connsiteX4" fmla="*/ 0 w 8725847"/>
              <a:gd name="connsiteY4" fmla="*/ 0 h 1232423"/>
              <a:gd name="connsiteX0" fmla="*/ 0 w 8725847"/>
              <a:gd name="connsiteY0" fmla="*/ 0 h 1232423"/>
              <a:gd name="connsiteX1" fmla="*/ 8725847 w 8725847"/>
              <a:gd name="connsiteY1" fmla="*/ 0 h 1232423"/>
              <a:gd name="connsiteX2" fmla="*/ 8725847 w 8725847"/>
              <a:gd name="connsiteY2" fmla="*/ 1232423 h 1232423"/>
              <a:gd name="connsiteX3" fmla="*/ 12879 w 8725847"/>
              <a:gd name="connsiteY3" fmla="*/ 871814 h 1232423"/>
              <a:gd name="connsiteX4" fmla="*/ 0 w 8725847"/>
              <a:gd name="connsiteY4" fmla="*/ 0 h 1232423"/>
              <a:gd name="connsiteX0" fmla="*/ 0 w 8725847"/>
              <a:gd name="connsiteY0" fmla="*/ 0 h 923330"/>
              <a:gd name="connsiteX1" fmla="*/ 8725847 w 8725847"/>
              <a:gd name="connsiteY1" fmla="*/ 0 h 923330"/>
              <a:gd name="connsiteX2" fmla="*/ 8725847 w 8725847"/>
              <a:gd name="connsiteY2" fmla="*/ 923330 h 923330"/>
              <a:gd name="connsiteX3" fmla="*/ 12879 w 8725847"/>
              <a:gd name="connsiteY3" fmla="*/ 871814 h 923330"/>
              <a:gd name="connsiteX4" fmla="*/ 0 w 8725847"/>
              <a:gd name="connsiteY4" fmla="*/ 0 h 923330"/>
              <a:gd name="connsiteX0" fmla="*/ 0 w 8725847"/>
              <a:gd name="connsiteY0" fmla="*/ 0 h 910451"/>
              <a:gd name="connsiteX1" fmla="*/ 8725847 w 8725847"/>
              <a:gd name="connsiteY1" fmla="*/ 0 h 910451"/>
              <a:gd name="connsiteX2" fmla="*/ 8725847 w 8725847"/>
              <a:gd name="connsiteY2" fmla="*/ 910451 h 910451"/>
              <a:gd name="connsiteX3" fmla="*/ 12879 w 8725847"/>
              <a:gd name="connsiteY3" fmla="*/ 871814 h 910451"/>
              <a:gd name="connsiteX4" fmla="*/ 0 w 8725847"/>
              <a:gd name="connsiteY4" fmla="*/ 0 h 910451"/>
              <a:gd name="connsiteX0" fmla="*/ 0 w 8725847"/>
              <a:gd name="connsiteY0" fmla="*/ 0 h 884693"/>
              <a:gd name="connsiteX1" fmla="*/ 8725847 w 8725847"/>
              <a:gd name="connsiteY1" fmla="*/ 0 h 884693"/>
              <a:gd name="connsiteX2" fmla="*/ 8725847 w 8725847"/>
              <a:gd name="connsiteY2" fmla="*/ 884693 h 884693"/>
              <a:gd name="connsiteX3" fmla="*/ 12879 w 8725847"/>
              <a:gd name="connsiteY3" fmla="*/ 871814 h 884693"/>
              <a:gd name="connsiteX4" fmla="*/ 0 w 8725847"/>
              <a:gd name="connsiteY4" fmla="*/ 0 h 884693"/>
              <a:gd name="connsiteX0" fmla="*/ 0 w 8725847"/>
              <a:gd name="connsiteY0" fmla="*/ 0 h 871814"/>
              <a:gd name="connsiteX1" fmla="*/ 8725847 w 8725847"/>
              <a:gd name="connsiteY1" fmla="*/ 0 h 871814"/>
              <a:gd name="connsiteX2" fmla="*/ 8725847 w 8725847"/>
              <a:gd name="connsiteY2" fmla="*/ 871814 h 871814"/>
              <a:gd name="connsiteX3" fmla="*/ 12879 w 8725847"/>
              <a:gd name="connsiteY3" fmla="*/ 871814 h 871814"/>
              <a:gd name="connsiteX4" fmla="*/ 0 w 8725847"/>
              <a:gd name="connsiteY4" fmla="*/ 0 h 8718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5847" h="871814">
                <a:moveTo>
                  <a:pt x="0" y="0"/>
                </a:moveTo>
                <a:lnTo>
                  <a:pt x="8725847" y="0"/>
                </a:lnTo>
                <a:lnTo>
                  <a:pt x="8725847" y="871814"/>
                </a:lnTo>
                <a:lnTo>
                  <a:pt x="12879" y="871814"/>
                </a:lnTo>
                <a:lnTo>
                  <a:pt x="0" y="0"/>
                </a:lnTo>
                <a:close/>
              </a:path>
            </a:pathLst>
          </a:custGeom>
          <a:noFill/>
          <a:ln w="28575">
            <a:solidFill>
              <a:schemeClr val="accent6"/>
            </a:solidFill>
          </a:ln>
        </p:spPr>
        <p:txBody>
          <a:bodyPr wrap="square" rtlCol="0">
            <a:spAutoFit/>
          </a:bodyPr>
          <a:lstStyle/>
          <a:p>
            <a:r>
              <a:rPr lang="en-GB" sz="2000" b="1" dirty="0">
                <a:solidFill>
                  <a:schemeClr val="accent6">
                    <a:lumMod val="75000"/>
                  </a:schemeClr>
                </a:solidFill>
              </a:rPr>
              <a:t>Cracking</a:t>
            </a:r>
            <a:r>
              <a:rPr lang="en-GB" sz="2000" dirty="0"/>
              <a:t> is necessary to produce </a:t>
            </a:r>
            <a:r>
              <a:rPr lang="en-GB" sz="2000" b="1" dirty="0">
                <a:solidFill>
                  <a:schemeClr val="accent6">
                    <a:lumMod val="75000"/>
                  </a:schemeClr>
                </a:solidFill>
              </a:rPr>
              <a:t>useful short chain hydrocarbons</a:t>
            </a:r>
            <a:r>
              <a:rPr lang="en-GB" sz="2000" dirty="0"/>
              <a:t>, such as petrol, from longer less useful hydrocarbons. It requires a high temperature and a catalyst.</a:t>
            </a:r>
          </a:p>
        </p:txBody>
      </p:sp>
      <p:sp>
        <p:nvSpPr>
          <p:cNvPr id="8" name="TextBox 7"/>
          <p:cNvSpPr txBox="1"/>
          <p:nvPr/>
        </p:nvSpPr>
        <p:spPr>
          <a:xfrm>
            <a:off x="179512" y="5056950"/>
            <a:ext cx="8712968" cy="1015663"/>
          </a:xfrm>
          <a:custGeom>
            <a:avLst/>
            <a:gdLst>
              <a:gd name="connsiteX0" fmla="*/ 0 w 8712968"/>
              <a:gd name="connsiteY0" fmla="*/ 0 h 923330"/>
              <a:gd name="connsiteX1" fmla="*/ 8712968 w 8712968"/>
              <a:gd name="connsiteY1" fmla="*/ 0 h 923330"/>
              <a:gd name="connsiteX2" fmla="*/ 8712968 w 8712968"/>
              <a:gd name="connsiteY2" fmla="*/ 923330 h 923330"/>
              <a:gd name="connsiteX3" fmla="*/ 0 w 8712968"/>
              <a:gd name="connsiteY3" fmla="*/ 923330 h 923330"/>
              <a:gd name="connsiteX4" fmla="*/ 0 w 8712968"/>
              <a:gd name="connsiteY4" fmla="*/ 0 h 923330"/>
              <a:gd name="connsiteX0" fmla="*/ 0 w 8712968"/>
              <a:gd name="connsiteY0" fmla="*/ 0 h 1013482"/>
              <a:gd name="connsiteX1" fmla="*/ 8712968 w 8712968"/>
              <a:gd name="connsiteY1" fmla="*/ 90152 h 1013482"/>
              <a:gd name="connsiteX2" fmla="*/ 8712968 w 8712968"/>
              <a:gd name="connsiteY2" fmla="*/ 1013482 h 1013482"/>
              <a:gd name="connsiteX3" fmla="*/ 0 w 8712968"/>
              <a:gd name="connsiteY3" fmla="*/ 1013482 h 1013482"/>
              <a:gd name="connsiteX4" fmla="*/ 0 w 8712968"/>
              <a:gd name="connsiteY4" fmla="*/ 0 h 1013482"/>
              <a:gd name="connsiteX0" fmla="*/ 0 w 8712968"/>
              <a:gd name="connsiteY0" fmla="*/ 0 h 1013482"/>
              <a:gd name="connsiteX1" fmla="*/ 8712968 w 8712968"/>
              <a:gd name="connsiteY1" fmla="*/ 12879 h 1013482"/>
              <a:gd name="connsiteX2" fmla="*/ 8712968 w 8712968"/>
              <a:gd name="connsiteY2" fmla="*/ 1013482 h 1013482"/>
              <a:gd name="connsiteX3" fmla="*/ 0 w 8712968"/>
              <a:gd name="connsiteY3" fmla="*/ 1013482 h 1013482"/>
              <a:gd name="connsiteX4" fmla="*/ 0 w 8712968"/>
              <a:gd name="connsiteY4" fmla="*/ 0 h 1013482"/>
              <a:gd name="connsiteX0" fmla="*/ 0 w 8725846"/>
              <a:gd name="connsiteY0" fmla="*/ 0 h 1013482"/>
              <a:gd name="connsiteX1" fmla="*/ 8712968 w 8725846"/>
              <a:gd name="connsiteY1" fmla="*/ 12879 h 1013482"/>
              <a:gd name="connsiteX2" fmla="*/ 8725846 w 8725846"/>
              <a:gd name="connsiteY2" fmla="*/ 833177 h 1013482"/>
              <a:gd name="connsiteX3" fmla="*/ 0 w 8725846"/>
              <a:gd name="connsiteY3" fmla="*/ 1013482 h 1013482"/>
              <a:gd name="connsiteX4" fmla="*/ 0 w 8725846"/>
              <a:gd name="connsiteY4" fmla="*/ 0 h 1013482"/>
              <a:gd name="connsiteX0" fmla="*/ 0 w 8725846"/>
              <a:gd name="connsiteY0" fmla="*/ 0 h 858935"/>
              <a:gd name="connsiteX1" fmla="*/ 8712968 w 8725846"/>
              <a:gd name="connsiteY1" fmla="*/ 12879 h 858935"/>
              <a:gd name="connsiteX2" fmla="*/ 8725846 w 8725846"/>
              <a:gd name="connsiteY2" fmla="*/ 833177 h 858935"/>
              <a:gd name="connsiteX3" fmla="*/ 0 w 8725846"/>
              <a:gd name="connsiteY3" fmla="*/ 858935 h 858935"/>
              <a:gd name="connsiteX4" fmla="*/ 0 w 8725846"/>
              <a:gd name="connsiteY4" fmla="*/ 0 h 858935"/>
              <a:gd name="connsiteX0" fmla="*/ 0 w 8725846"/>
              <a:gd name="connsiteY0" fmla="*/ 0 h 846057"/>
              <a:gd name="connsiteX1" fmla="*/ 8712968 w 8725846"/>
              <a:gd name="connsiteY1" fmla="*/ 12879 h 846057"/>
              <a:gd name="connsiteX2" fmla="*/ 8725846 w 8725846"/>
              <a:gd name="connsiteY2" fmla="*/ 833177 h 846057"/>
              <a:gd name="connsiteX3" fmla="*/ 0 w 8725846"/>
              <a:gd name="connsiteY3" fmla="*/ 846057 h 846057"/>
              <a:gd name="connsiteX4" fmla="*/ 0 w 8725846"/>
              <a:gd name="connsiteY4" fmla="*/ 0 h 846057"/>
              <a:gd name="connsiteX0" fmla="*/ 0 w 8712968"/>
              <a:gd name="connsiteY0" fmla="*/ 0 h 858934"/>
              <a:gd name="connsiteX1" fmla="*/ 8712968 w 8712968"/>
              <a:gd name="connsiteY1" fmla="*/ 12879 h 858934"/>
              <a:gd name="connsiteX2" fmla="*/ 8687209 w 8712968"/>
              <a:gd name="connsiteY2" fmla="*/ 858934 h 858934"/>
              <a:gd name="connsiteX3" fmla="*/ 0 w 8712968"/>
              <a:gd name="connsiteY3" fmla="*/ 846057 h 858934"/>
              <a:gd name="connsiteX4" fmla="*/ 0 w 8712968"/>
              <a:gd name="connsiteY4" fmla="*/ 0 h 858934"/>
              <a:gd name="connsiteX0" fmla="*/ 0 w 8712968"/>
              <a:gd name="connsiteY0" fmla="*/ 0 h 858934"/>
              <a:gd name="connsiteX1" fmla="*/ 8712968 w 8712968"/>
              <a:gd name="connsiteY1" fmla="*/ 12879 h 858934"/>
              <a:gd name="connsiteX2" fmla="*/ 8712967 w 8712968"/>
              <a:gd name="connsiteY2" fmla="*/ 858934 h 858934"/>
              <a:gd name="connsiteX3" fmla="*/ 0 w 8712968"/>
              <a:gd name="connsiteY3" fmla="*/ 846057 h 858934"/>
              <a:gd name="connsiteX4" fmla="*/ 0 w 8712968"/>
              <a:gd name="connsiteY4" fmla="*/ 0 h 858934"/>
              <a:gd name="connsiteX0" fmla="*/ 0 w 8725846"/>
              <a:gd name="connsiteY0" fmla="*/ 0 h 846057"/>
              <a:gd name="connsiteX1" fmla="*/ 8712968 w 8725846"/>
              <a:gd name="connsiteY1" fmla="*/ 12879 h 846057"/>
              <a:gd name="connsiteX2" fmla="*/ 8725846 w 8725846"/>
              <a:gd name="connsiteY2" fmla="*/ 846056 h 846057"/>
              <a:gd name="connsiteX3" fmla="*/ 0 w 8725846"/>
              <a:gd name="connsiteY3" fmla="*/ 846057 h 846057"/>
              <a:gd name="connsiteX4" fmla="*/ 0 w 8725846"/>
              <a:gd name="connsiteY4" fmla="*/ 0 h 846057"/>
              <a:gd name="connsiteX0" fmla="*/ 0 w 8712968"/>
              <a:gd name="connsiteY0" fmla="*/ 0 h 846057"/>
              <a:gd name="connsiteX1" fmla="*/ 8712968 w 8712968"/>
              <a:gd name="connsiteY1" fmla="*/ 12879 h 846057"/>
              <a:gd name="connsiteX2" fmla="*/ 8700088 w 8712968"/>
              <a:gd name="connsiteY2" fmla="*/ 846056 h 846057"/>
              <a:gd name="connsiteX3" fmla="*/ 0 w 8712968"/>
              <a:gd name="connsiteY3" fmla="*/ 846057 h 846057"/>
              <a:gd name="connsiteX4" fmla="*/ 0 w 8712968"/>
              <a:gd name="connsiteY4" fmla="*/ 0 h 8460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8" h="846057">
                <a:moveTo>
                  <a:pt x="0" y="0"/>
                </a:moveTo>
                <a:lnTo>
                  <a:pt x="8712968" y="12879"/>
                </a:lnTo>
                <a:cubicBezTo>
                  <a:pt x="8712968" y="294897"/>
                  <a:pt x="8700088" y="564038"/>
                  <a:pt x="8700088" y="846056"/>
                </a:cubicBezTo>
                <a:lnTo>
                  <a:pt x="0" y="846057"/>
                </a:lnTo>
                <a:lnTo>
                  <a:pt x="0" y="0"/>
                </a:lnTo>
                <a:close/>
              </a:path>
            </a:pathLst>
          </a:custGeom>
          <a:noFill/>
        </p:spPr>
        <p:txBody>
          <a:bodyPr wrap="square" rtlCol="0">
            <a:spAutoFit/>
          </a:bodyPr>
          <a:lstStyle/>
          <a:p>
            <a:r>
              <a:rPr lang="en-GB" sz="2000" dirty="0"/>
              <a:t>Remember: </a:t>
            </a:r>
            <a:r>
              <a:rPr lang="en-GB" sz="2000" b="1" dirty="0">
                <a:solidFill>
                  <a:schemeClr val="accent6">
                    <a:lumMod val="75000"/>
                  </a:schemeClr>
                </a:solidFill>
              </a:rPr>
              <a:t>Petrol, kerosene </a:t>
            </a:r>
            <a:r>
              <a:rPr lang="en-GB" sz="2000" dirty="0"/>
              <a:t>and </a:t>
            </a:r>
            <a:r>
              <a:rPr lang="en-GB" sz="2000" b="1" dirty="0">
                <a:solidFill>
                  <a:schemeClr val="accent6">
                    <a:lumMod val="75000"/>
                  </a:schemeClr>
                </a:solidFill>
              </a:rPr>
              <a:t>diesel oil </a:t>
            </a:r>
            <a:r>
              <a:rPr lang="en-GB" sz="2000" dirty="0"/>
              <a:t>are </a:t>
            </a:r>
            <a:r>
              <a:rPr lang="en-GB" sz="2000" b="1" dirty="0">
                <a:solidFill>
                  <a:schemeClr val="accent6">
                    <a:lumMod val="75000"/>
                  </a:schemeClr>
                </a:solidFill>
              </a:rPr>
              <a:t>non-renewable fossil fuels </a:t>
            </a:r>
            <a:r>
              <a:rPr lang="en-GB" sz="2000" dirty="0"/>
              <a:t>obtained from </a:t>
            </a:r>
            <a:r>
              <a:rPr lang="en-GB" sz="2000" b="1" dirty="0">
                <a:solidFill>
                  <a:schemeClr val="accent6">
                    <a:lumMod val="75000"/>
                  </a:schemeClr>
                </a:solidFill>
              </a:rPr>
              <a:t>crude oil; </a:t>
            </a:r>
            <a:r>
              <a:rPr lang="en-GB" sz="2000" dirty="0"/>
              <a:t>and </a:t>
            </a:r>
            <a:r>
              <a:rPr lang="en-GB" sz="2000" b="1" dirty="0">
                <a:solidFill>
                  <a:schemeClr val="accent6">
                    <a:lumMod val="75000"/>
                  </a:schemeClr>
                </a:solidFill>
              </a:rPr>
              <a:t>methane</a:t>
            </a:r>
            <a:r>
              <a:rPr lang="en-GB" sz="2000" dirty="0"/>
              <a:t> is a </a:t>
            </a:r>
            <a:r>
              <a:rPr lang="en-GB" sz="2000" b="1" dirty="0">
                <a:solidFill>
                  <a:schemeClr val="accent6">
                    <a:lumMod val="75000"/>
                  </a:schemeClr>
                </a:solidFill>
              </a:rPr>
              <a:t>non-renewable fossil fuel </a:t>
            </a:r>
            <a:r>
              <a:rPr lang="en-GB" sz="2000" dirty="0"/>
              <a:t>found in </a:t>
            </a:r>
            <a:r>
              <a:rPr lang="en-GB" sz="2000" b="1" dirty="0">
                <a:solidFill>
                  <a:schemeClr val="accent6">
                    <a:lumMod val="75000"/>
                  </a:schemeClr>
                </a:solidFill>
              </a:rPr>
              <a:t>natural gas.</a:t>
            </a:r>
          </a:p>
        </p:txBody>
      </p:sp>
    </p:spTree>
    <p:extLst>
      <p:ext uri="{BB962C8B-B14F-4D97-AF65-F5344CB8AC3E}">
        <p14:creationId xmlns:p14="http://schemas.microsoft.com/office/powerpoint/2010/main" val="4347948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35655"/>
            <a:ext cx="7812360"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400" dirty="0">
                <a:solidFill>
                  <a:schemeClr val="accent6"/>
                </a:solidFill>
              </a:rPr>
              <a:t>Cracking and alkenes</a:t>
            </a:r>
            <a:endParaRPr kumimoji="0" lang="en-US" sz="2400" i="0" u="none" strike="noStrike" kern="1200" cap="none" spc="0" normalizeH="0" baseline="0" noProof="0" dirty="0">
              <a:ln>
                <a:noFill/>
              </a:ln>
              <a:solidFill>
                <a:schemeClr val="accent6"/>
              </a:solidFill>
              <a:effectLst/>
              <a:uLnTx/>
              <a:uFillTx/>
              <a:latin typeface="Calibri"/>
              <a:ea typeface=""/>
              <a:cs typeface="News Gothic MT"/>
            </a:endParaRPr>
          </a:p>
        </p:txBody>
      </p:sp>
      <p:sp>
        <p:nvSpPr>
          <p:cNvPr id="9" name="TextBox 8"/>
          <p:cNvSpPr txBox="1"/>
          <p:nvPr/>
        </p:nvSpPr>
        <p:spPr>
          <a:xfrm>
            <a:off x="166633" y="850197"/>
            <a:ext cx="8712969" cy="830997"/>
          </a:xfrm>
          <a:custGeom>
            <a:avLst/>
            <a:gdLst>
              <a:gd name="connsiteX0" fmla="*/ 0 w 8712968"/>
              <a:gd name="connsiteY0" fmla="*/ 0 h 369332"/>
              <a:gd name="connsiteX1" fmla="*/ 8712968 w 8712968"/>
              <a:gd name="connsiteY1" fmla="*/ 0 h 369332"/>
              <a:gd name="connsiteX2" fmla="*/ 8712968 w 8712968"/>
              <a:gd name="connsiteY2" fmla="*/ 369332 h 369332"/>
              <a:gd name="connsiteX3" fmla="*/ 0 w 8712968"/>
              <a:gd name="connsiteY3" fmla="*/ 369332 h 369332"/>
              <a:gd name="connsiteX4" fmla="*/ 0 w 8712968"/>
              <a:gd name="connsiteY4" fmla="*/ 0 h 369332"/>
              <a:gd name="connsiteX0" fmla="*/ 12879 w 8712968"/>
              <a:gd name="connsiteY0" fmla="*/ 0 h 768577"/>
              <a:gd name="connsiteX1" fmla="*/ 8712968 w 8712968"/>
              <a:gd name="connsiteY1" fmla="*/ 399245 h 768577"/>
              <a:gd name="connsiteX2" fmla="*/ 8712968 w 8712968"/>
              <a:gd name="connsiteY2" fmla="*/ 768577 h 768577"/>
              <a:gd name="connsiteX3" fmla="*/ 0 w 8712968"/>
              <a:gd name="connsiteY3" fmla="*/ 768577 h 768577"/>
              <a:gd name="connsiteX4" fmla="*/ 12879 w 8712968"/>
              <a:gd name="connsiteY4" fmla="*/ 0 h 768577"/>
              <a:gd name="connsiteX0" fmla="*/ 12879 w 8712968"/>
              <a:gd name="connsiteY0" fmla="*/ 0 h 768577"/>
              <a:gd name="connsiteX1" fmla="*/ 8712968 w 8712968"/>
              <a:gd name="connsiteY1" fmla="*/ 25758 h 768577"/>
              <a:gd name="connsiteX2" fmla="*/ 8712968 w 8712968"/>
              <a:gd name="connsiteY2" fmla="*/ 768577 h 768577"/>
              <a:gd name="connsiteX3" fmla="*/ 0 w 8712968"/>
              <a:gd name="connsiteY3" fmla="*/ 768577 h 768577"/>
              <a:gd name="connsiteX4" fmla="*/ 12879 w 8712968"/>
              <a:gd name="connsiteY4" fmla="*/ 0 h 768577"/>
              <a:gd name="connsiteX0" fmla="*/ 12879 w 8712968"/>
              <a:gd name="connsiteY0" fmla="*/ 0 h 768577"/>
              <a:gd name="connsiteX1" fmla="*/ 8712968 w 8712968"/>
              <a:gd name="connsiteY1" fmla="*/ 12879 h 768577"/>
              <a:gd name="connsiteX2" fmla="*/ 8712968 w 8712968"/>
              <a:gd name="connsiteY2" fmla="*/ 768577 h 768577"/>
              <a:gd name="connsiteX3" fmla="*/ 0 w 8712968"/>
              <a:gd name="connsiteY3" fmla="*/ 768577 h 768577"/>
              <a:gd name="connsiteX4" fmla="*/ 12879 w 8712968"/>
              <a:gd name="connsiteY4" fmla="*/ 0 h 768577"/>
              <a:gd name="connsiteX0" fmla="*/ 12879 w 8725847"/>
              <a:gd name="connsiteY0" fmla="*/ 0 h 768577"/>
              <a:gd name="connsiteX1" fmla="*/ 8712968 w 8725847"/>
              <a:gd name="connsiteY1" fmla="*/ 12879 h 768577"/>
              <a:gd name="connsiteX2" fmla="*/ 8725847 w 8725847"/>
              <a:gd name="connsiteY2" fmla="*/ 382210 h 768577"/>
              <a:gd name="connsiteX3" fmla="*/ 0 w 8725847"/>
              <a:gd name="connsiteY3" fmla="*/ 768577 h 768577"/>
              <a:gd name="connsiteX4" fmla="*/ 12879 w 8725847"/>
              <a:gd name="connsiteY4" fmla="*/ 0 h 768577"/>
              <a:gd name="connsiteX0" fmla="*/ 12879 w 8725847"/>
              <a:gd name="connsiteY0" fmla="*/ 0 h 768577"/>
              <a:gd name="connsiteX1" fmla="*/ 8712968 w 8725847"/>
              <a:gd name="connsiteY1" fmla="*/ 12879 h 768577"/>
              <a:gd name="connsiteX2" fmla="*/ 8725847 w 8725847"/>
              <a:gd name="connsiteY2" fmla="*/ 382210 h 768577"/>
              <a:gd name="connsiteX3" fmla="*/ 0 w 8725847"/>
              <a:gd name="connsiteY3" fmla="*/ 768577 h 768577"/>
              <a:gd name="connsiteX4" fmla="*/ 12879 w 8725847"/>
              <a:gd name="connsiteY4" fmla="*/ 0 h 768577"/>
              <a:gd name="connsiteX0" fmla="*/ 12879 w 8725847"/>
              <a:gd name="connsiteY0" fmla="*/ 0 h 382210"/>
              <a:gd name="connsiteX1" fmla="*/ 8712968 w 8725847"/>
              <a:gd name="connsiteY1" fmla="*/ 12879 h 382210"/>
              <a:gd name="connsiteX2" fmla="*/ 8725847 w 8725847"/>
              <a:gd name="connsiteY2" fmla="*/ 382210 h 382210"/>
              <a:gd name="connsiteX3" fmla="*/ 0 w 8725847"/>
              <a:gd name="connsiteY3" fmla="*/ 356453 h 382210"/>
              <a:gd name="connsiteX4" fmla="*/ 12879 w 8725847"/>
              <a:gd name="connsiteY4" fmla="*/ 0 h 382210"/>
              <a:gd name="connsiteX0" fmla="*/ 12879 w 8725847"/>
              <a:gd name="connsiteY0" fmla="*/ 0 h 382211"/>
              <a:gd name="connsiteX1" fmla="*/ 8712968 w 8725847"/>
              <a:gd name="connsiteY1" fmla="*/ 12879 h 382211"/>
              <a:gd name="connsiteX2" fmla="*/ 8725847 w 8725847"/>
              <a:gd name="connsiteY2" fmla="*/ 382210 h 382211"/>
              <a:gd name="connsiteX3" fmla="*/ 0 w 8725847"/>
              <a:gd name="connsiteY3" fmla="*/ 382211 h 382211"/>
              <a:gd name="connsiteX4" fmla="*/ 12879 w 8725847"/>
              <a:gd name="connsiteY4" fmla="*/ 0 h 382211"/>
              <a:gd name="connsiteX0" fmla="*/ 12879 w 8712969"/>
              <a:gd name="connsiteY0" fmla="*/ 0 h 382211"/>
              <a:gd name="connsiteX1" fmla="*/ 8712968 w 8712969"/>
              <a:gd name="connsiteY1" fmla="*/ 12879 h 382211"/>
              <a:gd name="connsiteX2" fmla="*/ 8712969 w 8712969"/>
              <a:gd name="connsiteY2" fmla="*/ 382210 h 382211"/>
              <a:gd name="connsiteX3" fmla="*/ 0 w 8712969"/>
              <a:gd name="connsiteY3" fmla="*/ 382211 h 382211"/>
              <a:gd name="connsiteX4" fmla="*/ 12879 w 8712969"/>
              <a:gd name="connsiteY4" fmla="*/ 0 h 382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12969" h="382211">
                <a:moveTo>
                  <a:pt x="12879" y="0"/>
                </a:moveTo>
                <a:lnTo>
                  <a:pt x="8712968" y="12879"/>
                </a:lnTo>
                <a:cubicBezTo>
                  <a:pt x="8712968" y="135989"/>
                  <a:pt x="8712969" y="259100"/>
                  <a:pt x="8712969" y="382210"/>
                </a:cubicBezTo>
                <a:lnTo>
                  <a:pt x="0" y="382211"/>
                </a:lnTo>
                <a:lnTo>
                  <a:pt x="12879" y="0"/>
                </a:lnTo>
                <a:close/>
              </a:path>
            </a:pathLst>
          </a:custGeom>
          <a:noFill/>
        </p:spPr>
        <p:txBody>
          <a:bodyPr wrap="square" rtlCol="0">
            <a:spAutoFit/>
          </a:bodyPr>
          <a:lstStyle/>
          <a:p>
            <a:pPr algn="ctr"/>
            <a:r>
              <a:rPr lang="en-GB" sz="2400" dirty="0"/>
              <a:t>The products of cracking include alkanes and another type of hydrocarbon called </a:t>
            </a:r>
            <a:r>
              <a:rPr lang="en-GB" sz="2400" b="1" dirty="0">
                <a:solidFill>
                  <a:schemeClr val="accent6">
                    <a:lumMod val="75000"/>
                  </a:schemeClr>
                </a:solidFill>
              </a:rPr>
              <a:t>alkenes</a:t>
            </a:r>
            <a:r>
              <a:rPr lang="en-GB" sz="2400" dirty="0">
                <a:solidFill>
                  <a:schemeClr val="accent6">
                    <a:lumMod val="75000"/>
                  </a:schemeClr>
                </a:solidFill>
              </a:rPr>
              <a:t>.</a:t>
            </a:r>
          </a:p>
        </p:txBody>
      </p:sp>
      <p:sp>
        <p:nvSpPr>
          <p:cNvPr id="16" name="TextBox 15"/>
          <p:cNvSpPr txBox="1"/>
          <p:nvPr/>
        </p:nvSpPr>
        <p:spPr>
          <a:xfrm>
            <a:off x="166633" y="1683882"/>
            <a:ext cx="8724207" cy="3785652"/>
          </a:xfrm>
          <a:custGeom>
            <a:avLst/>
            <a:gdLst>
              <a:gd name="connsiteX0" fmla="*/ 0 w 5688632"/>
              <a:gd name="connsiteY0" fmla="*/ 0 h 1200329"/>
              <a:gd name="connsiteX1" fmla="*/ 5688632 w 5688632"/>
              <a:gd name="connsiteY1" fmla="*/ 0 h 1200329"/>
              <a:gd name="connsiteX2" fmla="*/ 5688632 w 5688632"/>
              <a:gd name="connsiteY2" fmla="*/ 1200329 h 1200329"/>
              <a:gd name="connsiteX3" fmla="*/ 0 w 5688632"/>
              <a:gd name="connsiteY3" fmla="*/ 1200329 h 1200329"/>
              <a:gd name="connsiteX4" fmla="*/ 0 w 5688632"/>
              <a:gd name="connsiteY4" fmla="*/ 0 h 1200329"/>
              <a:gd name="connsiteX0" fmla="*/ 0 w 5701511"/>
              <a:gd name="connsiteY0" fmla="*/ 0 h 1612453"/>
              <a:gd name="connsiteX1" fmla="*/ 5701511 w 5701511"/>
              <a:gd name="connsiteY1" fmla="*/ 412124 h 1612453"/>
              <a:gd name="connsiteX2" fmla="*/ 5701511 w 5701511"/>
              <a:gd name="connsiteY2" fmla="*/ 1612453 h 1612453"/>
              <a:gd name="connsiteX3" fmla="*/ 12879 w 5701511"/>
              <a:gd name="connsiteY3" fmla="*/ 1612453 h 1612453"/>
              <a:gd name="connsiteX4" fmla="*/ 0 w 5701511"/>
              <a:gd name="connsiteY4" fmla="*/ 0 h 1612453"/>
              <a:gd name="connsiteX0" fmla="*/ 0 w 5701511"/>
              <a:gd name="connsiteY0" fmla="*/ 0 h 1612453"/>
              <a:gd name="connsiteX1" fmla="*/ 5701511 w 5701511"/>
              <a:gd name="connsiteY1" fmla="*/ 12878 h 1612453"/>
              <a:gd name="connsiteX2" fmla="*/ 5701511 w 5701511"/>
              <a:gd name="connsiteY2" fmla="*/ 1612453 h 1612453"/>
              <a:gd name="connsiteX3" fmla="*/ 12879 w 5701511"/>
              <a:gd name="connsiteY3" fmla="*/ 1612453 h 1612453"/>
              <a:gd name="connsiteX4" fmla="*/ 0 w 5701511"/>
              <a:gd name="connsiteY4" fmla="*/ 0 h 1612453"/>
              <a:gd name="connsiteX0" fmla="*/ 0 w 5701511"/>
              <a:gd name="connsiteY0" fmla="*/ 0 h 1612453"/>
              <a:gd name="connsiteX1" fmla="*/ 5701511 w 5701511"/>
              <a:gd name="connsiteY1" fmla="*/ 0 h 1612453"/>
              <a:gd name="connsiteX2" fmla="*/ 5701511 w 5701511"/>
              <a:gd name="connsiteY2" fmla="*/ 1612453 h 1612453"/>
              <a:gd name="connsiteX3" fmla="*/ 12879 w 5701511"/>
              <a:gd name="connsiteY3" fmla="*/ 1612453 h 1612453"/>
              <a:gd name="connsiteX4" fmla="*/ 0 w 5701511"/>
              <a:gd name="connsiteY4" fmla="*/ 0 h 1612453"/>
              <a:gd name="connsiteX0" fmla="*/ 0 w 5714390"/>
              <a:gd name="connsiteY0" fmla="*/ 0 h 1612453"/>
              <a:gd name="connsiteX1" fmla="*/ 5701511 w 5714390"/>
              <a:gd name="connsiteY1" fmla="*/ 0 h 1612453"/>
              <a:gd name="connsiteX2" fmla="*/ 5714390 w 5714390"/>
              <a:gd name="connsiteY2" fmla="*/ 1238965 h 1612453"/>
              <a:gd name="connsiteX3" fmla="*/ 12879 w 5714390"/>
              <a:gd name="connsiteY3" fmla="*/ 1612453 h 1612453"/>
              <a:gd name="connsiteX4" fmla="*/ 0 w 5714390"/>
              <a:gd name="connsiteY4" fmla="*/ 0 h 1612453"/>
              <a:gd name="connsiteX0" fmla="*/ 0 w 5714390"/>
              <a:gd name="connsiteY0" fmla="*/ 0 h 1238965"/>
              <a:gd name="connsiteX1" fmla="*/ 5701511 w 5714390"/>
              <a:gd name="connsiteY1" fmla="*/ 0 h 1238965"/>
              <a:gd name="connsiteX2" fmla="*/ 5714390 w 5714390"/>
              <a:gd name="connsiteY2" fmla="*/ 1238965 h 1238965"/>
              <a:gd name="connsiteX3" fmla="*/ 0 w 5714390"/>
              <a:gd name="connsiteY3" fmla="*/ 1187450 h 1238965"/>
              <a:gd name="connsiteX4" fmla="*/ 0 w 5714390"/>
              <a:gd name="connsiteY4" fmla="*/ 0 h 1238965"/>
              <a:gd name="connsiteX0" fmla="*/ 0 w 5701511"/>
              <a:gd name="connsiteY0" fmla="*/ 0 h 1187450"/>
              <a:gd name="connsiteX1" fmla="*/ 5701511 w 5701511"/>
              <a:gd name="connsiteY1" fmla="*/ 0 h 1187450"/>
              <a:gd name="connsiteX2" fmla="*/ 5688632 w 5701511"/>
              <a:gd name="connsiteY2" fmla="*/ 1187450 h 1187450"/>
              <a:gd name="connsiteX3" fmla="*/ 0 w 5701511"/>
              <a:gd name="connsiteY3" fmla="*/ 1187450 h 1187450"/>
              <a:gd name="connsiteX4" fmla="*/ 0 w 5701511"/>
              <a:gd name="connsiteY4" fmla="*/ 0 h 1187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01511" h="1187450">
                <a:moveTo>
                  <a:pt x="0" y="0"/>
                </a:moveTo>
                <a:lnTo>
                  <a:pt x="5701511" y="0"/>
                </a:lnTo>
                <a:lnTo>
                  <a:pt x="5688632" y="1187450"/>
                </a:lnTo>
                <a:lnTo>
                  <a:pt x="0" y="1187450"/>
                </a:lnTo>
                <a:lnTo>
                  <a:pt x="0" y="0"/>
                </a:lnTo>
                <a:close/>
              </a:path>
            </a:pathLst>
          </a:custGeom>
          <a:noFill/>
          <a:ln w="28575">
            <a:solidFill>
              <a:schemeClr val="accent6"/>
            </a:solidFill>
          </a:ln>
        </p:spPr>
        <p:txBody>
          <a:bodyPr wrap="square" rtlCol="0">
            <a:spAutoFit/>
          </a:bodyPr>
          <a:lstStyle/>
          <a:p>
            <a:r>
              <a:rPr lang="en-GB" sz="2000" dirty="0"/>
              <a:t>Alkenes are </a:t>
            </a:r>
            <a:r>
              <a:rPr lang="en-GB" sz="2000" b="1" dirty="0">
                <a:solidFill>
                  <a:schemeClr val="accent6">
                    <a:lumMod val="75000"/>
                  </a:schemeClr>
                </a:solidFill>
              </a:rPr>
              <a:t>more reactive </a:t>
            </a:r>
            <a:r>
              <a:rPr lang="en-GB" sz="2000" dirty="0"/>
              <a:t>than alkanes. There is a high demand for fuels with small molecules and so some of the products of cracking are useful as fuels.</a:t>
            </a:r>
          </a:p>
          <a:p>
            <a:endParaRPr lang="en-GB" sz="2000" dirty="0"/>
          </a:p>
          <a:p>
            <a:r>
              <a:rPr lang="en-GB" sz="2000" b="1" dirty="0">
                <a:solidFill>
                  <a:schemeClr val="accent6">
                    <a:lumMod val="75000"/>
                  </a:schemeClr>
                </a:solidFill>
              </a:rPr>
              <a:t>Alkanes </a:t>
            </a:r>
            <a:r>
              <a:rPr lang="en-GB" sz="2000" dirty="0"/>
              <a:t>are </a:t>
            </a:r>
            <a:r>
              <a:rPr lang="en-GB" sz="2000" b="1" dirty="0">
                <a:solidFill>
                  <a:schemeClr val="accent6">
                    <a:lumMod val="75000"/>
                  </a:schemeClr>
                </a:solidFill>
              </a:rPr>
              <a:t>saturated hydrocarbons </a:t>
            </a:r>
            <a:r>
              <a:rPr lang="en-GB" sz="2000" dirty="0"/>
              <a:t>– there are no double bonds between carbons.</a:t>
            </a:r>
          </a:p>
          <a:p>
            <a:endParaRPr lang="en-GB" sz="2000" dirty="0"/>
          </a:p>
          <a:p>
            <a:endParaRPr lang="en-GB" sz="2000" dirty="0"/>
          </a:p>
          <a:p>
            <a:r>
              <a:rPr lang="en-GB" sz="2000" b="1" dirty="0">
                <a:solidFill>
                  <a:schemeClr val="accent6">
                    <a:lumMod val="75000"/>
                  </a:schemeClr>
                </a:solidFill>
              </a:rPr>
              <a:t>Alkenes</a:t>
            </a:r>
            <a:r>
              <a:rPr lang="en-GB" sz="2000" dirty="0"/>
              <a:t> are </a:t>
            </a:r>
            <a:r>
              <a:rPr lang="en-GB" sz="2000" b="1" dirty="0">
                <a:solidFill>
                  <a:schemeClr val="accent6">
                    <a:lumMod val="75000"/>
                  </a:schemeClr>
                </a:solidFill>
              </a:rPr>
              <a:t>unsaturated hydrocarbons </a:t>
            </a:r>
            <a:r>
              <a:rPr lang="en-GB" sz="2000" dirty="0"/>
              <a:t>– there are one or more double bonds between carbons. </a:t>
            </a:r>
          </a:p>
          <a:p>
            <a:endParaRPr lang="en-GB" sz="2000" dirty="0"/>
          </a:p>
          <a:p>
            <a:endParaRPr lang="en-GB" sz="2000" dirty="0"/>
          </a:p>
          <a:p>
            <a:endParaRPr lang="en-GB" sz="2000" dirty="0"/>
          </a:p>
        </p:txBody>
      </p:sp>
      <p:sp>
        <p:nvSpPr>
          <p:cNvPr id="17" name="TextBox 16"/>
          <p:cNvSpPr txBox="1"/>
          <p:nvPr/>
        </p:nvSpPr>
        <p:spPr>
          <a:xfrm>
            <a:off x="155395" y="5655620"/>
            <a:ext cx="8724207" cy="707886"/>
          </a:xfrm>
          <a:custGeom>
            <a:avLst/>
            <a:gdLst>
              <a:gd name="connsiteX0" fmla="*/ 0 w 5688632"/>
              <a:gd name="connsiteY0" fmla="*/ 0 h 646331"/>
              <a:gd name="connsiteX1" fmla="*/ 5688632 w 5688632"/>
              <a:gd name="connsiteY1" fmla="*/ 0 h 646331"/>
              <a:gd name="connsiteX2" fmla="*/ 5688632 w 5688632"/>
              <a:gd name="connsiteY2" fmla="*/ 646331 h 646331"/>
              <a:gd name="connsiteX3" fmla="*/ 0 w 5688632"/>
              <a:gd name="connsiteY3" fmla="*/ 646331 h 646331"/>
              <a:gd name="connsiteX4" fmla="*/ 0 w 5688632"/>
              <a:gd name="connsiteY4" fmla="*/ 0 h 646331"/>
              <a:gd name="connsiteX0" fmla="*/ 0 w 5688632"/>
              <a:gd name="connsiteY0" fmla="*/ 0 h 787999"/>
              <a:gd name="connsiteX1" fmla="*/ 5688632 w 5688632"/>
              <a:gd name="connsiteY1" fmla="*/ 141668 h 787999"/>
              <a:gd name="connsiteX2" fmla="*/ 5688632 w 5688632"/>
              <a:gd name="connsiteY2" fmla="*/ 787999 h 787999"/>
              <a:gd name="connsiteX3" fmla="*/ 0 w 5688632"/>
              <a:gd name="connsiteY3" fmla="*/ 787999 h 787999"/>
              <a:gd name="connsiteX4" fmla="*/ 0 w 5688632"/>
              <a:gd name="connsiteY4" fmla="*/ 0 h 787999"/>
              <a:gd name="connsiteX0" fmla="*/ 0 w 5688632"/>
              <a:gd name="connsiteY0" fmla="*/ 0 h 787999"/>
              <a:gd name="connsiteX1" fmla="*/ 5688632 w 5688632"/>
              <a:gd name="connsiteY1" fmla="*/ 0 h 787999"/>
              <a:gd name="connsiteX2" fmla="*/ 5688632 w 5688632"/>
              <a:gd name="connsiteY2" fmla="*/ 787999 h 787999"/>
              <a:gd name="connsiteX3" fmla="*/ 0 w 5688632"/>
              <a:gd name="connsiteY3" fmla="*/ 787999 h 787999"/>
              <a:gd name="connsiteX4" fmla="*/ 0 w 5688632"/>
              <a:gd name="connsiteY4" fmla="*/ 0 h 787999"/>
              <a:gd name="connsiteX0" fmla="*/ 0 w 5688632"/>
              <a:gd name="connsiteY0" fmla="*/ 0 h 852393"/>
              <a:gd name="connsiteX1" fmla="*/ 5688632 w 5688632"/>
              <a:gd name="connsiteY1" fmla="*/ 0 h 852393"/>
              <a:gd name="connsiteX2" fmla="*/ 5688632 w 5688632"/>
              <a:gd name="connsiteY2" fmla="*/ 852393 h 852393"/>
              <a:gd name="connsiteX3" fmla="*/ 0 w 5688632"/>
              <a:gd name="connsiteY3" fmla="*/ 787999 h 852393"/>
              <a:gd name="connsiteX4" fmla="*/ 0 w 5688632"/>
              <a:gd name="connsiteY4" fmla="*/ 0 h 852393"/>
              <a:gd name="connsiteX0" fmla="*/ 0 w 5688632"/>
              <a:gd name="connsiteY0" fmla="*/ 0 h 852393"/>
              <a:gd name="connsiteX1" fmla="*/ 5688632 w 5688632"/>
              <a:gd name="connsiteY1" fmla="*/ 0 h 852393"/>
              <a:gd name="connsiteX2" fmla="*/ 5688632 w 5688632"/>
              <a:gd name="connsiteY2" fmla="*/ 852393 h 852393"/>
              <a:gd name="connsiteX3" fmla="*/ 0 w 5688632"/>
              <a:gd name="connsiteY3" fmla="*/ 852393 h 852393"/>
              <a:gd name="connsiteX4" fmla="*/ 0 w 5688632"/>
              <a:gd name="connsiteY4" fmla="*/ 0 h 852393"/>
              <a:gd name="connsiteX0" fmla="*/ 0 w 5688632"/>
              <a:gd name="connsiteY0" fmla="*/ 0 h 852393"/>
              <a:gd name="connsiteX1" fmla="*/ 5688632 w 5688632"/>
              <a:gd name="connsiteY1" fmla="*/ 0 h 852393"/>
              <a:gd name="connsiteX2" fmla="*/ 5688632 w 5688632"/>
              <a:gd name="connsiteY2" fmla="*/ 852393 h 852393"/>
              <a:gd name="connsiteX3" fmla="*/ 0 w 5688632"/>
              <a:gd name="connsiteY3" fmla="*/ 792946 h 852393"/>
              <a:gd name="connsiteX4" fmla="*/ 0 w 5688632"/>
              <a:gd name="connsiteY4" fmla="*/ 0 h 852393"/>
              <a:gd name="connsiteX0" fmla="*/ 0 w 5688632"/>
              <a:gd name="connsiteY0" fmla="*/ 0 h 792946"/>
              <a:gd name="connsiteX1" fmla="*/ 5688632 w 5688632"/>
              <a:gd name="connsiteY1" fmla="*/ 0 h 792946"/>
              <a:gd name="connsiteX2" fmla="*/ 5688632 w 5688632"/>
              <a:gd name="connsiteY2" fmla="*/ 781057 h 792946"/>
              <a:gd name="connsiteX3" fmla="*/ 0 w 5688632"/>
              <a:gd name="connsiteY3" fmla="*/ 792946 h 792946"/>
              <a:gd name="connsiteX4" fmla="*/ 0 w 5688632"/>
              <a:gd name="connsiteY4" fmla="*/ 0 h 792946"/>
              <a:gd name="connsiteX0" fmla="*/ 0 w 5688632"/>
              <a:gd name="connsiteY0" fmla="*/ 0 h 792947"/>
              <a:gd name="connsiteX1" fmla="*/ 5688632 w 5688632"/>
              <a:gd name="connsiteY1" fmla="*/ 0 h 792947"/>
              <a:gd name="connsiteX2" fmla="*/ 5688632 w 5688632"/>
              <a:gd name="connsiteY2" fmla="*/ 792947 h 792947"/>
              <a:gd name="connsiteX3" fmla="*/ 0 w 5688632"/>
              <a:gd name="connsiteY3" fmla="*/ 792946 h 792947"/>
              <a:gd name="connsiteX4" fmla="*/ 0 w 5688632"/>
              <a:gd name="connsiteY4" fmla="*/ 0 h 7929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88632" h="792947">
                <a:moveTo>
                  <a:pt x="0" y="0"/>
                </a:moveTo>
                <a:lnTo>
                  <a:pt x="5688632" y="0"/>
                </a:lnTo>
                <a:lnTo>
                  <a:pt x="5688632" y="792947"/>
                </a:lnTo>
                <a:lnTo>
                  <a:pt x="0" y="792946"/>
                </a:lnTo>
                <a:lnTo>
                  <a:pt x="0" y="0"/>
                </a:lnTo>
                <a:close/>
              </a:path>
            </a:pathLst>
          </a:custGeom>
          <a:noFill/>
          <a:ln w="28575">
            <a:solidFill>
              <a:schemeClr val="accent6"/>
            </a:solidFill>
          </a:ln>
        </p:spPr>
        <p:txBody>
          <a:bodyPr wrap="square" rtlCol="0">
            <a:spAutoFit/>
          </a:bodyPr>
          <a:lstStyle/>
          <a:p>
            <a:pPr algn="ctr"/>
            <a:r>
              <a:rPr lang="en-GB" sz="2000" dirty="0"/>
              <a:t>Alkenes are used to produce </a:t>
            </a:r>
            <a:r>
              <a:rPr lang="en-GB" sz="2000" b="1" dirty="0">
                <a:solidFill>
                  <a:schemeClr val="accent6">
                    <a:lumMod val="75000"/>
                  </a:schemeClr>
                </a:solidFill>
              </a:rPr>
              <a:t>polymers</a:t>
            </a:r>
            <a:r>
              <a:rPr lang="en-GB" sz="2000" dirty="0"/>
              <a:t> and as starting materials for the production of many other chemicals.</a:t>
            </a:r>
          </a:p>
        </p:txBody>
      </p:sp>
      <p:sp>
        <p:nvSpPr>
          <p:cNvPr id="3" name="AutoShape 4" descr="Image result for saturated hydrocarbon">
            <a:hlinkClick r:id="rId2"/>
          </p:cNvPr>
          <p:cNvSpPr>
            <a:spLocks noChangeAspect="1" noChangeArrowheads="1"/>
          </p:cNvSpPr>
          <p:nvPr/>
        </p:nvSpPr>
        <p:spPr bwMode="auto">
          <a:xfrm>
            <a:off x="2949575" y="-563563"/>
            <a:ext cx="3000375" cy="11811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979712" y="2924944"/>
            <a:ext cx="2657872" cy="1049859"/>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502278" y="4160889"/>
            <a:ext cx="2771800" cy="1244423"/>
          </a:xfrm>
          <a:prstGeom prst="rect">
            <a:avLst/>
          </a:prstGeom>
        </p:spPr>
      </p:pic>
    </p:spTree>
    <p:extLst>
      <p:ext uri="{BB962C8B-B14F-4D97-AF65-F5344CB8AC3E}">
        <p14:creationId xmlns:p14="http://schemas.microsoft.com/office/powerpoint/2010/main" val="10700226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600986"/>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3200" b="1" dirty="0"/>
              <a:t>Fuels – Part 3</a:t>
            </a:r>
          </a:p>
          <a:p>
            <a:endParaRPr lang="en-US" sz="2800" b="1" dirty="0"/>
          </a:p>
          <a:p>
            <a:pPr marL="685800" lvl="1" indent="-342900">
              <a:buFont typeface="Arial" charset="0"/>
              <a:buChar char="•"/>
            </a:pPr>
            <a:r>
              <a:rPr lang="en-US" sz="2400" dirty="0">
                <a:solidFill>
                  <a:schemeClr val="tx1">
                    <a:lumMod val="50000"/>
                    <a:lumOff val="50000"/>
                  </a:schemeClr>
                </a:solidFill>
              </a:rPr>
              <a:t>Cracking</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1633369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Cracking</a:t>
            </a:r>
            <a:r>
              <a:rPr lang="en-US" sz="1500" dirty="0">
                <a:solidFill>
                  <a:schemeClr val="accent6"/>
                </a:solidFill>
              </a:rPr>
              <a:t>-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AutoNum type="arabicPeriod"/>
            </a:pPr>
            <a:r>
              <a:rPr lang="en-GB" sz="2400" dirty="0"/>
              <a:t>Define the term ‘cracking’.</a:t>
            </a:r>
          </a:p>
          <a:p>
            <a:pPr marL="457200" indent="-457200">
              <a:buAutoNum type="arabicPeriod"/>
            </a:pPr>
            <a:endParaRPr lang="en-GB" sz="2400" dirty="0"/>
          </a:p>
          <a:p>
            <a:pPr marL="457200" indent="-457200">
              <a:buAutoNum type="arabicPeriod"/>
            </a:pPr>
            <a:r>
              <a:rPr lang="en-GB" sz="2400" dirty="0"/>
              <a:t>Where do the non-renewable fossil fuels petrol and kerosene come from?</a:t>
            </a:r>
          </a:p>
          <a:p>
            <a:pPr marL="457200" indent="-457200">
              <a:buAutoNum type="arabicPeriod"/>
            </a:pPr>
            <a:endParaRPr lang="en-GB" sz="2400" dirty="0"/>
          </a:p>
          <a:p>
            <a:pPr marL="457200" indent="-457200">
              <a:buAutoNum type="arabicPeriod"/>
            </a:pPr>
            <a:r>
              <a:rPr lang="en-GB" sz="2400" dirty="0"/>
              <a:t>Where does the non-renewable fossil fuel methane come from?</a:t>
            </a:r>
          </a:p>
          <a:p>
            <a:pPr marL="457200" indent="-457200">
              <a:buAutoNum type="arabicPeriod"/>
            </a:pPr>
            <a:endParaRPr lang="en-GB" sz="2400" dirty="0"/>
          </a:p>
          <a:p>
            <a:pPr marL="457200" indent="-457200">
              <a:buAutoNum type="arabicPeriod"/>
            </a:pPr>
            <a:r>
              <a:rPr lang="en-GB" sz="2400" dirty="0"/>
              <a:t>Why is cracking necessary?</a:t>
            </a:r>
          </a:p>
          <a:p>
            <a:pPr marL="457200" indent="-457200">
              <a:buAutoNum type="arabicPeriod"/>
            </a:pPr>
            <a:endParaRPr lang="en-GB" sz="2400" dirty="0"/>
          </a:p>
          <a:p>
            <a:pPr marL="457200" indent="-457200">
              <a:buFontTx/>
              <a:buAutoNum type="arabicPeriod"/>
            </a:pPr>
            <a:r>
              <a:rPr lang="en-GB" sz="2400" dirty="0"/>
              <a:t>What is an alkene? </a:t>
            </a:r>
          </a:p>
          <a:p>
            <a:pPr marL="457200" indent="-457200">
              <a:buAutoNum type="arabicPeriod"/>
            </a:pPr>
            <a:endParaRPr lang="en-GB" sz="2400" dirty="0"/>
          </a:p>
          <a:p>
            <a:pPr marL="457200" indent="-457200">
              <a:buAutoNum type="arabicPeriod"/>
            </a:pPr>
            <a:endParaRPr lang="en-GB" sz="2400" dirty="0"/>
          </a:p>
          <a:p>
            <a:pPr marL="457200" indent="-457200">
              <a:buAutoNum type="arabicPeriod"/>
            </a:pPr>
            <a:endParaRPr lang="en-GB" sz="2400" dirty="0"/>
          </a:p>
        </p:txBody>
      </p:sp>
    </p:spTree>
    <p:extLst>
      <p:ext uri="{BB962C8B-B14F-4D97-AF65-F5344CB8AC3E}">
        <p14:creationId xmlns:p14="http://schemas.microsoft.com/office/powerpoint/2010/main" val="42245943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3323987"/>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r>
              <a:rPr lang="en-US" sz="3200" b="1" dirty="0"/>
              <a:t>Fuels – Part 3</a:t>
            </a:r>
          </a:p>
          <a:p>
            <a:endParaRPr lang="en-US" sz="2800" b="1" dirty="0"/>
          </a:p>
          <a:p>
            <a:pPr marL="685800" lvl="1" indent="-342900">
              <a:buFont typeface="Arial" charset="0"/>
              <a:buChar char="•"/>
            </a:pPr>
            <a:r>
              <a:rPr lang="en-US" sz="2400" dirty="0">
                <a:solidFill>
                  <a:schemeClr val="tx1">
                    <a:lumMod val="50000"/>
                    <a:lumOff val="50000"/>
                  </a:schemeClr>
                </a:solidFill>
              </a:rPr>
              <a:t>Cracking</a:t>
            </a:r>
          </a:p>
          <a:p>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31625107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dirty="0">
                <a:solidFill>
                  <a:schemeClr val="accent6"/>
                </a:solidFill>
              </a:rPr>
              <a:t>Cracking</a:t>
            </a:r>
            <a:r>
              <a:rPr lang="en-US" sz="1500" dirty="0">
                <a:solidFill>
                  <a:schemeClr val="accent6"/>
                </a:solidFill>
              </a:rPr>
              <a:t>- </a:t>
            </a:r>
            <a:r>
              <a:rPr lang="en-US" sz="1500" b="1" dirty="0" err="1">
                <a:solidFill>
                  <a:schemeClr val="tx1"/>
                </a:solidFill>
              </a:rPr>
              <a:t>Question</a:t>
            </a:r>
            <a:r>
              <a:rPr lang="en-US" sz="1500" b="1" kern="1200" dirty="0" err="1">
                <a:solidFill>
                  <a:schemeClr val="tx1"/>
                </a:solidFill>
                <a:latin typeface="Calibri"/>
                <a:ea typeface=""/>
                <a:cs typeface="News Gothic MT"/>
              </a:rPr>
              <a:t>IT</a:t>
            </a:r>
            <a:endParaRPr kumimoji="0" lang="en-US" sz="15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632311"/>
          </a:xfrm>
          <a:prstGeom prst="rect">
            <a:avLst/>
          </a:prstGeom>
          <a:noFill/>
        </p:spPr>
        <p:txBody>
          <a:bodyPr wrap="square" rtlCol="0">
            <a:spAutoFit/>
          </a:bodyPr>
          <a:lstStyle/>
          <a:p>
            <a:pPr marL="457200" indent="-457200">
              <a:buAutoNum type="arabicPeriod"/>
            </a:pPr>
            <a:r>
              <a:rPr lang="en-GB" sz="2400" dirty="0"/>
              <a:t>Define the term ‘cracking’.</a:t>
            </a:r>
          </a:p>
          <a:p>
            <a:pPr lvl="1"/>
            <a:r>
              <a:rPr lang="en-GB" sz="2400" dirty="0">
                <a:solidFill>
                  <a:srgbClr val="00B050"/>
                </a:solidFill>
              </a:rPr>
              <a:t>Breakdown of larger saturated hydrocarbons into shorter hydrocarbons, some of which are unsaturated.</a:t>
            </a:r>
          </a:p>
          <a:p>
            <a:pPr marL="457200" indent="-457200">
              <a:buAutoNum type="arabicPeriod"/>
            </a:pPr>
            <a:r>
              <a:rPr lang="en-GB" sz="2400" dirty="0"/>
              <a:t>Where do the non-renewable fossil fuels petrol and kerosene come from?</a:t>
            </a:r>
          </a:p>
          <a:p>
            <a:pPr lvl="1"/>
            <a:r>
              <a:rPr lang="en-GB" sz="2400" dirty="0">
                <a:solidFill>
                  <a:srgbClr val="00B050"/>
                </a:solidFill>
              </a:rPr>
              <a:t>Crude oil.</a:t>
            </a:r>
          </a:p>
          <a:p>
            <a:pPr marL="457200" indent="-457200">
              <a:buAutoNum type="arabicPeriod"/>
            </a:pPr>
            <a:r>
              <a:rPr lang="en-GB" sz="2400" dirty="0"/>
              <a:t>Where does the non-renewable fossil fuel methane come from?</a:t>
            </a:r>
          </a:p>
          <a:p>
            <a:pPr lvl="1"/>
            <a:r>
              <a:rPr lang="en-GB" sz="2400" dirty="0">
                <a:solidFill>
                  <a:srgbClr val="00B050"/>
                </a:solidFill>
              </a:rPr>
              <a:t>Natural gas</a:t>
            </a:r>
          </a:p>
          <a:p>
            <a:pPr marL="457200" indent="-457200">
              <a:buAutoNum type="arabicPeriod"/>
            </a:pPr>
            <a:r>
              <a:rPr lang="en-GB" sz="2400" dirty="0"/>
              <a:t>Why is cracking necessary?</a:t>
            </a:r>
          </a:p>
          <a:p>
            <a:pPr lvl="1"/>
            <a:r>
              <a:rPr lang="en-GB" sz="2400" dirty="0">
                <a:solidFill>
                  <a:srgbClr val="00B050"/>
                </a:solidFill>
              </a:rPr>
              <a:t>Break longer saturated, less useful hydrocarbons, into shorted more useful hydrocarbons, some of which are unsaturated alkenes.</a:t>
            </a:r>
          </a:p>
          <a:p>
            <a:pPr marL="457200" indent="-457200">
              <a:buFontTx/>
              <a:buAutoNum type="arabicPeriod"/>
            </a:pPr>
            <a:r>
              <a:rPr lang="en-GB" sz="2400" dirty="0"/>
              <a:t>What is an alkene? </a:t>
            </a:r>
          </a:p>
          <a:p>
            <a:pPr lvl="1"/>
            <a:r>
              <a:rPr lang="en-GB" sz="2400" dirty="0">
                <a:solidFill>
                  <a:srgbClr val="00B050"/>
                </a:solidFill>
              </a:rPr>
              <a:t>Unsaturated hydrocarbon; one or more double bond between carbons.</a:t>
            </a:r>
          </a:p>
        </p:txBody>
      </p:sp>
    </p:spTree>
    <p:extLst>
      <p:ext uri="{BB962C8B-B14F-4D97-AF65-F5344CB8AC3E}">
        <p14:creationId xmlns:p14="http://schemas.microsoft.com/office/powerpoint/2010/main" val="15956171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22696" y="675435"/>
            <a:ext cx="4572000" cy="5416868"/>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solidFill>
                  <a:schemeClr val="tx1">
                    <a:lumMod val="50000"/>
                    <a:lumOff val="50000"/>
                  </a:schemeClr>
                </a:solidFill>
              </a:rPr>
              <a:t>Earth and atmospheric science</a:t>
            </a:r>
          </a:p>
          <a:p>
            <a:r>
              <a:rPr lang="en-US" sz="2800" b="1" dirty="0">
                <a:solidFill>
                  <a:schemeClr val="tx1">
                    <a:lumMod val="50000"/>
                    <a:lumOff val="50000"/>
                  </a:schemeClr>
                </a:solidFill>
              </a:rPr>
              <a:t>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Earth’s early atmosphere</a:t>
            </a:r>
          </a:p>
          <a:p>
            <a:pPr marL="685800" lvl="1" indent="-342900">
              <a:buFont typeface="Arial" charset="0"/>
              <a:buChar char="•"/>
            </a:pPr>
            <a:r>
              <a:rPr lang="en-US" sz="2400" dirty="0">
                <a:solidFill>
                  <a:schemeClr val="tx1">
                    <a:lumMod val="50000"/>
                    <a:lumOff val="50000"/>
                  </a:schemeClr>
                </a:solidFill>
              </a:rPr>
              <a:t>Changes in atmospheric gases</a:t>
            </a:r>
          </a:p>
          <a:p>
            <a:pPr marL="342900" lvl="1"/>
            <a:endParaRPr lang="en-US" sz="2400" dirty="0"/>
          </a:p>
        </p:txBody>
      </p:sp>
    </p:spTree>
    <p:extLst>
      <p:ext uri="{BB962C8B-B14F-4D97-AF65-F5344CB8AC3E}">
        <p14:creationId xmlns:p14="http://schemas.microsoft.com/office/powerpoint/2010/main" val="3080290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The Earth’s early atmosphere </a:t>
            </a:r>
          </a:p>
        </p:txBody>
      </p:sp>
      <p:sp>
        <p:nvSpPr>
          <p:cNvPr id="3" name="TextBox 2"/>
          <p:cNvSpPr txBox="1"/>
          <p:nvPr/>
        </p:nvSpPr>
        <p:spPr>
          <a:xfrm>
            <a:off x="179512" y="836712"/>
            <a:ext cx="8712968" cy="1015663"/>
          </a:xfrm>
          <a:prstGeom prst="rect">
            <a:avLst/>
          </a:prstGeom>
          <a:noFill/>
          <a:ln w="28575">
            <a:solidFill>
              <a:schemeClr val="accent6"/>
            </a:solidFill>
          </a:ln>
        </p:spPr>
        <p:txBody>
          <a:bodyPr wrap="square" rtlCol="0">
            <a:spAutoFit/>
          </a:bodyPr>
          <a:lstStyle/>
          <a:p>
            <a:r>
              <a:rPr lang="en-GB" sz="2000" dirty="0"/>
              <a:t>Theories about what was in the Earth’s early atmosphere and how the atmosphere was formed have changed and developed over time. Evidence for the early atmosphere is limited because of the time scale of 4.6 billion years.</a:t>
            </a:r>
          </a:p>
        </p:txBody>
      </p:sp>
      <p:sp>
        <p:nvSpPr>
          <p:cNvPr id="4" name="TextBox 3"/>
          <p:cNvSpPr txBox="1"/>
          <p:nvPr/>
        </p:nvSpPr>
        <p:spPr>
          <a:xfrm>
            <a:off x="179512" y="1916832"/>
            <a:ext cx="8712968" cy="400110"/>
          </a:xfrm>
          <a:prstGeom prst="rect">
            <a:avLst/>
          </a:prstGeom>
          <a:noFill/>
        </p:spPr>
        <p:txBody>
          <a:bodyPr wrap="square" rtlCol="0">
            <a:spAutoFit/>
          </a:bodyPr>
          <a:lstStyle/>
          <a:p>
            <a:r>
              <a:rPr lang="en-GB" sz="2000" dirty="0"/>
              <a:t>There are a number of different theories as to how the atmosphere evolved.</a:t>
            </a:r>
          </a:p>
        </p:txBody>
      </p:sp>
      <p:sp>
        <p:nvSpPr>
          <p:cNvPr id="5" name="TextBox 4"/>
          <p:cNvSpPr txBox="1"/>
          <p:nvPr/>
        </p:nvSpPr>
        <p:spPr>
          <a:xfrm>
            <a:off x="175942" y="2381399"/>
            <a:ext cx="5832648" cy="4093428"/>
          </a:xfrm>
          <a:prstGeom prst="rect">
            <a:avLst/>
          </a:prstGeom>
          <a:noFill/>
          <a:ln w="28575">
            <a:solidFill>
              <a:schemeClr val="accent6"/>
            </a:solidFill>
          </a:ln>
        </p:spPr>
        <p:txBody>
          <a:bodyPr wrap="square" rtlCol="0">
            <a:spAutoFit/>
          </a:bodyPr>
          <a:lstStyle/>
          <a:p>
            <a:r>
              <a:rPr lang="en-GB" sz="2000" dirty="0"/>
              <a:t>One theory suggests: </a:t>
            </a:r>
          </a:p>
          <a:p>
            <a:pPr marL="285750" indent="-285750">
              <a:buFont typeface="Arial" panose="020B0604020202020204" pitchFamily="34" charset="0"/>
              <a:buChar char="•"/>
            </a:pPr>
            <a:r>
              <a:rPr lang="en-GB" sz="2000" dirty="0"/>
              <a:t>During the first billion years there was </a:t>
            </a:r>
            <a:r>
              <a:rPr lang="en-GB" sz="2000" b="1" dirty="0">
                <a:solidFill>
                  <a:schemeClr val="accent6">
                    <a:lumMod val="75000"/>
                  </a:schemeClr>
                </a:solidFill>
              </a:rPr>
              <a:t>intense volcanic activity </a:t>
            </a:r>
            <a:r>
              <a:rPr lang="en-GB" sz="2000" dirty="0"/>
              <a:t>that </a:t>
            </a:r>
            <a:r>
              <a:rPr lang="en-GB" sz="2000" b="1" dirty="0">
                <a:solidFill>
                  <a:schemeClr val="accent6">
                    <a:lumMod val="75000"/>
                  </a:schemeClr>
                </a:solidFill>
              </a:rPr>
              <a:t>released gases </a:t>
            </a:r>
            <a:r>
              <a:rPr lang="en-GB" sz="2000" dirty="0"/>
              <a:t>that formed the early atmosphere consisting of mainly </a:t>
            </a:r>
            <a:r>
              <a:rPr lang="en-GB" sz="2000" b="1" dirty="0">
                <a:solidFill>
                  <a:schemeClr val="accent6">
                    <a:lumMod val="75000"/>
                  </a:schemeClr>
                </a:solidFill>
              </a:rPr>
              <a:t>carbon dioxide </a:t>
            </a:r>
            <a:r>
              <a:rPr lang="en-GB" sz="2000" dirty="0"/>
              <a:t>with </a:t>
            </a:r>
            <a:r>
              <a:rPr lang="en-GB" sz="2000" b="1" dirty="0">
                <a:solidFill>
                  <a:schemeClr val="accent6">
                    <a:lumMod val="75000"/>
                  </a:schemeClr>
                </a:solidFill>
              </a:rPr>
              <a:t>little or no oxygen gas</a:t>
            </a:r>
            <a:r>
              <a:rPr lang="en-GB" sz="2000" dirty="0"/>
              <a:t>.</a:t>
            </a:r>
          </a:p>
          <a:p>
            <a:pPr marL="285750" indent="-285750">
              <a:buFont typeface="Arial" panose="020B0604020202020204" pitchFamily="34" charset="0"/>
              <a:buChar char="•"/>
            </a:pPr>
            <a:r>
              <a:rPr lang="en-GB" sz="2000" b="1" dirty="0">
                <a:solidFill>
                  <a:schemeClr val="accent6">
                    <a:lumMod val="75000"/>
                  </a:schemeClr>
                </a:solidFill>
              </a:rPr>
              <a:t>Water vapour condensed </a:t>
            </a:r>
            <a:r>
              <a:rPr lang="en-GB" sz="2000" dirty="0"/>
              <a:t>to form the oceans.</a:t>
            </a:r>
          </a:p>
          <a:p>
            <a:pPr marL="285750" indent="-285750">
              <a:buFont typeface="Arial" panose="020B0604020202020204" pitchFamily="34" charset="0"/>
              <a:buChar char="•"/>
            </a:pPr>
            <a:r>
              <a:rPr lang="en-GB" sz="2000" b="1" dirty="0">
                <a:solidFill>
                  <a:schemeClr val="accent6">
                    <a:lumMod val="75000"/>
                  </a:schemeClr>
                </a:solidFill>
              </a:rPr>
              <a:t>Volcanoes </a:t>
            </a:r>
            <a:r>
              <a:rPr lang="en-GB" sz="2000" dirty="0"/>
              <a:t>also produced </a:t>
            </a:r>
            <a:r>
              <a:rPr lang="en-GB" sz="2000" b="1" dirty="0">
                <a:solidFill>
                  <a:schemeClr val="accent6">
                    <a:lumMod val="75000"/>
                  </a:schemeClr>
                </a:solidFill>
              </a:rPr>
              <a:t>nitrogen</a:t>
            </a:r>
            <a:r>
              <a:rPr lang="en-GB" sz="2000" dirty="0"/>
              <a:t> which gradually built up in the atmosphere and there may have been small proportions of </a:t>
            </a:r>
            <a:r>
              <a:rPr lang="en-GB" sz="2000" b="1" dirty="0">
                <a:solidFill>
                  <a:schemeClr val="accent6">
                    <a:lumMod val="75000"/>
                  </a:schemeClr>
                </a:solidFill>
              </a:rPr>
              <a:t>methane</a:t>
            </a:r>
            <a:r>
              <a:rPr lang="en-GB" sz="2000" dirty="0"/>
              <a:t> and </a:t>
            </a:r>
            <a:r>
              <a:rPr lang="en-GB" sz="2000" b="1" dirty="0">
                <a:solidFill>
                  <a:schemeClr val="accent6">
                    <a:lumMod val="75000"/>
                  </a:schemeClr>
                </a:solidFill>
              </a:rPr>
              <a:t>ammonia</a:t>
            </a:r>
            <a:r>
              <a:rPr lang="en-GB" sz="2000" dirty="0"/>
              <a:t>.</a:t>
            </a:r>
          </a:p>
          <a:p>
            <a:pPr marL="285750" indent="-285750">
              <a:buFont typeface="Arial" panose="020B0604020202020204" pitchFamily="34" charset="0"/>
              <a:buChar char="•"/>
            </a:pPr>
            <a:r>
              <a:rPr lang="en-GB" sz="2000" dirty="0"/>
              <a:t>When the oceans formed, </a:t>
            </a:r>
            <a:r>
              <a:rPr lang="en-GB" sz="2000" b="1" dirty="0">
                <a:solidFill>
                  <a:schemeClr val="accent6">
                    <a:lumMod val="75000"/>
                  </a:schemeClr>
                </a:solidFill>
              </a:rPr>
              <a:t>carbon dioxide dissolved in the water</a:t>
            </a:r>
            <a:r>
              <a:rPr lang="en-GB" sz="2000" dirty="0"/>
              <a:t> and </a:t>
            </a:r>
            <a:r>
              <a:rPr lang="en-GB" sz="2000" b="1" dirty="0">
                <a:solidFill>
                  <a:schemeClr val="accent6">
                    <a:lumMod val="75000"/>
                  </a:schemeClr>
                </a:solidFill>
              </a:rPr>
              <a:t>carbonates</a:t>
            </a:r>
            <a:r>
              <a:rPr lang="en-GB" sz="2000" dirty="0"/>
              <a:t> were </a:t>
            </a:r>
            <a:r>
              <a:rPr lang="en-GB" sz="2000" b="1" dirty="0">
                <a:solidFill>
                  <a:schemeClr val="accent6">
                    <a:lumMod val="75000"/>
                  </a:schemeClr>
                </a:solidFill>
              </a:rPr>
              <a:t>precipitated</a:t>
            </a:r>
            <a:r>
              <a:rPr lang="en-GB" sz="2000" dirty="0"/>
              <a:t> producing sediments, reducing the amount of carbon dioxide in the atmosphere.</a:t>
            </a:r>
          </a:p>
        </p:txBody>
      </p:sp>
      <p:pic>
        <p:nvPicPr>
          <p:cNvPr id="9" name="irc_mi" descr="Related image">
            <a:hlinkClick r:id="rId3"/>
          </p:cNvPr>
          <p:cNvPicPr/>
          <p:nvPr/>
        </p:nvPicPr>
        <p:blipFill>
          <a:blip r:embed="rId4">
            <a:extLst>
              <a:ext uri="{28A0092B-C50C-407E-A947-70E740481C1C}">
                <a14:useLocalDpi xmlns:a14="http://schemas.microsoft.com/office/drawing/2010/main" val="0"/>
              </a:ext>
            </a:extLst>
          </a:blip>
          <a:srcRect/>
          <a:stretch>
            <a:fillRect/>
          </a:stretch>
        </p:blipFill>
        <p:spPr bwMode="auto">
          <a:xfrm>
            <a:off x="6012160" y="3717032"/>
            <a:ext cx="2695575" cy="2695575"/>
          </a:xfrm>
          <a:prstGeom prst="rect">
            <a:avLst/>
          </a:prstGeom>
          <a:noFill/>
          <a:ln>
            <a:noFill/>
          </a:ln>
        </p:spPr>
      </p:pic>
      <p:sp>
        <p:nvSpPr>
          <p:cNvPr id="10" name="Cloud Callout 9"/>
          <p:cNvSpPr/>
          <p:nvPr/>
        </p:nvSpPr>
        <p:spPr>
          <a:xfrm>
            <a:off x="6835527" y="2286164"/>
            <a:ext cx="1872208" cy="1296144"/>
          </a:xfrm>
          <a:prstGeom prst="cloudCallout">
            <a:avLst>
              <a:gd name="adj1" fmla="val -22748"/>
              <a:gd name="adj2" fmla="val 79099"/>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GB" dirty="0"/>
              <a:t>CO</a:t>
            </a:r>
            <a:r>
              <a:rPr lang="en-GB" baseline="-25000" dirty="0"/>
              <a:t>2</a:t>
            </a:r>
            <a:r>
              <a:rPr lang="en-GB" dirty="0"/>
              <a:t>, N</a:t>
            </a:r>
            <a:r>
              <a:rPr lang="en-GB" baseline="-25000" dirty="0"/>
              <a:t>2</a:t>
            </a:r>
            <a:r>
              <a:rPr lang="en-GB" dirty="0"/>
              <a:t>, H</a:t>
            </a:r>
            <a:r>
              <a:rPr lang="en-GB" baseline="-25000" dirty="0"/>
              <a:t>2</a:t>
            </a:r>
            <a:r>
              <a:rPr lang="en-GB" dirty="0"/>
              <a:t>O</a:t>
            </a:r>
          </a:p>
        </p:txBody>
      </p:sp>
    </p:spTree>
    <p:extLst>
      <p:ext uri="{BB962C8B-B14F-4D97-AF65-F5344CB8AC3E}">
        <p14:creationId xmlns:p14="http://schemas.microsoft.com/office/powerpoint/2010/main" val="11195502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How oxygen increased and carbon dioxide decreased</a:t>
            </a:r>
          </a:p>
        </p:txBody>
      </p:sp>
      <p:sp>
        <p:nvSpPr>
          <p:cNvPr id="3" name="TextBox 2"/>
          <p:cNvSpPr txBox="1"/>
          <p:nvPr/>
        </p:nvSpPr>
        <p:spPr>
          <a:xfrm>
            <a:off x="179512" y="836712"/>
            <a:ext cx="8712968" cy="400110"/>
          </a:xfrm>
          <a:prstGeom prst="rect">
            <a:avLst/>
          </a:prstGeom>
          <a:noFill/>
        </p:spPr>
        <p:txBody>
          <a:bodyPr wrap="square" rtlCol="0">
            <a:spAutoFit/>
          </a:bodyPr>
          <a:lstStyle/>
          <a:p>
            <a:r>
              <a:rPr lang="en-GB" sz="2000" dirty="0"/>
              <a:t>Organisms evolved that changed the atmosphere in a significant way. </a:t>
            </a:r>
          </a:p>
        </p:txBody>
      </p:sp>
      <p:sp>
        <p:nvSpPr>
          <p:cNvPr id="4" name="TextBox 3"/>
          <p:cNvSpPr txBox="1"/>
          <p:nvPr/>
        </p:nvSpPr>
        <p:spPr>
          <a:xfrm>
            <a:off x="164826" y="1223983"/>
            <a:ext cx="8712968" cy="1938992"/>
          </a:xfrm>
          <a:prstGeom prst="rect">
            <a:avLst/>
          </a:prstGeom>
          <a:noFill/>
          <a:ln w="28575">
            <a:solidFill>
              <a:schemeClr val="accent6"/>
            </a:solidFill>
          </a:ln>
        </p:spPr>
        <p:txBody>
          <a:bodyPr wrap="square" rtlCol="0">
            <a:spAutoFit/>
          </a:bodyPr>
          <a:lstStyle/>
          <a:p>
            <a:r>
              <a:rPr lang="en-GB" sz="2000" b="1" dirty="0">
                <a:solidFill>
                  <a:schemeClr val="accent6">
                    <a:lumMod val="75000"/>
                  </a:schemeClr>
                </a:solidFill>
              </a:rPr>
              <a:t>Primitive plants </a:t>
            </a:r>
            <a:r>
              <a:rPr lang="en-GB" sz="2000" dirty="0"/>
              <a:t>produced the </a:t>
            </a:r>
            <a:r>
              <a:rPr lang="en-GB" sz="2000" b="1" dirty="0">
                <a:solidFill>
                  <a:schemeClr val="accent6">
                    <a:lumMod val="75000"/>
                  </a:schemeClr>
                </a:solidFill>
              </a:rPr>
              <a:t>oxygen</a:t>
            </a:r>
            <a:r>
              <a:rPr lang="en-GB" sz="2000" dirty="0"/>
              <a:t> that is now in the atmosphere by </a:t>
            </a:r>
            <a:r>
              <a:rPr lang="en-GB" sz="2000" b="1" dirty="0">
                <a:solidFill>
                  <a:schemeClr val="accent6">
                    <a:lumMod val="75000"/>
                  </a:schemeClr>
                </a:solidFill>
              </a:rPr>
              <a:t>photosynthesis</a:t>
            </a:r>
            <a:r>
              <a:rPr lang="en-GB" sz="2000" dirty="0"/>
              <a:t>, which can be represented by the equation:</a:t>
            </a:r>
          </a:p>
          <a:p>
            <a:endParaRPr lang="en-GB" sz="2000" dirty="0"/>
          </a:p>
          <a:p>
            <a:r>
              <a:rPr lang="en-GB" sz="2000" dirty="0"/>
              <a:t>		6CO</a:t>
            </a:r>
            <a:r>
              <a:rPr lang="en-GB" sz="2000" baseline="-25000" dirty="0"/>
              <a:t>2</a:t>
            </a:r>
            <a:r>
              <a:rPr lang="en-GB" sz="2000" dirty="0"/>
              <a:t>  +  6H</a:t>
            </a:r>
            <a:r>
              <a:rPr lang="en-GB" sz="2000" baseline="-25000" dirty="0"/>
              <a:t>2</a:t>
            </a:r>
            <a:r>
              <a:rPr lang="en-GB" sz="2000" dirty="0"/>
              <a:t>O                          C</a:t>
            </a:r>
            <a:r>
              <a:rPr lang="en-GB" sz="2000" baseline="-25000" dirty="0"/>
              <a:t>6</a:t>
            </a:r>
            <a:r>
              <a:rPr lang="en-GB" sz="2000" dirty="0"/>
              <a:t>H</a:t>
            </a:r>
            <a:r>
              <a:rPr lang="en-GB" sz="2000" baseline="-25000" dirty="0"/>
              <a:t>12</a:t>
            </a:r>
            <a:r>
              <a:rPr lang="en-GB" sz="2000" dirty="0"/>
              <a:t>O</a:t>
            </a:r>
            <a:r>
              <a:rPr lang="en-GB" sz="2000" baseline="-25000" dirty="0"/>
              <a:t>6</a:t>
            </a:r>
            <a:r>
              <a:rPr lang="en-GB" sz="2000" dirty="0"/>
              <a:t>  +  6O</a:t>
            </a:r>
            <a:r>
              <a:rPr lang="en-GB" sz="2000" baseline="-25000" dirty="0"/>
              <a:t>2</a:t>
            </a:r>
          </a:p>
          <a:p>
            <a:endParaRPr lang="en-GB" sz="2000" dirty="0"/>
          </a:p>
          <a:p>
            <a:r>
              <a:rPr lang="en-GB" sz="2000" dirty="0"/>
              <a:t>	Carbon dioxide  +  water                        glucose  +  oxygen</a:t>
            </a:r>
          </a:p>
        </p:txBody>
      </p:sp>
      <p:cxnSp>
        <p:nvCxnSpPr>
          <p:cNvPr id="6" name="Straight Arrow Connector 5"/>
          <p:cNvCxnSpPr/>
          <p:nvPr/>
        </p:nvCxnSpPr>
        <p:spPr>
          <a:xfrm>
            <a:off x="3779912" y="2348880"/>
            <a:ext cx="9361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p:cNvCxnSpPr/>
          <p:nvPr/>
        </p:nvCxnSpPr>
        <p:spPr>
          <a:xfrm>
            <a:off x="3818776" y="2934236"/>
            <a:ext cx="936104" cy="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746768" y="2575067"/>
            <a:ext cx="936104" cy="369332"/>
          </a:xfrm>
          <a:prstGeom prst="rect">
            <a:avLst/>
          </a:prstGeom>
          <a:noFill/>
        </p:spPr>
        <p:txBody>
          <a:bodyPr wrap="square" rtlCol="0">
            <a:spAutoFit/>
          </a:bodyPr>
          <a:lstStyle/>
          <a:p>
            <a:r>
              <a:rPr lang="en-GB" dirty="0"/>
              <a:t>   light</a:t>
            </a:r>
          </a:p>
        </p:txBody>
      </p:sp>
      <p:sp>
        <p:nvSpPr>
          <p:cNvPr id="9" name="TextBox 8"/>
          <p:cNvSpPr txBox="1"/>
          <p:nvPr/>
        </p:nvSpPr>
        <p:spPr>
          <a:xfrm>
            <a:off x="179512" y="3162975"/>
            <a:ext cx="8712968" cy="1323439"/>
          </a:xfrm>
          <a:prstGeom prst="rect">
            <a:avLst/>
          </a:prstGeom>
          <a:noFill/>
          <a:ln w="28575">
            <a:solidFill>
              <a:schemeClr val="accent6"/>
            </a:solidFill>
          </a:ln>
        </p:spPr>
        <p:txBody>
          <a:bodyPr wrap="square" rtlCol="0">
            <a:spAutoFit/>
          </a:bodyPr>
          <a:lstStyle/>
          <a:p>
            <a:r>
              <a:rPr lang="en-GB" sz="2000" dirty="0"/>
              <a:t>Algae first produced oxygen about 2.7 billion years ago and soon after this oxygen appeared in the atmosphere. Over the next billion years plants evolved and the percentage of oxygen gradually increased to a level that enabled animals to evolve.</a:t>
            </a:r>
          </a:p>
        </p:txBody>
      </p:sp>
      <p:sp>
        <p:nvSpPr>
          <p:cNvPr id="5" name="TextBox 4"/>
          <p:cNvSpPr txBox="1"/>
          <p:nvPr/>
        </p:nvSpPr>
        <p:spPr>
          <a:xfrm>
            <a:off x="179512" y="4486414"/>
            <a:ext cx="8712968" cy="1015663"/>
          </a:xfrm>
          <a:prstGeom prst="rect">
            <a:avLst/>
          </a:prstGeom>
          <a:noFill/>
          <a:ln w="28575">
            <a:solidFill>
              <a:schemeClr val="accent6"/>
            </a:solidFill>
          </a:ln>
        </p:spPr>
        <p:txBody>
          <a:bodyPr wrap="square" rtlCol="0">
            <a:spAutoFit/>
          </a:bodyPr>
          <a:lstStyle/>
          <a:p>
            <a:r>
              <a:rPr lang="en-GB" sz="2000" dirty="0"/>
              <a:t>Plants </a:t>
            </a:r>
            <a:r>
              <a:rPr lang="en-GB" sz="2000" b="1" dirty="0">
                <a:solidFill>
                  <a:schemeClr val="accent6">
                    <a:lumMod val="75000"/>
                  </a:schemeClr>
                </a:solidFill>
              </a:rPr>
              <a:t>decreased</a:t>
            </a:r>
            <a:r>
              <a:rPr lang="en-GB" sz="2000" b="1" dirty="0"/>
              <a:t> </a:t>
            </a:r>
            <a:r>
              <a:rPr lang="en-GB" sz="2000" dirty="0"/>
              <a:t>the percentage of </a:t>
            </a:r>
            <a:r>
              <a:rPr lang="en-GB" sz="2000" b="1" dirty="0">
                <a:solidFill>
                  <a:schemeClr val="accent6">
                    <a:lumMod val="75000"/>
                  </a:schemeClr>
                </a:solidFill>
              </a:rPr>
              <a:t>carbon dioxide </a:t>
            </a:r>
            <a:r>
              <a:rPr lang="en-GB" sz="2000" dirty="0"/>
              <a:t>in the atmosphere by </a:t>
            </a:r>
            <a:r>
              <a:rPr lang="en-GB" sz="2000" b="1" dirty="0">
                <a:solidFill>
                  <a:schemeClr val="accent6">
                    <a:lumMod val="75000"/>
                  </a:schemeClr>
                </a:solidFill>
              </a:rPr>
              <a:t>photosynthesis</a:t>
            </a:r>
            <a:r>
              <a:rPr lang="en-GB" sz="2000" dirty="0"/>
              <a:t>. Carbon dioxide was also decreased by the formation of </a:t>
            </a:r>
            <a:r>
              <a:rPr lang="en-GB" sz="2000" b="1" dirty="0">
                <a:solidFill>
                  <a:schemeClr val="accent6">
                    <a:lumMod val="75000"/>
                  </a:schemeClr>
                </a:solidFill>
              </a:rPr>
              <a:t>sedimentary rocks </a:t>
            </a:r>
            <a:r>
              <a:rPr lang="en-GB" sz="2000" dirty="0"/>
              <a:t>and </a:t>
            </a:r>
            <a:r>
              <a:rPr lang="en-GB" sz="2000" b="1" dirty="0">
                <a:solidFill>
                  <a:schemeClr val="accent6">
                    <a:lumMod val="75000"/>
                  </a:schemeClr>
                </a:solidFill>
              </a:rPr>
              <a:t>fossil fuels </a:t>
            </a:r>
            <a:r>
              <a:rPr lang="en-GB" sz="2000" dirty="0"/>
              <a:t>that contain carbon.</a:t>
            </a:r>
          </a:p>
        </p:txBody>
      </p:sp>
      <p:sp>
        <p:nvSpPr>
          <p:cNvPr id="10" name="TextBox 9"/>
          <p:cNvSpPr txBox="1"/>
          <p:nvPr/>
        </p:nvSpPr>
        <p:spPr>
          <a:xfrm>
            <a:off x="179512" y="5513477"/>
            <a:ext cx="8712968" cy="1015663"/>
          </a:xfrm>
          <a:prstGeom prst="rect">
            <a:avLst/>
          </a:prstGeom>
          <a:solidFill>
            <a:schemeClr val="accent6"/>
          </a:solidFill>
          <a:ln w="28575">
            <a:solidFill>
              <a:schemeClr val="tx1"/>
            </a:solidFill>
          </a:ln>
        </p:spPr>
        <p:txBody>
          <a:bodyPr wrap="square" rtlCol="0">
            <a:spAutoFit/>
          </a:bodyPr>
          <a:lstStyle/>
          <a:p>
            <a:pPr algn="ctr"/>
            <a:r>
              <a:rPr lang="en-GB" sz="2000" dirty="0"/>
              <a:t>Oxygen increases due to photosynthesis.</a:t>
            </a:r>
          </a:p>
          <a:p>
            <a:pPr algn="ctr"/>
            <a:r>
              <a:rPr lang="en-GB" sz="2000" dirty="0"/>
              <a:t>Carbon dioxide decreases due to photosynthesis, formation of sedimentary rocks and fossil fuels.</a:t>
            </a:r>
          </a:p>
        </p:txBody>
      </p:sp>
    </p:spTree>
    <p:extLst>
      <p:ext uri="{BB962C8B-B14F-4D97-AF65-F5344CB8AC3E}">
        <p14:creationId xmlns:p14="http://schemas.microsoft.com/office/powerpoint/2010/main" val="220014596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12" name="TextBox 11"/>
          <p:cNvSpPr txBox="1"/>
          <p:nvPr/>
        </p:nvSpPr>
        <p:spPr>
          <a:xfrm>
            <a:off x="323528" y="1217648"/>
            <a:ext cx="5360359" cy="1323439"/>
          </a:xfrm>
          <a:custGeom>
            <a:avLst/>
            <a:gdLst>
              <a:gd name="connsiteX0" fmla="*/ 0 w 4680520"/>
              <a:gd name="connsiteY0" fmla="*/ 0 h 1138773"/>
              <a:gd name="connsiteX1" fmla="*/ 4680520 w 4680520"/>
              <a:gd name="connsiteY1" fmla="*/ 0 h 1138773"/>
              <a:gd name="connsiteX2" fmla="*/ 4680520 w 4680520"/>
              <a:gd name="connsiteY2" fmla="*/ 1138773 h 1138773"/>
              <a:gd name="connsiteX3" fmla="*/ 0 w 4680520"/>
              <a:gd name="connsiteY3" fmla="*/ 1138773 h 1138773"/>
              <a:gd name="connsiteX4" fmla="*/ 0 w 4680520"/>
              <a:gd name="connsiteY4" fmla="*/ 0 h 1138773"/>
              <a:gd name="connsiteX0" fmla="*/ 0 w 4680520"/>
              <a:gd name="connsiteY0" fmla="*/ 0 h 1228926"/>
              <a:gd name="connsiteX1" fmla="*/ 4680520 w 4680520"/>
              <a:gd name="connsiteY1" fmla="*/ 90153 h 1228926"/>
              <a:gd name="connsiteX2" fmla="*/ 4680520 w 4680520"/>
              <a:gd name="connsiteY2" fmla="*/ 1228926 h 1228926"/>
              <a:gd name="connsiteX3" fmla="*/ 0 w 4680520"/>
              <a:gd name="connsiteY3" fmla="*/ 1228926 h 1228926"/>
              <a:gd name="connsiteX4" fmla="*/ 0 w 4680520"/>
              <a:gd name="connsiteY4" fmla="*/ 0 h 1228926"/>
              <a:gd name="connsiteX0" fmla="*/ 0 w 4693399"/>
              <a:gd name="connsiteY0" fmla="*/ 25757 h 1254683"/>
              <a:gd name="connsiteX1" fmla="*/ 4693399 w 4693399"/>
              <a:gd name="connsiteY1" fmla="*/ 0 h 1254683"/>
              <a:gd name="connsiteX2" fmla="*/ 4680520 w 4693399"/>
              <a:gd name="connsiteY2" fmla="*/ 1254683 h 1254683"/>
              <a:gd name="connsiteX3" fmla="*/ 0 w 4693399"/>
              <a:gd name="connsiteY3" fmla="*/ 1254683 h 1254683"/>
              <a:gd name="connsiteX4" fmla="*/ 0 w 4693399"/>
              <a:gd name="connsiteY4" fmla="*/ 25757 h 1254683"/>
              <a:gd name="connsiteX0" fmla="*/ 0 w 4693399"/>
              <a:gd name="connsiteY0" fmla="*/ 12878 h 1241804"/>
              <a:gd name="connsiteX1" fmla="*/ 4693399 w 4693399"/>
              <a:gd name="connsiteY1" fmla="*/ 0 h 1241804"/>
              <a:gd name="connsiteX2" fmla="*/ 4680520 w 4693399"/>
              <a:gd name="connsiteY2" fmla="*/ 1241804 h 1241804"/>
              <a:gd name="connsiteX3" fmla="*/ 0 w 4693399"/>
              <a:gd name="connsiteY3" fmla="*/ 1241804 h 1241804"/>
              <a:gd name="connsiteX4" fmla="*/ 0 w 4693399"/>
              <a:gd name="connsiteY4" fmla="*/ 12878 h 1241804"/>
              <a:gd name="connsiteX0" fmla="*/ 0 w 4693399"/>
              <a:gd name="connsiteY0" fmla="*/ 12878 h 1241804"/>
              <a:gd name="connsiteX1" fmla="*/ 4693399 w 4693399"/>
              <a:gd name="connsiteY1" fmla="*/ 0 h 1241804"/>
              <a:gd name="connsiteX2" fmla="*/ 4680520 w 4693399"/>
              <a:gd name="connsiteY2" fmla="*/ 1241804 h 1241804"/>
              <a:gd name="connsiteX3" fmla="*/ 0 w 4693399"/>
              <a:gd name="connsiteY3" fmla="*/ 1113015 h 1241804"/>
              <a:gd name="connsiteX4" fmla="*/ 0 w 4693399"/>
              <a:gd name="connsiteY4" fmla="*/ 12878 h 1241804"/>
              <a:gd name="connsiteX0" fmla="*/ 0 w 4693399"/>
              <a:gd name="connsiteY0" fmla="*/ 12878 h 1113015"/>
              <a:gd name="connsiteX1" fmla="*/ 4693399 w 4693399"/>
              <a:gd name="connsiteY1" fmla="*/ 0 h 1113015"/>
              <a:gd name="connsiteX2" fmla="*/ 4680520 w 4693399"/>
              <a:gd name="connsiteY2" fmla="*/ 1113015 h 1113015"/>
              <a:gd name="connsiteX3" fmla="*/ 0 w 4693399"/>
              <a:gd name="connsiteY3" fmla="*/ 1113015 h 1113015"/>
              <a:gd name="connsiteX4" fmla="*/ 0 w 4693399"/>
              <a:gd name="connsiteY4" fmla="*/ 12878 h 1113015"/>
              <a:gd name="connsiteX0" fmla="*/ 0 w 4693399"/>
              <a:gd name="connsiteY0" fmla="*/ 12878 h 1113015"/>
              <a:gd name="connsiteX1" fmla="*/ 4693399 w 4693399"/>
              <a:gd name="connsiteY1" fmla="*/ 0 h 1113015"/>
              <a:gd name="connsiteX2" fmla="*/ 4693399 w 4693399"/>
              <a:gd name="connsiteY2" fmla="*/ 1113015 h 1113015"/>
              <a:gd name="connsiteX3" fmla="*/ 0 w 4693399"/>
              <a:gd name="connsiteY3" fmla="*/ 1113015 h 1113015"/>
              <a:gd name="connsiteX4" fmla="*/ 0 w 4693399"/>
              <a:gd name="connsiteY4" fmla="*/ 12878 h 1113015"/>
              <a:gd name="connsiteX0" fmla="*/ 0 w 4693399"/>
              <a:gd name="connsiteY0" fmla="*/ 0 h 1203634"/>
              <a:gd name="connsiteX1" fmla="*/ 4693399 w 4693399"/>
              <a:gd name="connsiteY1" fmla="*/ 90619 h 1203634"/>
              <a:gd name="connsiteX2" fmla="*/ 4693399 w 4693399"/>
              <a:gd name="connsiteY2" fmla="*/ 1203634 h 1203634"/>
              <a:gd name="connsiteX3" fmla="*/ 0 w 4693399"/>
              <a:gd name="connsiteY3" fmla="*/ 1203634 h 1203634"/>
              <a:gd name="connsiteX4" fmla="*/ 0 w 4693399"/>
              <a:gd name="connsiteY4" fmla="*/ 0 h 1203634"/>
              <a:gd name="connsiteX0" fmla="*/ 0 w 4693399"/>
              <a:gd name="connsiteY0" fmla="*/ 0 h 1203634"/>
              <a:gd name="connsiteX1" fmla="*/ 4680520 w 4693399"/>
              <a:gd name="connsiteY1" fmla="*/ 21621 h 1203634"/>
              <a:gd name="connsiteX2" fmla="*/ 4693399 w 4693399"/>
              <a:gd name="connsiteY2" fmla="*/ 1203634 h 1203634"/>
              <a:gd name="connsiteX3" fmla="*/ 0 w 4693399"/>
              <a:gd name="connsiteY3" fmla="*/ 1203634 h 1203634"/>
              <a:gd name="connsiteX4" fmla="*/ 0 w 4693399"/>
              <a:gd name="connsiteY4" fmla="*/ 0 h 1203634"/>
              <a:gd name="connsiteX0" fmla="*/ 0 w 4693399"/>
              <a:gd name="connsiteY0" fmla="*/ 0 h 1203634"/>
              <a:gd name="connsiteX1" fmla="*/ 4680520 w 4693399"/>
              <a:gd name="connsiteY1" fmla="*/ 21621 h 1203634"/>
              <a:gd name="connsiteX2" fmla="*/ 4693399 w 4693399"/>
              <a:gd name="connsiteY2" fmla="*/ 1203634 h 1203634"/>
              <a:gd name="connsiteX3" fmla="*/ 0 w 4693399"/>
              <a:gd name="connsiteY3" fmla="*/ 1100137 h 1203634"/>
              <a:gd name="connsiteX4" fmla="*/ 0 w 4693399"/>
              <a:gd name="connsiteY4" fmla="*/ 0 h 1203634"/>
              <a:gd name="connsiteX0" fmla="*/ 0 w 4680520"/>
              <a:gd name="connsiteY0" fmla="*/ 0 h 1100137"/>
              <a:gd name="connsiteX1" fmla="*/ 4680520 w 4680520"/>
              <a:gd name="connsiteY1" fmla="*/ 21621 h 1100137"/>
              <a:gd name="connsiteX2" fmla="*/ 4680520 w 4680520"/>
              <a:gd name="connsiteY2" fmla="*/ 1100137 h 1100137"/>
              <a:gd name="connsiteX3" fmla="*/ 0 w 4680520"/>
              <a:gd name="connsiteY3" fmla="*/ 1100137 h 1100137"/>
              <a:gd name="connsiteX4" fmla="*/ 0 w 4680520"/>
              <a:gd name="connsiteY4" fmla="*/ 0 h 11001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80520" h="1100137">
                <a:moveTo>
                  <a:pt x="0" y="0"/>
                </a:moveTo>
                <a:lnTo>
                  <a:pt x="4680520" y="21621"/>
                </a:lnTo>
                <a:lnTo>
                  <a:pt x="4680520" y="1100137"/>
                </a:lnTo>
                <a:lnTo>
                  <a:pt x="0" y="1100137"/>
                </a:lnTo>
                <a:lnTo>
                  <a:pt x="0" y="0"/>
                </a:lnTo>
                <a:close/>
              </a:path>
            </a:pathLst>
          </a:custGeom>
          <a:noFill/>
          <a:ln w="28575">
            <a:solidFill>
              <a:schemeClr val="accent6"/>
            </a:solidFill>
          </a:ln>
        </p:spPr>
        <p:txBody>
          <a:bodyPr wrap="square" rtlCol="0">
            <a:spAutoFit/>
          </a:bodyPr>
          <a:lstStyle/>
          <a:p>
            <a:r>
              <a:rPr lang="en-GB" sz="2000" b="1" u="sng" dirty="0"/>
              <a:t>Test For Oxygen</a:t>
            </a:r>
          </a:p>
          <a:p>
            <a:r>
              <a:rPr lang="en-GB" sz="2000" dirty="0"/>
              <a:t>The test for oxygen uses a </a:t>
            </a:r>
            <a:r>
              <a:rPr lang="en-GB" sz="2000" b="1" dirty="0">
                <a:solidFill>
                  <a:schemeClr val="accent6">
                    <a:lumMod val="75000"/>
                  </a:schemeClr>
                </a:solidFill>
              </a:rPr>
              <a:t>glowing splint </a:t>
            </a:r>
            <a:r>
              <a:rPr lang="en-GB" sz="2000" dirty="0"/>
              <a:t>inserted into a test tube of the gas. The splint </a:t>
            </a:r>
            <a:r>
              <a:rPr lang="en-GB" sz="2000" b="1" dirty="0">
                <a:solidFill>
                  <a:schemeClr val="accent6">
                    <a:lumMod val="75000"/>
                  </a:schemeClr>
                </a:solidFill>
              </a:rPr>
              <a:t>relights</a:t>
            </a:r>
            <a:r>
              <a:rPr lang="en-GB" sz="2000" dirty="0"/>
              <a:t> in oxygen.</a:t>
            </a:r>
          </a:p>
        </p:txBody>
      </p:sp>
      <p:sp>
        <p:nvSpPr>
          <p:cNvPr id="16" name="TextBox 15"/>
          <p:cNvSpPr txBox="1"/>
          <p:nvPr/>
        </p:nvSpPr>
        <p:spPr>
          <a:xfrm>
            <a:off x="179511" y="5733256"/>
            <a:ext cx="8640961" cy="646331"/>
          </a:xfrm>
          <a:prstGeom prst="rect">
            <a:avLst/>
          </a:prstGeom>
          <a:solidFill>
            <a:schemeClr val="accent6"/>
          </a:solidFill>
          <a:ln w="28575">
            <a:solidFill>
              <a:schemeClr val="tx1"/>
            </a:solidFill>
          </a:ln>
        </p:spPr>
        <p:txBody>
          <a:bodyPr wrap="square" rtlCol="0">
            <a:spAutoFit/>
          </a:bodyPr>
          <a:lstStyle/>
          <a:p>
            <a:r>
              <a:rPr lang="en-GB" dirty="0"/>
              <a:t>You must learn this test, including how the gas is tested and the positive result that proves that the chemical is the gas you are testing for.</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8064" y="2839875"/>
            <a:ext cx="2574854" cy="2089979"/>
          </a:xfrm>
          <a:prstGeom prst="rect">
            <a:avLst/>
          </a:prstGeom>
        </p:spPr>
      </p:pic>
      <p:sp>
        <p:nvSpPr>
          <p:cNvPr id="10" name="Title 1"/>
          <p:cNvSpPr txBox="1">
            <a:spLocks/>
          </p:cNvSpPr>
          <p:nvPr/>
        </p:nvSpPr>
        <p:spPr>
          <a:xfrm>
            <a:off x="467544" y="35655"/>
            <a:ext cx="8676456" cy="657041"/>
          </a:xfrm>
          <a:prstGeom prst="rect">
            <a:avLst/>
          </a:prstGeom>
        </p:spPr>
        <p:txBody>
          <a:bodyPr vert="horz" lIns="91440" tIns="45720" rIns="91440" bIns="45720" rtlCol="0" anchor="ctr">
            <a:noAutofit/>
          </a:bodyPr>
          <a:lstStyle>
            <a:lvl1pPr algn="l" defTabSz="342900" rtl="0" eaLnBrk="1" latinLnBrk="0" hangingPunct="1">
              <a:spcBef>
                <a:spcPct val="0"/>
              </a:spcBef>
              <a:buNone/>
              <a:defRPr sz="3300" kern="1200">
                <a:solidFill>
                  <a:schemeClr val="tx1"/>
                </a:solidFill>
                <a:latin typeface="+mj-lt"/>
                <a:ea typeface="+mj-ea"/>
                <a:cs typeface="Lato Medium"/>
              </a:defRPr>
            </a:lvl1pPr>
          </a:lstStyle>
          <a:p>
            <a:pPr marL="342900" lvl="1" algn="r"/>
            <a:r>
              <a:rPr lang="en-US" sz="2400" kern="0" dirty="0">
                <a:solidFill>
                  <a:schemeClr val="accent6"/>
                </a:solidFill>
              </a:rPr>
              <a:t>Identification of common gases</a:t>
            </a:r>
          </a:p>
        </p:txBody>
      </p:sp>
    </p:spTree>
    <p:extLst>
      <p:ext uri="{BB962C8B-B14F-4D97-AF65-F5344CB8AC3E}">
        <p14:creationId xmlns:p14="http://schemas.microsoft.com/office/powerpoint/2010/main" val="27231881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062651"/>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Earth and atmospheric science</a:t>
            </a:r>
          </a:p>
          <a:p>
            <a:r>
              <a:rPr lang="en-US" sz="2800" b="1" dirty="0">
                <a:solidFill>
                  <a:schemeClr val="tx1">
                    <a:lumMod val="50000"/>
                    <a:lumOff val="50000"/>
                  </a:schemeClr>
                </a:solidFill>
              </a:rPr>
              <a:t>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Earth’s early atmosphere</a:t>
            </a:r>
          </a:p>
          <a:p>
            <a:pPr marL="685800" lvl="1" indent="-342900">
              <a:buFont typeface="Arial" charset="0"/>
              <a:buChar char="•"/>
            </a:pPr>
            <a:r>
              <a:rPr lang="en-US" sz="2400" dirty="0">
                <a:solidFill>
                  <a:schemeClr val="tx1">
                    <a:lumMod val="50000"/>
                    <a:lumOff val="50000"/>
                  </a:schemeClr>
                </a:solidFill>
              </a:rPr>
              <a:t>Changes in atmospheric gases</a:t>
            </a:r>
          </a:p>
        </p:txBody>
      </p:sp>
    </p:spTree>
    <p:extLst>
      <p:ext uri="{BB962C8B-B14F-4D97-AF65-F5344CB8AC3E}">
        <p14:creationId xmlns:p14="http://schemas.microsoft.com/office/powerpoint/2010/main" val="4220796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0"/>
            <a:ext cx="817240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Earth and atmospheric science – Part 1 –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416320"/>
          </a:xfrm>
          <a:prstGeom prst="rect">
            <a:avLst/>
          </a:prstGeom>
          <a:noFill/>
        </p:spPr>
        <p:txBody>
          <a:bodyPr wrap="square" rtlCol="0">
            <a:spAutoFit/>
          </a:bodyPr>
          <a:lstStyle/>
          <a:p>
            <a:pPr marL="457200" indent="-457200">
              <a:buFont typeface="+mj-lt"/>
              <a:buAutoNum type="arabicPeriod"/>
            </a:pPr>
            <a:r>
              <a:rPr lang="en-GB" sz="2400" dirty="0"/>
              <a:t>What gases are believed to have been released from volcanoes during the first billion years of the Earth’s existence?</a:t>
            </a:r>
          </a:p>
          <a:p>
            <a:pPr marL="457200" indent="-457200">
              <a:buFont typeface="+mj-lt"/>
              <a:buAutoNum type="arabicPeriod"/>
            </a:pPr>
            <a:endParaRPr lang="en-GB" sz="2400" dirty="0"/>
          </a:p>
          <a:p>
            <a:pPr marL="457200" indent="-457200">
              <a:buFont typeface="+mj-lt"/>
              <a:buAutoNum type="arabicPeriod"/>
            </a:pPr>
            <a:r>
              <a:rPr lang="en-GB" sz="2400" dirty="0"/>
              <a:t>How did the oceans form?</a:t>
            </a:r>
          </a:p>
          <a:p>
            <a:pPr marL="457200" indent="-457200">
              <a:buFont typeface="+mj-lt"/>
              <a:buAutoNum type="arabicPeriod"/>
            </a:pPr>
            <a:endParaRPr lang="en-GB" sz="2400" dirty="0"/>
          </a:p>
          <a:p>
            <a:pPr marL="457200" indent="-457200">
              <a:buFont typeface="+mj-lt"/>
              <a:buAutoNum type="arabicPeriod"/>
            </a:pPr>
            <a:r>
              <a:rPr lang="en-GB" sz="2400" dirty="0"/>
              <a:t>Why did the amount of carbon dioxide in the earlier atmosphere decrease?</a:t>
            </a:r>
          </a:p>
          <a:p>
            <a:pPr marL="457200" indent="-457200">
              <a:buFont typeface="+mj-lt"/>
              <a:buAutoNum type="arabicPeriod"/>
            </a:pPr>
            <a:endParaRPr lang="en-GB" sz="2400" dirty="0"/>
          </a:p>
          <a:p>
            <a:pPr marL="457200" indent="-457200">
              <a:buFont typeface="+mj-lt"/>
              <a:buAutoNum type="arabicPeriod"/>
            </a:pPr>
            <a:r>
              <a:rPr lang="en-GB" sz="2400" dirty="0"/>
              <a:t>How do you test a gas for oxygen?</a:t>
            </a:r>
          </a:p>
        </p:txBody>
      </p:sp>
    </p:spTree>
    <p:extLst>
      <p:ext uri="{BB962C8B-B14F-4D97-AF65-F5344CB8AC3E}">
        <p14:creationId xmlns:p14="http://schemas.microsoft.com/office/powerpoint/2010/main" val="18160803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Earth and atmospheric science – Part 1 </a:t>
            </a:r>
            <a:r>
              <a:rPr lang="en-US" dirty="0">
                <a:solidFill>
                  <a:schemeClr val="accent6"/>
                </a:solidFill>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785652"/>
          </a:xfrm>
          <a:prstGeom prst="rect">
            <a:avLst/>
          </a:prstGeom>
          <a:noFill/>
        </p:spPr>
        <p:txBody>
          <a:bodyPr wrap="square" rtlCol="0">
            <a:spAutoFit/>
          </a:bodyPr>
          <a:lstStyle/>
          <a:p>
            <a:pPr marL="457200" indent="-457200">
              <a:buFont typeface="+mj-lt"/>
              <a:buAutoNum type="arabicPeriod" startAt="5"/>
            </a:pPr>
            <a:r>
              <a:rPr lang="en-GB" sz="2400" dirty="0"/>
              <a:t>What organisms increased the amount of oxygen in the Earth’s atmosphere?</a:t>
            </a:r>
          </a:p>
          <a:p>
            <a:pPr marL="457200" indent="-457200">
              <a:buFont typeface="+mj-lt"/>
              <a:buAutoNum type="arabicPeriod" startAt="5"/>
            </a:pPr>
            <a:endParaRPr lang="en-GB" sz="2400" dirty="0">
              <a:solidFill>
                <a:srgbClr val="00B050"/>
              </a:solidFill>
            </a:endParaRPr>
          </a:p>
          <a:p>
            <a:pPr marL="457200" indent="-457200">
              <a:buFont typeface="+mj-lt"/>
              <a:buAutoNum type="arabicPeriod" startAt="5"/>
            </a:pPr>
            <a:r>
              <a:rPr lang="en-GB" sz="2400" dirty="0"/>
              <a:t>Write the balanced symbol equation for photosynthesis.</a:t>
            </a:r>
          </a:p>
          <a:p>
            <a:pPr marL="457200" indent="-457200">
              <a:buFont typeface="+mj-lt"/>
              <a:buAutoNum type="arabicPeriod" startAt="5"/>
            </a:pPr>
            <a:endParaRPr lang="en-GB" sz="2400" dirty="0"/>
          </a:p>
          <a:p>
            <a:pPr marL="457200" indent="-457200">
              <a:buFont typeface="+mj-lt"/>
              <a:buAutoNum type="arabicPeriod" startAt="5"/>
            </a:pPr>
            <a:r>
              <a:rPr lang="en-GB" sz="2400" dirty="0"/>
              <a:t>Other than photosynthesis, what other factors decreased the level of carbon dioxide in the atmosphere?</a:t>
            </a:r>
          </a:p>
          <a:p>
            <a:pPr marL="457200" indent="-457200">
              <a:buFont typeface="+mj-lt"/>
              <a:buAutoNum type="arabicPeriod" startAt="5"/>
            </a:pPr>
            <a:endParaRPr lang="en-GB" sz="2400" dirty="0"/>
          </a:p>
          <a:p>
            <a:pPr marL="457200" indent="-457200">
              <a:buFont typeface="+mj-lt"/>
              <a:buAutoNum type="arabicPeriod" startAt="5"/>
            </a:pPr>
            <a:r>
              <a:rPr lang="en-GB" sz="2400" dirty="0"/>
              <a:t>Describe the main changes to the atmosphere over time and the likely causes of these changes.</a:t>
            </a:r>
          </a:p>
        </p:txBody>
      </p:sp>
    </p:spTree>
    <p:extLst>
      <p:ext uri="{BB962C8B-B14F-4D97-AF65-F5344CB8AC3E}">
        <p14:creationId xmlns:p14="http://schemas.microsoft.com/office/powerpoint/2010/main" val="2813084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499992" cy="4862870"/>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Earth and atmospheric science</a:t>
            </a:r>
          </a:p>
          <a:p>
            <a:r>
              <a:rPr lang="en-US" sz="2800" b="1" dirty="0">
                <a:solidFill>
                  <a:schemeClr val="tx1">
                    <a:lumMod val="50000"/>
                    <a:lumOff val="50000"/>
                  </a:schemeClr>
                </a:solidFill>
              </a:rPr>
              <a:t>Part 1</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Earth’s early atmosphere</a:t>
            </a:r>
          </a:p>
          <a:p>
            <a:pPr marL="685800" lvl="1" indent="-342900">
              <a:buFont typeface="Arial" charset="0"/>
              <a:buChar char="•"/>
            </a:pPr>
            <a:r>
              <a:rPr lang="en-US" sz="2400" dirty="0">
                <a:solidFill>
                  <a:schemeClr val="tx1">
                    <a:lumMod val="50000"/>
                    <a:lumOff val="50000"/>
                  </a:schemeClr>
                </a:solidFill>
              </a:rPr>
              <a:t>Changes in atmospheric gases</a:t>
            </a:r>
          </a:p>
        </p:txBody>
      </p:sp>
    </p:spTree>
    <p:extLst>
      <p:ext uri="{BB962C8B-B14F-4D97-AF65-F5344CB8AC3E}">
        <p14:creationId xmlns:p14="http://schemas.microsoft.com/office/powerpoint/2010/main" val="17746112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1600" y="0"/>
            <a:ext cx="817240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Earth and atmospheric science – Part 1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pPr marL="457200" indent="-457200">
              <a:buFont typeface="+mj-lt"/>
              <a:buAutoNum type="arabicPeriod"/>
            </a:pPr>
            <a:r>
              <a:rPr lang="en-GB" sz="2400" dirty="0"/>
              <a:t>What gases are believed to have been released from volcanoes during the first billion years of the Earth’s existence?</a:t>
            </a:r>
          </a:p>
          <a:p>
            <a:pPr lvl="1"/>
            <a:r>
              <a:rPr lang="en-GB" sz="2400" dirty="0">
                <a:solidFill>
                  <a:srgbClr val="00B050"/>
                </a:solidFill>
              </a:rPr>
              <a:t>Nitrogen, carbon dioxide, water vapour; small amounts of ammonia and methane.</a:t>
            </a:r>
          </a:p>
          <a:p>
            <a:pPr marL="457200" indent="-457200">
              <a:buFont typeface="+mj-lt"/>
              <a:buAutoNum type="arabicPeriod" startAt="2"/>
            </a:pPr>
            <a:r>
              <a:rPr lang="en-GB" sz="2400" dirty="0"/>
              <a:t>How did the oceans form?</a:t>
            </a:r>
          </a:p>
          <a:p>
            <a:pPr lvl="1"/>
            <a:r>
              <a:rPr lang="en-GB" sz="2400" dirty="0">
                <a:solidFill>
                  <a:srgbClr val="00B050"/>
                </a:solidFill>
              </a:rPr>
              <a:t>Water vapour in the atmosphere condensed.</a:t>
            </a:r>
          </a:p>
          <a:p>
            <a:pPr marL="457200" indent="-457200">
              <a:buFont typeface="+mj-lt"/>
              <a:buAutoNum type="arabicPeriod" startAt="2"/>
            </a:pPr>
            <a:r>
              <a:rPr lang="en-GB" sz="2400" dirty="0"/>
              <a:t>Why did the amount of carbon dioxide in the earlier atmosphere decrease?</a:t>
            </a:r>
          </a:p>
          <a:p>
            <a:pPr lvl="1"/>
            <a:r>
              <a:rPr lang="en-GB" sz="2400" dirty="0">
                <a:solidFill>
                  <a:srgbClr val="00B050"/>
                </a:solidFill>
              </a:rPr>
              <a:t>When oceans formed, carbon dioxide dissolved in the water; carbonates precipitated producing sediments, reducing carbon dioxide in the atmosphere.</a:t>
            </a:r>
          </a:p>
          <a:p>
            <a:pPr marL="457200" indent="-457200">
              <a:buFont typeface="+mj-lt"/>
              <a:buAutoNum type="arabicPeriod" startAt="2"/>
            </a:pPr>
            <a:r>
              <a:rPr lang="en-GB" sz="2400" dirty="0"/>
              <a:t>How do you test for oxygen gas? </a:t>
            </a:r>
          </a:p>
          <a:p>
            <a:pPr lvl="1"/>
            <a:r>
              <a:rPr lang="en-GB" sz="2400" dirty="0">
                <a:solidFill>
                  <a:srgbClr val="00B050"/>
                </a:solidFill>
              </a:rPr>
              <a:t>Glowing splint relights.</a:t>
            </a:r>
          </a:p>
        </p:txBody>
      </p:sp>
    </p:spTree>
    <p:extLst>
      <p:ext uri="{BB962C8B-B14F-4D97-AF65-F5344CB8AC3E}">
        <p14:creationId xmlns:p14="http://schemas.microsoft.com/office/powerpoint/2010/main" val="2599133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Earth and atmospheric science – Part 1 </a:t>
            </a:r>
            <a:r>
              <a:rPr lang="en-US" dirty="0">
                <a:solidFill>
                  <a:schemeClr val="accent6"/>
                </a:solidFill>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416320"/>
          </a:xfrm>
          <a:prstGeom prst="rect">
            <a:avLst/>
          </a:prstGeom>
          <a:noFill/>
        </p:spPr>
        <p:txBody>
          <a:bodyPr wrap="square" rtlCol="0">
            <a:spAutoFit/>
          </a:bodyPr>
          <a:lstStyle/>
          <a:p>
            <a:pPr marL="457200" indent="-457200">
              <a:buFont typeface="+mj-lt"/>
              <a:buAutoNum type="arabicPeriod" startAt="5"/>
            </a:pPr>
            <a:r>
              <a:rPr lang="en-GB" sz="2400" dirty="0"/>
              <a:t>What organisms increased the amount of oxygen in the Earth’s atmosphere?</a:t>
            </a:r>
          </a:p>
          <a:p>
            <a:pPr lvl="1"/>
            <a:r>
              <a:rPr lang="en-GB" sz="2400" dirty="0">
                <a:solidFill>
                  <a:srgbClr val="00B050"/>
                </a:solidFill>
              </a:rPr>
              <a:t>Primitive plants/ algae.</a:t>
            </a:r>
          </a:p>
          <a:p>
            <a:pPr marL="457200" indent="-457200">
              <a:buFont typeface="+mj-lt"/>
              <a:buAutoNum type="arabicPeriod" startAt="5"/>
            </a:pPr>
            <a:r>
              <a:rPr lang="en-GB" sz="2400" dirty="0"/>
              <a:t>Write the balanced symbol equation for photosynthesis.</a:t>
            </a:r>
          </a:p>
          <a:p>
            <a:pPr lvl="1" algn="ctr"/>
            <a:r>
              <a:rPr lang="en-GB" sz="2400" dirty="0">
                <a:solidFill>
                  <a:srgbClr val="00B050"/>
                </a:solidFill>
              </a:rPr>
              <a:t>6CO</a:t>
            </a:r>
            <a:r>
              <a:rPr lang="en-GB" sz="2400" baseline="-25000" dirty="0">
                <a:solidFill>
                  <a:srgbClr val="00B050"/>
                </a:solidFill>
              </a:rPr>
              <a:t>2</a:t>
            </a:r>
            <a:r>
              <a:rPr lang="en-GB" sz="2400" dirty="0">
                <a:solidFill>
                  <a:srgbClr val="00B050"/>
                </a:solidFill>
              </a:rPr>
              <a:t>  +  6H</a:t>
            </a:r>
            <a:r>
              <a:rPr lang="en-GB" sz="2400" baseline="-25000" dirty="0">
                <a:solidFill>
                  <a:srgbClr val="00B050"/>
                </a:solidFill>
              </a:rPr>
              <a:t>2</a:t>
            </a:r>
            <a:r>
              <a:rPr lang="en-GB" sz="2400" dirty="0">
                <a:solidFill>
                  <a:srgbClr val="00B050"/>
                </a:solidFill>
              </a:rPr>
              <a:t>O                          C</a:t>
            </a:r>
            <a:r>
              <a:rPr lang="en-GB" sz="2400" baseline="-25000" dirty="0">
                <a:solidFill>
                  <a:srgbClr val="00B050"/>
                </a:solidFill>
              </a:rPr>
              <a:t>6</a:t>
            </a:r>
            <a:r>
              <a:rPr lang="en-GB" sz="2400" dirty="0">
                <a:solidFill>
                  <a:srgbClr val="00B050"/>
                </a:solidFill>
              </a:rPr>
              <a:t>H</a:t>
            </a:r>
            <a:r>
              <a:rPr lang="en-GB" sz="2400" baseline="-25000" dirty="0">
                <a:solidFill>
                  <a:srgbClr val="00B050"/>
                </a:solidFill>
              </a:rPr>
              <a:t>12</a:t>
            </a:r>
            <a:r>
              <a:rPr lang="en-GB" sz="2400" dirty="0">
                <a:solidFill>
                  <a:srgbClr val="00B050"/>
                </a:solidFill>
              </a:rPr>
              <a:t>O</a:t>
            </a:r>
            <a:r>
              <a:rPr lang="en-GB" sz="2400" baseline="-25000" dirty="0">
                <a:solidFill>
                  <a:srgbClr val="00B050"/>
                </a:solidFill>
              </a:rPr>
              <a:t>6</a:t>
            </a:r>
            <a:r>
              <a:rPr lang="en-GB" sz="2400" dirty="0">
                <a:solidFill>
                  <a:srgbClr val="00B050"/>
                </a:solidFill>
              </a:rPr>
              <a:t>  +  6O</a:t>
            </a:r>
            <a:r>
              <a:rPr lang="en-GB" sz="2400" baseline="-25000" dirty="0">
                <a:solidFill>
                  <a:srgbClr val="00B050"/>
                </a:solidFill>
              </a:rPr>
              <a:t>2 </a:t>
            </a:r>
            <a:endParaRPr lang="en-GB" sz="2400" dirty="0"/>
          </a:p>
          <a:p>
            <a:pPr marL="457200" indent="-457200">
              <a:buFont typeface="+mj-lt"/>
              <a:buAutoNum type="arabicPeriod" startAt="5"/>
            </a:pPr>
            <a:r>
              <a:rPr lang="en-GB" sz="2400" dirty="0"/>
              <a:t>Other than photosynthesis, what other factors decreased the level of carbon dioxide in the atmosphere?</a:t>
            </a:r>
          </a:p>
          <a:p>
            <a:pPr lvl="1"/>
            <a:r>
              <a:rPr lang="en-GB" sz="2400" dirty="0">
                <a:solidFill>
                  <a:srgbClr val="00B050"/>
                </a:solidFill>
              </a:rPr>
              <a:t>Formation of sedimentary rocks and fossil fuels (natural gas, oil, coal).</a:t>
            </a:r>
          </a:p>
        </p:txBody>
      </p:sp>
      <p:cxnSp>
        <p:nvCxnSpPr>
          <p:cNvPr id="5" name="Straight Arrow Connector 4"/>
          <p:cNvCxnSpPr/>
          <p:nvPr/>
        </p:nvCxnSpPr>
        <p:spPr>
          <a:xfrm>
            <a:off x="4139952" y="2420888"/>
            <a:ext cx="1152128" cy="0"/>
          </a:xfrm>
          <a:prstGeom prst="straightConnector1">
            <a:avLst/>
          </a:prstGeom>
          <a:ln>
            <a:solidFill>
              <a:srgbClr val="00B05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398108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31640" y="0"/>
            <a:ext cx="7812360" cy="657041"/>
          </a:xfrm>
        </p:spPr>
        <p:txBody>
          <a:bodyPr>
            <a:noAutofit/>
          </a:bodyPr>
          <a:lstStyle/>
          <a:p>
            <a:pPr marL="342900" lvl="1" algn="r" defTabSz="342900" rtl="0">
              <a:spcBef>
                <a:spcPct val="20000"/>
              </a:spcBef>
            </a:pPr>
            <a:r>
              <a:rPr lang="en-US" b="1" kern="1200" dirty="0">
                <a:solidFill>
                  <a:schemeClr val="accent6"/>
                </a:solidFill>
                <a:latin typeface="Calibri"/>
                <a:ea typeface=""/>
                <a:cs typeface="News Gothic MT"/>
              </a:rPr>
              <a:t>Earth and atmospheric science – Part 1 </a:t>
            </a:r>
            <a:r>
              <a:rPr lang="en-US" dirty="0">
                <a:solidFill>
                  <a:schemeClr val="accent6"/>
                </a:solidFill>
              </a:rPr>
              <a:t>- </a:t>
            </a:r>
            <a:r>
              <a:rPr lang="en-US" b="1" kern="1200" dirty="0" err="1">
                <a:solidFill>
                  <a:schemeClr val="tx1"/>
                </a:solidFill>
                <a:latin typeface="Calibri"/>
                <a:ea typeface=""/>
                <a:cs typeface="News Gothic MT"/>
              </a:rPr>
              <a:t>QuestionIT</a:t>
            </a:r>
            <a:endParaRPr kumimoji="0" lang="en-US"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6001643"/>
          </a:xfrm>
          <a:prstGeom prst="rect">
            <a:avLst/>
          </a:prstGeom>
          <a:noFill/>
        </p:spPr>
        <p:txBody>
          <a:bodyPr wrap="square" rtlCol="0">
            <a:spAutoFit/>
          </a:bodyPr>
          <a:lstStyle/>
          <a:p>
            <a:pPr marL="457200" indent="-457200">
              <a:buFont typeface="+mj-lt"/>
              <a:buAutoNum type="arabicPeriod" startAt="8"/>
            </a:pPr>
            <a:r>
              <a:rPr lang="en-GB" sz="2400" dirty="0"/>
              <a:t>Describe the main changes to the atmosphere over time and the likely causes of these changes.</a:t>
            </a:r>
            <a:endParaRPr lang="en-GB" sz="2400" dirty="0">
              <a:solidFill>
                <a:srgbClr val="00B050"/>
              </a:solidFill>
            </a:endParaRPr>
          </a:p>
          <a:p>
            <a:pPr marL="800100" lvl="1" indent="-342900">
              <a:buFont typeface="Arial" panose="020B0604020202020204" pitchFamily="34" charset="0"/>
              <a:buChar char="•"/>
            </a:pPr>
            <a:r>
              <a:rPr lang="en-GB" sz="2400" dirty="0">
                <a:solidFill>
                  <a:srgbClr val="00B050"/>
                </a:solidFill>
              </a:rPr>
              <a:t>Intense volcanic activity – water vapour, carbon dioxide, nitrogen, ammonia, methane released.</a:t>
            </a:r>
          </a:p>
          <a:p>
            <a:pPr marL="800100" lvl="1" indent="-342900">
              <a:buFont typeface="Arial" panose="020B0604020202020204" pitchFamily="34" charset="0"/>
              <a:buChar char="•"/>
            </a:pPr>
            <a:r>
              <a:rPr lang="en-GB" sz="2400" dirty="0">
                <a:solidFill>
                  <a:srgbClr val="00B050"/>
                </a:solidFill>
              </a:rPr>
              <a:t>Water vapour condensed to form oceans.</a:t>
            </a:r>
          </a:p>
          <a:p>
            <a:pPr marL="800100" lvl="1" indent="-342900">
              <a:buFont typeface="Arial" panose="020B0604020202020204" pitchFamily="34" charset="0"/>
              <a:buChar char="•"/>
            </a:pPr>
            <a:r>
              <a:rPr lang="en-GB" sz="2400" dirty="0">
                <a:solidFill>
                  <a:srgbClr val="00B050"/>
                </a:solidFill>
              </a:rPr>
              <a:t>Atmosphere mostly carbon dioxide; nitrogen slowly building up over time.</a:t>
            </a:r>
          </a:p>
          <a:p>
            <a:pPr marL="800100" lvl="1" indent="-342900">
              <a:buFont typeface="Arial" panose="020B0604020202020204" pitchFamily="34" charset="0"/>
              <a:buChar char="•"/>
            </a:pPr>
            <a:r>
              <a:rPr lang="en-GB" sz="2400" dirty="0">
                <a:solidFill>
                  <a:srgbClr val="00B050"/>
                </a:solidFill>
              </a:rPr>
              <a:t>Carbon dioxide dissolved in oceans; carbonates precipitated producing sediments. Carbon dioxide levels in atmosphere drop.</a:t>
            </a:r>
          </a:p>
          <a:p>
            <a:pPr marL="800100" lvl="1" indent="-342900">
              <a:buFont typeface="Arial" panose="020B0604020202020204" pitchFamily="34" charset="0"/>
              <a:buChar char="•"/>
            </a:pPr>
            <a:r>
              <a:rPr lang="en-GB" sz="2400" dirty="0">
                <a:solidFill>
                  <a:srgbClr val="00B050"/>
                </a:solidFill>
              </a:rPr>
              <a:t>Photosynthesis – algae produce oxygen. </a:t>
            </a:r>
          </a:p>
          <a:p>
            <a:pPr marL="800100" lvl="1" indent="-342900">
              <a:buFont typeface="Arial" panose="020B0604020202020204" pitchFamily="34" charset="0"/>
              <a:buChar char="•"/>
            </a:pPr>
            <a:r>
              <a:rPr lang="en-GB" sz="2400" dirty="0">
                <a:solidFill>
                  <a:srgbClr val="00B050"/>
                </a:solidFill>
              </a:rPr>
              <a:t>Plants evolved, levels of carbon dioxide reduced, levels of oxygen increased; animals evolved.</a:t>
            </a:r>
          </a:p>
          <a:p>
            <a:pPr marL="800100" lvl="1" indent="-342900">
              <a:buFont typeface="Arial" panose="020B0604020202020204" pitchFamily="34" charset="0"/>
              <a:buChar char="•"/>
            </a:pPr>
            <a:r>
              <a:rPr lang="en-GB" sz="2400" dirty="0">
                <a:solidFill>
                  <a:srgbClr val="00B050"/>
                </a:solidFill>
              </a:rPr>
              <a:t>Carbon dioxide levels dropped during the formation of sedimentary rock (from sediments) and fossil fuels (from organisms).</a:t>
            </a:r>
          </a:p>
        </p:txBody>
      </p:sp>
    </p:spTree>
    <p:extLst>
      <p:ext uri="{BB962C8B-B14F-4D97-AF65-F5344CB8AC3E}">
        <p14:creationId xmlns:p14="http://schemas.microsoft.com/office/powerpoint/2010/main" val="94078067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pic>
        <p:nvPicPr>
          <p:cNvPr id="6" name="Picture 5"/>
          <p:cNvPicPr>
            <a:picLocks noChangeAspect="1"/>
          </p:cNvPicPr>
          <p:nvPr/>
        </p:nvPicPr>
        <p:blipFill>
          <a:blip r:embed="rId3">
            <a:clrChange>
              <a:clrFrom>
                <a:srgbClr val="FFFFFF"/>
              </a:clrFrom>
              <a:clrTo>
                <a:srgbClr val="FFFFFF">
                  <a:alpha val="0"/>
                </a:srgbClr>
              </a:clrTo>
            </a:clrChange>
          </a:blip>
          <a:stretch>
            <a:fillRect/>
          </a:stretch>
        </p:blipFill>
        <p:spPr>
          <a:xfrm>
            <a:off x="2642398" y="0"/>
            <a:ext cx="6538114" cy="6525344"/>
          </a:xfrm>
          <a:prstGeom prst="rect">
            <a:avLst/>
          </a:prstGeom>
        </p:spPr>
      </p:pic>
      <p:sp>
        <p:nvSpPr>
          <p:cNvPr id="7" name="TextBox 6"/>
          <p:cNvSpPr txBox="1"/>
          <p:nvPr/>
        </p:nvSpPr>
        <p:spPr>
          <a:xfrm>
            <a:off x="125760" y="692696"/>
            <a:ext cx="4086200" cy="5786199"/>
          </a:xfrm>
          <a:prstGeom prst="rect">
            <a:avLst/>
          </a:prstGeom>
          <a:noFill/>
        </p:spPr>
        <p:txBody>
          <a:bodyPr wrap="square" rtlCol="0">
            <a:spAutoFit/>
          </a:bodyPr>
          <a:lstStyle/>
          <a:p>
            <a:r>
              <a:rPr lang="en-GB" sz="7200" b="1" dirty="0">
                <a:latin typeface="+mj-lt"/>
                <a:ea typeface="Beirut" charset="-78"/>
                <a:cs typeface="Beirut" charset="-78"/>
              </a:rPr>
              <a:t>LearnIT!</a:t>
            </a:r>
          </a:p>
          <a:p>
            <a:r>
              <a:rPr lang="en-GB" sz="7200" b="1" dirty="0">
                <a:latin typeface="+mj-lt"/>
                <a:ea typeface="Beirut" charset="-78"/>
                <a:cs typeface="Beirut" charset="-78"/>
              </a:rPr>
              <a:t>KnowIT!</a:t>
            </a:r>
          </a:p>
          <a:p>
            <a:endParaRPr lang="en-GB" dirty="0"/>
          </a:p>
          <a:p>
            <a:r>
              <a:rPr lang="en-US" sz="2800" b="1" dirty="0">
                <a:solidFill>
                  <a:schemeClr val="tx1">
                    <a:lumMod val="50000"/>
                    <a:lumOff val="50000"/>
                  </a:schemeClr>
                </a:solidFill>
              </a:rPr>
              <a:t>Earth and atmospheric science</a:t>
            </a:r>
          </a:p>
          <a:p>
            <a:r>
              <a:rPr lang="en-US" sz="2800" b="1" dirty="0">
                <a:solidFill>
                  <a:schemeClr val="tx1">
                    <a:lumMod val="50000"/>
                    <a:lumOff val="50000"/>
                  </a:schemeClr>
                </a:solidFill>
              </a:rPr>
              <a:t>Part 2</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greenhouse effect and climate change</a:t>
            </a:r>
          </a:p>
          <a:p>
            <a:pPr marL="685800" lvl="1" indent="-342900">
              <a:buFont typeface="Arial" charset="0"/>
              <a:buChar char="•"/>
            </a:pPr>
            <a:r>
              <a:rPr lang="en-US" sz="2400" dirty="0">
                <a:solidFill>
                  <a:schemeClr val="tx1">
                    <a:lumMod val="50000"/>
                    <a:lumOff val="50000"/>
                  </a:schemeClr>
                </a:solidFill>
              </a:rPr>
              <a:t>Composition of today’s atmosphere</a:t>
            </a:r>
          </a:p>
        </p:txBody>
      </p:sp>
    </p:spTree>
    <p:extLst>
      <p:ext uri="{BB962C8B-B14F-4D97-AF65-F5344CB8AC3E}">
        <p14:creationId xmlns:p14="http://schemas.microsoft.com/office/powerpoint/2010/main" val="15233910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Carbon dioxide and methane as greenhouse gases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3" name="TextBox 2"/>
          <p:cNvSpPr txBox="1"/>
          <p:nvPr/>
        </p:nvSpPr>
        <p:spPr>
          <a:xfrm>
            <a:off x="179512" y="836712"/>
            <a:ext cx="7128792" cy="1938992"/>
          </a:xfrm>
          <a:prstGeom prst="rect">
            <a:avLst/>
          </a:prstGeom>
          <a:noFill/>
          <a:ln w="28575">
            <a:solidFill>
              <a:schemeClr val="accent6"/>
            </a:solidFill>
          </a:ln>
        </p:spPr>
        <p:txBody>
          <a:bodyPr wrap="square" rtlCol="0">
            <a:spAutoFit/>
          </a:bodyPr>
          <a:lstStyle/>
          <a:p>
            <a:r>
              <a:rPr lang="en-GB" sz="2000" dirty="0"/>
              <a:t>Greenhouse gases in the atmosphere maintain temperatures on Earth high enough to support life. Examples of </a:t>
            </a:r>
            <a:r>
              <a:rPr lang="en-GB" sz="2000" b="1" dirty="0">
                <a:solidFill>
                  <a:schemeClr val="accent6">
                    <a:lumMod val="75000"/>
                  </a:schemeClr>
                </a:solidFill>
              </a:rPr>
              <a:t>greenhouse gases </a:t>
            </a:r>
            <a:r>
              <a:rPr lang="en-GB" sz="2000" dirty="0"/>
              <a:t>are: </a:t>
            </a:r>
          </a:p>
          <a:p>
            <a:pPr marL="285750" indent="-285750">
              <a:buFont typeface="Arial" panose="020B0604020202020204" pitchFamily="34" charset="0"/>
              <a:buChar char="•"/>
            </a:pPr>
            <a:r>
              <a:rPr lang="en-GB" sz="2000" b="1" dirty="0">
                <a:solidFill>
                  <a:schemeClr val="accent6">
                    <a:lumMod val="75000"/>
                  </a:schemeClr>
                </a:solidFill>
              </a:rPr>
              <a:t>Carbon dioxide</a:t>
            </a:r>
          </a:p>
          <a:p>
            <a:pPr marL="285750" indent="-285750">
              <a:buFont typeface="Arial" panose="020B0604020202020204" pitchFamily="34" charset="0"/>
              <a:buChar char="•"/>
            </a:pPr>
            <a:r>
              <a:rPr lang="en-GB" sz="2000" b="1" dirty="0">
                <a:solidFill>
                  <a:schemeClr val="accent6">
                    <a:lumMod val="75000"/>
                  </a:schemeClr>
                </a:solidFill>
              </a:rPr>
              <a:t>Water vapour</a:t>
            </a:r>
          </a:p>
          <a:p>
            <a:pPr marL="285750" indent="-285750">
              <a:buFont typeface="Arial" panose="020B0604020202020204" pitchFamily="34" charset="0"/>
              <a:buChar char="•"/>
            </a:pPr>
            <a:r>
              <a:rPr lang="en-GB" sz="2000" b="1" dirty="0">
                <a:solidFill>
                  <a:schemeClr val="accent6">
                    <a:lumMod val="75000"/>
                  </a:schemeClr>
                </a:solidFill>
              </a:rPr>
              <a:t>Methane</a:t>
            </a:r>
          </a:p>
        </p:txBody>
      </p:sp>
      <p:sp>
        <p:nvSpPr>
          <p:cNvPr id="8" name="TextBox 7"/>
          <p:cNvSpPr txBox="1"/>
          <p:nvPr/>
        </p:nvSpPr>
        <p:spPr>
          <a:xfrm>
            <a:off x="179512" y="5085184"/>
            <a:ext cx="4032449" cy="1323439"/>
          </a:xfrm>
          <a:prstGeom prst="rect">
            <a:avLst/>
          </a:prstGeom>
          <a:noFill/>
        </p:spPr>
        <p:txBody>
          <a:bodyPr wrap="square" rtlCol="0">
            <a:spAutoFit/>
          </a:bodyPr>
          <a:lstStyle/>
          <a:p>
            <a:r>
              <a:rPr lang="en-GB" sz="2000" b="1" dirty="0">
                <a:solidFill>
                  <a:schemeClr val="accent6">
                    <a:lumMod val="75000"/>
                  </a:schemeClr>
                </a:solidFill>
              </a:rPr>
              <a:t>Visible light </a:t>
            </a:r>
            <a:r>
              <a:rPr lang="en-GB" sz="2000" dirty="0"/>
              <a:t>with a </a:t>
            </a:r>
            <a:r>
              <a:rPr lang="en-GB" sz="2000" b="1" dirty="0">
                <a:solidFill>
                  <a:schemeClr val="accent6">
                    <a:lumMod val="75000"/>
                  </a:schemeClr>
                </a:solidFill>
              </a:rPr>
              <a:t>short wavelength </a:t>
            </a:r>
            <a:r>
              <a:rPr lang="en-GB" sz="2000" dirty="0"/>
              <a:t>is </a:t>
            </a:r>
            <a:r>
              <a:rPr lang="en-GB" sz="2000" b="1" dirty="0">
                <a:solidFill>
                  <a:schemeClr val="accent6">
                    <a:lumMod val="75000"/>
                  </a:schemeClr>
                </a:solidFill>
              </a:rPr>
              <a:t>absorbed</a:t>
            </a:r>
            <a:r>
              <a:rPr lang="en-GB" sz="2000" dirty="0"/>
              <a:t> by the Earth, it is then re-radiated as </a:t>
            </a:r>
            <a:r>
              <a:rPr lang="en-GB" sz="2000" b="1" dirty="0">
                <a:solidFill>
                  <a:schemeClr val="accent6">
                    <a:lumMod val="75000"/>
                  </a:schemeClr>
                </a:solidFill>
              </a:rPr>
              <a:t>longer wavelength infra red</a:t>
            </a:r>
            <a:r>
              <a:rPr lang="en-GB" b="1" dirty="0">
                <a:solidFill>
                  <a:schemeClr val="accent6">
                    <a:lumMod val="75000"/>
                  </a:schemeClr>
                </a:solidFill>
              </a:rPr>
              <a:t>.</a:t>
            </a:r>
          </a:p>
        </p:txBody>
      </p:sp>
      <p:sp>
        <p:nvSpPr>
          <p:cNvPr id="10" name="TextBox 9"/>
          <p:cNvSpPr txBox="1"/>
          <p:nvPr/>
        </p:nvSpPr>
        <p:spPr>
          <a:xfrm>
            <a:off x="4427984" y="5098940"/>
            <a:ext cx="4536504" cy="1323439"/>
          </a:xfrm>
          <a:prstGeom prst="rect">
            <a:avLst/>
          </a:prstGeom>
          <a:noFill/>
        </p:spPr>
        <p:txBody>
          <a:bodyPr wrap="square" rtlCol="0">
            <a:spAutoFit/>
          </a:bodyPr>
          <a:lstStyle/>
          <a:p>
            <a:r>
              <a:rPr lang="en-GB" sz="2000" dirty="0"/>
              <a:t>The </a:t>
            </a:r>
            <a:r>
              <a:rPr lang="en-GB" sz="2000" b="1" dirty="0">
                <a:solidFill>
                  <a:schemeClr val="accent6">
                    <a:lumMod val="75000"/>
                  </a:schemeClr>
                </a:solidFill>
              </a:rPr>
              <a:t>longer wavelength infra red </a:t>
            </a:r>
            <a:r>
              <a:rPr lang="en-GB" sz="2000" dirty="0"/>
              <a:t>cannot penetrate through the greenhouse gas layer in the atmosphere which contains carbon dioxide and methane.</a:t>
            </a:r>
          </a:p>
        </p:txBody>
      </p:sp>
      <p:sp>
        <p:nvSpPr>
          <p:cNvPr id="17" name="TextBox 16"/>
          <p:cNvSpPr txBox="1"/>
          <p:nvPr/>
        </p:nvSpPr>
        <p:spPr>
          <a:xfrm>
            <a:off x="7452321" y="908720"/>
            <a:ext cx="1512168" cy="1015663"/>
          </a:xfrm>
          <a:custGeom>
            <a:avLst/>
            <a:gdLst>
              <a:gd name="connsiteX0" fmla="*/ 0 w 1512168"/>
              <a:gd name="connsiteY0" fmla="*/ 0 h 923330"/>
              <a:gd name="connsiteX1" fmla="*/ 1512168 w 1512168"/>
              <a:gd name="connsiteY1" fmla="*/ 0 h 923330"/>
              <a:gd name="connsiteX2" fmla="*/ 1512168 w 1512168"/>
              <a:gd name="connsiteY2" fmla="*/ 923330 h 923330"/>
              <a:gd name="connsiteX3" fmla="*/ 0 w 1512168"/>
              <a:gd name="connsiteY3" fmla="*/ 923330 h 923330"/>
              <a:gd name="connsiteX4" fmla="*/ 0 w 1512168"/>
              <a:gd name="connsiteY4" fmla="*/ 0 h 923330"/>
              <a:gd name="connsiteX0" fmla="*/ 0 w 1512168"/>
              <a:gd name="connsiteY0" fmla="*/ 0 h 1142271"/>
              <a:gd name="connsiteX1" fmla="*/ 1512168 w 1512168"/>
              <a:gd name="connsiteY1" fmla="*/ 0 h 1142271"/>
              <a:gd name="connsiteX2" fmla="*/ 1512168 w 1512168"/>
              <a:gd name="connsiteY2" fmla="*/ 923330 h 1142271"/>
              <a:gd name="connsiteX3" fmla="*/ 0 w 1512168"/>
              <a:gd name="connsiteY3" fmla="*/ 1142271 h 1142271"/>
              <a:gd name="connsiteX4" fmla="*/ 0 w 1512168"/>
              <a:gd name="connsiteY4" fmla="*/ 0 h 1142271"/>
              <a:gd name="connsiteX0" fmla="*/ 0 w 1512168"/>
              <a:gd name="connsiteY0" fmla="*/ 0 h 1168028"/>
              <a:gd name="connsiteX1" fmla="*/ 1512168 w 1512168"/>
              <a:gd name="connsiteY1" fmla="*/ 0 h 1168028"/>
              <a:gd name="connsiteX2" fmla="*/ 1512168 w 1512168"/>
              <a:gd name="connsiteY2" fmla="*/ 1168028 h 1168028"/>
              <a:gd name="connsiteX3" fmla="*/ 0 w 1512168"/>
              <a:gd name="connsiteY3" fmla="*/ 1142271 h 1168028"/>
              <a:gd name="connsiteX4" fmla="*/ 0 w 1512168"/>
              <a:gd name="connsiteY4" fmla="*/ 0 h 1168028"/>
              <a:gd name="connsiteX0" fmla="*/ 0 w 1512168"/>
              <a:gd name="connsiteY0" fmla="*/ 0 h 1155149"/>
              <a:gd name="connsiteX1" fmla="*/ 1512168 w 1512168"/>
              <a:gd name="connsiteY1" fmla="*/ 0 h 1155149"/>
              <a:gd name="connsiteX2" fmla="*/ 1512168 w 1512168"/>
              <a:gd name="connsiteY2" fmla="*/ 1155149 h 1155149"/>
              <a:gd name="connsiteX3" fmla="*/ 0 w 1512168"/>
              <a:gd name="connsiteY3" fmla="*/ 1142271 h 1155149"/>
              <a:gd name="connsiteX4" fmla="*/ 0 w 1512168"/>
              <a:gd name="connsiteY4" fmla="*/ 0 h 1155149"/>
              <a:gd name="connsiteX0" fmla="*/ 12879 w 1512168"/>
              <a:gd name="connsiteY0" fmla="*/ 193183 h 1155149"/>
              <a:gd name="connsiteX1" fmla="*/ 1512168 w 1512168"/>
              <a:gd name="connsiteY1" fmla="*/ 0 h 1155149"/>
              <a:gd name="connsiteX2" fmla="*/ 1512168 w 1512168"/>
              <a:gd name="connsiteY2" fmla="*/ 1155149 h 1155149"/>
              <a:gd name="connsiteX3" fmla="*/ 0 w 1512168"/>
              <a:gd name="connsiteY3" fmla="*/ 1142271 h 1155149"/>
              <a:gd name="connsiteX4" fmla="*/ 12879 w 1512168"/>
              <a:gd name="connsiteY4" fmla="*/ 193183 h 1155149"/>
              <a:gd name="connsiteX0" fmla="*/ 12879 w 1512168"/>
              <a:gd name="connsiteY0" fmla="*/ 12879 h 974845"/>
              <a:gd name="connsiteX1" fmla="*/ 1512168 w 1512168"/>
              <a:gd name="connsiteY1" fmla="*/ 0 h 974845"/>
              <a:gd name="connsiteX2" fmla="*/ 1512168 w 1512168"/>
              <a:gd name="connsiteY2" fmla="*/ 974845 h 974845"/>
              <a:gd name="connsiteX3" fmla="*/ 0 w 1512168"/>
              <a:gd name="connsiteY3" fmla="*/ 961967 h 974845"/>
              <a:gd name="connsiteX4" fmla="*/ 12879 w 1512168"/>
              <a:gd name="connsiteY4" fmla="*/ 12879 h 974845"/>
              <a:gd name="connsiteX0" fmla="*/ 12879 w 1512168"/>
              <a:gd name="connsiteY0" fmla="*/ 25758 h 987724"/>
              <a:gd name="connsiteX1" fmla="*/ 1512168 w 1512168"/>
              <a:gd name="connsiteY1" fmla="*/ 0 h 987724"/>
              <a:gd name="connsiteX2" fmla="*/ 1512168 w 1512168"/>
              <a:gd name="connsiteY2" fmla="*/ 987724 h 987724"/>
              <a:gd name="connsiteX3" fmla="*/ 0 w 1512168"/>
              <a:gd name="connsiteY3" fmla="*/ 974846 h 987724"/>
              <a:gd name="connsiteX4" fmla="*/ 12879 w 1512168"/>
              <a:gd name="connsiteY4" fmla="*/ 25758 h 987724"/>
              <a:gd name="connsiteX0" fmla="*/ 12879 w 1512168"/>
              <a:gd name="connsiteY0" fmla="*/ 0 h 961966"/>
              <a:gd name="connsiteX1" fmla="*/ 1512168 w 1512168"/>
              <a:gd name="connsiteY1" fmla="*/ 12879 h 961966"/>
              <a:gd name="connsiteX2" fmla="*/ 1512168 w 1512168"/>
              <a:gd name="connsiteY2" fmla="*/ 961966 h 961966"/>
              <a:gd name="connsiteX3" fmla="*/ 0 w 1512168"/>
              <a:gd name="connsiteY3" fmla="*/ 949088 h 961966"/>
              <a:gd name="connsiteX4" fmla="*/ 12879 w 1512168"/>
              <a:gd name="connsiteY4" fmla="*/ 0 h 961966"/>
              <a:gd name="connsiteX0" fmla="*/ 0 w 1499289"/>
              <a:gd name="connsiteY0" fmla="*/ 0 h 961966"/>
              <a:gd name="connsiteX1" fmla="*/ 1499289 w 1499289"/>
              <a:gd name="connsiteY1" fmla="*/ 12879 h 961966"/>
              <a:gd name="connsiteX2" fmla="*/ 1499289 w 1499289"/>
              <a:gd name="connsiteY2" fmla="*/ 961966 h 961966"/>
              <a:gd name="connsiteX3" fmla="*/ 0 w 1499289"/>
              <a:gd name="connsiteY3" fmla="*/ 949088 h 961966"/>
              <a:gd name="connsiteX4" fmla="*/ 0 w 1499289"/>
              <a:gd name="connsiteY4" fmla="*/ 0 h 961966"/>
              <a:gd name="connsiteX0" fmla="*/ 0 w 1499289"/>
              <a:gd name="connsiteY0" fmla="*/ 0 h 949088"/>
              <a:gd name="connsiteX1" fmla="*/ 1499289 w 1499289"/>
              <a:gd name="connsiteY1" fmla="*/ 12879 h 949088"/>
              <a:gd name="connsiteX2" fmla="*/ 1486411 w 1499289"/>
              <a:gd name="connsiteY2" fmla="*/ 936208 h 949088"/>
              <a:gd name="connsiteX3" fmla="*/ 0 w 1499289"/>
              <a:gd name="connsiteY3" fmla="*/ 949088 h 949088"/>
              <a:gd name="connsiteX4" fmla="*/ 0 w 1499289"/>
              <a:gd name="connsiteY4" fmla="*/ 0 h 949088"/>
              <a:gd name="connsiteX0" fmla="*/ 0 w 1499289"/>
              <a:gd name="connsiteY0" fmla="*/ 0 h 961966"/>
              <a:gd name="connsiteX1" fmla="*/ 1499289 w 1499289"/>
              <a:gd name="connsiteY1" fmla="*/ 12879 h 961966"/>
              <a:gd name="connsiteX2" fmla="*/ 1486411 w 1499289"/>
              <a:gd name="connsiteY2" fmla="*/ 961966 h 961966"/>
              <a:gd name="connsiteX3" fmla="*/ 0 w 1499289"/>
              <a:gd name="connsiteY3" fmla="*/ 949088 h 961966"/>
              <a:gd name="connsiteX4" fmla="*/ 0 w 1499289"/>
              <a:gd name="connsiteY4" fmla="*/ 0 h 961966"/>
              <a:gd name="connsiteX0" fmla="*/ 0 w 1499289"/>
              <a:gd name="connsiteY0" fmla="*/ 0 h 961966"/>
              <a:gd name="connsiteX1" fmla="*/ 1499289 w 1499289"/>
              <a:gd name="connsiteY1" fmla="*/ 0 h 961966"/>
              <a:gd name="connsiteX2" fmla="*/ 1486411 w 1499289"/>
              <a:gd name="connsiteY2" fmla="*/ 961966 h 961966"/>
              <a:gd name="connsiteX3" fmla="*/ 0 w 1499289"/>
              <a:gd name="connsiteY3" fmla="*/ 949088 h 961966"/>
              <a:gd name="connsiteX4" fmla="*/ 0 w 1499289"/>
              <a:gd name="connsiteY4" fmla="*/ 0 h 961966"/>
              <a:gd name="connsiteX0" fmla="*/ 0 w 1499289"/>
              <a:gd name="connsiteY0" fmla="*/ 0 h 949088"/>
              <a:gd name="connsiteX1" fmla="*/ 1499289 w 1499289"/>
              <a:gd name="connsiteY1" fmla="*/ 0 h 949088"/>
              <a:gd name="connsiteX2" fmla="*/ 1486411 w 1499289"/>
              <a:gd name="connsiteY2" fmla="*/ 949087 h 949088"/>
              <a:gd name="connsiteX3" fmla="*/ 0 w 1499289"/>
              <a:gd name="connsiteY3" fmla="*/ 949088 h 949088"/>
              <a:gd name="connsiteX4" fmla="*/ 0 w 1499289"/>
              <a:gd name="connsiteY4" fmla="*/ 0 h 949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99289" h="949088">
                <a:moveTo>
                  <a:pt x="0" y="0"/>
                </a:moveTo>
                <a:lnTo>
                  <a:pt x="1499289" y="0"/>
                </a:lnTo>
                <a:lnTo>
                  <a:pt x="1486411" y="949087"/>
                </a:lnTo>
                <a:lnTo>
                  <a:pt x="0" y="949088"/>
                </a:lnTo>
                <a:lnTo>
                  <a:pt x="0" y="0"/>
                </a:lnTo>
                <a:close/>
              </a:path>
            </a:pathLst>
          </a:custGeom>
          <a:solidFill>
            <a:schemeClr val="accent6"/>
          </a:solidFill>
          <a:ln w="28575">
            <a:solidFill>
              <a:schemeClr val="tx1"/>
            </a:solidFill>
          </a:ln>
        </p:spPr>
        <p:txBody>
          <a:bodyPr wrap="square" rtlCol="0">
            <a:spAutoFit/>
          </a:bodyPr>
          <a:lstStyle/>
          <a:p>
            <a:r>
              <a:rPr lang="en-GB" sz="2000" dirty="0"/>
              <a:t>You must know these three gases</a:t>
            </a:r>
          </a:p>
        </p:txBody>
      </p:sp>
      <p:grpSp>
        <p:nvGrpSpPr>
          <p:cNvPr id="5" name="Group 4"/>
          <p:cNvGrpSpPr/>
          <p:nvPr/>
        </p:nvGrpSpPr>
        <p:grpSpPr>
          <a:xfrm>
            <a:off x="496318" y="3126984"/>
            <a:ext cx="3576776" cy="1624799"/>
            <a:chOff x="496318" y="3126984"/>
            <a:chExt cx="3576776" cy="1624799"/>
          </a:xfrm>
        </p:grpSpPr>
        <p:sp>
          <p:nvSpPr>
            <p:cNvPr id="21" name="Text Box 2"/>
            <p:cNvSpPr txBox="1">
              <a:spLocks noChangeArrowheads="1"/>
            </p:cNvSpPr>
            <p:nvPr/>
          </p:nvSpPr>
          <p:spPr bwMode="auto">
            <a:xfrm>
              <a:off x="2594179" y="3821175"/>
              <a:ext cx="1478915" cy="61976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Absorbed then re-radiated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2" name="irc_mi" descr="Image result for earth">
              <a:hlinkClick r:id="rId3"/>
            </p:cNvPr>
            <p:cNvPicPr/>
            <p:nvPr/>
          </p:nvPicPr>
          <p:blipFill rotWithShape="1">
            <a:blip r:embed="rId4" cstate="print">
              <a:extLst>
                <a:ext uri="{28A0092B-C50C-407E-A947-70E740481C1C}">
                  <a14:useLocalDpi xmlns:a14="http://schemas.microsoft.com/office/drawing/2010/main" val="0"/>
                </a:ext>
              </a:extLst>
            </a:blip>
            <a:srcRect t="-4112" b="59286"/>
            <a:stretch/>
          </p:blipFill>
          <p:spPr bwMode="auto">
            <a:xfrm>
              <a:off x="971600" y="3885643"/>
              <a:ext cx="1958975" cy="866140"/>
            </a:xfrm>
            <a:prstGeom prst="rect">
              <a:avLst/>
            </a:prstGeom>
            <a:noFill/>
            <a:ln>
              <a:noFill/>
            </a:ln>
            <a:extLst>
              <a:ext uri="{53640926-AAD7-44D8-BBD7-CCE9431645EC}">
                <a14:shadowObscured xmlns:a14="http://schemas.microsoft.com/office/drawing/2010/main"/>
              </a:ext>
            </a:extLst>
          </p:spPr>
        </p:pic>
        <p:cxnSp>
          <p:nvCxnSpPr>
            <p:cNvPr id="13" name="Curved Connector 12"/>
            <p:cNvCxnSpPr/>
            <p:nvPr/>
          </p:nvCxnSpPr>
          <p:spPr>
            <a:xfrm>
              <a:off x="1115616" y="3499202"/>
              <a:ext cx="508635" cy="47688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6" name="Curved Connector 15"/>
            <p:cNvCxnSpPr/>
            <p:nvPr/>
          </p:nvCxnSpPr>
          <p:spPr>
            <a:xfrm flipV="1">
              <a:off x="1926153" y="3372837"/>
              <a:ext cx="516255" cy="60325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18" name="Text Box 2"/>
            <p:cNvSpPr txBox="1">
              <a:spLocks noChangeArrowheads="1"/>
            </p:cNvSpPr>
            <p:nvPr/>
          </p:nvSpPr>
          <p:spPr bwMode="auto">
            <a:xfrm>
              <a:off x="496318" y="3126984"/>
              <a:ext cx="950564" cy="245853"/>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dirty="0">
                  <a:effectLst/>
                  <a:latin typeface="Calibri" panose="020F0502020204030204" pitchFamily="34" charset="0"/>
                  <a:ea typeface="Calibri" panose="020F0502020204030204" pitchFamily="34" charset="0"/>
                  <a:cs typeface="Times New Roman" panose="02020603050405020304" pitchFamily="18" charset="0"/>
                </a:rPr>
                <a:t>Visible light</a:t>
              </a:r>
            </a:p>
          </p:txBody>
        </p:sp>
        <p:sp>
          <p:nvSpPr>
            <p:cNvPr id="19" name="Text Box 2"/>
            <p:cNvSpPr txBox="1">
              <a:spLocks noChangeArrowheads="1"/>
            </p:cNvSpPr>
            <p:nvPr/>
          </p:nvSpPr>
          <p:spPr bwMode="auto">
            <a:xfrm>
              <a:off x="2442408" y="3168548"/>
              <a:ext cx="858520" cy="3492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Infra-red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7" name="Group 6"/>
          <p:cNvGrpSpPr/>
          <p:nvPr/>
        </p:nvGrpSpPr>
        <p:grpSpPr>
          <a:xfrm>
            <a:off x="4816056" y="2577934"/>
            <a:ext cx="3232168" cy="2162028"/>
            <a:chOff x="4816056" y="2577934"/>
            <a:chExt cx="3232168" cy="2162028"/>
          </a:xfrm>
        </p:grpSpPr>
        <p:sp>
          <p:nvSpPr>
            <p:cNvPr id="22" name="Text Box 2"/>
            <p:cNvSpPr txBox="1">
              <a:spLocks noChangeArrowheads="1"/>
            </p:cNvSpPr>
            <p:nvPr/>
          </p:nvSpPr>
          <p:spPr bwMode="auto">
            <a:xfrm>
              <a:off x="6768064" y="3329627"/>
              <a:ext cx="1280160" cy="786765"/>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Trapped in atmosphere warming it up</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1" name="irc_mi" descr="Image result for earth">
              <a:hlinkClick r:id="rId3"/>
            </p:cNvPr>
            <p:cNvPicPr/>
            <p:nvPr/>
          </p:nvPicPr>
          <p:blipFill rotWithShape="1">
            <a:blip r:embed="rId4" cstate="print">
              <a:extLst>
                <a:ext uri="{28A0092B-C50C-407E-A947-70E740481C1C}">
                  <a14:useLocalDpi xmlns:a14="http://schemas.microsoft.com/office/drawing/2010/main" val="0"/>
                </a:ext>
              </a:extLst>
            </a:blip>
            <a:srcRect t="-4112" b="59286"/>
            <a:stretch/>
          </p:blipFill>
          <p:spPr bwMode="auto">
            <a:xfrm>
              <a:off x="5331399" y="3873822"/>
              <a:ext cx="1958975" cy="866140"/>
            </a:xfrm>
            <a:prstGeom prst="rect">
              <a:avLst/>
            </a:prstGeom>
            <a:noFill/>
            <a:ln>
              <a:noFill/>
            </a:ln>
            <a:extLst>
              <a:ext uri="{53640926-AAD7-44D8-BBD7-CCE9431645EC}">
                <a14:shadowObscured xmlns:a14="http://schemas.microsoft.com/office/drawing/2010/main"/>
              </a:ext>
            </a:extLst>
          </p:spPr>
        </p:pic>
        <p:cxnSp>
          <p:nvCxnSpPr>
            <p:cNvPr id="14" name="Curved Connector 13"/>
            <p:cNvCxnSpPr/>
            <p:nvPr/>
          </p:nvCxnSpPr>
          <p:spPr>
            <a:xfrm>
              <a:off x="6187601" y="3436019"/>
              <a:ext cx="508635" cy="476885"/>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cxnSp>
          <p:nvCxnSpPr>
            <p:cNvPr id="15" name="Curved Connector 14"/>
            <p:cNvCxnSpPr/>
            <p:nvPr/>
          </p:nvCxnSpPr>
          <p:spPr>
            <a:xfrm flipV="1">
              <a:off x="5503815" y="3572197"/>
              <a:ext cx="516255" cy="603250"/>
            </a:xfrm>
            <a:prstGeom prst="curvedConnector3">
              <a:avLst/>
            </a:prstGeom>
            <a:ln>
              <a:tailEnd type="triangle"/>
            </a:ln>
          </p:spPr>
          <p:style>
            <a:lnRef idx="3">
              <a:schemeClr val="dk1"/>
            </a:lnRef>
            <a:fillRef idx="0">
              <a:schemeClr val="dk1"/>
            </a:fillRef>
            <a:effectRef idx="2">
              <a:schemeClr val="dk1"/>
            </a:effectRef>
            <a:fontRef idx="minor">
              <a:schemeClr val="tx1"/>
            </a:fontRef>
          </p:style>
        </p:cxnSp>
        <p:sp>
          <p:nvSpPr>
            <p:cNvPr id="20" name="Text Box 2"/>
            <p:cNvSpPr txBox="1">
              <a:spLocks noChangeArrowheads="1"/>
            </p:cNvSpPr>
            <p:nvPr/>
          </p:nvSpPr>
          <p:spPr bwMode="auto">
            <a:xfrm>
              <a:off x="4816056" y="3699197"/>
              <a:ext cx="858520" cy="349250"/>
            </a:xfrm>
            <a:prstGeom prst="rect">
              <a:avLst/>
            </a:prstGeom>
            <a:solidFill>
              <a:srgbClr val="FFFFFF"/>
            </a:solidFill>
            <a:ln w="9525">
              <a:noFill/>
              <a:miter lim="800000"/>
              <a:headEnd/>
              <a:tailEnd/>
            </a:ln>
          </p:spPr>
          <p:txBody>
            <a:bodyPr rot="0" vert="horz" wrap="square" lIns="91440" tIns="45720" rIns="91440" bIns="45720" anchor="t" anchorCtr="0">
              <a:noAutofit/>
            </a:bodyPr>
            <a:lstStyle/>
            <a:p>
              <a:pPr>
                <a:lnSpc>
                  <a:spcPct val="107000"/>
                </a:lnSpc>
                <a:spcAft>
                  <a:spcPts val="800"/>
                </a:spcAft>
              </a:pPr>
              <a:r>
                <a:rPr lang="en-GB" sz="1400">
                  <a:effectLst/>
                  <a:latin typeface="Calibri" panose="020F0502020204030204" pitchFamily="34" charset="0"/>
                  <a:ea typeface="Calibri" panose="020F0502020204030204" pitchFamily="34" charset="0"/>
                  <a:cs typeface="Times New Roman" panose="02020603050405020304" pitchFamily="18" charset="0"/>
                </a:rPr>
                <a:t>Infra-red</a:t>
              </a:r>
              <a:endParaRPr lang="en-GB"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3" name="Explosion 2 22"/>
            <p:cNvSpPr/>
            <p:nvPr/>
          </p:nvSpPr>
          <p:spPr>
            <a:xfrm>
              <a:off x="5203628" y="2577934"/>
              <a:ext cx="1581785" cy="1057275"/>
            </a:xfrm>
            <a:prstGeom prst="irregularSeal2">
              <a:avLst/>
            </a:prstGeom>
          </p:spPr>
          <p:style>
            <a:lnRef idx="2">
              <a:schemeClr val="accent2">
                <a:shade val="50000"/>
              </a:schemeClr>
            </a:lnRef>
            <a:fillRef idx="1">
              <a:schemeClr val="accent2"/>
            </a:fillRef>
            <a:effectRef idx="0">
              <a:schemeClr val="accent2"/>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GB" sz="2000" dirty="0">
                  <a:effectLst/>
                  <a:ea typeface="Calibri" panose="020F0502020204030204" pitchFamily="34" charset="0"/>
                  <a:cs typeface="Times New Roman" panose="02020603050405020304" pitchFamily="18" charset="0"/>
                </a:rPr>
                <a:t>CO</a:t>
              </a:r>
              <a:r>
                <a:rPr lang="en-GB" sz="2000" baseline="-25000" dirty="0">
                  <a:effectLst/>
                  <a:ea typeface="Calibri" panose="020F0502020204030204" pitchFamily="34" charset="0"/>
                  <a:cs typeface="Times New Roman" panose="02020603050405020304" pitchFamily="18" charset="0"/>
                </a:rPr>
                <a:t>2</a:t>
              </a:r>
              <a:endParaRPr lang="en-GB" sz="1100" dirty="0">
                <a:effectLst/>
                <a:ea typeface="Calibri" panose="020F0502020204030204" pitchFamily="34" charset="0"/>
                <a:cs typeface="Times New Roman" panose="02020603050405020304" pitchFamily="18" charset="0"/>
              </a:endParaRPr>
            </a:p>
          </p:txBody>
        </p:sp>
      </p:grpSp>
    </p:spTree>
    <p:extLst>
      <p:ext uri="{BB962C8B-B14F-4D97-AF65-F5344CB8AC3E}">
        <p14:creationId xmlns:p14="http://schemas.microsoft.com/office/powerpoint/2010/main" val="29278023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5616" y="35655"/>
            <a:ext cx="8028384" cy="657041"/>
          </a:xfrm>
        </p:spPr>
        <p:txBody>
          <a:bodyPr>
            <a:noAutofit/>
          </a:bodyPr>
          <a:lstStyle/>
          <a:p>
            <a:pPr marL="342900" marR="0" lvl="1" algn="r" defTabSz="342900" rtl="0" eaLnBrk="1" fontAlgn="auto" latinLnBrk="0" hangingPunct="1">
              <a:lnSpc>
                <a:spcPct val="100000"/>
              </a:lnSpc>
              <a:spcBef>
                <a:spcPct val="20000"/>
              </a:spcBef>
              <a:spcAft>
                <a:spcPts val="0"/>
              </a:spcAft>
              <a:buClrTx/>
              <a:buSzTx/>
              <a:tabLst/>
              <a:defRPr/>
            </a:pPr>
            <a:r>
              <a:rPr lang="en-US" sz="2000" b="1" dirty="0">
                <a:solidFill>
                  <a:schemeClr val="accent6"/>
                </a:solidFill>
              </a:rPr>
              <a:t>Carbon dioxide and methane as greenhouse gases</a:t>
            </a:r>
            <a:endParaRPr lang="en-GB" sz="2000" b="1" dirty="0">
              <a:solidFill>
                <a:schemeClr val="accent6"/>
              </a:solidFill>
            </a:endParaRPr>
          </a:p>
        </p:txBody>
      </p:sp>
      <p:sp>
        <p:nvSpPr>
          <p:cNvPr id="9" name="TextBox 8"/>
          <p:cNvSpPr txBox="1"/>
          <p:nvPr/>
        </p:nvSpPr>
        <p:spPr>
          <a:xfrm>
            <a:off x="6876256" y="5517232"/>
            <a:ext cx="184731" cy="369332"/>
          </a:xfrm>
          <a:prstGeom prst="rect">
            <a:avLst/>
          </a:prstGeom>
          <a:noFill/>
        </p:spPr>
        <p:txBody>
          <a:bodyPr wrap="none" rtlCol="0">
            <a:spAutoFit/>
          </a:bodyPr>
          <a:lstStyle/>
          <a:p>
            <a:endParaRPr lang="en-GB" dirty="0"/>
          </a:p>
        </p:txBody>
      </p:sp>
      <p:sp>
        <p:nvSpPr>
          <p:cNvPr id="5" name="TextBox 4"/>
          <p:cNvSpPr txBox="1"/>
          <p:nvPr/>
        </p:nvSpPr>
        <p:spPr>
          <a:xfrm>
            <a:off x="251520" y="764704"/>
            <a:ext cx="8568952" cy="707886"/>
          </a:xfrm>
          <a:prstGeom prst="rect">
            <a:avLst/>
          </a:prstGeom>
          <a:noFill/>
        </p:spPr>
        <p:txBody>
          <a:bodyPr wrap="square" rtlCol="0">
            <a:spAutoFit/>
          </a:bodyPr>
          <a:lstStyle/>
          <a:p>
            <a:r>
              <a:rPr lang="en-GB" sz="2000" dirty="0"/>
              <a:t>Some human activities increase the amounts of greenhouse gases in the atmosphere namely </a:t>
            </a:r>
            <a:r>
              <a:rPr lang="en-GB" sz="2000" b="1" dirty="0">
                <a:solidFill>
                  <a:schemeClr val="accent6">
                    <a:lumMod val="75000"/>
                  </a:schemeClr>
                </a:solidFill>
              </a:rPr>
              <a:t>carbon dioxide </a:t>
            </a:r>
            <a:r>
              <a:rPr lang="en-GB" sz="2000" dirty="0"/>
              <a:t>and </a:t>
            </a:r>
            <a:r>
              <a:rPr lang="en-GB" sz="2000" b="1" dirty="0">
                <a:solidFill>
                  <a:schemeClr val="accent6">
                    <a:lumMod val="75000"/>
                  </a:schemeClr>
                </a:solidFill>
              </a:rPr>
              <a:t>methane</a:t>
            </a:r>
            <a:r>
              <a:rPr lang="en-GB" sz="2000" dirty="0">
                <a:solidFill>
                  <a:schemeClr val="accent6">
                    <a:lumMod val="75000"/>
                  </a:schemeClr>
                </a:solidFill>
              </a:rPr>
              <a:t>.</a:t>
            </a:r>
          </a:p>
        </p:txBody>
      </p:sp>
      <p:sp>
        <p:nvSpPr>
          <p:cNvPr id="7" name="TextBox 6"/>
          <p:cNvSpPr txBox="1"/>
          <p:nvPr/>
        </p:nvSpPr>
        <p:spPr>
          <a:xfrm>
            <a:off x="251520" y="1556792"/>
            <a:ext cx="4032448" cy="1323439"/>
          </a:xfrm>
          <a:prstGeom prst="rect">
            <a:avLst/>
          </a:prstGeom>
          <a:noFill/>
          <a:ln w="28575">
            <a:solidFill>
              <a:schemeClr val="accent6"/>
            </a:solidFill>
          </a:ln>
        </p:spPr>
        <p:txBody>
          <a:bodyPr wrap="square" rtlCol="0">
            <a:spAutoFit/>
          </a:bodyPr>
          <a:lstStyle/>
          <a:p>
            <a:r>
              <a:rPr lang="en-GB" sz="2000" dirty="0"/>
              <a:t>Two human activities that </a:t>
            </a:r>
            <a:r>
              <a:rPr lang="en-GB" sz="2000" b="1" dirty="0">
                <a:solidFill>
                  <a:schemeClr val="accent6">
                    <a:lumMod val="75000"/>
                  </a:schemeClr>
                </a:solidFill>
              </a:rPr>
              <a:t>increase</a:t>
            </a:r>
            <a:r>
              <a:rPr lang="en-GB" sz="2000" dirty="0"/>
              <a:t> the amount of the greenhouse gas </a:t>
            </a:r>
            <a:r>
              <a:rPr lang="en-GB" sz="2000" b="1" dirty="0">
                <a:solidFill>
                  <a:schemeClr val="accent6">
                    <a:lumMod val="75000"/>
                  </a:schemeClr>
                </a:solidFill>
              </a:rPr>
              <a:t>carbon dioxide</a:t>
            </a:r>
            <a:r>
              <a:rPr lang="en-GB" sz="2000" b="1" dirty="0"/>
              <a:t> </a:t>
            </a:r>
            <a:r>
              <a:rPr lang="en-GB" sz="2000" dirty="0"/>
              <a:t>are </a:t>
            </a:r>
            <a:r>
              <a:rPr lang="en-GB" sz="2000" b="1" dirty="0">
                <a:solidFill>
                  <a:schemeClr val="accent6">
                    <a:lumMod val="75000"/>
                  </a:schemeClr>
                </a:solidFill>
              </a:rPr>
              <a:t>burning fossil fuels </a:t>
            </a:r>
            <a:r>
              <a:rPr lang="en-GB" sz="2000" dirty="0"/>
              <a:t>and </a:t>
            </a:r>
            <a:r>
              <a:rPr lang="en-GB" sz="2000" b="1" dirty="0">
                <a:solidFill>
                  <a:schemeClr val="accent6">
                    <a:lumMod val="75000"/>
                  </a:schemeClr>
                </a:solidFill>
              </a:rPr>
              <a:t>deforestation</a:t>
            </a:r>
            <a:r>
              <a:rPr lang="en-GB" sz="2000" dirty="0"/>
              <a:t>.</a:t>
            </a:r>
          </a:p>
        </p:txBody>
      </p:sp>
      <p:sp>
        <p:nvSpPr>
          <p:cNvPr id="11" name="TextBox 10"/>
          <p:cNvSpPr txBox="1"/>
          <p:nvPr/>
        </p:nvSpPr>
        <p:spPr>
          <a:xfrm>
            <a:off x="4499992" y="1563269"/>
            <a:ext cx="4464496" cy="1323439"/>
          </a:xfrm>
          <a:custGeom>
            <a:avLst/>
            <a:gdLst>
              <a:gd name="connsiteX0" fmla="*/ 0 w 4464496"/>
              <a:gd name="connsiteY0" fmla="*/ 0 h 1200329"/>
              <a:gd name="connsiteX1" fmla="*/ 4464496 w 4464496"/>
              <a:gd name="connsiteY1" fmla="*/ 0 h 1200329"/>
              <a:gd name="connsiteX2" fmla="*/ 4464496 w 4464496"/>
              <a:gd name="connsiteY2" fmla="*/ 1200329 h 1200329"/>
              <a:gd name="connsiteX3" fmla="*/ 0 w 4464496"/>
              <a:gd name="connsiteY3" fmla="*/ 1200329 h 1200329"/>
              <a:gd name="connsiteX4" fmla="*/ 0 w 4464496"/>
              <a:gd name="connsiteY4" fmla="*/ 0 h 1200329"/>
              <a:gd name="connsiteX0" fmla="*/ 0 w 4464496"/>
              <a:gd name="connsiteY0" fmla="*/ 0 h 1960182"/>
              <a:gd name="connsiteX1" fmla="*/ 4464496 w 4464496"/>
              <a:gd name="connsiteY1" fmla="*/ 759853 h 1960182"/>
              <a:gd name="connsiteX2" fmla="*/ 4464496 w 4464496"/>
              <a:gd name="connsiteY2" fmla="*/ 1960182 h 1960182"/>
              <a:gd name="connsiteX3" fmla="*/ 0 w 4464496"/>
              <a:gd name="connsiteY3" fmla="*/ 1960182 h 1960182"/>
              <a:gd name="connsiteX4" fmla="*/ 0 w 4464496"/>
              <a:gd name="connsiteY4" fmla="*/ 0 h 1960182"/>
              <a:gd name="connsiteX0" fmla="*/ 0 w 4464496"/>
              <a:gd name="connsiteY0" fmla="*/ 0 h 1960182"/>
              <a:gd name="connsiteX1" fmla="*/ 4464496 w 4464496"/>
              <a:gd name="connsiteY1" fmla="*/ 12879 h 1960182"/>
              <a:gd name="connsiteX2" fmla="*/ 4464496 w 4464496"/>
              <a:gd name="connsiteY2" fmla="*/ 1960182 h 1960182"/>
              <a:gd name="connsiteX3" fmla="*/ 0 w 4464496"/>
              <a:gd name="connsiteY3" fmla="*/ 1960182 h 1960182"/>
              <a:gd name="connsiteX4" fmla="*/ 0 w 4464496"/>
              <a:gd name="connsiteY4" fmla="*/ 0 h 1960182"/>
              <a:gd name="connsiteX0" fmla="*/ 0 w 4464496"/>
              <a:gd name="connsiteY0" fmla="*/ 12879 h 1973061"/>
              <a:gd name="connsiteX1" fmla="*/ 4464496 w 4464496"/>
              <a:gd name="connsiteY1" fmla="*/ 0 h 1973061"/>
              <a:gd name="connsiteX2" fmla="*/ 4464496 w 4464496"/>
              <a:gd name="connsiteY2" fmla="*/ 1973061 h 1973061"/>
              <a:gd name="connsiteX3" fmla="*/ 0 w 4464496"/>
              <a:gd name="connsiteY3" fmla="*/ 1973061 h 1973061"/>
              <a:gd name="connsiteX4" fmla="*/ 0 w 4464496"/>
              <a:gd name="connsiteY4" fmla="*/ 12879 h 1973061"/>
              <a:gd name="connsiteX0" fmla="*/ 0 w 4464496"/>
              <a:gd name="connsiteY0" fmla="*/ 0 h 1960182"/>
              <a:gd name="connsiteX1" fmla="*/ 4464496 w 4464496"/>
              <a:gd name="connsiteY1" fmla="*/ 0 h 1960182"/>
              <a:gd name="connsiteX2" fmla="*/ 4464496 w 4464496"/>
              <a:gd name="connsiteY2" fmla="*/ 1960182 h 1960182"/>
              <a:gd name="connsiteX3" fmla="*/ 0 w 4464496"/>
              <a:gd name="connsiteY3" fmla="*/ 1960182 h 1960182"/>
              <a:gd name="connsiteX4" fmla="*/ 0 w 4464496"/>
              <a:gd name="connsiteY4" fmla="*/ 0 h 1960182"/>
              <a:gd name="connsiteX0" fmla="*/ 0 w 4464496"/>
              <a:gd name="connsiteY0" fmla="*/ 0 h 1985939"/>
              <a:gd name="connsiteX1" fmla="*/ 4464496 w 4464496"/>
              <a:gd name="connsiteY1" fmla="*/ 25757 h 1985939"/>
              <a:gd name="connsiteX2" fmla="*/ 4464496 w 4464496"/>
              <a:gd name="connsiteY2" fmla="*/ 1985939 h 1985939"/>
              <a:gd name="connsiteX3" fmla="*/ 0 w 4464496"/>
              <a:gd name="connsiteY3" fmla="*/ 1985939 h 1985939"/>
              <a:gd name="connsiteX4" fmla="*/ 0 w 4464496"/>
              <a:gd name="connsiteY4" fmla="*/ 0 h 1985939"/>
              <a:gd name="connsiteX0" fmla="*/ 0 w 4464496"/>
              <a:gd name="connsiteY0" fmla="*/ 12879 h 1998818"/>
              <a:gd name="connsiteX1" fmla="*/ 4451617 w 4464496"/>
              <a:gd name="connsiteY1" fmla="*/ 0 h 1998818"/>
              <a:gd name="connsiteX2" fmla="*/ 4464496 w 4464496"/>
              <a:gd name="connsiteY2" fmla="*/ 1998818 h 1998818"/>
              <a:gd name="connsiteX3" fmla="*/ 0 w 4464496"/>
              <a:gd name="connsiteY3" fmla="*/ 1998818 h 1998818"/>
              <a:gd name="connsiteX4" fmla="*/ 0 w 4464496"/>
              <a:gd name="connsiteY4" fmla="*/ 12879 h 1998818"/>
              <a:gd name="connsiteX0" fmla="*/ 0 w 4464496"/>
              <a:gd name="connsiteY0" fmla="*/ 0 h 1985939"/>
              <a:gd name="connsiteX1" fmla="*/ 4451617 w 4464496"/>
              <a:gd name="connsiteY1" fmla="*/ 0 h 1985939"/>
              <a:gd name="connsiteX2" fmla="*/ 4464496 w 4464496"/>
              <a:gd name="connsiteY2" fmla="*/ 1985939 h 1985939"/>
              <a:gd name="connsiteX3" fmla="*/ 0 w 4464496"/>
              <a:gd name="connsiteY3" fmla="*/ 1985939 h 1985939"/>
              <a:gd name="connsiteX4" fmla="*/ 0 w 4464496"/>
              <a:gd name="connsiteY4" fmla="*/ 0 h 1985939"/>
              <a:gd name="connsiteX0" fmla="*/ 0 w 4464496"/>
              <a:gd name="connsiteY0" fmla="*/ 0 h 1985939"/>
              <a:gd name="connsiteX1" fmla="*/ 4451617 w 4464496"/>
              <a:gd name="connsiteY1" fmla="*/ 0 h 1985939"/>
              <a:gd name="connsiteX2" fmla="*/ 4464496 w 4464496"/>
              <a:gd name="connsiteY2" fmla="*/ 1985939 h 1985939"/>
              <a:gd name="connsiteX3" fmla="*/ 0 w 4464496"/>
              <a:gd name="connsiteY3" fmla="*/ 1187449 h 1985939"/>
              <a:gd name="connsiteX4" fmla="*/ 0 w 4464496"/>
              <a:gd name="connsiteY4" fmla="*/ 0 h 1985939"/>
              <a:gd name="connsiteX0" fmla="*/ 0 w 4464496"/>
              <a:gd name="connsiteY0" fmla="*/ 0 h 1187449"/>
              <a:gd name="connsiteX1" fmla="*/ 4451617 w 4464496"/>
              <a:gd name="connsiteY1" fmla="*/ 0 h 1187449"/>
              <a:gd name="connsiteX2" fmla="*/ 4464496 w 4464496"/>
              <a:gd name="connsiteY2" fmla="*/ 1187449 h 1187449"/>
              <a:gd name="connsiteX3" fmla="*/ 0 w 4464496"/>
              <a:gd name="connsiteY3" fmla="*/ 1187449 h 1187449"/>
              <a:gd name="connsiteX4" fmla="*/ 0 w 4464496"/>
              <a:gd name="connsiteY4" fmla="*/ 0 h 118744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64496" h="1187449">
                <a:moveTo>
                  <a:pt x="0" y="0"/>
                </a:moveTo>
                <a:lnTo>
                  <a:pt x="4451617" y="0"/>
                </a:lnTo>
                <a:lnTo>
                  <a:pt x="4464496" y="1187449"/>
                </a:lnTo>
                <a:lnTo>
                  <a:pt x="0" y="1187449"/>
                </a:lnTo>
                <a:lnTo>
                  <a:pt x="0" y="0"/>
                </a:lnTo>
                <a:close/>
              </a:path>
            </a:pathLst>
          </a:custGeom>
          <a:noFill/>
          <a:ln w="28575">
            <a:solidFill>
              <a:schemeClr val="accent6"/>
            </a:solidFill>
          </a:ln>
        </p:spPr>
        <p:txBody>
          <a:bodyPr wrap="square" rtlCol="0">
            <a:spAutoFit/>
          </a:bodyPr>
          <a:lstStyle/>
          <a:p>
            <a:r>
              <a:rPr lang="en-GB" sz="2000" dirty="0"/>
              <a:t>Two human activities that </a:t>
            </a:r>
            <a:r>
              <a:rPr lang="en-GB" sz="2000" b="1" dirty="0">
                <a:solidFill>
                  <a:schemeClr val="accent6">
                    <a:lumMod val="75000"/>
                  </a:schemeClr>
                </a:solidFill>
              </a:rPr>
              <a:t>increase</a:t>
            </a:r>
            <a:r>
              <a:rPr lang="en-GB" sz="2000" dirty="0"/>
              <a:t> the amount of the greenhouse gas </a:t>
            </a:r>
            <a:r>
              <a:rPr lang="en-GB" sz="2000" b="1" dirty="0">
                <a:solidFill>
                  <a:schemeClr val="accent6">
                    <a:lumMod val="75000"/>
                  </a:schemeClr>
                </a:solidFill>
              </a:rPr>
              <a:t>methane</a:t>
            </a:r>
            <a:r>
              <a:rPr lang="en-GB" sz="2000" dirty="0"/>
              <a:t> are </a:t>
            </a:r>
            <a:r>
              <a:rPr lang="en-GB" sz="2000" b="1" dirty="0">
                <a:solidFill>
                  <a:schemeClr val="accent6">
                    <a:lumMod val="75000"/>
                  </a:schemeClr>
                </a:solidFill>
              </a:rPr>
              <a:t>farming of livestock </a:t>
            </a:r>
            <a:r>
              <a:rPr lang="en-GB" sz="2000" dirty="0"/>
              <a:t>e.g. cows and pigs and </a:t>
            </a:r>
            <a:r>
              <a:rPr lang="en-GB" sz="2000" b="1" dirty="0">
                <a:solidFill>
                  <a:schemeClr val="accent6">
                    <a:lumMod val="75000"/>
                  </a:schemeClr>
                </a:solidFill>
              </a:rPr>
              <a:t>landfills</a:t>
            </a:r>
            <a:r>
              <a:rPr lang="en-GB" sz="2000" dirty="0"/>
              <a:t>.</a:t>
            </a:r>
          </a:p>
        </p:txBody>
      </p:sp>
      <p:sp>
        <p:nvSpPr>
          <p:cNvPr id="12" name="TextBox 11"/>
          <p:cNvSpPr txBox="1"/>
          <p:nvPr/>
        </p:nvSpPr>
        <p:spPr>
          <a:xfrm>
            <a:off x="251519" y="2865336"/>
            <a:ext cx="5028921" cy="1631216"/>
          </a:xfrm>
          <a:custGeom>
            <a:avLst/>
            <a:gdLst>
              <a:gd name="connsiteX0" fmla="*/ 0 w 4032448"/>
              <a:gd name="connsiteY0" fmla="*/ 0 h 1754326"/>
              <a:gd name="connsiteX1" fmla="*/ 4032448 w 4032448"/>
              <a:gd name="connsiteY1" fmla="*/ 0 h 1754326"/>
              <a:gd name="connsiteX2" fmla="*/ 4032448 w 4032448"/>
              <a:gd name="connsiteY2" fmla="*/ 1754326 h 1754326"/>
              <a:gd name="connsiteX3" fmla="*/ 0 w 4032448"/>
              <a:gd name="connsiteY3" fmla="*/ 1754326 h 1754326"/>
              <a:gd name="connsiteX4" fmla="*/ 0 w 4032448"/>
              <a:gd name="connsiteY4" fmla="*/ 0 h 1754326"/>
              <a:gd name="connsiteX0" fmla="*/ 12878 w 4032448"/>
              <a:gd name="connsiteY0" fmla="*/ 0 h 1844478"/>
              <a:gd name="connsiteX1" fmla="*/ 4032448 w 4032448"/>
              <a:gd name="connsiteY1" fmla="*/ 90152 h 1844478"/>
              <a:gd name="connsiteX2" fmla="*/ 4032448 w 4032448"/>
              <a:gd name="connsiteY2" fmla="*/ 1844478 h 1844478"/>
              <a:gd name="connsiteX3" fmla="*/ 0 w 4032448"/>
              <a:gd name="connsiteY3" fmla="*/ 1844478 h 1844478"/>
              <a:gd name="connsiteX4" fmla="*/ 12878 w 4032448"/>
              <a:gd name="connsiteY4" fmla="*/ 0 h 1844478"/>
              <a:gd name="connsiteX0" fmla="*/ 12878 w 4032448"/>
              <a:gd name="connsiteY0" fmla="*/ 0 h 1844478"/>
              <a:gd name="connsiteX1" fmla="*/ 4032448 w 4032448"/>
              <a:gd name="connsiteY1" fmla="*/ 0 h 1844478"/>
              <a:gd name="connsiteX2" fmla="*/ 4032448 w 4032448"/>
              <a:gd name="connsiteY2" fmla="*/ 1844478 h 1844478"/>
              <a:gd name="connsiteX3" fmla="*/ 0 w 4032448"/>
              <a:gd name="connsiteY3" fmla="*/ 1844478 h 1844478"/>
              <a:gd name="connsiteX4" fmla="*/ 12878 w 4032448"/>
              <a:gd name="connsiteY4" fmla="*/ 0 h 1844478"/>
              <a:gd name="connsiteX0" fmla="*/ 571 w 4020141"/>
              <a:gd name="connsiteY0" fmla="*/ 0 h 1844478"/>
              <a:gd name="connsiteX1" fmla="*/ 4020141 w 4020141"/>
              <a:gd name="connsiteY1" fmla="*/ 0 h 1844478"/>
              <a:gd name="connsiteX2" fmla="*/ 4020141 w 4020141"/>
              <a:gd name="connsiteY2" fmla="*/ 1844478 h 1844478"/>
              <a:gd name="connsiteX3" fmla="*/ 13450 w 4020141"/>
              <a:gd name="connsiteY3" fmla="*/ 1702810 h 1844478"/>
              <a:gd name="connsiteX4" fmla="*/ 571 w 4020141"/>
              <a:gd name="connsiteY4" fmla="*/ 0 h 1844478"/>
              <a:gd name="connsiteX0" fmla="*/ 1239 w 4020809"/>
              <a:gd name="connsiteY0" fmla="*/ 0 h 1844478"/>
              <a:gd name="connsiteX1" fmla="*/ 4020809 w 4020809"/>
              <a:gd name="connsiteY1" fmla="*/ 0 h 1844478"/>
              <a:gd name="connsiteX2" fmla="*/ 4020809 w 4020809"/>
              <a:gd name="connsiteY2" fmla="*/ 1844478 h 1844478"/>
              <a:gd name="connsiteX3" fmla="*/ 1239 w 4020809"/>
              <a:gd name="connsiteY3" fmla="*/ 1702810 h 1844478"/>
              <a:gd name="connsiteX4" fmla="*/ 1239 w 4020809"/>
              <a:gd name="connsiteY4" fmla="*/ 0 h 1844478"/>
              <a:gd name="connsiteX0" fmla="*/ 1239 w 4020809"/>
              <a:gd name="connsiteY0" fmla="*/ 0 h 1702810"/>
              <a:gd name="connsiteX1" fmla="*/ 4020809 w 4020809"/>
              <a:gd name="connsiteY1" fmla="*/ 0 h 1702810"/>
              <a:gd name="connsiteX2" fmla="*/ 4020809 w 4020809"/>
              <a:gd name="connsiteY2" fmla="*/ 1677052 h 1702810"/>
              <a:gd name="connsiteX3" fmla="*/ 1239 w 4020809"/>
              <a:gd name="connsiteY3" fmla="*/ 1702810 h 1702810"/>
              <a:gd name="connsiteX4" fmla="*/ 1239 w 4020809"/>
              <a:gd name="connsiteY4" fmla="*/ 0 h 1702810"/>
              <a:gd name="connsiteX0" fmla="*/ 1239 w 4020809"/>
              <a:gd name="connsiteY0" fmla="*/ 0 h 1702810"/>
              <a:gd name="connsiteX1" fmla="*/ 4020809 w 4020809"/>
              <a:gd name="connsiteY1" fmla="*/ 0 h 1702810"/>
              <a:gd name="connsiteX2" fmla="*/ 4020809 w 4020809"/>
              <a:gd name="connsiteY2" fmla="*/ 1702810 h 1702810"/>
              <a:gd name="connsiteX3" fmla="*/ 1239 w 4020809"/>
              <a:gd name="connsiteY3" fmla="*/ 1702810 h 1702810"/>
              <a:gd name="connsiteX4" fmla="*/ 1239 w 4020809"/>
              <a:gd name="connsiteY4" fmla="*/ 0 h 17028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20809" h="1702810">
                <a:moveTo>
                  <a:pt x="1239" y="0"/>
                </a:moveTo>
                <a:lnTo>
                  <a:pt x="4020809" y="0"/>
                </a:lnTo>
                <a:lnTo>
                  <a:pt x="4020809" y="1702810"/>
                </a:lnTo>
                <a:lnTo>
                  <a:pt x="1239" y="1702810"/>
                </a:lnTo>
                <a:cubicBezTo>
                  <a:pt x="5532" y="1087984"/>
                  <a:pt x="-3054" y="614826"/>
                  <a:pt x="1239" y="0"/>
                </a:cubicBezTo>
                <a:close/>
              </a:path>
            </a:pathLst>
          </a:custGeom>
          <a:noFill/>
        </p:spPr>
        <p:txBody>
          <a:bodyPr wrap="square" rtlCol="0">
            <a:spAutoFit/>
          </a:bodyPr>
          <a:lstStyle/>
          <a:p>
            <a:r>
              <a:rPr lang="en-GB" sz="2000" dirty="0"/>
              <a:t>Based on </a:t>
            </a:r>
            <a:r>
              <a:rPr lang="en-GB" sz="2000" b="1" dirty="0">
                <a:solidFill>
                  <a:schemeClr val="accent6">
                    <a:lumMod val="75000"/>
                  </a:schemeClr>
                </a:solidFill>
              </a:rPr>
              <a:t>peer-reviewed evidence</a:t>
            </a:r>
            <a:r>
              <a:rPr lang="en-GB" sz="2000" dirty="0"/>
              <a:t>, many scientists believe that human activities will cause the </a:t>
            </a:r>
            <a:r>
              <a:rPr lang="en-GB" sz="2000" b="1" dirty="0">
                <a:solidFill>
                  <a:schemeClr val="accent6">
                    <a:lumMod val="75000"/>
                  </a:schemeClr>
                </a:solidFill>
              </a:rPr>
              <a:t>temperature</a:t>
            </a:r>
            <a:r>
              <a:rPr lang="en-GB" sz="2000" dirty="0"/>
              <a:t> of the Earth’s atmosphere to </a:t>
            </a:r>
            <a:r>
              <a:rPr lang="en-GB" sz="2000" b="1" dirty="0">
                <a:solidFill>
                  <a:schemeClr val="accent6">
                    <a:lumMod val="75000"/>
                  </a:schemeClr>
                </a:solidFill>
              </a:rPr>
              <a:t>increase</a:t>
            </a:r>
            <a:r>
              <a:rPr lang="en-GB" sz="2000" dirty="0"/>
              <a:t> at the surface and that this will result in</a:t>
            </a:r>
            <a:r>
              <a:rPr lang="en-GB" sz="2000" b="1" dirty="0"/>
              <a:t> </a:t>
            </a:r>
            <a:r>
              <a:rPr lang="en-GB" sz="2000" b="1" dirty="0">
                <a:solidFill>
                  <a:schemeClr val="accent6">
                    <a:lumMod val="75000"/>
                  </a:schemeClr>
                </a:solidFill>
              </a:rPr>
              <a:t>global climate change</a:t>
            </a:r>
            <a:r>
              <a:rPr lang="en-GB" sz="2000" dirty="0">
                <a:solidFill>
                  <a:schemeClr val="accent6">
                    <a:lumMod val="75000"/>
                  </a:schemeClr>
                </a:solidFill>
              </a:rPr>
              <a:t>.</a:t>
            </a:r>
          </a:p>
        </p:txBody>
      </p:sp>
      <p:pic>
        <p:nvPicPr>
          <p:cNvPr id="13" name="Picture 12"/>
          <p:cNvPicPr>
            <a:picLocks noChangeAspect="1"/>
          </p:cNvPicPr>
          <p:nvPr/>
        </p:nvPicPr>
        <p:blipFill>
          <a:blip r:embed="rId3"/>
          <a:stretch>
            <a:fillRect/>
          </a:stretch>
        </p:blipFill>
        <p:spPr>
          <a:xfrm>
            <a:off x="5561941" y="3200611"/>
            <a:ext cx="3402547" cy="2696055"/>
          </a:xfrm>
          <a:prstGeom prst="rect">
            <a:avLst/>
          </a:prstGeom>
        </p:spPr>
      </p:pic>
      <p:sp>
        <p:nvSpPr>
          <p:cNvPr id="14" name="TextBox 13"/>
          <p:cNvSpPr txBox="1"/>
          <p:nvPr/>
        </p:nvSpPr>
        <p:spPr>
          <a:xfrm>
            <a:off x="251519" y="4701624"/>
            <a:ext cx="5040561" cy="1631216"/>
          </a:xfrm>
          <a:custGeom>
            <a:avLst/>
            <a:gdLst>
              <a:gd name="connsiteX0" fmla="*/ 0 w 4032448"/>
              <a:gd name="connsiteY0" fmla="*/ 0 h 2031325"/>
              <a:gd name="connsiteX1" fmla="*/ 4032448 w 4032448"/>
              <a:gd name="connsiteY1" fmla="*/ 0 h 2031325"/>
              <a:gd name="connsiteX2" fmla="*/ 4032448 w 4032448"/>
              <a:gd name="connsiteY2" fmla="*/ 2031325 h 2031325"/>
              <a:gd name="connsiteX3" fmla="*/ 0 w 4032448"/>
              <a:gd name="connsiteY3" fmla="*/ 2031325 h 2031325"/>
              <a:gd name="connsiteX4" fmla="*/ 0 w 4032448"/>
              <a:gd name="connsiteY4" fmla="*/ 0 h 2031325"/>
              <a:gd name="connsiteX0" fmla="*/ 0 w 4032448"/>
              <a:gd name="connsiteY0" fmla="*/ 0 h 2353297"/>
              <a:gd name="connsiteX1" fmla="*/ 4032448 w 4032448"/>
              <a:gd name="connsiteY1" fmla="*/ 321972 h 2353297"/>
              <a:gd name="connsiteX2" fmla="*/ 4032448 w 4032448"/>
              <a:gd name="connsiteY2" fmla="*/ 2353297 h 2353297"/>
              <a:gd name="connsiteX3" fmla="*/ 0 w 4032448"/>
              <a:gd name="connsiteY3" fmla="*/ 2353297 h 2353297"/>
              <a:gd name="connsiteX4" fmla="*/ 0 w 4032448"/>
              <a:gd name="connsiteY4" fmla="*/ 0 h 2353297"/>
              <a:gd name="connsiteX0" fmla="*/ 0 w 4032448"/>
              <a:gd name="connsiteY0" fmla="*/ 0 h 2353297"/>
              <a:gd name="connsiteX1" fmla="*/ 4019569 w 4032448"/>
              <a:gd name="connsiteY1" fmla="*/ 0 h 2353297"/>
              <a:gd name="connsiteX2" fmla="*/ 4032448 w 4032448"/>
              <a:gd name="connsiteY2" fmla="*/ 2353297 h 2353297"/>
              <a:gd name="connsiteX3" fmla="*/ 0 w 4032448"/>
              <a:gd name="connsiteY3" fmla="*/ 2353297 h 2353297"/>
              <a:gd name="connsiteX4" fmla="*/ 0 w 4032448"/>
              <a:gd name="connsiteY4" fmla="*/ 0 h 2353297"/>
              <a:gd name="connsiteX0" fmla="*/ 0 w 4032448"/>
              <a:gd name="connsiteY0" fmla="*/ 0 h 2353297"/>
              <a:gd name="connsiteX1" fmla="*/ 4019569 w 4032448"/>
              <a:gd name="connsiteY1" fmla="*/ 0 h 2353297"/>
              <a:gd name="connsiteX2" fmla="*/ 4032448 w 4032448"/>
              <a:gd name="connsiteY2" fmla="*/ 2353297 h 2353297"/>
              <a:gd name="connsiteX3" fmla="*/ 0 w 4032448"/>
              <a:gd name="connsiteY3" fmla="*/ 1992688 h 2353297"/>
              <a:gd name="connsiteX4" fmla="*/ 0 w 4032448"/>
              <a:gd name="connsiteY4" fmla="*/ 0 h 2353297"/>
              <a:gd name="connsiteX0" fmla="*/ 0 w 4019569"/>
              <a:gd name="connsiteY0" fmla="*/ 0 h 1992688"/>
              <a:gd name="connsiteX1" fmla="*/ 4019569 w 4019569"/>
              <a:gd name="connsiteY1" fmla="*/ 0 h 1992688"/>
              <a:gd name="connsiteX2" fmla="*/ 4019569 w 4019569"/>
              <a:gd name="connsiteY2" fmla="*/ 1979810 h 1992688"/>
              <a:gd name="connsiteX3" fmla="*/ 0 w 4019569"/>
              <a:gd name="connsiteY3" fmla="*/ 1992688 h 1992688"/>
              <a:gd name="connsiteX4" fmla="*/ 0 w 4019569"/>
              <a:gd name="connsiteY4" fmla="*/ 0 h 1992688"/>
              <a:gd name="connsiteX0" fmla="*/ 0 w 4019569"/>
              <a:gd name="connsiteY0" fmla="*/ 0 h 1992688"/>
              <a:gd name="connsiteX1" fmla="*/ 4019569 w 4019569"/>
              <a:gd name="connsiteY1" fmla="*/ 0 h 1992688"/>
              <a:gd name="connsiteX2" fmla="*/ 4019569 w 4019569"/>
              <a:gd name="connsiteY2" fmla="*/ 1992688 h 1992688"/>
              <a:gd name="connsiteX3" fmla="*/ 0 w 4019569"/>
              <a:gd name="connsiteY3" fmla="*/ 1992688 h 1992688"/>
              <a:gd name="connsiteX4" fmla="*/ 0 w 4019569"/>
              <a:gd name="connsiteY4" fmla="*/ 0 h 19926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19569" h="1992688">
                <a:moveTo>
                  <a:pt x="0" y="0"/>
                </a:moveTo>
                <a:lnTo>
                  <a:pt x="4019569" y="0"/>
                </a:lnTo>
                <a:lnTo>
                  <a:pt x="4019569" y="1992688"/>
                </a:lnTo>
                <a:lnTo>
                  <a:pt x="0" y="1992688"/>
                </a:lnTo>
                <a:lnTo>
                  <a:pt x="0" y="0"/>
                </a:lnTo>
                <a:close/>
              </a:path>
            </a:pathLst>
          </a:custGeom>
          <a:noFill/>
        </p:spPr>
        <p:txBody>
          <a:bodyPr wrap="square" rtlCol="0">
            <a:spAutoFit/>
          </a:bodyPr>
          <a:lstStyle/>
          <a:p>
            <a:r>
              <a:rPr lang="en-GB" sz="2000" dirty="0"/>
              <a:t>However it is difficult to </a:t>
            </a:r>
            <a:r>
              <a:rPr lang="en-GB" sz="2000" b="1" dirty="0">
                <a:solidFill>
                  <a:schemeClr val="accent6">
                    <a:lumMod val="75000"/>
                  </a:schemeClr>
                </a:solidFill>
              </a:rPr>
              <a:t>model</a:t>
            </a:r>
            <a:r>
              <a:rPr lang="en-GB" sz="2000" dirty="0"/>
              <a:t> such </a:t>
            </a:r>
            <a:r>
              <a:rPr lang="en-GB" sz="2000" b="1" dirty="0">
                <a:solidFill>
                  <a:schemeClr val="accent6">
                    <a:lumMod val="75000"/>
                  </a:schemeClr>
                </a:solidFill>
              </a:rPr>
              <a:t>complex systems</a:t>
            </a:r>
            <a:r>
              <a:rPr lang="en-GB" sz="2000" dirty="0">
                <a:solidFill>
                  <a:schemeClr val="accent6">
                    <a:lumMod val="75000"/>
                  </a:schemeClr>
                </a:solidFill>
              </a:rPr>
              <a:t> </a:t>
            </a:r>
            <a:r>
              <a:rPr lang="en-GB" sz="2000" dirty="0"/>
              <a:t>as global climate change. There are also uncertainties caused by the </a:t>
            </a:r>
            <a:r>
              <a:rPr lang="en-GB" sz="2000" b="1" dirty="0">
                <a:solidFill>
                  <a:schemeClr val="accent6">
                    <a:lumMod val="75000"/>
                  </a:schemeClr>
                </a:solidFill>
              </a:rPr>
              <a:t>location where these measurements are taken </a:t>
            </a:r>
            <a:r>
              <a:rPr lang="en-GB" sz="2000" dirty="0"/>
              <a:t>and questions over the </a:t>
            </a:r>
            <a:r>
              <a:rPr lang="en-GB" sz="2000" b="1" dirty="0">
                <a:solidFill>
                  <a:schemeClr val="accent6">
                    <a:lumMod val="75000"/>
                  </a:schemeClr>
                </a:solidFill>
              </a:rPr>
              <a:t>accuracy of historical data</a:t>
            </a:r>
            <a:r>
              <a:rPr lang="en-GB" sz="2000" dirty="0"/>
              <a:t>.</a:t>
            </a:r>
            <a:endParaRPr lang="en-GB" sz="2000" b="1" dirty="0">
              <a:solidFill>
                <a:schemeClr val="accent6">
                  <a:lumMod val="75000"/>
                </a:schemeClr>
              </a:solidFill>
            </a:endParaRPr>
          </a:p>
        </p:txBody>
      </p:sp>
    </p:spTree>
    <p:extLst>
      <p:ext uri="{BB962C8B-B14F-4D97-AF65-F5344CB8AC3E}">
        <p14:creationId xmlns:p14="http://schemas.microsoft.com/office/powerpoint/2010/main" val="7572796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67544" y="35655"/>
            <a:ext cx="8676456" cy="657041"/>
          </a:xfrm>
        </p:spPr>
        <p:txBody>
          <a:bodyPr>
            <a:noAutofit/>
          </a:bodyPr>
          <a:lstStyle/>
          <a:p>
            <a:pPr marL="342900" lvl="1" algn="r"/>
            <a:r>
              <a:rPr lang="en-US" sz="2400" dirty="0">
                <a:solidFill>
                  <a:schemeClr val="accent6"/>
                </a:solidFill>
              </a:rPr>
              <a:t>The proportions of different gases in the atmosphere </a:t>
            </a:r>
          </a:p>
        </p:txBody>
      </p:sp>
      <p:sp>
        <p:nvSpPr>
          <p:cNvPr id="3" name="TextBox 2"/>
          <p:cNvSpPr txBox="1"/>
          <p:nvPr/>
        </p:nvSpPr>
        <p:spPr>
          <a:xfrm>
            <a:off x="179512" y="764704"/>
            <a:ext cx="8568952" cy="1938992"/>
          </a:xfrm>
          <a:prstGeom prst="rect">
            <a:avLst/>
          </a:prstGeom>
          <a:noFill/>
        </p:spPr>
        <p:txBody>
          <a:bodyPr wrap="square" rtlCol="0">
            <a:spAutoFit/>
          </a:bodyPr>
          <a:lstStyle/>
          <a:p>
            <a:r>
              <a:rPr lang="en-GB" sz="2000" dirty="0"/>
              <a:t>For </a:t>
            </a:r>
            <a:r>
              <a:rPr lang="en-GB" sz="2000" b="1" dirty="0"/>
              <a:t>200 million years</a:t>
            </a:r>
            <a:r>
              <a:rPr lang="en-GB" sz="2000" dirty="0"/>
              <a:t>, the proportions of different gases in the atmosphere have been much the same as they are today:</a:t>
            </a:r>
          </a:p>
          <a:p>
            <a:pPr marL="285750" indent="-285750">
              <a:buFont typeface="Arial" panose="020B0604020202020204" pitchFamily="34" charset="0"/>
              <a:buChar char="•"/>
            </a:pPr>
            <a:r>
              <a:rPr lang="en-GB" sz="2000" dirty="0"/>
              <a:t>about four-fifths (approximately </a:t>
            </a:r>
            <a:r>
              <a:rPr lang="en-GB" sz="2000" b="1" dirty="0"/>
              <a:t>80%</a:t>
            </a:r>
            <a:r>
              <a:rPr lang="en-GB" sz="2000" dirty="0"/>
              <a:t>) </a:t>
            </a:r>
            <a:r>
              <a:rPr lang="en-GB" sz="2000" b="1" dirty="0"/>
              <a:t>nitrogen</a:t>
            </a:r>
          </a:p>
          <a:p>
            <a:pPr marL="285750" indent="-285750">
              <a:buFont typeface="Arial" panose="020B0604020202020204" pitchFamily="34" charset="0"/>
              <a:buChar char="•"/>
            </a:pPr>
            <a:r>
              <a:rPr lang="en-GB" sz="2000" dirty="0"/>
              <a:t>about one-fifth (approximately </a:t>
            </a:r>
            <a:r>
              <a:rPr lang="en-GB" sz="2000" b="1" dirty="0"/>
              <a:t>20%</a:t>
            </a:r>
            <a:r>
              <a:rPr lang="en-GB" sz="2000" dirty="0"/>
              <a:t>) </a:t>
            </a:r>
            <a:r>
              <a:rPr lang="en-GB" sz="2000" b="1" dirty="0"/>
              <a:t>oxygen</a:t>
            </a:r>
          </a:p>
          <a:p>
            <a:pPr marL="285750" indent="-285750">
              <a:buFont typeface="Arial" panose="020B0604020202020204" pitchFamily="34" charset="0"/>
              <a:buChar char="•"/>
            </a:pPr>
            <a:r>
              <a:rPr lang="en-GB" sz="2000" dirty="0"/>
              <a:t>small proportions of various other gases, including carbon dioxide, water vapour and noble gases.</a:t>
            </a:r>
          </a:p>
        </p:txBody>
      </p:sp>
      <p:grpSp>
        <p:nvGrpSpPr>
          <p:cNvPr id="13" name="Group 12"/>
          <p:cNvGrpSpPr/>
          <p:nvPr/>
        </p:nvGrpSpPr>
        <p:grpSpPr>
          <a:xfrm>
            <a:off x="1907704" y="2677428"/>
            <a:ext cx="4937760" cy="5055870"/>
            <a:chOff x="0" y="0"/>
            <a:chExt cx="4937760" cy="5055870"/>
          </a:xfrm>
        </p:grpSpPr>
        <p:sp>
          <p:nvSpPr>
            <p:cNvPr id="14" name="Text Box 2"/>
            <p:cNvSpPr txBox="1">
              <a:spLocks noChangeArrowheads="1"/>
            </p:cNvSpPr>
            <p:nvPr/>
          </p:nvSpPr>
          <p:spPr bwMode="auto">
            <a:xfrm>
              <a:off x="1389798" y="164735"/>
              <a:ext cx="3212787" cy="968278"/>
            </a:xfrm>
            <a:prstGeom prst="rect">
              <a:avLst/>
            </a:prstGeom>
            <a:solidFill>
              <a:srgbClr val="FFFFFF"/>
            </a:solidFill>
            <a:ln w="9525">
              <a:noFill/>
              <a:miter lim="800000"/>
              <a:headEnd/>
              <a:tailEnd/>
            </a:ln>
          </p:spPr>
          <p:txBody>
            <a:bodyPr rot="0" vert="horz" wrap="square" lIns="91440" tIns="45720" rIns="91440" bIns="45720" anchor="t" anchorCtr="0">
              <a:spAutoFit/>
            </a:bodyPr>
            <a:lstStyle/>
            <a:p>
              <a:pPr>
                <a:lnSpc>
                  <a:spcPct val="107000"/>
                </a:lnSpc>
                <a:spcAft>
                  <a:spcPts val="0"/>
                </a:spcAft>
              </a:pPr>
              <a:r>
                <a:rPr lang="en-GB" dirty="0">
                  <a:effectLst/>
                  <a:latin typeface="Calibri" panose="020F0502020204030204" pitchFamily="34" charset="0"/>
                  <a:ea typeface="Calibri" panose="020F0502020204030204" pitchFamily="34" charset="0"/>
                  <a:cs typeface="Times New Roman" panose="02020603050405020304" pitchFamily="18" charset="0"/>
                </a:rPr>
                <a:t>80% N</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dirty="0">
                  <a:effectLst/>
                  <a:latin typeface="Calibri" panose="020F0502020204030204" pitchFamily="34" charset="0"/>
                  <a:ea typeface="Calibri" panose="020F0502020204030204" pitchFamily="34" charset="0"/>
                  <a:cs typeface="Times New Roman" panose="02020603050405020304" pitchFamily="18" charset="0"/>
                </a:rPr>
                <a:t>20% O</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GB" dirty="0">
                  <a:effectLst/>
                  <a:latin typeface="Calibri" panose="020F0502020204030204" pitchFamily="34" charset="0"/>
                  <a:ea typeface="Calibri" panose="020F0502020204030204" pitchFamily="34" charset="0"/>
                  <a:cs typeface="Times New Roman" panose="02020603050405020304" pitchFamily="18" charset="0"/>
                </a:rPr>
                <a:t>&lt;1% CO</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dirty="0">
                  <a:effectLst/>
                  <a:latin typeface="Calibri" panose="020F0502020204030204" pitchFamily="34" charset="0"/>
                  <a:ea typeface="Calibri" panose="020F0502020204030204" pitchFamily="34" charset="0"/>
                  <a:cs typeface="Times New Roman" panose="02020603050405020304" pitchFamily="18" charset="0"/>
                </a:rPr>
                <a:t>, H</a:t>
              </a:r>
              <a:r>
                <a:rPr lang="en-GB"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GB" dirty="0">
                  <a:effectLst/>
                  <a:latin typeface="Calibri" panose="020F0502020204030204" pitchFamily="34" charset="0"/>
                  <a:ea typeface="Calibri" panose="020F0502020204030204" pitchFamily="34" charset="0"/>
                  <a:cs typeface="Times New Roman" panose="02020603050405020304" pitchFamily="18" charset="0"/>
                </a:rPr>
                <a:t>O + Noble Gases</a:t>
              </a:r>
            </a:p>
          </p:txBody>
        </p:sp>
        <p:sp>
          <p:nvSpPr>
            <p:cNvPr id="15" name="Flowchart: Connector 14"/>
            <p:cNvSpPr/>
            <p:nvPr/>
          </p:nvSpPr>
          <p:spPr>
            <a:xfrm>
              <a:off x="970059" y="1073426"/>
              <a:ext cx="2997642" cy="2894275"/>
            </a:xfrm>
            <a:prstGeom prst="flowChartConnector">
              <a:avLst/>
            </a:prstGeom>
            <a:noFill/>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sp>
          <p:nvSpPr>
            <p:cNvPr id="16" name="Flowchart: Connector 15"/>
            <p:cNvSpPr/>
            <p:nvPr/>
          </p:nvSpPr>
          <p:spPr>
            <a:xfrm>
              <a:off x="0" y="0"/>
              <a:ext cx="4937760" cy="5055870"/>
            </a:xfrm>
            <a:prstGeom prst="flowChartConnector">
              <a:avLst/>
            </a:prstGeom>
            <a:noFill/>
            <a:ln w="12700" cap="flat" cmpd="sng" algn="ctr">
              <a:solidFill>
                <a:schemeClr val="tx1"/>
              </a:solidFill>
              <a:prstDash val="lgDash"/>
              <a:miter lim="800000"/>
            </a:ln>
            <a:effectLst/>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GB"/>
            </a:p>
          </p:txBody>
        </p:sp>
        <p:pic>
          <p:nvPicPr>
            <p:cNvPr id="17" name="irc_mi" descr="Image result for earth">
              <a:hlinkClick r:id="rId3"/>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7767" y="1089328"/>
              <a:ext cx="2917825" cy="2879090"/>
            </a:xfrm>
            <a:prstGeom prst="rect">
              <a:avLst/>
            </a:prstGeom>
            <a:noFill/>
            <a:ln>
              <a:noFill/>
            </a:ln>
          </p:spPr>
        </p:pic>
      </p:grpSp>
      <p:sp>
        <p:nvSpPr>
          <p:cNvPr id="12" name="TextBox 11"/>
          <p:cNvSpPr txBox="1"/>
          <p:nvPr/>
        </p:nvSpPr>
        <p:spPr>
          <a:xfrm>
            <a:off x="6456422" y="2550525"/>
            <a:ext cx="2618045" cy="1200329"/>
          </a:xfrm>
          <a:custGeom>
            <a:avLst/>
            <a:gdLst>
              <a:gd name="connsiteX0" fmla="*/ 0 w 2592288"/>
              <a:gd name="connsiteY0" fmla="*/ 0 h 1200329"/>
              <a:gd name="connsiteX1" fmla="*/ 2592288 w 2592288"/>
              <a:gd name="connsiteY1" fmla="*/ 0 h 1200329"/>
              <a:gd name="connsiteX2" fmla="*/ 2592288 w 2592288"/>
              <a:gd name="connsiteY2" fmla="*/ 1200329 h 1200329"/>
              <a:gd name="connsiteX3" fmla="*/ 0 w 2592288"/>
              <a:gd name="connsiteY3" fmla="*/ 1200329 h 1200329"/>
              <a:gd name="connsiteX4" fmla="*/ 0 w 2592288"/>
              <a:gd name="connsiteY4" fmla="*/ 0 h 1200329"/>
              <a:gd name="connsiteX0" fmla="*/ 25758 w 2618046"/>
              <a:gd name="connsiteY0" fmla="*/ 0 h 1522301"/>
              <a:gd name="connsiteX1" fmla="*/ 2618046 w 2618046"/>
              <a:gd name="connsiteY1" fmla="*/ 0 h 1522301"/>
              <a:gd name="connsiteX2" fmla="*/ 2618046 w 2618046"/>
              <a:gd name="connsiteY2" fmla="*/ 1200329 h 1522301"/>
              <a:gd name="connsiteX3" fmla="*/ 0 w 2618046"/>
              <a:gd name="connsiteY3" fmla="*/ 1522301 h 1522301"/>
              <a:gd name="connsiteX4" fmla="*/ 25758 w 2618046"/>
              <a:gd name="connsiteY4" fmla="*/ 0 h 1522301"/>
              <a:gd name="connsiteX0" fmla="*/ 25758 w 2618046"/>
              <a:gd name="connsiteY0" fmla="*/ 0 h 1522301"/>
              <a:gd name="connsiteX1" fmla="*/ 2618046 w 2618046"/>
              <a:gd name="connsiteY1" fmla="*/ 0 h 1522301"/>
              <a:gd name="connsiteX2" fmla="*/ 2605167 w 2618046"/>
              <a:gd name="connsiteY2" fmla="*/ 1522301 h 1522301"/>
              <a:gd name="connsiteX3" fmla="*/ 0 w 2618046"/>
              <a:gd name="connsiteY3" fmla="*/ 1522301 h 1522301"/>
              <a:gd name="connsiteX4" fmla="*/ 25758 w 2618046"/>
              <a:gd name="connsiteY4" fmla="*/ 0 h 1522301"/>
              <a:gd name="connsiteX0" fmla="*/ 0 w 2630924"/>
              <a:gd name="connsiteY0" fmla="*/ 0 h 1522301"/>
              <a:gd name="connsiteX1" fmla="*/ 2630924 w 2630924"/>
              <a:gd name="connsiteY1" fmla="*/ 0 h 1522301"/>
              <a:gd name="connsiteX2" fmla="*/ 2618045 w 2630924"/>
              <a:gd name="connsiteY2" fmla="*/ 1522301 h 1522301"/>
              <a:gd name="connsiteX3" fmla="*/ 12878 w 2630924"/>
              <a:gd name="connsiteY3" fmla="*/ 1522301 h 1522301"/>
              <a:gd name="connsiteX4" fmla="*/ 0 w 2630924"/>
              <a:gd name="connsiteY4" fmla="*/ 0 h 1522301"/>
              <a:gd name="connsiteX0" fmla="*/ 0 w 2630924"/>
              <a:gd name="connsiteY0" fmla="*/ 386366 h 1522301"/>
              <a:gd name="connsiteX1" fmla="*/ 2630924 w 2630924"/>
              <a:gd name="connsiteY1" fmla="*/ 0 h 1522301"/>
              <a:gd name="connsiteX2" fmla="*/ 2618045 w 2630924"/>
              <a:gd name="connsiteY2" fmla="*/ 1522301 h 1522301"/>
              <a:gd name="connsiteX3" fmla="*/ 12878 w 2630924"/>
              <a:gd name="connsiteY3" fmla="*/ 1522301 h 1522301"/>
              <a:gd name="connsiteX4" fmla="*/ 0 w 2630924"/>
              <a:gd name="connsiteY4" fmla="*/ 386366 h 1522301"/>
              <a:gd name="connsiteX0" fmla="*/ 0 w 2618045"/>
              <a:gd name="connsiteY0" fmla="*/ 25757 h 1161692"/>
              <a:gd name="connsiteX1" fmla="*/ 2618045 w 2618045"/>
              <a:gd name="connsiteY1" fmla="*/ 0 h 1161692"/>
              <a:gd name="connsiteX2" fmla="*/ 2618045 w 2618045"/>
              <a:gd name="connsiteY2" fmla="*/ 1161692 h 1161692"/>
              <a:gd name="connsiteX3" fmla="*/ 12878 w 2618045"/>
              <a:gd name="connsiteY3" fmla="*/ 1161692 h 1161692"/>
              <a:gd name="connsiteX4" fmla="*/ 0 w 2618045"/>
              <a:gd name="connsiteY4" fmla="*/ 25757 h 1161692"/>
              <a:gd name="connsiteX0" fmla="*/ 0 w 2618045"/>
              <a:gd name="connsiteY0" fmla="*/ 0 h 1135935"/>
              <a:gd name="connsiteX1" fmla="*/ 2618045 w 2618045"/>
              <a:gd name="connsiteY1" fmla="*/ 0 h 1135935"/>
              <a:gd name="connsiteX2" fmla="*/ 2618045 w 2618045"/>
              <a:gd name="connsiteY2" fmla="*/ 1135935 h 1135935"/>
              <a:gd name="connsiteX3" fmla="*/ 12878 w 2618045"/>
              <a:gd name="connsiteY3" fmla="*/ 1135935 h 1135935"/>
              <a:gd name="connsiteX4" fmla="*/ 0 w 2618045"/>
              <a:gd name="connsiteY4" fmla="*/ 0 h 113593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8045" h="1135935">
                <a:moveTo>
                  <a:pt x="0" y="0"/>
                </a:moveTo>
                <a:lnTo>
                  <a:pt x="2618045" y="0"/>
                </a:lnTo>
                <a:lnTo>
                  <a:pt x="2618045" y="1135935"/>
                </a:lnTo>
                <a:lnTo>
                  <a:pt x="12878" y="1135935"/>
                </a:lnTo>
                <a:lnTo>
                  <a:pt x="0" y="0"/>
                </a:lnTo>
                <a:close/>
              </a:path>
            </a:pathLst>
          </a:custGeom>
          <a:solidFill>
            <a:schemeClr val="accent6"/>
          </a:solidFill>
          <a:ln w="28575">
            <a:solidFill>
              <a:schemeClr val="tx1"/>
            </a:solidFill>
          </a:ln>
        </p:spPr>
        <p:txBody>
          <a:bodyPr wrap="square" rtlCol="0">
            <a:spAutoFit/>
          </a:bodyPr>
          <a:lstStyle/>
          <a:p>
            <a:pPr algn="ctr"/>
            <a:r>
              <a:rPr lang="en-GB" sz="2400" b="1" dirty="0"/>
              <a:t>You must learn these percentages for the exam</a:t>
            </a:r>
          </a:p>
        </p:txBody>
      </p:sp>
    </p:spTree>
    <p:extLst>
      <p:ext uri="{BB962C8B-B14F-4D97-AF65-F5344CB8AC3E}">
        <p14:creationId xmlns:p14="http://schemas.microsoft.com/office/powerpoint/2010/main" val="187570950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5078313"/>
          </a:xfrm>
          <a:prstGeom prst="rect">
            <a:avLst/>
          </a:prstGeom>
          <a:noFill/>
        </p:spPr>
        <p:txBody>
          <a:bodyPr wrap="square" rtlCol="0">
            <a:spAutoFit/>
          </a:bodyPr>
          <a:lstStyle/>
          <a:p>
            <a:r>
              <a:rPr lang="en-GB" sz="7200" b="1" dirty="0">
                <a:latin typeface="+mj-lt"/>
                <a:ea typeface="Beirut" charset="-78"/>
                <a:cs typeface="Beirut" charset="-78"/>
              </a:rPr>
              <a:t>QuestionIT!</a:t>
            </a:r>
          </a:p>
          <a:p>
            <a:endParaRPr lang="en-GB" dirty="0"/>
          </a:p>
          <a:p>
            <a:endParaRPr lang="en-GB" dirty="0"/>
          </a:p>
          <a:p>
            <a:endParaRPr lang="en-GB" dirty="0"/>
          </a:p>
          <a:p>
            <a:r>
              <a:rPr lang="en-US" sz="2800" b="1" dirty="0">
                <a:solidFill>
                  <a:schemeClr val="tx1">
                    <a:lumMod val="50000"/>
                    <a:lumOff val="50000"/>
                  </a:schemeClr>
                </a:solidFill>
              </a:rPr>
              <a:t>Earth and atmospheric science</a:t>
            </a:r>
          </a:p>
          <a:p>
            <a:r>
              <a:rPr lang="en-US" sz="2800" b="1" dirty="0">
                <a:solidFill>
                  <a:schemeClr val="tx1">
                    <a:lumMod val="50000"/>
                    <a:lumOff val="50000"/>
                  </a:schemeClr>
                </a:solidFill>
              </a:rPr>
              <a:t>Part 2</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greenhouse effect and climate change</a:t>
            </a:r>
          </a:p>
          <a:p>
            <a:pPr marL="685800" lvl="1" indent="-342900">
              <a:buFont typeface="Arial" charset="0"/>
              <a:buChar char="•"/>
            </a:pPr>
            <a:r>
              <a:rPr lang="en-US" sz="2400" dirty="0">
                <a:solidFill>
                  <a:schemeClr val="tx1">
                    <a:lumMod val="50000"/>
                    <a:lumOff val="50000"/>
                  </a:schemeClr>
                </a:solidFill>
              </a:rPr>
              <a:t>Composition of today’s atmosphere</a:t>
            </a:r>
          </a:p>
          <a:p>
            <a:endParaRPr lang="en-GB" dirty="0"/>
          </a:p>
        </p:txBody>
      </p:sp>
      <p:pic>
        <p:nvPicPr>
          <p:cNvPr id="5" name="Picture 4"/>
          <p:cNvPicPr>
            <a:picLocks noChangeAspect="1"/>
          </p:cNvPicPr>
          <p:nvPr/>
        </p:nvPicPr>
        <p:blipFill>
          <a:blip r:embed="rId3">
            <a:clrChange>
              <a:clrFrom>
                <a:srgbClr val="FFFFFF"/>
              </a:clrFrom>
              <a:clrTo>
                <a:srgbClr val="FFFFFF">
                  <a:alpha val="0"/>
                </a:srgbClr>
              </a:clrTo>
            </a:clrChange>
          </a:blip>
          <a:stretch>
            <a:fillRect/>
          </a:stretch>
        </p:blipFill>
        <p:spPr>
          <a:xfrm>
            <a:off x="4211960" y="886544"/>
            <a:ext cx="4914900" cy="5638800"/>
          </a:xfrm>
          <a:prstGeom prst="rect">
            <a:avLst/>
          </a:prstGeom>
        </p:spPr>
      </p:pic>
    </p:spTree>
    <p:extLst>
      <p:ext uri="{BB962C8B-B14F-4D97-AF65-F5344CB8AC3E}">
        <p14:creationId xmlns:p14="http://schemas.microsoft.com/office/powerpoint/2010/main" val="6730773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Earth and atmosphere part 2</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708981"/>
          </a:xfrm>
          <a:prstGeom prst="rect">
            <a:avLst/>
          </a:prstGeom>
          <a:noFill/>
        </p:spPr>
        <p:txBody>
          <a:bodyPr wrap="square" rtlCol="0">
            <a:spAutoFit/>
          </a:bodyPr>
          <a:lstStyle/>
          <a:p>
            <a:pPr marL="457200" indent="-457200">
              <a:buFont typeface="+mj-lt"/>
              <a:buAutoNum type="arabicPeriod"/>
            </a:pPr>
            <a:r>
              <a:rPr lang="en-GB" sz="2400" dirty="0"/>
              <a:t>Name 3 greenhouse gases.</a:t>
            </a:r>
          </a:p>
          <a:p>
            <a:pPr marL="457200" indent="-457200">
              <a:buFont typeface="+mj-lt"/>
              <a:buAutoNum type="arabicPeriod"/>
            </a:pPr>
            <a:endParaRPr lang="en-GB" sz="2400" dirty="0"/>
          </a:p>
          <a:p>
            <a:pPr marL="457200" indent="-457200">
              <a:buFont typeface="+mj-lt"/>
              <a:buAutoNum type="arabicPeriod"/>
            </a:pPr>
            <a:r>
              <a:rPr lang="en-GB" sz="2400" dirty="0"/>
              <a:t>What is the link between greenhouse gases and the temperature of the Earth?</a:t>
            </a:r>
          </a:p>
          <a:p>
            <a:pPr marL="457200" indent="-457200">
              <a:buFont typeface="+mj-lt"/>
              <a:buAutoNum type="arabicPeriod"/>
            </a:pPr>
            <a:endParaRPr lang="en-GB" sz="2400" dirty="0"/>
          </a:p>
          <a:p>
            <a:pPr marL="457200" indent="-457200">
              <a:buFont typeface="+mj-lt"/>
              <a:buAutoNum type="arabicPeriod"/>
            </a:pPr>
            <a:r>
              <a:rPr lang="en-GB" sz="2400" dirty="0"/>
              <a:t>Name human activities which increase the amount of carbon dioxide in the atmosphere.</a:t>
            </a:r>
          </a:p>
          <a:p>
            <a:pPr marL="457200" indent="-457200">
              <a:buFont typeface="+mj-lt"/>
              <a:buAutoNum type="arabicPeriod"/>
            </a:pPr>
            <a:endParaRPr lang="en-GB" sz="2400" dirty="0"/>
          </a:p>
          <a:p>
            <a:pPr marL="457200" indent="-457200">
              <a:buFont typeface="+mj-lt"/>
              <a:buAutoNum type="arabicPeriod"/>
            </a:pPr>
            <a:r>
              <a:rPr lang="en-GB" sz="2400" dirty="0"/>
              <a:t>Name human activities that increase the amount of methane in the atmosphere.</a:t>
            </a:r>
          </a:p>
          <a:p>
            <a:pPr marL="457200" indent="-457200">
              <a:buFont typeface="+mj-lt"/>
              <a:buAutoNum type="arabicPeriod"/>
            </a:pPr>
            <a:endParaRPr lang="en-GB" sz="2400" dirty="0"/>
          </a:p>
          <a:p>
            <a:pPr>
              <a:lnSpc>
                <a:spcPct val="150000"/>
              </a:lnSpc>
            </a:pPr>
            <a:r>
              <a:rPr lang="en-GB" sz="2400" dirty="0"/>
              <a:t>	</a:t>
            </a:r>
            <a:endParaRPr lang="en-GB" sz="1600" dirty="0"/>
          </a:p>
        </p:txBody>
      </p:sp>
    </p:spTree>
    <p:extLst>
      <p:ext uri="{BB962C8B-B14F-4D97-AF65-F5344CB8AC3E}">
        <p14:creationId xmlns:p14="http://schemas.microsoft.com/office/powerpoint/2010/main" val="1748523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Earth and atmosphere part 2</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3600986"/>
          </a:xfrm>
          <a:prstGeom prst="rect">
            <a:avLst/>
          </a:prstGeom>
          <a:noFill/>
        </p:spPr>
        <p:txBody>
          <a:bodyPr wrap="square" rtlCol="0">
            <a:spAutoFit/>
          </a:bodyPr>
          <a:lstStyle/>
          <a:p>
            <a:endParaRPr lang="en-GB" sz="2400" dirty="0"/>
          </a:p>
          <a:p>
            <a:pPr marL="457200" indent="-457200">
              <a:buFont typeface="+mj-lt"/>
              <a:buAutoNum type="arabicPeriod" startAt="5"/>
            </a:pPr>
            <a:r>
              <a:rPr lang="en-GB" sz="2400" dirty="0"/>
              <a:t>What do many scientists believe about human activities and the temperature of the Earth’s atmosphere?</a:t>
            </a:r>
          </a:p>
          <a:p>
            <a:pPr marL="457200" indent="-457200">
              <a:buFont typeface="+mj-lt"/>
              <a:buAutoNum type="arabicPeriod" startAt="5"/>
            </a:pPr>
            <a:endParaRPr lang="en-GB" sz="2400" dirty="0"/>
          </a:p>
          <a:p>
            <a:pPr marL="457200" indent="-457200">
              <a:buFont typeface="+mj-lt"/>
              <a:buAutoNum type="arabicPeriod" startAt="5"/>
            </a:pPr>
            <a:r>
              <a:rPr lang="en-GB" sz="2400" dirty="0"/>
              <a:t>Why are there issues surrounding modelling human impact on climate change?</a:t>
            </a:r>
          </a:p>
          <a:p>
            <a:pPr marL="457200" indent="-457200">
              <a:buFont typeface="+mj-lt"/>
              <a:buAutoNum type="arabicPeriod" startAt="5"/>
            </a:pPr>
            <a:endParaRPr lang="en-GB" sz="2400" dirty="0"/>
          </a:p>
          <a:p>
            <a:pPr marL="457200" indent="-457200">
              <a:buFont typeface="+mj-lt"/>
              <a:buAutoNum type="arabicPeriod" startAt="5"/>
            </a:pPr>
            <a:r>
              <a:rPr lang="en-GB" sz="2400" dirty="0"/>
              <a:t>Name two gases and their compositions in today’s atmosphere.</a:t>
            </a:r>
          </a:p>
          <a:p>
            <a:pPr>
              <a:lnSpc>
                <a:spcPct val="150000"/>
              </a:lnSpc>
            </a:pPr>
            <a:r>
              <a:rPr lang="en-GB" sz="2400" dirty="0"/>
              <a:t>	</a:t>
            </a:r>
            <a:endParaRPr lang="en-GB" sz="1600" dirty="0"/>
          </a:p>
        </p:txBody>
      </p:sp>
    </p:spTree>
    <p:extLst>
      <p:ext uri="{BB962C8B-B14F-4D97-AF65-F5344CB8AC3E}">
        <p14:creationId xmlns:p14="http://schemas.microsoft.com/office/powerpoint/2010/main" val="30949972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7" name="TextBox 6"/>
          <p:cNvSpPr txBox="1"/>
          <p:nvPr/>
        </p:nvSpPr>
        <p:spPr>
          <a:xfrm>
            <a:off x="0" y="980728"/>
            <a:ext cx="4716016" cy="4801314"/>
          </a:xfrm>
          <a:prstGeom prst="rect">
            <a:avLst/>
          </a:prstGeom>
          <a:noFill/>
        </p:spPr>
        <p:txBody>
          <a:bodyPr wrap="square" rtlCol="0">
            <a:spAutoFit/>
          </a:bodyPr>
          <a:lstStyle/>
          <a:p>
            <a:r>
              <a:rPr lang="en-GB" sz="7200" b="1" dirty="0">
                <a:latin typeface="+mj-lt"/>
                <a:ea typeface="Beirut" charset="-78"/>
                <a:cs typeface="Beirut" charset="-78"/>
              </a:rPr>
              <a:t>AnswerIT!</a:t>
            </a:r>
          </a:p>
          <a:p>
            <a:endParaRPr lang="en-GB" dirty="0"/>
          </a:p>
          <a:p>
            <a:endParaRPr lang="en-GB" dirty="0"/>
          </a:p>
          <a:p>
            <a:endParaRPr lang="en-GB" dirty="0"/>
          </a:p>
          <a:p>
            <a:r>
              <a:rPr lang="en-US" sz="2800" b="1" dirty="0">
                <a:solidFill>
                  <a:schemeClr val="tx1">
                    <a:lumMod val="50000"/>
                    <a:lumOff val="50000"/>
                  </a:schemeClr>
                </a:solidFill>
              </a:rPr>
              <a:t>Earth and atmospheric science</a:t>
            </a:r>
          </a:p>
          <a:p>
            <a:r>
              <a:rPr lang="en-US" sz="2800" b="1" dirty="0">
                <a:solidFill>
                  <a:schemeClr val="tx1">
                    <a:lumMod val="50000"/>
                    <a:lumOff val="50000"/>
                  </a:schemeClr>
                </a:solidFill>
              </a:rPr>
              <a:t>Part 2</a:t>
            </a:r>
          </a:p>
          <a:p>
            <a:endParaRPr lang="en-US" sz="2800" b="1" dirty="0">
              <a:solidFill>
                <a:schemeClr val="tx1">
                  <a:lumMod val="50000"/>
                  <a:lumOff val="50000"/>
                </a:schemeClr>
              </a:solidFill>
            </a:endParaRPr>
          </a:p>
          <a:p>
            <a:pPr marL="685800" lvl="1" indent="-342900">
              <a:buFont typeface="Arial" charset="0"/>
              <a:buChar char="•"/>
            </a:pPr>
            <a:r>
              <a:rPr lang="en-US" sz="2400" dirty="0">
                <a:solidFill>
                  <a:schemeClr val="tx1">
                    <a:lumMod val="50000"/>
                    <a:lumOff val="50000"/>
                  </a:schemeClr>
                </a:solidFill>
              </a:rPr>
              <a:t>The greenhouse effect and climate change</a:t>
            </a:r>
          </a:p>
          <a:p>
            <a:pPr marL="685800" lvl="1" indent="-342900">
              <a:buFont typeface="Arial" charset="0"/>
              <a:buChar char="•"/>
            </a:pPr>
            <a:r>
              <a:rPr lang="en-US" sz="2400" dirty="0">
                <a:solidFill>
                  <a:schemeClr val="tx1">
                    <a:lumMod val="50000"/>
                    <a:lumOff val="50000"/>
                  </a:schemeClr>
                </a:solidFill>
              </a:rPr>
              <a:t>Composition of today’s atmosphere</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704918"/>
            <a:ext cx="4824536" cy="5257800"/>
          </a:xfrm>
          <a:prstGeom prst="rect">
            <a:avLst/>
          </a:prstGeom>
        </p:spPr>
      </p:pic>
    </p:spTree>
    <p:extLst>
      <p:ext uri="{BB962C8B-B14F-4D97-AF65-F5344CB8AC3E}">
        <p14:creationId xmlns:p14="http://schemas.microsoft.com/office/powerpoint/2010/main" val="14061524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Earth and atmosphere part 2</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5078313"/>
          </a:xfrm>
          <a:prstGeom prst="rect">
            <a:avLst/>
          </a:prstGeom>
          <a:noFill/>
        </p:spPr>
        <p:txBody>
          <a:bodyPr wrap="square" rtlCol="0">
            <a:spAutoFit/>
          </a:bodyPr>
          <a:lstStyle/>
          <a:p>
            <a:pPr marL="457200" indent="-457200">
              <a:buFont typeface="+mj-lt"/>
              <a:buAutoNum type="arabicPeriod"/>
            </a:pPr>
            <a:r>
              <a:rPr lang="en-GB" sz="2400" dirty="0"/>
              <a:t>Name 3 greenhouse gases.</a:t>
            </a:r>
          </a:p>
          <a:p>
            <a:pPr lvl="1"/>
            <a:r>
              <a:rPr lang="en-GB" sz="2400" dirty="0">
                <a:solidFill>
                  <a:srgbClr val="00B050"/>
                </a:solidFill>
              </a:rPr>
              <a:t>Water vapour, carbon dioxide, methane.</a:t>
            </a:r>
          </a:p>
          <a:p>
            <a:pPr marL="457200" indent="-457200">
              <a:buFont typeface="+mj-lt"/>
              <a:buAutoNum type="arabicPeriod"/>
            </a:pPr>
            <a:r>
              <a:rPr lang="en-GB" sz="2400" dirty="0"/>
              <a:t>What is the link between greenhouse gases and the temperature of the Earth?</a:t>
            </a:r>
          </a:p>
          <a:p>
            <a:pPr lvl="1"/>
            <a:r>
              <a:rPr lang="en-GB" sz="2400" dirty="0">
                <a:solidFill>
                  <a:srgbClr val="00B050"/>
                </a:solidFill>
              </a:rPr>
              <a:t>Greenhouse gases maintain temperatures on the Earth high enough to support life.</a:t>
            </a:r>
          </a:p>
          <a:p>
            <a:pPr marL="457200" indent="-457200">
              <a:buFont typeface="+mj-lt"/>
              <a:buAutoNum type="arabicPeriod"/>
            </a:pPr>
            <a:r>
              <a:rPr lang="en-GB" sz="2400" dirty="0"/>
              <a:t>Name human activities which increase the amount of carbon dioxide in the atmosphere.</a:t>
            </a:r>
          </a:p>
          <a:p>
            <a:pPr lvl="1"/>
            <a:r>
              <a:rPr lang="en-GB" sz="2400" dirty="0">
                <a:solidFill>
                  <a:srgbClr val="00B050"/>
                </a:solidFill>
              </a:rPr>
              <a:t>Burning/ combustion of fossil fuels, deforestation.</a:t>
            </a:r>
          </a:p>
          <a:p>
            <a:pPr marL="457200" indent="-457200">
              <a:buFont typeface="+mj-lt"/>
              <a:buAutoNum type="arabicPeriod"/>
            </a:pPr>
            <a:r>
              <a:rPr lang="en-GB" sz="2400" dirty="0"/>
              <a:t>Name human activities that increase the amount of methane in the atmosphere.</a:t>
            </a:r>
          </a:p>
          <a:p>
            <a:pPr lvl="1"/>
            <a:r>
              <a:rPr lang="en-GB" sz="2400" dirty="0">
                <a:solidFill>
                  <a:srgbClr val="00B050"/>
                </a:solidFill>
              </a:rPr>
              <a:t>Farming of livestock; landfill sites.</a:t>
            </a:r>
          </a:p>
          <a:p>
            <a:pPr>
              <a:lnSpc>
                <a:spcPct val="150000"/>
              </a:lnSpc>
            </a:pPr>
            <a:r>
              <a:rPr lang="en-GB" sz="2400" dirty="0"/>
              <a:t>	</a:t>
            </a:r>
            <a:endParaRPr lang="en-GB" sz="1600" dirty="0"/>
          </a:p>
        </p:txBody>
      </p:sp>
    </p:spTree>
    <p:extLst>
      <p:ext uri="{BB962C8B-B14F-4D97-AF65-F5344CB8AC3E}">
        <p14:creationId xmlns:p14="http://schemas.microsoft.com/office/powerpoint/2010/main" val="29962178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43608" y="0"/>
            <a:ext cx="8100392" cy="657041"/>
          </a:xfrm>
        </p:spPr>
        <p:txBody>
          <a:bodyPr>
            <a:noAutofit/>
          </a:bodyPr>
          <a:lstStyle/>
          <a:p>
            <a:pPr marL="342900" lvl="1" algn="r" defTabSz="342900" rtl="0">
              <a:spcBef>
                <a:spcPct val="20000"/>
              </a:spcBef>
            </a:pPr>
            <a:r>
              <a:rPr kumimoji="0" lang="en-US" sz="2200" b="1" i="0" u="none" strike="noStrike" kern="1200" cap="none" spc="0" normalizeH="0" baseline="0" noProof="0" dirty="0">
                <a:ln>
                  <a:noFill/>
                </a:ln>
                <a:solidFill>
                  <a:schemeClr val="accent6"/>
                </a:solidFill>
                <a:effectLst/>
                <a:uLnTx/>
                <a:uFillTx/>
                <a:latin typeface="Calibri"/>
                <a:ea typeface=""/>
                <a:cs typeface="News Gothic MT"/>
              </a:rPr>
              <a:t>Earth and atmosphere part 2</a:t>
            </a:r>
            <a:r>
              <a:rPr lang="en-US" sz="2200" b="1" kern="1200" dirty="0">
                <a:solidFill>
                  <a:schemeClr val="accent6"/>
                </a:solidFill>
                <a:latin typeface="Calibri"/>
                <a:ea typeface=""/>
                <a:cs typeface="News Gothic MT"/>
              </a:rPr>
              <a:t>– </a:t>
            </a:r>
            <a:r>
              <a:rPr lang="en-US" sz="2200" b="1" kern="1200" dirty="0" err="1">
                <a:solidFill>
                  <a:schemeClr val="tx1"/>
                </a:solidFill>
                <a:latin typeface="Calibri"/>
                <a:ea typeface=""/>
                <a:cs typeface="News Gothic MT"/>
              </a:rPr>
              <a:t>QuestionIT</a:t>
            </a:r>
            <a:endParaRPr kumimoji="0" lang="en-US" sz="2200" b="1" i="0" u="none" strike="noStrike" kern="1200" cap="none" spc="0" normalizeH="0" baseline="0" noProof="0" dirty="0">
              <a:ln>
                <a:noFill/>
              </a:ln>
              <a:solidFill>
                <a:schemeClr val="tx1"/>
              </a:solidFill>
              <a:effectLst/>
              <a:uLnTx/>
              <a:uFillTx/>
              <a:latin typeface="Calibri"/>
              <a:ea typeface=""/>
              <a:cs typeface="News Gothic MT"/>
            </a:endParaRPr>
          </a:p>
        </p:txBody>
      </p:sp>
      <p:sp>
        <p:nvSpPr>
          <p:cNvPr id="4" name="Rectangle 3"/>
          <p:cNvSpPr/>
          <p:nvPr/>
        </p:nvSpPr>
        <p:spPr>
          <a:xfrm>
            <a:off x="149087" y="802524"/>
            <a:ext cx="8915400" cy="5595731"/>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a:lstStyle/>
          <a:p>
            <a:pPr marL="342900" marR="0" lvl="0" indent="-342900" defTabSz="914400" eaLnBrk="1" fontAlgn="auto" latinLnBrk="0" hangingPunct="1">
              <a:lnSpc>
                <a:spcPct val="100000"/>
              </a:lnSpc>
              <a:spcBef>
                <a:spcPts val="0"/>
              </a:spcBef>
              <a:spcAft>
                <a:spcPts val="0"/>
              </a:spcAft>
              <a:buClrTx/>
              <a:buSzTx/>
              <a:buFont typeface="+mj-lt"/>
              <a:buNone/>
              <a:tabLst/>
              <a:defRPr/>
            </a:pPr>
            <a:endParaRPr lang="en-GB" sz="2000" dirty="0">
              <a:solidFill>
                <a:schemeClr val="tx1"/>
              </a:solidFill>
            </a:endParaRPr>
          </a:p>
        </p:txBody>
      </p:sp>
      <p:sp>
        <p:nvSpPr>
          <p:cNvPr id="6" name="TextBox 5"/>
          <p:cNvSpPr txBox="1"/>
          <p:nvPr/>
        </p:nvSpPr>
        <p:spPr>
          <a:xfrm>
            <a:off x="149087" y="697936"/>
            <a:ext cx="8915400" cy="4893647"/>
          </a:xfrm>
          <a:prstGeom prst="rect">
            <a:avLst/>
          </a:prstGeom>
          <a:noFill/>
        </p:spPr>
        <p:txBody>
          <a:bodyPr wrap="square" rtlCol="0">
            <a:spAutoFit/>
          </a:bodyPr>
          <a:lstStyle/>
          <a:p>
            <a:endParaRPr lang="en-GB" sz="2400" dirty="0"/>
          </a:p>
          <a:p>
            <a:pPr marL="457200" indent="-457200">
              <a:buFont typeface="+mj-lt"/>
              <a:buAutoNum type="arabicPeriod" startAt="5"/>
            </a:pPr>
            <a:r>
              <a:rPr lang="en-GB" sz="2400" dirty="0"/>
              <a:t>What do many scientists believe about human activities and the temperature of the Earth’s atmosphere?</a:t>
            </a:r>
          </a:p>
          <a:p>
            <a:pPr lvl="1"/>
            <a:r>
              <a:rPr lang="en-GB" sz="2400" dirty="0">
                <a:solidFill>
                  <a:srgbClr val="00B050"/>
                </a:solidFill>
              </a:rPr>
              <a:t>Human activities will cause the temperature of the Earth’s atmosphere to increase at the surface resulting in climate change.</a:t>
            </a:r>
          </a:p>
          <a:p>
            <a:pPr marL="457200" indent="-457200">
              <a:buFont typeface="+mj-lt"/>
              <a:buAutoNum type="arabicPeriod" startAt="5"/>
            </a:pPr>
            <a:r>
              <a:rPr lang="en-GB" sz="2400" dirty="0"/>
              <a:t>Why are there issues surrounding modelling human impact on climate change?</a:t>
            </a:r>
          </a:p>
          <a:p>
            <a:pPr marL="800100" lvl="1" indent="-342900">
              <a:buFont typeface="Arial" panose="020B0604020202020204" pitchFamily="34" charset="0"/>
              <a:buChar char="•"/>
            </a:pPr>
            <a:r>
              <a:rPr lang="en-GB" sz="2400" dirty="0">
                <a:solidFill>
                  <a:srgbClr val="00B050"/>
                </a:solidFill>
              </a:rPr>
              <a:t>It is difficult to model these changes</a:t>
            </a:r>
          </a:p>
          <a:p>
            <a:pPr marL="800100" lvl="1" indent="-342900">
              <a:buFont typeface="Arial" panose="020B0604020202020204" pitchFamily="34" charset="0"/>
              <a:buChar char="•"/>
            </a:pPr>
            <a:r>
              <a:rPr lang="en-GB" sz="2400" dirty="0">
                <a:solidFill>
                  <a:srgbClr val="00B050"/>
                </a:solidFill>
              </a:rPr>
              <a:t>There are uncertainties caused by the location where the measurements are taken.</a:t>
            </a:r>
          </a:p>
          <a:p>
            <a:pPr marL="800100" lvl="1" indent="-342900">
              <a:buFont typeface="Arial" panose="020B0604020202020204" pitchFamily="34" charset="0"/>
              <a:buChar char="•"/>
            </a:pPr>
            <a:r>
              <a:rPr lang="en-GB" sz="2400" dirty="0">
                <a:solidFill>
                  <a:srgbClr val="00B050"/>
                </a:solidFill>
              </a:rPr>
              <a:t>Questions regarding historical accuracy.</a:t>
            </a:r>
          </a:p>
          <a:p>
            <a:pPr marL="457200" indent="-457200">
              <a:buFont typeface="+mj-lt"/>
              <a:buAutoNum type="arabicPeriod" startAt="7"/>
            </a:pPr>
            <a:r>
              <a:rPr lang="en-GB" sz="2400" dirty="0"/>
              <a:t>Name two gases and their compositions in today’s atmosphere.</a:t>
            </a:r>
          </a:p>
          <a:p>
            <a:pPr lvl="1"/>
            <a:r>
              <a:rPr lang="en-GB" sz="2400" dirty="0">
                <a:solidFill>
                  <a:srgbClr val="00B050"/>
                </a:solidFill>
              </a:rPr>
              <a:t>Nitrogen (80%), Oxygen (20%)</a:t>
            </a:r>
          </a:p>
        </p:txBody>
      </p:sp>
    </p:spTree>
    <p:extLst>
      <p:ext uri="{BB962C8B-B14F-4D97-AF65-F5344CB8AC3E}">
        <p14:creationId xmlns:p14="http://schemas.microsoft.com/office/powerpoint/2010/main" val="3959695239"/>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3" id="{4489A17B-A778-43E8-8CAD-39AF0ABD1C3C}" vid="{5B90DF28-B678-4AF8-820C-D210C98786D7}"/>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PIXL Sci">
  <a:themeElements>
    <a:clrScheme name="Custom 1">
      <a:dk1>
        <a:sysClr val="windowText" lastClr="000000"/>
      </a:dk1>
      <a:lt1>
        <a:sysClr val="window" lastClr="FFFFFF"/>
      </a:lt1>
      <a:dk2>
        <a:srgbClr val="1F497D"/>
      </a:dk2>
      <a:lt2>
        <a:srgbClr val="EEECE1"/>
      </a:lt2>
      <a:accent1>
        <a:srgbClr val="4F81BD"/>
      </a:accent1>
      <a:accent2>
        <a:srgbClr val="FF9900"/>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IXL Sci" id="{2CFE4A30-D880-BA4E-B779-8E17F61ECAC9}" vid="{3D4DF9ED-AD7F-6943-859C-106C4E33968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17524</TotalTime>
  <Words>5767</Words>
  <Application>Microsoft Office PowerPoint</Application>
  <PresentationFormat>On-screen Show (4:3)</PresentationFormat>
  <Paragraphs>549</Paragraphs>
  <Slides>54</Slides>
  <Notes>26</Notes>
  <HiddenSlides>0</HiddenSlides>
  <MMClips>0</MMClips>
  <ScaleCrop>false</ScaleCrop>
  <HeadingPairs>
    <vt:vector size="6" baseType="variant">
      <vt:variant>
        <vt:lpstr>Fonts Used</vt:lpstr>
      </vt:variant>
      <vt:variant>
        <vt:i4>9</vt:i4>
      </vt:variant>
      <vt:variant>
        <vt:lpstr>Theme</vt:lpstr>
      </vt:variant>
      <vt:variant>
        <vt:i4>3</vt:i4>
      </vt:variant>
      <vt:variant>
        <vt:lpstr>Slide Titles</vt:lpstr>
      </vt:variant>
      <vt:variant>
        <vt:i4>54</vt:i4>
      </vt:variant>
    </vt:vector>
  </HeadingPairs>
  <TitlesOfParts>
    <vt:vector size="66" baseType="lpstr">
      <vt:lpstr>Arial</vt:lpstr>
      <vt:lpstr>Beirut</vt:lpstr>
      <vt:lpstr>Calibri</vt:lpstr>
      <vt:lpstr>Calibri Light</vt:lpstr>
      <vt:lpstr>Gill Sans</vt:lpstr>
      <vt:lpstr>Lato Medium</vt:lpstr>
      <vt:lpstr>News Gothic MT</vt:lpstr>
      <vt:lpstr>Times New Roman</vt:lpstr>
      <vt:lpstr>Wingdings</vt:lpstr>
      <vt:lpstr>1_Office Theme</vt:lpstr>
      <vt:lpstr>Custom Design</vt:lpstr>
      <vt:lpstr>PIXL Sci</vt:lpstr>
      <vt:lpstr>PowerPoint Presentation</vt:lpstr>
      <vt:lpstr>Overview   Fuels and Earth Sciences</vt:lpstr>
      <vt:lpstr>PowerPoint Presentation</vt:lpstr>
      <vt:lpstr>Crude oil and hydrocarbons</vt:lpstr>
      <vt:lpstr>Fractional distillation</vt:lpstr>
      <vt:lpstr>Fractional distillation</vt:lpstr>
      <vt:lpstr>Crude oil, hydrocarbons and alkanes</vt:lpstr>
      <vt:lpstr>PowerPoint Presentation</vt:lpstr>
      <vt:lpstr>Crude oil, hydrocarbons and alkanes– QuestionIT</vt:lpstr>
      <vt:lpstr>Crude oil, hydrocarbons and alkanes - QuestionIT</vt:lpstr>
      <vt:lpstr>Crude oil, hydrocarbons and alkanes QuestionIT</vt:lpstr>
      <vt:lpstr>PowerPoint Presentation</vt:lpstr>
      <vt:lpstr>Crude oil, hydrocarbons and alkanes– QuestionIT</vt:lpstr>
      <vt:lpstr>Crude oil, hydrocarbons and alkanes– QuestionIT</vt:lpstr>
      <vt:lpstr>Crude oil, hydrocarbons and alkanes - QuestionIT</vt:lpstr>
      <vt:lpstr>Crude oil, hydrocarbons and alkanes - QuestionIT</vt:lpstr>
      <vt:lpstr>PowerPoint Presentation</vt:lpstr>
      <vt:lpstr>Common atmospheric pollutants and their sources</vt:lpstr>
      <vt:lpstr>Common atmospheric pollutants and their sources</vt:lpstr>
      <vt:lpstr>Hydrogen versus petrol </vt:lpstr>
      <vt:lpstr>PowerPoint Presentation</vt:lpstr>
      <vt:lpstr>Common atmospheric pollutants and their sources - QuestionIT</vt:lpstr>
      <vt:lpstr>Common atmospheric pollutants and their sources - QuestionIT</vt:lpstr>
      <vt:lpstr>PowerPoint Presentation</vt:lpstr>
      <vt:lpstr>Common atmospheric pollutants and their sources - QuestionIT</vt:lpstr>
      <vt:lpstr>Common atmospheric pollutants and their sources - QuestionIT</vt:lpstr>
      <vt:lpstr>PowerPoint Presentation</vt:lpstr>
      <vt:lpstr>Cracking and alkenes</vt:lpstr>
      <vt:lpstr>Cracking and alkenes</vt:lpstr>
      <vt:lpstr>PowerPoint Presentation</vt:lpstr>
      <vt:lpstr>Cracking- QuestionIT</vt:lpstr>
      <vt:lpstr>PowerPoint Presentation</vt:lpstr>
      <vt:lpstr>Cracking- QuestionIT</vt:lpstr>
      <vt:lpstr>PowerPoint Presentation</vt:lpstr>
      <vt:lpstr>The Earth’s early atmosphere </vt:lpstr>
      <vt:lpstr>How oxygen increased and carbon dioxide decreased</vt:lpstr>
      <vt:lpstr>PowerPoint Presentation</vt:lpstr>
      <vt:lpstr>PowerPoint Presentation</vt:lpstr>
      <vt:lpstr>Earth and atmospheric science – Part 1 – QuestionIT</vt:lpstr>
      <vt:lpstr>Earth and atmospheric science – Part 1 - QuestionIT</vt:lpstr>
      <vt:lpstr>PowerPoint Presentation</vt:lpstr>
      <vt:lpstr>Earth and atmospheric science – Part 1 QuestionIT</vt:lpstr>
      <vt:lpstr>Earth and atmospheric science – Part 1 - QuestionIT</vt:lpstr>
      <vt:lpstr>Earth and atmospheric science – Part 1 - QuestionIT</vt:lpstr>
      <vt:lpstr>PowerPoint Presentation</vt:lpstr>
      <vt:lpstr>Carbon dioxide and methane as greenhouse gases</vt:lpstr>
      <vt:lpstr>Carbon dioxide and methane as greenhouse gases</vt:lpstr>
      <vt:lpstr>The proportions of different gases in the atmosphere </vt:lpstr>
      <vt:lpstr>PowerPoint Presentation</vt:lpstr>
      <vt:lpstr>Earth and atmosphere part 2– QuestionIT</vt:lpstr>
      <vt:lpstr>Earth and atmosphere part 2– QuestionIT</vt:lpstr>
      <vt:lpstr>PowerPoint Presentation</vt:lpstr>
      <vt:lpstr>Earth and atmosphere part 2– QuestionIT</vt:lpstr>
      <vt:lpstr>Earth and atmosphere part 2– QuestionIT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zarina shaffi</dc:creator>
  <cp:lastModifiedBy>Vicki Pugh</cp:lastModifiedBy>
  <cp:revision>618</cp:revision>
  <cp:lastPrinted>2017-05-23T14:15:43Z</cp:lastPrinted>
  <dcterms:created xsi:type="dcterms:W3CDTF">2016-03-05T09:38:04Z</dcterms:created>
  <dcterms:modified xsi:type="dcterms:W3CDTF">2018-02-09T21:04:18Z</dcterms:modified>
</cp:coreProperties>
</file>