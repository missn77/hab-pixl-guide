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7" autoAdjust="0"/>
    <p:restoredTop sz="95833"/>
  </p:normalViewPr>
  <p:slideViewPr>
    <p:cSldViewPr snapToGrid="0" snapToObjects="1">
      <p:cViewPr varScale="1">
        <p:scale>
          <a:sx n="74" d="100"/>
          <a:sy n="74" d="100"/>
        </p:scale>
        <p:origin x="72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44" y="45426"/>
            <a:ext cx="8760711" cy="676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40955" y="2576388"/>
            <a:ext cx="26948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Edexcel GCSE </a:t>
            </a:r>
            <a:r>
              <a:rPr lang="en-GB" sz="20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Groups in the Periodic Table</a:t>
            </a:r>
            <a:endParaRPr lang="en-GB" sz="2000" dirty="0" smtClean="0">
              <a:latin typeface="Nanum Brush Script" charset="-127"/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sz="2800" dirty="0" smtClean="0">
                <a:latin typeface="Nanum Brush Script" charset="-127"/>
                <a:ea typeface="Nanum Brush Script" charset="-127"/>
                <a:cs typeface="Nanum Brush Script" charset="-127"/>
              </a:rPr>
              <a:t> </a:t>
            </a:r>
            <a:r>
              <a:rPr lang="en-GB" sz="4000" b="1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T</a:t>
            </a:r>
            <a:r>
              <a:rPr lang="en-GB" sz="2000" b="1" dirty="0" err="1" smtClean="0">
                <a:latin typeface="Nanum Brush Script" charset="-127"/>
                <a:ea typeface="Nanum Brush Script" charset="-127"/>
                <a:cs typeface="Nanum Brush Script" charset="-127"/>
              </a:rPr>
              <a:t>hink</a:t>
            </a:r>
            <a:r>
              <a:rPr lang="en-GB" sz="2400" b="1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IT</a:t>
            </a:r>
            <a:r>
              <a:rPr lang="en-GB" sz="20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! </a:t>
            </a:r>
            <a:endParaRPr lang="en-GB" sz="4400" b="1" dirty="0">
              <a:latin typeface="Nanum Brush Script" charset="-127"/>
              <a:ea typeface="Nanum Brush Script" charset="-127"/>
              <a:cs typeface="Nanum Brush Script" charset="-127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21041" y="152724"/>
            <a:ext cx="2875672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kern="0" dirty="0">
                <a:solidFill>
                  <a:srgbClr val="000000"/>
                </a:solidFill>
                <a:ea typeface="Chalkduster"/>
                <a:cs typeface="Chalkduster"/>
              </a:rPr>
              <a:t>Group </a:t>
            </a:r>
            <a:r>
              <a:rPr lang="en-GB" sz="1200" b="1" kern="0" dirty="0" smtClean="0">
                <a:solidFill>
                  <a:srgbClr val="000000"/>
                </a:solidFill>
                <a:ea typeface="Chalkduster"/>
                <a:cs typeface="Chalkduster"/>
              </a:rPr>
              <a:t>0:</a:t>
            </a:r>
            <a:endParaRPr lang="en-GB" sz="1050" kern="0" dirty="0">
              <a:solidFill>
                <a:srgbClr val="000000"/>
              </a:solidFill>
            </a:endParaRPr>
          </a:p>
          <a:p>
            <a:pPr marL="171450" indent="-171450">
              <a:buFont typeface="Arial" charset="0"/>
              <a:buChar char="•"/>
            </a:pPr>
            <a:r>
              <a:rPr lang="en-GB" sz="1100" dirty="0" smtClean="0">
                <a:ea typeface="Chalkduster" charset="0"/>
                <a:cs typeface="Chalkduster" charset="0"/>
              </a:rPr>
              <a:t>Explain why noble gases are chemically inert.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 smtClean="0">
                <a:ea typeface="Chalkduster" charset="0"/>
                <a:cs typeface="Chalkduster" charset="0"/>
              </a:rPr>
              <a:t>Describe the physical properties of helium, neon and argon and use this pattern to predict the physical properties of krypton.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 smtClean="0">
                <a:ea typeface="Chalkduster" charset="0"/>
                <a:cs typeface="Chalkduster" charset="0"/>
              </a:rPr>
              <a:t>Explain why noble gases are monoatomic.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 smtClean="0">
                <a:ea typeface="Chalkduster" charset="0"/>
                <a:cs typeface="Chalkduster" charset="0"/>
              </a:rPr>
              <a:t>Explain why argon is used as the gas inside filament bulbs.</a:t>
            </a:r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53222" y="152725"/>
            <a:ext cx="2926990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Group 1:</a:t>
            </a:r>
            <a:endParaRPr lang="en-GB" sz="1050" kern="0" dirty="0">
              <a:solidFill>
                <a:srgbClr val="000000"/>
              </a:solidFill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>
                <a:solidFill>
                  <a:srgbClr val="000000"/>
                </a:solidFill>
              </a:rPr>
              <a:t>Evaluate the statement "Hydrogen should be placed in Group 1 of the periodic table</a:t>
            </a:r>
            <a:r>
              <a:rPr lang="en-GB" sz="1050" kern="0" dirty="0" smtClean="0">
                <a:solidFill>
                  <a:srgbClr val="000000"/>
                </a:solidFill>
              </a:rPr>
              <a:t>“.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 smtClean="0">
                <a:solidFill>
                  <a:srgbClr val="000000"/>
                </a:solidFill>
              </a:rPr>
              <a:t>Describe and explain the pattern in reactivity of the alkali metals with water.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 smtClean="0">
                <a:solidFill>
                  <a:srgbClr val="000000"/>
                </a:solidFill>
              </a:rPr>
              <a:t>Predict the reactivity of caesium with water; write a balanced symbol equation for this reaction.</a:t>
            </a:r>
            <a:endParaRPr lang="en-GB" sz="1050" kern="0" dirty="0">
              <a:solidFill>
                <a:srgbClr val="000000"/>
              </a:solidFill>
            </a:endParaRPr>
          </a:p>
          <a:p>
            <a:pPr marL="171450" indent="-171450">
              <a:buFont typeface="Arial" charset="0"/>
              <a:buChar char="•"/>
            </a:pPr>
            <a:r>
              <a:rPr lang="en-GB" sz="1100" dirty="0" smtClean="0">
                <a:ea typeface="Chalkduster" charset="0"/>
                <a:cs typeface="Chalkduster" charset="0"/>
              </a:rPr>
              <a:t>In terms of electrons, explain how alkali metals react with halogens.</a:t>
            </a:r>
            <a:endParaRPr lang="en-GB" sz="1100" dirty="0" smtClean="0">
              <a:ea typeface="Chalkduster" charset="0"/>
              <a:cs typeface="Chalkduster" charset="0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121041" y="2234553"/>
            <a:ext cx="2886402" cy="23709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Metals and non metals: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>
                <a:solidFill>
                  <a:srgbClr val="000000"/>
                </a:solidFill>
              </a:rPr>
              <a:t>Germanium reacts with acids to form a salt and water, it is a semi-conductor, has a melting point of 937°C and reacts with chlorine to from GeCl</a:t>
            </a:r>
            <a:r>
              <a:rPr lang="en-GB" sz="1050" kern="0" baseline="-25000" dirty="0">
                <a:solidFill>
                  <a:srgbClr val="000000"/>
                </a:solidFill>
              </a:rPr>
              <a:t>4</a:t>
            </a:r>
            <a:r>
              <a:rPr lang="en-GB" sz="1050" kern="0" dirty="0">
                <a:solidFill>
                  <a:srgbClr val="000000"/>
                </a:solidFill>
              </a:rPr>
              <a:t>. Justify whether you think Germanium is a metal or non-metal.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>
                <a:solidFill>
                  <a:srgbClr val="000000"/>
                </a:solidFill>
              </a:rPr>
              <a:t>Discuss the effects of atomic radius and shielding on the reactivity of group 1 and 7 elements.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>
                <a:solidFill>
                  <a:srgbClr val="000000"/>
                </a:solidFill>
              </a:rPr>
              <a:t>Explain what happens when a solution of bromine is mixed with sodium iodide solution.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21041" y="4684293"/>
            <a:ext cx="2875672" cy="20137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The periodic table: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8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>
                <a:solidFill>
                  <a:srgbClr val="000000"/>
                </a:solidFill>
              </a:rPr>
              <a:t>How would you explain the structure of the modern periodic table to John Newlands?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50" dirty="0">
              <a:solidFill>
                <a:srgbClr val="000000"/>
              </a:solidFill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dirty="0">
                <a:solidFill>
                  <a:srgbClr val="000000"/>
                </a:solidFill>
                <a:ea typeface="Chalkduster"/>
                <a:cs typeface="Chalkduster"/>
              </a:rPr>
              <a:t>Explain </a:t>
            </a:r>
            <a:r>
              <a:rPr lang="en-GB" sz="1050" kern="0" dirty="0">
                <a:solidFill>
                  <a:srgbClr val="000000"/>
                </a:solidFill>
                <a:ea typeface="Chalkduster"/>
                <a:cs typeface="Chalkduster"/>
              </a:rPr>
              <a:t>how Dmitri Mendeleev used atomic weights to construct his periodic table and explain why scientists came to believe Mendeleev's periodic table?</a:t>
            </a:r>
            <a:endParaRPr lang="en-GB" sz="105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45556" y="4684294"/>
            <a:ext cx="2934656" cy="20096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Electronic structure: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8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>
                <a:solidFill>
                  <a:srgbClr val="000000"/>
                </a:solidFill>
              </a:rPr>
              <a:t>Explain how the position of an element in the periodic table is related to the arrangement of electrons in its atoms</a:t>
            </a:r>
            <a:r>
              <a:rPr lang="en-GB" sz="1050" kern="0" dirty="0" smtClean="0">
                <a:solidFill>
                  <a:srgbClr val="000000"/>
                </a:solidFill>
              </a:rPr>
              <a:t>.</a:t>
            </a:r>
            <a:endParaRPr lang="en-GB" sz="1050" kern="0" dirty="0">
              <a:solidFill>
                <a:srgbClr val="000000"/>
              </a:solidFill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>
                <a:solidFill>
                  <a:srgbClr val="000000"/>
                </a:solidFill>
              </a:rPr>
              <a:t>Describe how to calculate an element’s electronic structure</a:t>
            </a:r>
            <a:r>
              <a:rPr lang="en-GB" sz="1050" kern="0" dirty="0" smtClean="0">
                <a:solidFill>
                  <a:srgbClr val="000000"/>
                </a:solidFill>
              </a:rPr>
              <a:t>.</a:t>
            </a:r>
            <a:endParaRPr lang="en-GB" sz="1050" kern="0" dirty="0">
              <a:solidFill>
                <a:srgbClr val="000000"/>
              </a:solidFill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>
                <a:solidFill>
                  <a:srgbClr val="000000"/>
                </a:solidFill>
              </a:rPr>
              <a:t>Explain why the number of bonds an atom can form depends on the number of electrons available.</a:t>
            </a:r>
          </a:p>
          <a:p>
            <a:pPr marL="171450" indent="-171450">
              <a:buFont typeface="Arial" charset="0"/>
              <a:buChar char="•"/>
            </a:pPr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93290" y="4684293"/>
            <a:ext cx="2861220" cy="200301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Reactions:</a:t>
            </a:r>
            <a:endParaRPr lang="en-GB" sz="1200" b="1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 smtClean="0">
                <a:solidFill>
                  <a:srgbClr val="000000"/>
                </a:solidFill>
              </a:rPr>
              <a:t>Describe the chemical test for chlorine.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 smtClean="0">
                <a:solidFill>
                  <a:srgbClr val="000000"/>
                </a:solidFill>
                <a:ea typeface="Chalkduster" charset="0"/>
                <a:cs typeface="Chalkduster" charset="0"/>
              </a:rPr>
              <a:t>Design a practical to investigate the displacement reactions of halogens reacting with halide ions in solution.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 smtClean="0">
                <a:solidFill>
                  <a:srgbClr val="000000"/>
                </a:solidFill>
                <a:ea typeface="Chalkduster" charset="0"/>
                <a:cs typeface="Chalkduster" charset="0"/>
              </a:rPr>
              <a:t>Write a balanced symbol equation for the reaction between sodium and chlorine; explain what is happening in terms of electrons using a diagram; draw a diagram of the resulting ionic compound.</a:t>
            </a:r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53222" y="2234553"/>
            <a:ext cx="2921202" cy="23709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kern="0" dirty="0" smtClean="0">
                <a:solidFill>
                  <a:srgbClr val="000000"/>
                </a:solidFill>
                <a:ea typeface="Chalkduster"/>
                <a:cs typeface="Chalkduster"/>
              </a:rPr>
              <a:t>Group 1 and 7: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 smtClean="0">
                <a:solidFill>
                  <a:srgbClr val="000000"/>
                </a:solidFill>
              </a:rPr>
              <a:t>Explain the relative reactivity of the halogens in terms of electronic configuration.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 smtClean="0">
                <a:solidFill>
                  <a:srgbClr val="000000"/>
                </a:solidFill>
              </a:rPr>
              <a:t>Why does iodine have a higher boiling point than chlorine?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 smtClean="0">
                <a:solidFill>
                  <a:srgbClr val="000000"/>
                </a:solidFill>
              </a:rPr>
              <a:t>Why are potassium and lithium in the same Group of the periodic table?</a:t>
            </a:r>
          </a:p>
          <a:p>
            <a:pPr marL="171450" indent="-1714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dirty="0">
                <a:ea typeface="Chalkduster" charset="0"/>
                <a:cs typeface="Chalkduster" charset="0"/>
              </a:rPr>
              <a:t>Using an example, identify which of the substances is oxidised and which </a:t>
            </a:r>
            <a:r>
              <a:rPr lang="en-GB" sz="1050" dirty="0" smtClean="0">
                <a:ea typeface="Chalkduster" charset="0"/>
                <a:cs typeface="Chalkduster" charset="0"/>
              </a:rPr>
              <a:t>reduced in a displacement reaction.</a:t>
            </a:r>
            <a:endParaRPr lang="en-GB" sz="1050" dirty="0">
              <a:ea typeface="Chalkduster" charset="0"/>
              <a:cs typeface="Chalkduster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50" kern="0" dirty="0" smtClean="0">
              <a:solidFill>
                <a:srgbClr val="000000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50" kern="0" dirty="0">
              <a:solidFill>
                <a:srgbClr val="000000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161206" y="152723"/>
            <a:ext cx="2893304" cy="22556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kern="0" dirty="0">
                <a:solidFill>
                  <a:srgbClr val="000000"/>
                </a:solidFill>
                <a:ea typeface="Chalkduster"/>
                <a:cs typeface="Chalkduster"/>
              </a:rPr>
              <a:t>Group </a:t>
            </a:r>
            <a:r>
              <a:rPr lang="en-GB" sz="1200" b="1" kern="0" dirty="0" smtClean="0">
                <a:solidFill>
                  <a:srgbClr val="000000"/>
                </a:solidFill>
                <a:ea typeface="Chalkduster"/>
                <a:cs typeface="Chalkduster"/>
              </a:rPr>
              <a:t>7:</a:t>
            </a:r>
            <a:endParaRPr lang="en-GB" sz="1050" kern="0" dirty="0">
              <a:solidFill>
                <a:srgbClr val="000000"/>
              </a:solidFill>
            </a:endParaRPr>
          </a:p>
          <a:p>
            <a:pPr marL="171450" indent="-171450">
              <a:buFont typeface="Arial" charset="0"/>
              <a:buChar char="•"/>
            </a:pPr>
            <a:r>
              <a:rPr lang="en-GB" sz="1100" dirty="0" smtClean="0">
                <a:ea typeface="Chalkduster" charset="0"/>
                <a:cs typeface="Chalkduster" charset="0"/>
              </a:rPr>
              <a:t>Describe the pattern in the physical properties of the halogens, chlorine, iodine and bromine. Include the colours and physical states in your response.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 smtClean="0">
                <a:ea typeface="Chalkduster" charset="0"/>
                <a:cs typeface="Chalkduster" charset="0"/>
              </a:rPr>
              <a:t>Predict the physical properties of astatine.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 smtClean="0">
                <a:ea typeface="Chalkduster" charset="0"/>
                <a:cs typeface="Chalkduster" charset="0"/>
              </a:rPr>
              <a:t>Explain why displacement reactions are redox reactions in terms of gain and loss of electrons. </a:t>
            </a: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33767" y="4380545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</a:t>
            </a:r>
            <a:r>
              <a:rPr lang="en-GB" sz="1000" dirty="0" smtClean="0"/>
              <a:t>2017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53</TotalTime>
  <Words>483</Words>
  <Application>Microsoft Office PowerPoint</Application>
  <PresentationFormat>On-screen Show (4:3)</PresentationFormat>
  <Paragraphs>44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Chalkduster</vt:lpstr>
      <vt:lpstr>Nanum Brush Script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Karen Collins</dc:creator>
  <cp:lastModifiedBy>Karen Collins</cp:lastModifiedBy>
  <cp:revision>15</cp:revision>
  <cp:lastPrinted>2017-02-15T18:44:41Z</cp:lastPrinted>
  <dcterms:created xsi:type="dcterms:W3CDTF">2018-03-12T09:03:35Z</dcterms:created>
  <dcterms:modified xsi:type="dcterms:W3CDTF">2018-03-12T09:56:41Z</dcterms:modified>
</cp:coreProperties>
</file>