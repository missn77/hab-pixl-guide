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 id="2147483675" r:id="rId3"/>
  </p:sldMasterIdLst>
  <p:notesMasterIdLst>
    <p:notesMasterId r:id="rId43"/>
  </p:notesMasterIdLst>
  <p:sldIdLst>
    <p:sldId id="256" r:id="rId4"/>
    <p:sldId id="281" r:id="rId5"/>
    <p:sldId id="314" r:id="rId6"/>
    <p:sldId id="504" r:id="rId7"/>
    <p:sldId id="503" r:id="rId8"/>
    <p:sldId id="323" r:id="rId9"/>
    <p:sldId id="505" r:id="rId10"/>
    <p:sldId id="350" r:id="rId11"/>
    <p:sldId id="508" r:id="rId12"/>
    <p:sldId id="465" r:id="rId13"/>
    <p:sldId id="509" r:id="rId14"/>
    <p:sldId id="468" r:id="rId15"/>
    <p:sldId id="469" r:id="rId16"/>
    <p:sldId id="471" r:id="rId17"/>
    <p:sldId id="472" r:id="rId18"/>
    <p:sldId id="474" r:id="rId19"/>
    <p:sldId id="510" r:id="rId20"/>
    <p:sldId id="511" r:id="rId21"/>
    <p:sldId id="512" r:id="rId22"/>
    <p:sldId id="513" r:id="rId23"/>
    <p:sldId id="478" r:id="rId24"/>
    <p:sldId id="479" r:id="rId25"/>
    <p:sldId id="480" r:id="rId26"/>
    <p:sldId id="481" r:id="rId27"/>
    <p:sldId id="487" r:id="rId28"/>
    <p:sldId id="482" r:id="rId29"/>
    <p:sldId id="483" r:id="rId30"/>
    <p:sldId id="484" r:id="rId31"/>
    <p:sldId id="485" r:id="rId32"/>
    <p:sldId id="488" r:id="rId33"/>
    <p:sldId id="489" r:id="rId34"/>
    <p:sldId id="490" r:id="rId35"/>
    <p:sldId id="491" r:id="rId36"/>
    <p:sldId id="498" r:id="rId37"/>
    <p:sldId id="492" r:id="rId38"/>
    <p:sldId id="493" r:id="rId39"/>
    <p:sldId id="494" r:id="rId40"/>
    <p:sldId id="495" r:id="rId41"/>
    <p:sldId id="514"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Simpkins" initials="MS" lastIdx="43" clrIdx="0">
    <p:extLst>
      <p:ext uri="{19B8F6BF-5375-455C-9EA6-DF929625EA0E}">
        <p15:presenceInfo xmlns:p15="http://schemas.microsoft.com/office/powerpoint/2012/main" userId="S-1-5-21-938404072-1861764119-582892889-4477" providerId="AD"/>
      </p:ext>
    </p:extLst>
  </p:cmAuthor>
  <p:cmAuthor id="2" name="Vicki Pugh" initials="VP" lastIdx="11" clrIdx="1">
    <p:extLst>
      <p:ext uri="{19B8F6BF-5375-455C-9EA6-DF929625EA0E}">
        <p15:presenceInfo xmlns:p15="http://schemas.microsoft.com/office/powerpoint/2012/main" userId="fb86ba5f6b82553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16" autoAdjust="0"/>
    <p:restoredTop sz="92868" autoAdjust="0"/>
  </p:normalViewPr>
  <p:slideViewPr>
    <p:cSldViewPr>
      <p:cViewPr varScale="1">
        <p:scale>
          <a:sx n="67" d="100"/>
          <a:sy n="67" d="100"/>
        </p:scale>
        <p:origin x="1254" y="6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200" d="100"/>
        <a:sy n="200" d="100"/>
      </p:scale>
      <p:origin x="0" y="0"/>
    </p:cViewPr>
  </p:sorterViewPr>
  <p:notesViewPr>
    <p:cSldViewPr>
      <p:cViewPr varScale="1">
        <p:scale>
          <a:sx n="85" d="100"/>
          <a:sy n="85" d="100"/>
        </p:scale>
        <p:origin x="1952" y="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commentAuthors" Target="commentAuthor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notesMaster" Target="notesMasters/notesMaster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D2026-0859-4913-9377-3DA08F595AD2}" type="datetimeFigureOut">
              <a:rPr lang="en-US" smtClean="0"/>
              <a:t>2/8/2018</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D32D9-63A9-423F-8B77-368638260D4D}" type="slidenum">
              <a:rPr lang="en-US" smtClean="0"/>
              <a:t>‹#›</a:t>
            </a:fld>
            <a:endParaRPr lang="en-US"/>
          </a:p>
        </p:txBody>
      </p:sp>
    </p:spTree>
    <p:extLst>
      <p:ext uri="{BB962C8B-B14F-4D97-AF65-F5344CB8AC3E}">
        <p14:creationId xmlns:p14="http://schemas.microsoft.com/office/powerpoint/2010/main" val="4547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https://c2.staticflickr.com/4/3178/4076380768_03994aed44_b.jpg</a:t>
            </a:r>
          </a:p>
        </p:txBody>
      </p:sp>
      <p:sp>
        <p:nvSpPr>
          <p:cNvPr id="4" name="Slide Number Placeholder 3"/>
          <p:cNvSpPr>
            <a:spLocks noGrp="1"/>
          </p:cNvSpPr>
          <p:nvPr>
            <p:ph type="sldNum" sz="quarter" idx="10"/>
          </p:nvPr>
        </p:nvSpPr>
        <p:spPr/>
        <p:txBody>
          <a:bodyPr/>
          <a:lstStyle/>
          <a:p>
            <a:fld id="{2C9D32D9-63A9-423F-8B77-368638260D4D}" type="slidenum">
              <a:rPr lang="en-US" smtClean="0"/>
              <a:t>2</a:t>
            </a:fld>
            <a:endParaRPr lang="en-US"/>
          </a:p>
        </p:txBody>
      </p:sp>
    </p:spTree>
    <p:extLst>
      <p:ext uri="{BB962C8B-B14F-4D97-AF65-F5344CB8AC3E}">
        <p14:creationId xmlns:p14="http://schemas.microsoft.com/office/powerpoint/2010/main" val="2536047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a:t>
            </a:fld>
            <a:endParaRPr lang="en-US"/>
          </a:p>
        </p:txBody>
      </p:sp>
    </p:spTree>
    <p:extLst>
      <p:ext uri="{BB962C8B-B14F-4D97-AF65-F5344CB8AC3E}">
        <p14:creationId xmlns:p14="http://schemas.microsoft.com/office/powerpoint/2010/main" val="598747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a:t>
            </a:fld>
            <a:endParaRPr lang="en-US"/>
          </a:p>
        </p:txBody>
      </p:sp>
    </p:spTree>
    <p:extLst>
      <p:ext uri="{BB962C8B-B14F-4D97-AF65-F5344CB8AC3E}">
        <p14:creationId xmlns:p14="http://schemas.microsoft.com/office/powerpoint/2010/main" val="6754726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a:t>
            </a:fld>
            <a:endParaRPr lang="en-US"/>
          </a:p>
        </p:txBody>
      </p:sp>
    </p:spTree>
    <p:extLst>
      <p:ext uri="{BB962C8B-B14F-4D97-AF65-F5344CB8AC3E}">
        <p14:creationId xmlns:p14="http://schemas.microsoft.com/office/powerpoint/2010/main" val="3072049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a:t>
            </a:fld>
            <a:endParaRPr lang="en-US"/>
          </a:p>
        </p:txBody>
      </p:sp>
    </p:spTree>
    <p:extLst>
      <p:ext uri="{BB962C8B-B14F-4D97-AF65-F5344CB8AC3E}">
        <p14:creationId xmlns:p14="http://schemas.microsoft.com/office/powerpoint/2010/main" val="1335008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8</a:t>
            </a:fld>
            <a:endParaRPr lang="en-US" dirty="0"/>
          </a:p>
        </p:txBody>
      </p:sp>
    </p:spTree>
    <p:extLst>
      <p:ext uri="{BB962C8B-B14F-4D97-AF65-F5344CB8AC3E}">
        <p14:creationId xmlns:p14="http://schemas.microsoft.com/office/powerpoint/2010/main" val="2159034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10</a:t>
            </a:fld>
            <a:endParaRPr lang="en-US" dirty="0"/>
          </a:p>
        </p:txBody>
      </p:sp>
    </p:spTree>
    <p:extLst>
      <p:ext uri="{BB962C8B-B14F-4D97-AF65-F5344CB8AC3E}">
        <p14:creationId xmlns:p14="http://schemas.microsoft.com/office/powerpoint/2010/main" val="3042902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11</a:t>
            </a:fld>
            <a:endParaRPr lang="en-US" dirty="0"/>
          </a:p>
        </p:txBody>
      </p:sp>
    </p:spTree>
    <p:extLst>
      <p:ext uri="{BB962C8B-B14F-4D97-AF65-F5344CB8AC3E}">
        <p14:creationId xmlns:p14="http://schemas.microsoft.com/office/powerpoint/2010/main" val="1061625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12</a:t>
            </a:fld>
            <a:endParaRPr lang="en-US" dirty="0"/>
          </a:p>
        </p:txBody>
      </p:sp>
    </p:spTree>
    <p:extLst>
      <p:ext uri="{BB962C8B-B14F-4D97-AF65-F5344CB8AC3E}">
        <p14:creationId xmlns:p14="http://schemas.microsoft.com/office/powerpoint/2010/main" val="541798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14</a:t>
            </a:fld>
            <a:endParaRPr lang="en-US" dirty="0"/>
          </a:p>
        </p:txBody>
      </p:sp>
    </p:spTree>
    <p:extLst>
      <p:ext uri="{BB962C8B-B14F-4D97-AF65-F5344CB8AC3E}">
        <p14:creationId xmlns:p14="http://schemas.microsoft.com/office/powerpoint/2010/main" val="38838035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16</a:t>
            </a:fld>
            <a:endParaRPr lang="en-US"/>
          </a:p>
        </p:txBody>
      </p:sp>
    </p:spTree>
    <p:extLst>
      <p:ext uri="{BB962C8B-B14F-4D97-AF65-F5344CB8AC3E}">
        <p14:creationId xmlns:p14="http://schemas.microsoft.com/office/powerpoint/2010/main" val="8818162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17</a:t>
            </a:fld>
            <a:endParaRPr lang="en-US"/>
          </a:p>
        </p:txBody>
      </p:sp>
    </p:spTree>
    <p:extLst>
      <p:ext uri="{BB962C8B-B14F-4D97-AF65-F5344CB8AC3E}">
        <p14:creationId xmlns:p14="http://schemas.microsoft.com/office/powerpoint/2010/main" val="3231346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18</a:t>
            </a:fld>
            <a:endParaRPr lang="en-US"/>
          </a:p>
        </p:txBody>
      </p:sp>
    </p:spTree>
    <p:extLst>
      <p:ext uri="{BB962C8B-B14F-4D97-AF65-F5344CB8AC3E}">
        <p14:creationId xmlns:p14="http://schemas.microsoft.com/office/powerpoint/2010/main" val="11963739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https://qph.ec.quoracdn.net/main-qimg-171088c70ca34c66600fb6b1a115fc62-c</a:t>
            </a:r>
          </a:p>
          <a:p>
            <a:r>
              <a:rPr lang="en-GB" dirty="0"/>
              <a:t>http://www.micromountain.com/sci_diagrams/sci_app/sci_app_assets/ctography_lab_eng.jpg</a:t>
            </a:r>
          </a:p>
        </p:txBody>
      </p:sp>
      <p:sp>
        <p:nvSpPr>
          <p:cNvPr id="4" name="Slide Number Placeholder 3"/>
          <p:cNvSpPr>
            <a:spLocks noGrp="1"/>
          </p:cNvSpPr>
          <p:nvPr>
            <p:ph type="sldNum" sz="quarter" idx="10"/>
          </p:nvPr>
        </p:nvSpPr>
        <p:spPr/>
        <p:txBody>
          <a:bodyPr/>
          <a:lstStyle/>
          <a:p>
            <a:fld id="{2C9D32D9-63A9-423F-8B77-368638260D4D}" type="slidenum">
              <a:rPr lang="en-US" smtClean="0"/>
              <a:t>19</a:t>
            </a:fld>
            <a:endParaRPr lang="en-US"/>
          </a:p>
        </p:txBody>
      </p:sp>
    </p:spTree>
    <p:extLst>
      <p:ext uri="{BB962C8B-B14F-4D97-AF65-F5344CB8AC3E}">
        <p14:creationId xmlns:p14="http://schemas.microsoft.com/office/powerpoint/2010/main" val="27134267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20</a:t>
            </a:fld>
            <a:endParaRPr lang="en-US" dirty="0"/>
          </a:p>
        </p:txBody>
      </p:sp>
    </p:spTree>
    <p:extLst>
      <p:ext uri="{BB962C8B-B14F-4D97-AF65-F5344CB8AC3E}">
        <p14:creationId xmlns:p14="http://schemas.microsoft.com/office/powerpoint/2010/main" val="32324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21</a:t>
            </a:fld>
            <a:endParaRPr lang="en-US"/>
          </a:p>
        </p:txBody>
      </p:sp>
    </p:spTree>
    <p:extLst>
      <p:ext uri="{BB962C8B-B14F-4D97-AF65-F5344CB8AC3E}">
        <p14:creationId xmlns:p14="http://schemas.microsoft.com/office/powerpoint/2010/main" val="22329744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26</a:t>
            </a:fld>
            <a:endParaRPr lang="en-US" dirty="0"/>
          </a:p>
        </p:txBody>
      </p:sp>
    </p:spTree>
    <p:extLst>
      <p:ext uri="{BB962C8B-B14F-4D97-AF65-F5344CB8AC3E}">
        <p14:creationId xmlns:p14="http://schemas.microsoft.com/office/powerpoint/2010/main" val="31108501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31</a:t>
            </a:fld>
            <a:endParaRPr lang="en-US" dirty="0"/>
          </a:p>
        </p:txBody>
      </p:sp>
    </p:spTree>
    <p:extLst>
      <p:ext uri="{BB962C8B-B14F-4D97-AF65-F5344CB8AC3E}">
        <p14:creationId xmlns:p14="http://schemas.microsoft.com/office/powerpoint/2010/main" val="9733443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32</a:t>
            </a:fld>
            <a:endParaRPr lang="en-US" dirty="0"/>
          </a:p>
        </p:txBody>
      </p:sp>
    </p:spTree>
    <p:extLst>
      <p:ext uri="{BB962C8B-B14F-4D97-AF65-F5344CB8AC3E}">
        <p14:creationId xmlns:p14="http://schemas.microsoft.com/office/powerpoint/2010/main" val="2695525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33</a:t>
            </a:fld>
            <a:endParaRPr lang="en-US" dirty="0"/>
          </a:p>
        </p:txBody>
      </p:sp>
    </p:spTree>
    <p:extLst>
      <p:ext uri="{BB962C8B-B14F-4D97-AF65-F5344CB8AC3E}">
        <p14:creationId xmlns:p14="http://schemas.microsoft.com/office/powerpoint/2010/main" val="21672728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34</a:t>
            </a:fld>
            <a:endParaRPr lang="en-US" dirty="0"/>
          </a:p>
        </p:txBody>
      </p:sp>
    </p:spTree>
    <p:extLst>
      <p:ext uri="{BB962C8B-B14F-4D97-AF65-F5344CB8AC3E}">
        <p14:creationId xmlns:p14="http://schemas.microsoft.com/office/powerpoint/2010/main" val="30865637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35</a:t>
            </a:fld>
            <a:endParaRPr lang="en-US" dirty="0"/>
          </a:p>
        </p:txBody>
      </p:sp>
    </p:spTree>
    <p:extLst>
      <p:ext uri="{BB962C8B-B14F-4D97-AF65-F5344CB8AC3E}">
        <p14:creationId xmlns:p14="http://schemas.microsoft.com/office/powerpoint/2010/main" val="1135926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36</a:t>
            </a:fld>
            <a:endParaRPr lang="en-US" dirty="0"/>
          </a:p>
        </p:txBody>
      </p:sp>
    </p:spTree>
    <p:extLst>
      <p:ext uri="{BB962C8B-B14F-4D97-AF65-F5344CB8AC3E}">
        <p14:creationId xmlns:p14="http://schemas.microsoft.com/office/powerpoint/2010/main" val="36253557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38</a:t>
            </a:fld>
            <a:endParaRPr lang="en-US" dirty="0"/>
          </a:p>
        </p:txBody>
      </p:sp>
    </p:spTree>
    <p:extLst>
      <p:ext uri="{BB962C8B-B14F-4D97-AF65-F5344CB8AC3E}">
        <p14:creationId xmlns:p14="http://schemas.microsoft.com/office/powerpoint/2010/main" val="15948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406" y="764704"/>
            <a:ext cx="8964488"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83406" y="2420888"/>
            <a:ext cx="8964488" cy="1752600"/>
          </a:xfrm>
        </p:spPr>
        <p:txBody>
          <a:bodyPr/>
          <a:lstStyle>
            <a:lvl1pPr marL="0" indent="0" algn="ctr">
              <a:buNone/>
              <a:defRPr>
                <a:solidFill>
                  <a:schemeClr val="tx1">
                    <a:tint val="75000"/>
                  </a:schemeClr>
                </a:solidFill>
                <a:latin typeface="News Gothic MT"/>
                <a:cs typeface="News Gothic M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88179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27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5916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08/02/2018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9398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08/02/2018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459971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5F713-2110-964B-A68E-481EBA276186}" type="datetimeFigureOut">
              <a:rPr lang="en-GB" smtClean="0"/>
              <a:t>08/02/2018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94769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595F713-2110-964B-A68E-481EBA276186}" type="datetimeFigureOut">
              <a:rPr lang="en-GB" smtClean="0"/>
              <a:t>08/02/2018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75086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595F713-2110-964B-A68E-481EBA276186}" type="datetimeFigureOut">
              <a:rPr lang="en-GB" smtClean="0"/>
              <a:t>08/02/2018</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224364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595F713-2110-964B-A68E-481EBA276186}" type="datetimeFigureOut">
              <a:rPr lang="en-GB" smtClean="0"/>
              <a:t>08/02/2018</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70658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5F713-2110-964B-A68E-481EBA276186}" type="datetimeFigureOut">
              <a:rPr lang="en-GB" smtClean="0"/>
              <a:t>08/02/2018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21446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08/02/2018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617688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08/02/2018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348606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08/02/2018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486682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08/02/2018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694073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08/02/2018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Drag picture to placeholder or click icon to add</a:t>
            </a:r>
            <a:endParaRPr lang="en-GB"/>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08/02/2018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08/02/2018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08/02/2018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4"/>
            <a:ext cx="2133600" cy="365125"/>
          </a:xfrm>
          <a:prstGeom prst="rect">
            <a:avLst/>
          </a:prstGeom>
        </p:spPr>
        <p:txBody>
          <a:bodyPr/>
          <a:lstStyle/>
          <a:p>
            <a:fld id="{B595F713-2110-964B-A68E-481EBA276186}" type="datetimeFigureOut">
              <a:rPr lang="en-GB" smtClean="0"/>
              <a:t>08/02/2018</a:t>
            </a:fld>
            <a:endParaRPr lang="en-GB"/>
          </a:p>
        </p:txBody>
      </p:sp>
      <p:sp>
        <p:nvSpPr>
          <p:cNvPr id="3" name="Footer Placeholder 2"/>
          <p:cNvSpPr>
            <a:spLocks noGrp="1"/>
          </p:cNvSpPr>
          <p:nvPr>
            <p:ph type="ftr" sz="quarter" idx="11"/>
          </p:nvPr>
        </p:nvSpPr>
        <p:spPr>
          <a:xfrm>
            <a:off x="3124200" y="6356354"/>
            <a:ext cx="2895600" cy="365125"/>
          </a:xfrm>
          <a:prstGeom prst="rect">
            <a:avLst/>
          </a:prstGeom>
        </p:spPr>
        <p:txBody>
          <a:bodyPr/>
          <a:lstStyle/>
          <a:p>
            <a:endParaRPr lang="en-GB"/>
          </a:p>
        </p:txBody>
      </p:sp>
      <p:sp>
        <p:nvSpPr>
          <p:cNvPr id="4" name="Slide Number Placeholder 3"/>
          <p:cNvSpPr>
            <a:spLocks noGrp="1"/>
          </p:cNvSpPr>
          <p:nvPr>
            <p:ph type="sldNum" sz="quarter" idx="12"/>
          </p:nvPr>
        </p:nvSpPr>
        <p:spPr>
          <a:xfrm>
            <a:off x="6553200" y="6356354"/>
            <a:ext cx="2133600" cy="365125"/>
          </a:xfrm>
          <a:prstGeom prst="rect">
            <a:avLst/>
          </a:prstGeom>
        </p:spPr>
        <p:txBody>
          <a:bodyPr/>
          <a:lstStyle/>
          <a:p>
            <a:fld id="{402CBB9E-F5D3-6E40-A939-4B2058AA44B4}" type="slidenum">
              <a:rPr lang="en-GB" smtClean="0"/>
              <a:t>‹#›</a:t>
            </a:fld>
            <a:endParaRPr lang="en-GB"/>
          </a:p>
        </p:txBody>
      </p:sp>
    </p:spTree>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 name="Shape 6"/>
          <p:cNvSpPr>
            <a:spLocks noGrp="1"/>
          </p:cNvSpPr>
          <p:nvPr>
            <p:ph type="title"/>
          </p:nvPr>
        </p:nvSpPr>
        <p:spPr>
          <a:xfrm>
            <a:off x="457200" y="92079"/>
            <a:ext cx="8229600" cy="1508125"/>
          </a:xfrm>
          <a:prstGeom prst="rect">
            <a:avLst/>
          </a:prstGeom>
        </p:spPr>
        <p:txBody>
          <a:bodyPr lIns="0" tIns="0" rIns="0" bIns="0">
            <a:noAutofit/>
          </a:bodyPr>
          <a:lstStyle>
            <a:lvl1pPr>
              <a:defRPr sz="4425">
                <a:latin typeface="Gill Sans"/>
                <a:ea typeface="Gill Sans"/>
                <a:cs typeface="Gill Sans"/>
                <a:sym typeface="Gill Sans"/>
              </a:defRPr>
            </a:lvl1pPr>
          </a:lstStyle>
          <a:p>
            <a:pPr lvl="0">
              <a:defRPr sz="1800"/>
            </a:pPr>
            <a:r>
              <a:rPr lang="en-US" sz="4425"/>
              <a:t>Click to edit Master title style</a:t>
            </a:r>
            <a:endParaRPr sz="4425"/>
          </a:p>
        </p:txBody>
      </p:sp>
      <p:sp>
        <p:nvSpPr>
          <p:cNvPr id="7" name="Shape 7"/>
          <p:cNvSpPr>
            <a:spLocks noGrp="1"/>
          </p:cNvSpPr>
          <p:nvPr>
            <p:ph type="body" idx="1"/>
          </p:nvPr>
        </p:nvSpPr>
        <p:spPr>
          <a:xfrm>
            <a:off x="457200" y="1600200"/>
            <a:ext cx="8229600" cy="5257800"/>
          </a:xfrm>
          <a:prstGeom prst="rect">
            <a:avLst/>
          </a:prstGeom>
        </p:spPr>
        <p:txBody>
          <a:bodyPr>
            <a:noAutofit/>
          </a:bodyPr>
          <a:lstStyle>
            <a:lvl1pPr marL="0" indent="0" algn="ctr">
              <a:spcBef>
                <a:spcPts val="2475"/>
              </a:spcBef>
              <a:buSzTx/>
              <a:buFontTx/>
              <a:buNone/>
              <a:defRPr>
                <a:latin typeface="Gill Sans"/>
                <a:ea typeface="Gill Sans"/>
                <a:cs typeface="Gill Sans"/>
                <a:sym typeface="Gill Sans"/>
              </a:defRPr>
            </a:lvl1pPr>
            <a:lvl2pPr marL="0" indent="240506" algn="ctr">
              <a:spcBef>
                <a:spcPts val="2475"/>
              </a:spcBef>
              <a:buSzTx/>
              <a:buFontTx/>
              <a:buNone/>
              <a:defRPr>
                <a:latin typeface="Gill Sans"/>
                <a:ea typeface="Gill Sans"/>
                <a:cs typeface="Gill Sans"/>
                <a:sym typeface="Gill Sans"/>
              </a:defRPr>
            </a:lvl2pPr>
            <a:lvl3pPr marL="0" indent="481013" algn="ctr">
              <a:spcBef>
                <a:spcPts val="2475"/>
              </a:spcBef>
              <a:buSzTx/>
              <a:buFontTx/>
              <a:buNone/>
              <a:defRPr>
                <a:latin typeface="Gill Sans"/>
                <a:ea typeface="Gill Sans"/>
                <a:cs typeface="Gill Sans"/>
                <a:sym typeface="Gill Sans"/>
              </a:defRPr>
            </a:lvl3pPr>
            <a:lvl4pPr marL="0" indent="722709" algn="ctr">
              <a:spcBef>
                <a:spcPts val="2475"/>
              </a:spcBef>
              <a:buSzTx/>
              <a:buFontTx/>
              <a:buNone/>
              <a:defRPr>
                <a:latin typeface="Gill Sans"/>
                <a:ea typeface="Gill Sans"/>
                <a:cs typeface="Gill Sans"/>
                <a:sym typeface="Gill Sans"/>
              </a:defRPr>
            </a:lvl4pPr>
            <a:lvl5pPr marL="0" indent="963215" algn="ctr">
              <a:spcBef>
                <a:spcPts val="2475"/>
              </a:spcBef>
              <a:buSzTx/>
              <a:buFontTx/>
              <a:buNone/>
              <a:defRPr>
                <a:latin typeface="Gill Sans"/>
                <a:ea typeface="Gill Sans"/>
                <a:cs typeface="Gill Sans"/>
                <a:sym typeface="Gill Sans"/>
              </a:defRPr>
            </a:lvl5pPr>
          </a:lstStyle>
          <a:p>
            <a:pPr lvl="0">
              <a:defRPr sz="1800"/>
            </a:pPr>
            <a:r>
              <a:rPr lang="en-US" sz="2250"/>
              <a:t>Click to edit Master text styles</a:t>
            </a:r>
          </a:p>
          <a:p>
            <a:pPr lvl="1">
              <a:defRPr sz="1800"/>
            </a:pPr>
            <a:r>
              <a:rPr lang="en-US" sz="2250"/>
              <a:t>Second level</a:t>
            </a:r>
          </a:p>
          <a:p>
            <a:pPr lvl="2">
              <a:defRPr sz="1800"/>
            </a:pPr>
            <a:r>
              <a:rPr lang="en-US" sz="2250"/>
              <a:t>Third level</a:t>
            </a:r>
          </a:p>
          <a:p>
            <a:pPr lvl="3">
              <a:defRPr sz="1800"/>
            </a:pPr>
            <a:r>
              <a:rPr lang="en-US" sz="2250"/>
              <a:t>Fourth level</a:t>
            </a:r>
          </a:p>
          <a:p>
            <a:pPr lvl="4">
              <a:defRPr sz="1800"/>
            </a:pPr>
            <a:r>
              <a:rPr lang="en-US" sz="2250"/>
              <a:t>Fifth level</a:t>
            </a:r>
            <a:endParaRPr sz="2250"/>
          </a:p>
        </p:txBody>
      </p:sp>
    </p:spTree>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3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4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3"/>
            <a:ext cx="2057400" cy="365125"/>
          </a:xfrm>
          <a:prstGeom prst="rect">
            <a:avLst/>
          </a:prstGeom>
        </p:spPr>
        <p:txBody>
          <a:bodyPr/>
          <a:lstStyle/>
          <a:p>
            <a:fld id="{B595F713-2110-964B-A68E-481EBA276186}" type="datetimeFigureOut">
              <a:rPr lang="en-GB" smtClean="0"/>
              <a:t>08/02/2018</a:t>
            </a:fld>
            <a:endParaRPr lang="en-GB"/>
          </a:p>
        </p:txBody>
      </p:sp>
      <p:sp>
        <p:nvSpPr>
          <p:cNvPr id="4" name="Footer Placeholder 3"/>
          <p:cNvSpPr>
            <a:spLocks noGrp="1"/>
          </p:cNvSpPr>
          <p:nvPr>
            <p:ph type="ftr" sz="quarter" idx="11"/>
          </p:nvPr>
        </p:nvSpPr>
        <p:spPr>
          <a:xfrm>
            <a:off x="3028950" y="6356353"/>
            <a:ext cx="3086100" cy="365125"/>
          </a:xfrm>
          <a:prstGeom prst="rect">
            <a:avLst/>
          </a:prstGeom>
        </p:spPr>
        <p:txBody>
          <a:bodyPr/>
          <a:lstStyle/>
          <a:p>
            <a:endParaRPr lang="en-GB"/>
          </a:p>
        </p:txBody>
      </p:sp>
      <p:sp>
        <p:nvSpPr>
          <p:cNvPr id="5" name="Slide Number Placeholder 4"/>
          <p:cNvSpPr>
            <a:spLocks noGrp="1"/>
          </p:cNvSpPr>
          <p:nvPr>
            <p:ph type="sldNum" sz="quarter" idx="12"/>
          </p:nvPr>
        </p:nvSpPr>
        <p:spPr>
          <a:xfrm>
            <a:off x="6457950" y="6356353"/>
            <a:ext cx="2057400" cy="365125"/>
          </a:xfrm>
          <a:prstGeom prst="rect">
            <a:avLst/>
          </a:prstGeom>
        </p:spPr>
        <p:txBody>
          <a:bodyPr/>
          <a:lstStyle/>
          <a:p>
            <a:fld id="{402CBB9E-F5D3-6E40-A939-4B2058AA44B4}" type="slidenum">
              <a:rPr lang="en-GB" smtClean="0"/>
              <a:t>‹#›</a:t>
            </a:fld>
            <a:endParaRPr lang="en-GB"/>
          </a:p>
        </p:txBody>
      </p:sp>
    </p:spTree>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2.jpe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3.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image" Target="../media/image3.jpe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pic>
        <p:nvPicPr>
          <p:cNvPr id="11" name="Picture 10" descr="pixl ppt back generic 2015.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27938" y="774701"/>
            <a:ext cx="9116061" cy="20828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429" y="2996952"/>
            <a:ext cx="9126570" cy="34563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a:t>
            </a:r>
            <a:r>
              <a:rPr lang="en-US" dirty="0" err="1"/>
              <a:t>hkhkjh</a:t>
            </a:r>
            <a:endParaRPr lang="en-US" dirty="0"/>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1791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2" r:id="rId3"/>
  </p:sldLayoutIdLst>
  <p:txStyles>
    <p:titleStyle>
      <a:lvl1pPr algn="l" defTabSz="342900" rtl="0" eaLnBrk="1" latinLnBrk="0" hangingPunct="1">
        <a:spcBef>
          <a:spcPct val="0"/>
        </a:spcBef>
        <a:buNone/>
        <a:defRPr sz="3300" kern="1200">
          <a:solidFill>
            <a:schemeClr val="tx1"/>
          </a:solidFill>
          <a:latin typeface="+mj-lt"/>
          <a:ea typeface="+mj-ea"/>
          <a:cs typeface="Lato Medium"/>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News Gothic MT"/>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News Gothic MT"/>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News Gothic MT"/>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5F713-2110-964B-A68E-481EBA276186}" type="datetimeFigureOut">
              <a:rPr lang="en-GB" smtClean="0"/>
              <a:t>08/02/2018</a:t>
            </a:fld>
            <a:endParaRPr lang="en-GB"/>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CBB9E-F5D3-6E40-A939-4B2058AA44B4}" type="slidenum">
              <a:rPr lang="en-GB" smtClean="0"/>
              <a:t>‹#›</a:t>
            </a:fld>
            <a:endParaRPr lang="en-GB"/>
          </a:p>
        </p:txBody>
      </p:sp>
    </p:spTree>
    <p:extLst>
      <p:ext uri="{BB962C8B-B14F-4D97-AF65-F5344CB8AC3E}">
        <p14:creationId xmlns:p14="http://schemas.microsoft.com/office/powerpoint/2010/main" val="30590050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595F713-2110-964B-A68E-481EBA276186}" type="datetimeFigureOut">
              <a:rPr lang="en-GB" smtClean="0"/>
              <a:t>08/02/2018</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02CBB9E-F5D3-6E40-A939-4B2058AA44B4}" type="slidenum">
              <a:rPr lang="en-GB" smtClean="0"/>
              <a:t>‹#›</a:t>
            </a:fld>
            <a:endParaRPr lang="en-GB"/>
          </a:p>
        </p:txBody>
      </p:sp>
      <p:pic>
        <p:nvPicPr>
          <p:cNvPr id="7" name="Picture 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091113" y="16872"/>
            <a:ext cx="1029761" cy="1020648"/>
          </a:xfrm>
          <a:prstGeom prst="rect">
            <a:avLst/>
          </a:prstGeom>
        </p:spPr>
      </p:pic>
      <p:pic>
        <p:nvPicPr>
          <p:cNvPr id="8" name="Picture 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3126" y="16872"/>
            <a:ext cx="2530113" cy="831540"/>
          </a:xfrm>
          <a:prstGeom prst="rect">
            <a:avLst/>
          </a:prstGeom>
        </p:spPr>
      </p:pic>
      <p:sp>
        <p:nvSpPr>
          <p:cNvPr id="9" name="Rectangle 8"/>
          <p:cNvSpPr/>
          <p:nvPr/>
        </p:nvSpPr>
        <p:spPr>
          <a:xfrm>
            <a:off x="0" y="6561058"/>
            <a:ext cx="9144000" cy="22640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GB" sz="900" dirty="0">
                <a:latin typeface="Arial" panose="020B0604020202020204" pitchFamily="34" charset="0"/>
                <a:cs typeface="Arial" panose="020B0604020202020204" pitchFamily="34" charset="0"/>
              </a:rPr>
              <a:t>better hope – brighter</a:t>
            </a:r>
            <a:r>
              <a:rPr lang="en-GB" sz="900" baseline="0" dirty="0">
                <a:latin typeface="Arial" panose="020B0604020202020204" pitchFamily="34" charset="0"/>
                <a:cs typeface="Arial" panose="020B0604020202020204" pitchFamily="34" charset="0"/>
              </a:rPr>
              <a:t> future</a:t>
            </a:r>
            <a:endParaRPr lang="en-GB"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74570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pixl.org.uk/" TargetMode="External"/><Relationship Id="rId2" Type="http://schemas.openxmlformats.org/officeDocument/2006/relationships/image" Target="../media/image4.jpeg"/><Relationship Id="rId1" Type="http://schemas.openxmlformats.org/officeDocument/2006/relationships/slideLayout" Target="../slideLayouts/slideLayout10.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jpg"/></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8520" y="0"/>
            <a:ext cx="9252520" cy="7571303"/>
          </a:xfrm>
          <a:prstGeom prst="rect">
            <a:avLst/>
          </a:prstGeom>
          <a:noFill/>
        </p:spPr>
        <p:txBody>
          <a:bodyPr wrap="square" rtlCol="0">
            <a:spAutoFit/>
          </a:bodyPr>
          <a:lstStyle/>
          <a:p>
            <a:r>
              <a:rPr lang="en-GB" sz="900" dirty="0">
                <a:solidFill>
                  <a:schemeClr val="bg1">
                    <a:lumMod val="85000"/>
                  </a:schemeClr>
                </a:solidFill>
              </a:rPr>
              <a:t>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a:t>
            </a:r>
            <a:r>
              <a:rPr lang="en-GB" sz="900">
                <a:solidFill>
                  <a:schemeClr val="bg1">
                    <a:lumMod val="85000"/>
                  </a:schemeClr>
                </a:solidFill>
              </a:rPr>
              <a:t>Club XL </a:t>
            </a:r>
            <a:r>
              <a:rPr lang="en-GB" sz="900" dirty="0">
                <a:solidFill>
                  <a:schemeClr val="bg1">
                    <a:lumMod val="85000"/>
                  </a:schemeClr>
                </a:solidFill>
              </a:rPr>
              <a:t>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a:t>
            </a:r>
          </a:p>
        </p:txBody>
      </p:sp>
      <p:pic>
        <p:nvPicPr>
          <p:cNvPr id="1026" name="Picture 2" descr="pixl-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4624"/>
            <a:ext cx="1639040" cy="792088"/>
          </a:xfrm>
          <a:prstGeom prst="rect">
            <a:avLst/>
          </a:prstGeom>
          <a:noFill/>
          <a:ln w="9525">
            <a:solidFill>
              <a:srgbClr val="000000"/>
            </a:solidFill>
            <a:miter lim="800000"/>
            <a:headEnd/>
            <a:tailEnd/>
          </a:ln>
          <a:effectLst>
            <a:outerShdw dist="107763" dir="2700000" algn="ctr" rotWithShape="0">
              <a:srgbClr val="808080">
                <a:alpha val="50000"/>
              </a:srgbClr>
            </a:outerShdw>
          </a:effectLst>
          <a:extLst>
            <a:ext uri="{909E8E84-426E-40dd-AFC4-6F175D3DCCD1}">
              <a14:hiddenFill xmlns="" xmlns:a14="http://schemas.microsoft.com/office/drawing/2010/main">
                <a:solidFill>
                  <a:srgbClr val="FFFFFF"/>
                </a:solidFill>
              </a14:hiddenFill>
            </a:ext>
          </a:extLst>
        </p:spPr>
      </p:pic>
      <p:sp>
        <p:nvSpPr>
          <p:cNvPr id="5" name="Text Box 3"/>
          <p:cNvSpPr txBox="1">
            <a:spLocks noChangeArrowheads="1"/>
          </p:cNvSpPr>
          <p:nvPr/>
        </p:nvSpPr>
        <p:spPr bwMode="auto">
          <a:xfrm>
            <a:off x="215516" y="5217942"/>
            <a:ext cx="8820979" cy="887304"/>
          </a:xfrm>
          <a:prstGeom prst="rect">
            <a:avLst/>
          </a:prstGeom>
          <a:solidFill>
            <a:srgbClr val="FFFFFF"/>
          </a:solidFill>
          <a:ln w="38100" cmpd="dbl">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a:ln>
                  <a:noFill/>
                </a:ln>
                <a:solidFill>
                  <a:schemeClr val="tx1"/>
                </a:solidFill>
                <a:effectLst/>
                <a:latin typeface="Arial" pitchFamily="34" charset="0"/>
                <a:cs typeface="Arial" pitchFamily="34" charset="0"/>
              </a:rPr>
              <a:t>This resource is strictly for the use of member schools for as long as they remain members of The PiXL Club. It may not be copied, sold nor transferred to a third party or used by the school after membership ceases. Until such time it may be freely used within the member school.</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altLang="en-US" sz="1000" b="0" i="0" u="none" strike="noStrike" cap="none" normalizeH="0" baseline="0">
              <a:ln>
                <a:noFill/>
              </a:ln>
              <a:solidFill>
                <a:schemeClr val="tx1"/>
              </a:solidFill>
              <a:effectLst/>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a:ln>
                  <a:noFill/>
                </a:ln>
                <a:solidFill>
                  <a:schemeClr val="tx1"/>
                </a:solidFill>
                <a:effectLst/>
                <a:latin typeface="Arial" pitchFamily="34" charset="0"/>
                <a:cs typeface="Arial" pitchFamily="34" charset="0"/>
              </a:rPr>
              <a:t>All opinions and contributions are those of the authors. The contents of this resource are not connected with nor endorsed by any other company, organisation or institution.</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6" name="TextBox 5"/>
          <p:cNvSpPr txBox="1"/>
          <p:nvPr/>
        </p:nvSpPr>
        <p:spPr>
          <a:xfrm>
            <a:off x="827584" y="6237312"/>
            <a:ext cx="7272808" cy="400110"/>
          </a:xfrm>
          <a:prstGeom prst="rect">
            <a:avLst/>
          </a:prstGeom>
          <a:noFill/>
        </p:spPr>
        <p:txBody>
          <a:bodyPr wrap="square" rtlCol="0">
            <a:spAutoFit/>
          </a:bodyPr>
          <a:lstStyle/>
          <a:p>
            <a:r>
              <a:rPr lang="en-US" sz="1000" u="sng" dirty="0">
                <a:hlinkClick r:id="rId3"/>
              </a:rPr>
              <a:t>www.pixl.org.uk</a:t>
            </a:r>
            <a:r>
              <a:rPr lang="en-US" sz="1000" dirty="0"/>
              <a:t>					The PiXL Club Ltd, Company number 07321607</a:t>
            </a:r>
            <a:endParaRPr lang="en-GB" sz="1000" dirty="0"/>
          </a:p>
          <a:p>
            <a:endParaRPr lang="en-GB" sz="1000" dirty="0"/>
          </a:p>
        </p:txBody>
      </p:sp>
      <p:sp>
        <p:nvSpPr>
          <p:cNvPr id="7" name="TextBox 6"/>
          <p:cNvSpPr txBox="1"/>
          <p:nvPr/>
        </p:nvSpPr>
        <p:spPr>
          <a:xfrm>
            <a:off x="2555775" y="4747322"/>
            <a:ext cx="3816424" cy="338554"/>
          </a:xfrm>
          <a:prstGeom prst="rect">
            <a:avLst/>
          </a:prstGeom>
          <a:noFill/>
        </p:spPr>
        <p:txBody>
          <a:bodyPr wrap="square" rtlCol="0">
            <a:spAutoFit/>
          </a:bodyPr>
          <a:lstStyle/>
          <a:p>
            <a:pPr algn="ctr"/>
            <a:r>
              <a:rPr lang="en-GB" sz="1600" dirty="0"/>
              <a:t>© Copyright The PiXL Club Ltd, 2017</a:t>
            </a:r>
          </a:p>
        </p:txBody>
      </p:sp>
      <p:sp>
        <p:nvSpPr>
          <p:cNvPr id="8" name="TextBox 7"/>
          <p:cNvSpPr txBox="1"/>
          <p:nvPr/>
        </p:nvSpPr>
        <p:spPr>
          <a:xfrm>
            <a:off x="233952" y="881336"/>
            <a:ext cx="8496943" cy="4742837"/>
          </a:xfrm>
          <a:prstGeom prst="rect">
            <a:avLst/>
          </a:prstGeom>
          <a:noFill/>
        </p:spPr>
        <p:txBody>
          <a:bodyPr wrap="square" rtlCol="0">
            <a:spAutoFit/>
          </a:bodyPr>
          <a:lstStyle/>
          <a:p>
            <a:pPr algn="ctr">
              <a:lnSpc>
                <a:spcPct val="115000"/>
              </a:lnSpc>
              <a:spcAft>
                <a:spcPts val="0"/>
              </a:spcAft>
            </a:pPr>
            <a:r>
              <a:rPr lang="en-GB" sz="7200" b="1" dirty="0"/>
              <a:t>PiXL </a:t>
            </a:r>
            <a:r>
              <a:rPr lang="en-GB" sz="7200" b="1" dirty="0" err="1"/>
              <a:t>KnowIT</a:t>
            </a:r>
            <a:r>
              <a:rPr lang="en-GB" sz="7200" b="1" dirty="0"/>
              <a:t>!</a:t>
            </a:r>
          </a:p>
          <a:p>
            <a:pPr algn="ctr">
              <a:lnSpc>
                <a:spcPct val="115000"/>
              </a:lnSpc>
              <a:spcAft>
                <a:spcPts val="0"/>
              </a:spcAft>
            </a:pPr>
            <a:r>
              <a:rPr lang="en-GB" sz="3600" b="1" dirty="0">
                <a:latin typeface="Arial" panose="020B0604020202020204" pitchFamily="34" charset="0"/>
                <a:ea typeface="Calibri" panose="020F0502020204030204" pitchFamily="34" charset="0"/>
                <a:cs typeface="Times New Roman" panose="02020603050405020304" pitchFamily="18" charset="0"/>
              </a:rPr>
              <a:t>GCSE Chemistry</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ctr"/>
            <a:r>
              <a:rPr lang="en-GB" dirty="0"/>
              <a:t> </a:t>
            </a:r>
          </a:p>
          <a:p>
            <a:pPr algn="ctr"/>
            <a:endParaRPr lang="en-GB" dirty="0"/>
          </a:p>
          <a:p>
            <a:pPr algn="ctr"/>
            <a:r>
              <a:rPr lang="en-GB" sz="4400" b="1" dirty="0">
                <a:solidFill>
                  <a:schemeClr val="accent2"/>
                </a:solidFill>
              </a:rPr>
              <a:t>Edexcel Topic – States of matter and mixtures</a:t>
            </a:r>
          </a:p>
          <a:p>
            <a:pPr algn="ctr"/>
            <a:r>
              <a:rPr lang="en-GB" dirty="0"/>
              <a:t>  </a:t>
            </a:r>
          </a:p>
          <a:p>
            <a:pPr algn="ctr"/>
            <a:r>
              <a:rPr lang="en-GB" dirty="0"/>
              <a:t> </a:t>
            </a:r>
          </a:p>
          <a:p>
            <a:pPr algn="ctr"/>
            <a:endParaRPr lang="en-GB" dirty="0"/>
          </a:p>
        </p:txBody>
      </p:sp>
      <p:pic>
        <p:nvPicPr>
          <p:cNvPr id="9" name="374f7cfc-9279-43ad-9851-155d90395642" descr="image001"/>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5552" y="58096"/>
            <a:ext cx="1484057" cy="11047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937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83768" y="35655"/>
            <a:ext cx="6660232" cy="1017081"/>
          </a:xfrm>
        </p:spPr>
        <p:txBody>
          <a:bodyPr>
            <a:normAutofit fontScale="90000"/>
          </a:bodyPr>
          <a:lstStyle/>
          <a:p>
            <a:pPr algn="r"/>
            <a:r>
              <a:rPr lang="en-GB" b="1" dirty="0">
                <a:solidFill>
                  <a:schemeClr val="accent6"/>
                </a:solidFill>
              </a:rPr>
              <a:t>Overview </a:t>
            </a:r>
            <a:br>
              <a:rPr lang="en-GB" b="1" dirty="0">
                <a:solidFill>
                  <a:schemeClr val="accent6"/>
                </a:solidFill>
              </a:rPr>
            </a:br>
            <a:r>
              <a:rPr lang="en-GB" b="1" dirty="0">
                <a:solidFill>
                  <a:schemeClr val="accent6"/>
                </a:solidFill>
              </a:rPr>
              <a:t> </a:t>
            </a:r>
            <a:r>
              <a:rPr lang="en-GB" sz="2700" b="1" dirty="0">
                <a:solidFill>
                  <a:schemeClr val="accent6"/>
                </a:solidFill>
              </a:rPr>
              <a:t>States of matter and mixtures</a:t>
            </a:r>
          </a:p>
        </p:txBody>
      </p:sp>
      <p:sp>
        <p:nvSpPr>
          <p:cNvPr id="3" name="Subtitle 2"/>
          <p:cNvSpPr>
            <a:spLocks noGrp="1"/>
          </p:cNvSpPr>
          <p:nvPr>
            <p:ph type="subTitle" idx="1"/>
          </p:nvPr>
        </p:nvSpPr>
        <p:spPr>
          <a:xfrm>
            <a:off x="261065" y="944723"/>
            <a:ext cx="5552819" cy="5688632"/>
          </a:xfrm>
        </p:spPr>
        <p:txBody>
          <a:bodyPr>
            <a:normAutofit/>
          </a:bodyPr>
          <a:lstStyle/>
          <a:p>
            <a:pPr algn="l"/>
            <a:r>
              <a:rPr lang="en-US" sz="2000" b="1" dirty="0">
                <a:solidFill>
                  <a:schemeClr val="tx1"/>
                </a:solidFill>
                <a:latin typeface="+mn-lt"/>
              </a:rPr>
              <a:t>Changes of state</a:t>
            </a:r>
          </a:p>
          <a:p>
            <a:pPr marL="685800" lvl="1" indent="-342900" algn="l">
              <a:buFont typeface="Arial" charset="0"/>
              <a:buChar char="•"/>
            </a:pPr>
            <a:r>
              <a:rPr lang="en-US" sz="2000" dirty="0">
                <a:solidFill>
                  <a:schemeClr val="tx1"/>
                </a:solidFill>
              </a:rPr>
              <a:t>States of matter</a:t>
            </a:r>
          </a:p>
          <a:p>
            <a:pPr marL="685800" lvl="1" indent="-342900" algn="l">
              <a:buFont typeface="Arial" charset="0"/>
              <a:buChar char="•"/>
            </a:pPr>
            <a:r>
              <a:rPr lang="en-US" sz="2000" dirty="0">
                <a:solidFill>
                  <a:schemeClr val="tx1"/>
                </a:solidFill>
              </a:rPr>
              <a:t>Interconversions between states</a:t>
            </a:r>
          </a:p>
          <a:p>
            <a:pPr lvl="1" algn="l"/>
            <a:endParaRPr lang="en-US" sz="800" dirty="0">
              <a:solidFill>
                <a:schemeClr val="tx1"/>
              </a:solidFill>
            </a:endParaRPr>
          </a:p>
          <a:p>
            <a:pPr algn="l"/>
            <a:r>
              <a:rPr lang="en-US" sz="2000" b="1" dirty="0">
                <a:solidFill>
                  <a:schemeClr val="tx1"/>
                </a:solidFill>
                <a:latin typeface="+mn-lt"/>
              </a:rPr>
              <a:t>Methods of separating and purifying</a:t>
            </a:r>
          </a:p>
          <a:p>
            <a:pPr marL="685800" lvl="1" indent="-342900" algn="l">
              <a:buFont typeface="Arial" charset="0"/>
              <a:buChar char="•"/>
            </a:pPr>
            <a:r>
              <a:rPr lang="en-US" sz="2000" dirty="0">
                <a:solidFill>
                  <a:schemeClr val="tx1"/>
                </a:solidFill>
              </a:rPr>
              <a:t>‘Pure substances’ and melting point data</a:t>
            </a:r>
          </a:p>
          <a:p>
            <a:pPr marL="685800" lvl="1" indent="-342900" algn="l">
              <a:buFont typeface="Arial" charset="0"/>
              <a:buChar char="•"/>
            </a:pPr>
            <a:r>
              <a:rPr lang="en-US" sz="2000" dirty="0">
                <a:solidFill>
                  <a:schemeClr val="tx1"/>
                </a:solidFill>
              </a:rPr>
              <a:t>Methods of separating mixtures</a:t>
            </a:r>
          </a:p>
          <a:p>
            <a:pPr marL="685800" lvl="1" indent="-342900" algn="l">
              <a:buFont typeface="Arial" charset="0"/>
              <a:buChar char="•"/>
            </a:pPr>
            <a:r>
              <a:rPr lang="en-US" sz="2000" dirty="0">
                <a:solidFill>
                  <a:schemeClr val="tx1"/>
                </a:solidFill>
              </a:rPr>
              <a:t>Paper chromatography</a:t>
            </a:r>
          </a:p>
          <a:p>
            <a:pPr lvl="1" algn="l"/>
            <a:endParaRPr lang="en-US" sz="800" dirty="0">
              <a:solidFill>
                <a:schemeClr val="tx1"/>
              </a:solidFill>
            </a:endParaRPr>
          </a:p>
          <a:p>
            <a:pPr marL="685800" lvl="1" indent="-342900" algn="l">
              <a:buFont typeface="Arial" charset="0"/>
              <a:buChar char="•"/>
            </a:pPr>
            <a:endParaRPr lang="en-US" sz="800" dirty="0">
              <a:solidFill>
                <a:schemeClr val="tx1"/>
              </a:solidFill>
            </a:endParaRPr>
          </a:p>
          <a:p>
            <a:pPr algn="l"/>
            <a:r>
              <a:rPr lang="en-US" sz="2000" b="1" dirty="0">
                <a:solidFill>
                  <a:schemeClr val="tx1"/>
                </a:solidFill>
                <a:latin typeface="+mn-lt"/>
              </a:rPr>
              <a:t>Potable water</a:t>
            </a:r>
          </a:p>
          <a:p>
            <a:pPr marL="685800" lvl="1" indent="-342900" algn="l">
              <a:buFont typeface="Arial" charset="0"/>
              <a:buChar char="•"/>
            </a:pPr>
            <a:r>
              <a:rPr lang="en-US" sz="2000" dirty="0">
                <a:solidFill>
                  <a:schemeClr val="tx1"/>
                </a:solidFill>
              </a:rPr>
              <a:t>Ground water</a:t>
            </a:r>
          </a:p>
          <a:p>
            <a:pPr marL="685800" lvl="1" indent="-342900" algn="l">
              <a:buFont typeface="Arial" charset="0"/>
              <a:buChar char="•"/>
            </a:pPr>
            <a:r>
              <a:rPr lang="en-US" sz="2000" dirty="0">
                <a:solidFill>
                  <a:schemeClr val="tx1"/>
                </a:solidFill>
              </a:rPr>
              <a:t>Sea water</a:t>
            </a:r>
          </a:p>
          <a:p>
            <a:pPr marL="685800" lvl="1" indent="-342900" algn="l">
              <a:buFont typeface="Arial" charset="0"/>
              <a:buChar char="•"/>
            </a:pPr>
            <a:r>
              <a:rPr lang="en-US" sz="2000" dirty="0">
                <a:solidFill>
                  <a:schemeClr val="tx1"/>
                </a:solidFill>
              </a:rPr>
              <a:t>Waste water</a:t>
            </a:r>
          </a:p>
          <a:p>
            <a:pPr algn="l"/>
            <a:endParaRPr lang="en-GB" dirty="0">
              <a:solidFill>
                <a:schemeClr val="tx1"/>
              </a:solidFill>
            </a:endParaRPr>
          </a:p>
        </p:txBody>
      </p:sp>
      <p:pic>
        <p:nvPicPr>
          <p:cNvPr id="1026"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096" y="1322939"/>
            <a:ext cx="3473090" cy="4932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2448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652120" cy="4216539"/>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Changes of State</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States of matter</a:t>
            </a:r>
          </a:p>
          <a:p>
            <a:endParaRPr lang="en-GB" dirty="0"/>
          </a:p>
        </p:txBody>
      </p:sp>
    </p:spTree>
    <p:extLst>
      <p:ext uri="{BB962C8B-B14F-4D97-AF65-F5344CB8AC3E}">
        <p14:creationId xmlns:p14="http://schemas.microsoft.com/office/powerpoint/2010/main" val="632385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States of matter and state symbols</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251520" y="718374"/>
            <a:ext cx="8640960" cy="1323439"/>
          </a:xfrm>
          <a:prstGeom prst="rect">
            <a:avLst/>
          </a:prstGeom>
          <a:noFill/>
        </p:spPr>
        <p:txBody>
          <a:bodyPr wrap="square" rtlCol="0">
            <a:spAutoFit/>
          </a:bodyPr>
          <a:lstStyle/>
          <a:p>
            <a:pPr algn="ctr"/>
            <a:r>
              <a:rPr lang="en-GB" sz="2000" dirty="0"/>
              <a:t>There are </a:t>
            </a:r>
            <a:r>
              <a:rPr lang="en-GB" sz="2000" b="1" dirty="0"/>
              <a:t>three</a:t>
            </a:r>
            <a:r>
              <a:rPr lang="en-GB" sz="2000" dirty="0"/>
              <a:t> states of matter – </a:t>
            </a:r>
            <a:r>
              <a:rPr lang="en-GB" sz="2000" b="1" dirty="0"/>
              <a:t>solid, liquid </a:t>
            </a:r>
            <a:r>
              <a:rPr lang="en-GB" sz="2000" dirty="0"/>
              <a:t>and </a:t>
            </a:r>
            <a:r>
              <a:rPr lang="en-GB" sz="2000" b="1" dirty="0"/>
              <a:t>gas</a:t>
            </a:r>
            <a:r>
              <a:rPr lang="en-GB" sz="2000" dirty="0"/>
              <a:t>. To explain the properties of the states, the </a:t>
            </a:r>
            <a:r>
              <a:rPr lang="en-GB" sz="2000" b="1" dirty="0"/>
              <a:t>particle theory </a:t>
            </a:r>
            <a:r>
              <a:rPr lang="en-GB" sz="2000" dirty="0"/>
              <a:t>is used. It is based on the fact that all matter is made up of tiny particles and describes the </a:t>
            </a:r>
            <a:r>
              <a:rPr lang="en-GB" sz="2000" b="1" dirty="0"/>
              <a:t>movement</a:t>
            </a:r>
            <a:r>
              <a:rPr lang="en-GB" sz="2000" dirty="0"/>
              <a:t> and </a:t>
            </a:r>
            <a:r>
              <a:rPr lang="en-GB" sz="2000" b="1" dirty="0"/>
              <a:t>distance</a:t>
            </a:r>
            <a:r>
              <a:rPr lang="en-GB" sz="2000" dirty="0"/>
              <a:t> between particles.</a:t>
            </a:r>
          </a:p>
        </p:txBody>
      </p:sp>
      <p:sp>
        <p:nvSpPr>
          <p:cNvPr id="8" name="TextBox 7">
            <a:extLst>
              <a:ext uri="{FF2B5EF4-FFF2-40B4-BE49-F238E27FC236}">
                <a16:creationId xmlns:a16="http://schemas.microsoft.com/office/drawing/2014/main" id="{25CB107A-DC70-4D21-99C9-EBCAA3C871E0}"/>
              </a:ext>
            </a:extLst>
          </p:cNvPr>
          <p:cNvSpPr txBox="1"/>
          <p:nvPr/>
        </p:nvSpPr>
        <p:spPr>
          <a:xfrm>
            <a:off x="251520" y="5554735"/>
            <a:ext cx="8640960" cy="83099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GB" sz="2400" dirty="0"/>
              <a:t>In chemical equations, the three states are shown as </a:t>
            </a:r>
            <a:r>
              <a:rPr lang="en-GB" sz="2400" b="1" dirty="0"/>
              <a:t>(s), (l), (g) </a:t>
            </a:r>
          </a:p>
          <a:p>
            <a:pPr algn="ctr"/>
            <a:r>
              <a:rPr lang="en-GB" sz="2400" dirty="0"/>
              <a:t>and </a:t>
            </a:r>
            <a:r>
              <a:rPr lang="en-GB" sz="2400" b="1" dirty="0"/>
              <a:t>(</a:t>
            </a:r>
            <a:r>
              <a:rPr lang="en-GB" sz="2400" b="1" dirty="0" err="1"/>
              <a:t>aq</a:t>
            </a:r>
            <a:r>
              <a:rPr lang="en-GB" sz="2400" b="1" dirty="0"/>
              <a:t>) </a:t>
            </a:r>
            <a:r>
              <a:rPr lang="en-GB" sz="2400" dirty="0"/>
              <a:t>for aqueous solutions.</a:t>
            </a:r>
          </a:p>
        </p:txBody>
      </p:sp>
      <p:graphicFrame>
        <p:nvGraphicFramePr>
          <p:cNvPr id="5" name="Table 4"/>
          <p:cNvGraphicFramePr>
            <a:graphicFrameLocks noGrp="1"/>
          </p:cNvGraphicFramePr>
          <p:nvPr>
            <p:extLst/>
          </p:nvPr>
        </p:nvGraphicFramePr>
        <p:xfrm>
          <a:off x="266392" y="2067491"/>
          <a:ext cx="8640960" cy="3322320"/>
        </p:xfrm>
        <a:graphic>
          <a:graphicData uri="http://schemas.openxmlformats.org/drawingml/2006/table">
            <a:tbl>
              <a:tblPr firstRow="1" bandRow="1">
                <a:tableStyleId>{912C8C85-51F0-491E-9774-3900AFEF0FD7}</a:tableStyleId>
              </a:tblPr>
              <a:tblGrid>
                <a:gridCol w="2880320">
                  <a:extLst>
                    <a:ext uri="{9D8B030D-6E8A-4147-A177-3AD203B41FA5}">
                      <a16:colId xmlns:a16="http://schemas.microsoft.com/office/drawing/2014/main" val="20000"/>
                    </a:ext>
                  </a:extLst>
                </a:gridCol>
                <a:gridCol w="2880320">
                  <a:extLst>
                    <a:ext uri="{9D8B030D-6E8A-4147-A177-3AD203B41FA5}">
                      <a16:colId xmlns:a16="http://schemas.microsoft.com/office/drawing/2014/main" val="20001"/>
                    </a:ext>
                  </a:extLst>
                </a:gridCol>
                <a:gridCol w="2880320">
                  <a:extLst>
                    <a:ext uri="{9D8B030D-6E8A-4147-A177-3AD203B41FA5}">
                      <a16:colId xmlns:a16="http://schemas.microsoft.com/office/drawing/2014/main" val="20002"/>
                    </a:ext>
                  </a:extLst>
                </a:gridCol>
              </a:tblGrid>
              <a:tr h="370840">
                <a:tc>
                  <a:txBody>
                    <a:bodyPr/>
                    <a:lstStyle/>
                    <a:p>
                      <a:pPr algn="ctr"/>
                      <a:r>
                        <a:rPr lang="en-GB" sz="2000" dirty="0"/>
                        <a:t>Solid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dirty="0"/>
                        <a:t>Liquid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dirty="0"/>
                        <a:t>Gas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GB" sz="2000" dirty="0"/>
                        <a:t>Close together, regular pattern, vibrate on the spot.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dirty="0"/>
                        <a:t>Close together, random arrangement, move around each other.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dirty="0"/>
                        <a:t>Far apart, random arrangement, move quickly.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endParaRPr lang="en-GB" sz="2000" dirty="0"/>
                    </a:p>
                    <a:p>
                      <a:endParaRPr lang="en-GB" sz="2000" dirty="0"/>
                    </a:p>
                    <a:p>
                      <a:endParaRPr lang="en-GB" sz="2000" dirty="0"/>
                    </a:p>
                    <a:p>
                      <a:endParaRPr lang="en-GB" sz="2000" dirty="0"/>
                    </a:p>
                    <a:p>
                      <a:endParaRPr lang="en-GB" sz="2000" dirty="0"/>
                    </a:p>
                    <a:p>
                      <a:endParaRPr lang="en-GB"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GB"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GB"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6" name="Picture 5"/>
          <p:cNvPicPr>
            <a:picLocks noChangeAspect="1"/>
          </p:cNvPicPr>
          <p:nvPr/>
        </p:nvPicPr>
        <p:blipFill>
          <a:blip r:embed="rId3">
            <a:duotone>
              <a:schemeClr val="accent6">
                <a:shade val="45000"/>
                <a:satMod val="135000"/>
              </a:schemeClr>
              <a:prstClr val="white"/>
            </a:duotone>
          </a:blip>
          <a:stretch>
            <a:fillRect/>
          </a:stretch>
        </p:blipFill>
        <p:spPr>
          <a:xfrm>
            <a:off x="899592" y="3692818"/>
            <a:ext cx="1476375" cy="1438275"/>
          </a:xfrm>
          <a:prstGeom prst="rect">
            <a:avLst/>
          </a:prstGeom>
        </p:spPr>
      </p:pic>
      <p:pic>
        <p:nvPicPr>
          <p:cNvPr id="7" name="Picture 6"/>
          <p:cNvPicPr>
            <a:picLocks noChangeAspect="1"/>
          </p:cNvPicPr>
          <p:nvPr/>
        </p:nvPicPr>
        <p:blipFill>
          <a:blip r:embed="rId4">
            <a:duotone>
              <a:schemeClr val="accent6">
                <a:shade val="45000"/>
                <a:satMod val="135000"/>
              </a:schemeClr>
              <a:prstClr val="white"/>
            </a:duotone>
          </a:blip>
          <a:stretch>
            <a:fillRect/>
          </a:stretch>
        </p:blipFill>
        <p:spPr>
          <a:xfrm>
            <a:off x="3862387" y="3692818"/>
            <a:ext cx="1419225" cy="1428750"/>
          </a:xfrm>
          <a:prstGeom prst="rect">
            <a:avLst/>
          </a:prstGeom>
        </p:spPr>
      </p:pic>
      <p:pic>
        <p:nvPicPr>
          <p:cNvPr id="9" name="Picture 8"/>
          <p:cNvPicPr>
            <a:picLocks noChangeAspect="1"/>
          </p:cNvPicPr>
          <p:nvPr/>
        </p:nvPicPr>
        <p:blipFill>
          <a:blip r:embed="rId5">
            <a:duotone>
              <a:schemeClr val="accent6">
                <a:shade val="45000"/>
                <a:satMod val="135000"/>
              </a:schemeClr>
              <a:prstClr val="white"/>
            </a:duotone>
          </a:blip>
          <a:stretch>
            <a:fillRect/>
          </a:stretch>
        </p:blipFill>
        <p:spPr>
          <a:xfrm>
            <a:off x="6768032" y="3692818"/>
            <a:ext cx="1400175" cy="1428750"/>
          </a:xfrm>
          <a:prstGeom prst="rect">
            <a:avLst/>
          </a:prstGeom>
        </p:spPr>
      </p:pic>
    </p:spTree>
    <p:extLst>
      <p:ext uri="{BB962C8B-B14F-4D97-AF65-F5344CB8AC3E}">
        <p14:creationId xmlns:p14="http://schemas.microsoft.com/office/powerpoint/2010/main" val="3028046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Changes of state</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2956337" y="986291"/>
            <a:ext cx="6004254" cy="378565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GB" sz="2000" b="1" dirty="0">
                <a:solidFill>
                  <a:schemeClr val="accent6">
                    <a:lumMod val="75000"/>
                  </a:schemeClr>
                </a:solidFill>
              </a:rPr>
              <a:t>Melting</a:t>
            </a:r>
            <a:r>
              <a:rPr lang="en-GB" sz="2000" dirty="0"/>
              <a:t> and </a:t>
            </a:r>
            <a:r>
              <a:rPr lang="en-GB" sz="2000" b="1" dirty="0">
                <a:solidFill>
                  <a:schemeClr val="accent6">
                    <a:lumMod val="75000"/>
                  </a:schemeClr>
                </a:solidFill>
              </a:rPr>
              <a:t>freezing</a:t>
            </a:r>
            <a:r>
              <a:rPr lang="en-GB" sz="2000" dirty="0"/>
              <a:t> take place at the </a:t>
            </a:r>
            <a:r>
              <a:rPr lang="en-GB" sz="2000" b="1" dirty="0">
                <a:solidFill>
                  <a:schemeClr val="accent6">
                    <a:lumMod val="75000"/>
                  </a:schemeClr>
                </a:solidFill>
              </a:rPr>
              <a:t>melting point</a:t>
            </a:r>
            <a:r>
              <a:rPr lang="en-GB" sz="2000" dirty="0"/>
              <a:t>.</a:t>
            </a:r>
          </a:p>
          <a:p>
            <a:r>
              <a:rPr lang="en-GB" sz="2000" b="1" dirty="0">
                <a:solidFill>
                  <a:schemeClr val="accent6">
                    <a:lumMod val="75000"/>
                  </a:schemeClr>
                </a:solidFill>
              </a:rPr>
              <a:t>Boiling </a:t>
            </a:r>
            <a:r>
              <a:rPr lang="en-GB" sz="2000" dirty="0"/>
              <a:t>and </a:t>
            </a:r>
            <a:r>
              <a:rPr lang="en-GB" sz="2000" b="1" dirty="0">
                <a:solidFill>
                  <a:schemeClr val="accent6">
                    <a:lumMod val="75000"/>
                  </a:schemeClr>
                </a:solidFill>
              </a:rPr>
              <a:t>condensing</a:t>
            </a:r>
            <a:r>
              <a:rPr lang="en-GB" sz="2000" dirty="0"/>
              <a:t> take place at the </a:t>
            </a:r>
            <a:r>
              <a:rPr lang="en-GB" sz="2000" b="1" dirty="0">
                <a:solidFill>
                  <a:schemeClr val="accent6">
                    <a:lumMod val="75000"/>
                  </a:schemeClr>
                </a:solidFill>
              </a:rPr>
              <a:t>boiling point</a:t>
            </a:r>
            <a:r>
              <a:rPr lang="en-GB" sz="2000" dirty="0"/>
              <a:t>.</a:t>
            </a:r>
          </a:p>
          <a:p>
            <a:endParaRPr lang="en-GB" sz="2000" dirty="0"/>
          </a:p>
          <a:p>
            <a:r>
              <a:rPr lang="en-GB" sz="2000" dirty="0"/>
              <a:t>The </a:t>
            </a:r>
            <a:r>
              <a:rPr lang="en-GB" sz="2000" b="1" dirty="0">
                <a:solidFill>
                  <a:schemeClr val="accent6">
                    <a:lumMod val="75000"/>
                  </a:schemeClr>
                </a:solidFill>
              </a:rPr>
              <a:t>amount of energy </a:t>
            </a:r>
            <a:r>
              <a:rPr lang="en-GB" sz="2000" dirty="0"/>
              <a:t>required to change the state depends on the </a:t>
            </a:r>
            <a:r>
              <a:rPr lang="en-GB" sz="2000" b="1" dirty="0">
                <a:solidFill>
                  <a:schemeClr val="accent6">
                    <a:lumMod val="75000"/>
                  </a:schemeClr>
                </a:solidFill>
              </a:rPr>
              <a:t>strength of the forces </a:t>
            </a:r>
            <a:r>
              <a:rPr lang="en-GB" sz="2000" dirty="0"/>
              <a:t>between the particles of the substance.</a:t>
            </a:r>
          </a:p>
          <a:p>
            <a:endParaRPr lang="en-GB" sz="2000" dirty="0"/>
          </a:p>
          <a:p>
            <a:r>
              <a:rPr lang="en-GB" sz="2000" dirty="0"/>
              <a:t>The </a:t>
            </a:r>
            <a:r>
              <a:rPr lang="en-GB" sz="2000" b="1" dirty="0">
                <a:solidFill>
                  <a:schemeClr val="accent6">
                    <a:lumMod val="75000"/>
                  </a:schemeClr>
                </a:solidFill>
              </a:rPr>
              <a:t>stronger the forces </a:t>
            </a:r>
            <a:r>
              <a:rPr lang="en-GB" sz="2000" dirty="0"/>
              <a:t>between the particles the </a:t>
            </a:r>
            <a:r>
              <a:rPr lang="en-GB" sz="2000" b="1" dirty="0">
                <a:solidFill>
                  <a:schemeClr val="accent6">
                    <a:lumMod val="75000"/>
                  </a:schemeClr>
                </a:solidFill>
              </a:rPr>
              <a:t>higher the melting and boiling point </a:t>
            </a:r>
            <a:r>
              <a:rPr lang="en-GB" sz="2000" dirty="0"/>
              <a:t>of the substance.</a:t>
            </a:r>
          </a:p>
          <a:p>
            <a:endParaRPr lang="en-GB" sz="2000" dirty="0"/>
          </a:p>
          <a:p>
            <a:r>
              <a:rPr lang="en-GB" sz="2000" dirty="0"/>
              <a:t>The type of bonding and the structure of the substance depend on the particles involved.</a:t>
            </a:r>
          </a:p>
        </p:txBody>
      </p:sp>
      <p:grpSp>
        <p:nvGrpSpPr>
          <p:cNvPr id="11" name="Group 10"/>
          <p:cNvGrpSpPr/>
          <p:nvPr/>
        </p:nvGrpSpPr>
        <p:grpSpPr>
          <a:xfrm>
            <a:off x="-9254" y="930411"/>
            <a:ext cx="2477565" cy="5301977"/>
            <a:chOff x="27993" y="923925"/>
            <a:chExt cx="2477565" cy="5301977"/>
          </a:xfrm>
        </p:grpSpPr>
        <p:pic>
          <p:nvPicPr>
            <p:cNvPr id="10" name="Picture 9"/>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rot="16200000">
              <a:off x="1059842" y="4291380"/>
              <a:ext cx="655930" cy="510168"/>
            </a:xfrm>
            <a:prstGeom prst="rect">
              <a:avLst/>
            </a:prstGeom>
          </p:spPr>
        </p:pic>
        <p:pic>
          <p:nvPicPr>
            <p:cNvPr id="5" name="Picture 4"/>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rot="16200000">
              <a:off x="1021781" y="2357805"/>
              <a:ext cx="655930" cy="510168"/>
            </a:xfrm>
            <a:prstGeom prst="rect">
              <a:avLst/>
            </a:prstGeom>
          </p:spPr>
        </p:pic>
        <p:pic>
          <p:nvPicPr>
            <p:cNvPr id="6" name="Picture 5"/>
            <p:cNvPicPr>
              <a:picLocks noChangeAspect="1"/>
            </p:cNvPicPr>
            <p:nvPr/>
          </p:nvPicPr>
          <p:blipFill>
            <a:blip r:embed="rId4">
              <a:duotone>
                <a:schemeClr val="accent6">
                  <a:shade val="45000"/>
                  <a:satMod val="135000"/>
                </a:schemeClr>
                <a:prstClr val="white"/>
              </a:duotone>
            </a:blip>
            <a:stretch>
              <a:fillRect/>
            </a:stretch>
          </p:blipFill>
          <p:spPr>
            <a:xfrm>
              <a:off x="611560" y="923925"/>
              <a:ext cx="1476375" cy="1438275"/>
            </a:xfrm>
            <a:prstGeom prst="rect">
              <a:avLst/>
            </a:prstGeom>
          </p:spPr>
        </p:pic>
        <p:pic>
          <p:nvPicPr>
            <p:cNvPr id="7" name="Picture 6"/>
            <p:cNvPicPr>
              <a:picLocks noChangeAspect="1"/>
            </p:cNvPicPr>
            <p:nvPr/>
          </p:nvPicPr>
          <p:blipFill>
            <a:blip r:embed="rId5">
              <a:duotone>
                <a:schemeClr val="accent6">
                  <a:shade val="45000"/>
                  <a:satMod val="135000"/>
                </a:schemeClr>
                <a:prstClr val="white"/>
              </a:duotone>
            </a:blip>
            <a:stretch>
              <a:fillRect/>
            </a:stretch>
          </p:blipFill>
          <p:spPr>
            <a:xfrm>
              <a:off x="640134" y="2867025"/>
              <a:ext cx="1419225" cy="1428750"/>
            </a:xfrm>
            <a:prstGeom prst="rect">
              <a:avLst/>
            </a:prstGeom>
          </p:spPr>
        </p:pic>
        <p:pic>
          <p:nvPicPr>
            <p:cNvPr id="8" name="Picture 7"/>
            <p:cNvPicPr>
              <a:picLocks noChangeAspect="1"/>
            </p:cNvPicPr>
            <p:nvPr/>
          </p:nvPicPr>
          <p:blipFill>
            <a:blip r:embed="rId6">
              <a:duotone>
                <a:schemeClr val="accent6">
                  <a:shade val="45000"/>
                  <a:satMod val="135000"/>
                </a:schemeClr>
                <a:prstClr val="white"/>
              </a:duotone>
            </a:blip>
            <a:stretch>
              <a:fillRect/>
            </a:stretch>
          </p:blipFill>
          <p:spPr>
            <a:xfrm>
              <a:off x="687720" y="4797152"/>
              <a:ext cx="1400175" cy="1428750"/>
            </a:xfrm>
            <a:prstGeom prst="rect">
              <a:avLst/>
            </a:prstGeom>
          </p:spPr>
        </p:pic>
        <p:sp>
          <p:nvSpPr>
            <p:cNvPr id="9" name="TextBox 8"/>
            <p:cNvSpPr txBox="1"/>
            <p:nvPr/>
          </p:nvSpPr>
          <p:spPr>
            <a:xfrm>
              <a:off x="1592673" y="2375592"/>
              <a:ext cx="912885" cy="369332"/>
            </a:xfrm>
            <a:prstGeom prst="rect">
              <a:avLst/>
            </a:prstGeom>
            <a:noFill/>
          </p:spPr>
          <p:txBody>
            <a:bodyPr wrap="square" rtlCol="0">
              <a:spAutoFit/>
            </a:bodyPr>
            <a:lstStyle/>
            <a:p>
              <a:r>
                <a:rPr lang="en-GB" dirty="0"/>
                <a:t>Melting</a:t>
              </a:r>
            </a:p>
          </p:txBody>
        </p:sp>
        <p:sp>
          <p:nvSpPr>
            <p:cNvPr id="12" name="TextBox 11"/>
            <p:cNvSpPr txBox="1"/>
            <p:nvPr/>
          </p:nvSpPr>
          <p:spPr>
            <a:xfrm>
              <a:off x="160437" y="2375592"/>
              <a:ext cx="1054566" cy="369332"/>
            </a:xfrm>
            <a:prstGeom prst="rect">
              <a:avLst/>
            </a:prstGeom>
            <a:noFill/>
          </p:spPr>
          <p:txBody>
            <a:bodyPr wrap="square" rtlCol="0">
              <a:spAutoFit/>
            </a:bodyPr>
            <a:lstStyle/>
            <a:p>
              <a:r>
                <a:rPr lang="en-GB" dirty="0"/>
                <a:t>Freezing</a:t>
              </a:r>
            </a:p>
          </p:txBody>
        </p:sp>
        <p:sp>
          <p:nvSpPr>
            <p:cNvPr id="13" name="TextBox 12"/>
            <p:cNvSpPr txBox="1"/>
            <p:nvPr/>
          </p:nvSpPr>
          <p:spPr>
            <a:xfrm>
              <a:off x="27993" y="4361797"/>
              <a:ext cx="1376524" cy="369332"/>
            </a:xfrm>
            <a:prstGeom prst="rect">
              <a:avLst/>
            </a:prstGeom>
            <a:noFill/>
          </p:spPr>
          <p:txBody>
            <a:bodyPr wrap="square" rtlCol="0">
              <a:spAutoFit/>
            </a:bodyPr>
            <a:lstStyle/>
            <a:p>
              <a:r>
                <a:rPr lang="en-GB" dirty="0"/>
                <a:t>Condensing</a:t>
              </a:r>
            </a:p>
          </p:txBody>
        </p:sp>
        <p:sp>
          <p:nvSpPr>
            <p:cNvPr id="14" name="TextBox 13"/>
            <p:cNvSpPr txBox="1"/>
            <p:nvPr/>
          </p:nvSpPr>
          <p:spPr>
            <a:xfrm>
              <a:off x="1592672" y="4361797"/>
              <a:ext cx="912885" cy="369332"/>
            </a:xfrm>
            <a:prstGeom prst="rect">
              <a:avLst/>
            </a:prstGeom>
            <a:noFill/>
          </p:spPr>
          <p:txBody>
            <a:bodyPr wrap="square" rtlCol="0">
              <a:spAutoFit/>
            </a:bodyPr>
            <a:lstStyle/>
            <a:p>
              <a:r>
                <a:rPr lang="en-GB" dirty="0"/>
                <a:t>Boiling</a:t>
              </a:r>
            </a:p>
          </p:txBody>
        </p:sp>
      </p:grpSp>
      <p:sp>
        <p:nvSpPr>
          <p:cNvPr id="16" name="TextBox 15">
            <a:extLst>
              <a:ext uri="{FF2B5EF4-FFF2-40B4-BE49-F238E27FC236}">
                <a16:creationId xmlns:a16="http://schemas.microsoft.com/office/drawing/2014/main" id="{069D24D6-BF3E-48D1-A1E3-FB8C618604DE}"/>
              </a:ext>
            </a:extLst>
          </p:cNvPr>
          <p:cNvSpPr txBox="1"/>
          <p:nvPr/>
        </p:nvSpPr>
        <p:spPr>
          <a:xfrm>
            <a:off x="2468309" y="5035958"/>
            <a:ext cx="6510569" cy="70788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GB" sz="2000" dirty="0"/>
              <a:t>These are PHYSICAL changes and can easily be reversed, unlike CHEMICAL changes.</a:t>
            </a:r>
          </a:p>
        </p:txBody>
      </p:sp>
    </p:spTree>
    <p:extLst>
      <p:ext uri="{BB962C8B-B14F-4D97-AF65-F5344CB8AC3E}">
        <p14:creationId xmlns:p14="http://schemas.microsoft.com/office/powerpoint/2010/main" val="3189062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3662541"/>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Changes of State</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States of matter</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4263445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Properties of substances – 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743393" cy="5786199"/>
          </a:xfrm>
          <a:prstGeom prst="rect">
            <a:avLst/>
          </a:prstGeom>
          <a:noFill/>
        </p:spPr>
        <p:txBody>
          <a:bodyPr wrap="square" rtlCol="0">
            <a:spAutoFit/>
          </a:bodyPr>
          <a:lstStyle/>
          <a:p>
            <a:pPr marL="457200" indent="-457200">
              <a:buFont typeface="+mj-lt"/>
              <a:buAutoNum type="arabicPeriod"/>
            </a:pPr>
            <a:r>
              <a:rPr lang="en-GB" sz="2400" dirty="0"/>
              <a:t>What are the three states of matter?</a:t>
            </a:r>
          </a:p>
          <a:p>
            <a:pPr marL="457200" indent="-457200">
              <a:buFont typeface="+mj-lt"/>
              <a:buAutoNum type="arabicPeriod"/>
            </a:pPr>
            <a:endParaRPr lang="en-GB" sz="2400" dirty="0"/>
          </a:p>
          <a:p>
            <a:pPr marL="457200" indent="-457200">
              <a:buFont typeface="+mj-lt"/>
              <a:buAutoNum type="arabicPeriod"/>
            </a:pPr>
            <a:r>
              <a:rPr lang="en-GB" sz="2400" dirty="0"/>
              <a:t>Describe the movement and relative amounts of energy of particles in these three states of matter.</a:t>
            </a:r>
          </a:p>
          <a:p>
            <a:pPr marL="457200" indent="-457200">
              <a:buFont typeface="+mj-lt"/>
              <a:buAutoNum type="arabicPeriod"/>
            </a:pPr>
            <a:endParaRPr lang="en-GB" sz="2400" dirty="0"/>
          </a:p>
          <a:p>
            <a:pPr marL="457200" indent="-457200">
              <a:buFont typeface="+mj-lt"/>
              <a:buAutoNum type="arabicPeriod"/>
            </a:pPr>
            <a:r>
              <a:rPr lang="en-GB" sz="2400" dirty="0"/>
              <a:t>What is used to represent particles in the simple particle model?</a:t>
            </a:r>
          </a:p>
          <a:p>
            <a:pPr marL="457200" indent="-457200">
              <a:buFont typeface="+mj-lt"/>
              <a:buAutoNum type="arabicPeriod"/>
            </a:pPr>
            <a:endParaRPr lang="en-GB" sz="2400" dirty="0"/>
          </a:p>
          <a:p>
            <a:pPr marL="457200" indent="-457200">
              <a:buFont typeface="+mj-lt"/>
              <a:buAutoNum type="arabicPeriod"/>
            </a:pPr>
            <a:r>
              <a:rPr lang="en-GB" sz="2400" dirty="0"/>
              <a:t>What takes place at the melting point?</a:t>
            </a:r>
          </a:p>
          <a:p>
            <a:pPr marL="457200" indent="-457200">
              <a:buFont typeface="+mj-lt"/>
              <a:buAutoNum type="arabicPeriod"/>
            </a:pPr>
            <a:endParaRPr lang="en-GB" sz="2400" dirty="0"/>
          </a:p>
          <a:p>
            <a:pPr marL="457200" indent="-457200">
              <a:buFont typeface="+mj-lt"/>
              <a:buAutoNum type="arabicPeriod"/>
            </a:pPr>
            <a:r>
              <a:rPr lang="en-GB" sz="2400" dirty="0"/>
              <a:t>What takes place at the boiling point?</a:t>
            </a:r>
          </a:p>
          <a:p>
            <a:pPr marL="457200" indent="-457200">
              <a:buFont typeface="+mj-lt"/>
              <a:buAutoNum type="arabicPeriod"/>
            </a:pPr>
            <a:endParaRPr lang="en-GB" sz="2400" dirty="0"/>
          </a:p>
          <a:p>
            <a:pPr marL="457200" indent="-457200">
              <a:buFont typeface="+mj-lt"/>
              <a:buAutoNum type="arabicPeriod"/>
            </a:pPr>
            <a:r>
              <a:rPr lang="en-GB" sz="2400" dirty="0"/>
              <a:t>What factor affects the amount of energy needed to change state?</a:t>
            </a:r>
          </a:p>
          <a:p>
            <a:pPr marL="457200" indent="-457200">
              <a:buFont typeface="+mj-lt"/>
              <a:buAutoNum type="arabicPeriod"/>
            </a:pPr>
            <a:endParaRPr lang="en-GB" sz="2400" dirty="0"/>
          </a:p>
          <a:p>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1066378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9464" y="620688"/>
            <a:ext cx="4824536" cy="5257800"/>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940152" cy="3385542"/>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Changes of State</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States of matter</a:t>
            </a:r>
          </a:p>
        </p:txBody>
      </p:sp>
    </p:spTree>
    <p:extLst>
      <p:ext uri="{BB962C8B-B14F-4D97-AF65-F5344CB8AC3E}">
        <p14:creationId xmlns:p14="http://schemas.microsoft.com/office/powerpoint/2010/main" val="1535306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Properties of substances – Part 1–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57041"/>
            <a:ext cx="8743393" cy="6001643"/>
          </a:xfrm>
          <a:prstGeom prst="rect">
            <a:avLst/>
          </a:prstGeom>
          <a:noFill/>
        </p:spPr>
        <p:txBody>
          <a:bodyPr wrap="square" rtlCol="0">
            <a:spAutoFit/>
          </a:bodyPr>
          <a:lstStyle/>
          <a:p>
            <a:pPr marL="457200" indent="-457200">
              <a:buFont typeface="+mj-lt"/>
              <a:buAutoNum type="arabicPeriod"/>
            </a:pPr>
            <a:r>
              <a:rPr lang="en-GB" sz="2400" dirty="0"/>
              <a:t>What are the three states of matter?</a:t>
            </a:r>
          </a:p>
          <a:p>
            <a:pPr lvl="1"/>
            <a:r>
              <a:rPr lang="en-GB" sz="2400" b="1" dirty="0">
                <a:solidFill>
                  <a:srgbClr val="00B050"/>
                </a:solidFill>
              </a:rPr>
              <a:t>Solid, liquid, gas.</a:t>
            </a:r>
            <a:endParaRPr lang="en-GB" sz="2400" dirty="0"/>
          </a:p>
          <a:p>
            <a:pPr marL="457200" indent="-457200">
              <a:buFont typeface="+mj-lt"/>
              <a:buAutoNum type="arabicPeriod"/>
            </a:pPr>
            <a:r>
              <a:rPr lang="en-GB" sz="2400" dirty="0"/>
              <a:t>Describe the movement and relative amounts of energy of particles in these three states of matter.</a:t>
            </a:r>
          </a:p>
          <a:p>
            <a:pPr lvl="1"/>
            <a:r>
              <a:rPr lang="en-GB" sz="2400" b="1" dirty="0">
                <a:solidFill>
                  <a:srgbClr val="00B050"/>
                </a:solidFill>
              </a:rPr>
              <a:t>Solid – vibrate in fixed position, lower energy; liquid – move around each other, higher levels of energy; gas – move freely and randomly, high levels of energy.</a:t>
            </a:r>
          </a:p>
          <a:p>
            <a:pPr marL="457200" indent="-457200">
              <a:buFont typeface="+mj-lt"/>
              <a:buAutoNum type="arabicPeriod"/>
            </a:pPr>
            <a:r>
              <a:rPr lang="en-GB" sz="2400" dirty="0"/>
              <a:t>What is used to represent particles in the simple particle model?</a:t>
            </a:r>
          </a:p>
          <a:p>
            <a:pPr lvl="1"/>
            <a:r>
              <a:rPr lang="en-GB" sz="2400" b="1" dirty="0">
                <a:solidFill>
                  <a:srgbClr val="00B050"/>
                </a:solidFill>
              </a:rPr>
              <a:t>Small solid spheres.</a:t>
            </a:r>
            <a:endParaRPr lang="en-GB" sz="2400" dirty="0"/>
          </a:p>
          <a:p>
            <a:pPr marL="457200" indent="-457200">
              <a:buFont typeface="+mj-lt"/>
              <a:buAutoNum type="arabicPeriod"/>
            </a:pPr>
            <a:r>
              <a:rPr lang="en-GB" sz="2400" dirty="0"/>
              <a:t>What takes place at the melting point?</a:t>
            </a:r>
          </a:p>
          <a:p>
            <a:pPr lvl="1"/>
            <a:r>
              <a:rPr lang="en-GB" sz="2400" b="1" dirty="0">
                <a:solidFill>
                  <a:srgbClr val="00B050"/>
                </a:solidFill>
              </a:rPr>
              <a:t>Melting and freezing.</a:t>
            </a:r>
            <a:endParaRPr lang="en-GB" sz="2400" dirty="0"/>
          </a:p>
          <a:p>
            <a:pPr marL="457200" indent="-457200">
              <a:buFont typeface="+mj-lt"/>
              <a:buAutoNum type="arabicPeriod"/>
            </a:pPr>
            <a:r>
              <a:rPr lang="en-GB" sz="2400" dirty="0"/>
              <a:t>What takes place at the boiling point?</a:t>
            </a:r>
          </a:p>
          <a:p>
            <a:pPr lvl="1"/>
            <a:r>
              <a:rPr lang="en-GB" sz="2400" b="1" dirty="0">
                <a:solidFill>
                  <a:srgbClr val="00B050"/>
                </a:solidFill>
              </a:rPr>
              <a:t>Boiling and condensing.</a:t>
            </a:r>
            <a:endParaRPr lang="en-GB" sz="2400" dirty="0"/>
          </a:p>
          <a:p>
            <a:pPr marL="457200" indent="-457200">
              <a:buFont typeface="+mj-lt"/>
              <a:buAutoNum type="arabicPeriod"/>
            </a:pPr>
            <a:r>
              <a:rPr lang="en-GB" sz="2400" dirty="0"/>
              <a:t>What factor affects the amount of energy needed to change state?</a:t>
            </a:r>
          </a:p>
          <a:p>
            <a:pPr lvl="1"/>
            <a:r>
              <a:rPr lang="en-GB" sz="2400" b="1" dirty="0">
                <a:solidFill>
                  <a:srgbClr val="00B050"/>
                </a:solidFill>
              </a:rPr>
              <a:t>Forces between molecules.</a:t>
            </a:r>
            <a:endParaRPr lang="en-GB" sz="2400" dirty="0"/>
          </a:p>
        </p:txBody>
      </p:sp>
    </p:spTree>
    <p:extLst>
      <p:ext uri="{BB962C8B-B14F-4D97-AF65-F5344CB8AC3E}">
        <p14:creationId xmlns:p14="http://schemas.microsoft.com/office/powerpoint/2010/main" val="2150068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
        <p:nvSpPr>
          <p:cNvPr id="7" name="TextBox 6"/>
          <p:cNvSpPr txBox="1"/>
          <p:nvPr/>
        </p:nvSpPr>
        <p:spPr>
          <a:xfrm>
            <a:off x="-22696" y="675435"/>
            <a:ext cx="3730600" cy="4678204"/>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US" sz="2800" b="1" dirty="0">
                <a:solidFill>
                  <a:schemeClr val="tx1">
                    <a:lumMod val="50000"/>
                    <a:lumOff val="50000"/>
                  </a:schemeClr>
                </a:solidFill>
              </a:rPr>
              <a:t>Methods of separating and purifying substances – Part 1</a:t>
            </a:r>
          </a:p>
          <a:p>
            <a:endParaRPr lang="en-US" sz="2800" b="1" dirty="0">
              <a:solidFill>
                <a:schemeClr val="tx1">
                  <a:lumMod val="50000"/>
                  <a:lumOff val="50000"/>
                </a:schemeClr>
              </a:solidFill>
            </a:endParaRPr>
          </a:p>
          <a:p>
            <a:pPr marL="685800" lvl="1" indent="-342900">
              <a:buFont typeface="Arial" charset="0"/>
              <a:buChar char="•"/>
            </a:pPr>
            <a:r>
              <a:rPr lang="en-US" sz="2400" dirty="0">
                <a:solidFill>
                  <a:schemeClr val="tx1">
                    <a:lumMod val="50000"/>
                    <a:lumOff val="50000"/>
                  </a:schemeClr>
                </a:solidFill>
              </a:rPr>
              <a:t>Pure substances</a:t>
            </a:r>
          </a:p>
        </p:txBody>
      </p:sp>
    </p:spTree>
    <p:extLst>
      <p:ext uri="{BB962C8B-B14F-4D97-AF65-F5344CB8AC3E}">
        <p14:creationId xmlns:p14="http://schemas.microsoft.com/office/powerpoint/2010/main" val="3360449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9672" y="35655"/>
            <a:ext cx="7524328" cy="657041"/>
          </a:xfrm>
        </p:spPr>
        <p:txBody>
          <a:bodyPr>
            <a:noAutofit/>
          </a:bodyPr>
          <a:lstStyle/>
          <a:p>
            <a:pPr marL="342900" lvl="1" algn="r"/>
            <a:r>
              <a:rPr lang="en-US" sz="2400" dirty="0">
                <a:solidFill>
                  <a:schemeClr val="accent6"/>
                </a:solidFill>
              </a:rPr>
              <a:t>Pure substances and Formulations</a:t>
            </a:r>
          </a:p>
        </p:txBody>
      </p:sp>
      <p:sp>
        <p:nvSpPr>
          <p:cNvPr id="4" name="TextBox 3"/>
          <p:cNvSpPr txBox="1"/>
          <p:nvPr/>
        </p:nvSpPr>
        <p:spPr>
          <a:xfrm>
            <a:off x="179512" y="764704"/>
            <a:ext cx="6552728" cy="707886"/>
          </a:xfrm>
          <a:prstGeom prst="rect">
            <a:avLst/>
          </a:prstGeom>
          <a:noFill/>
          <a:ln w="28575">
            <a:solidFill>
              <a:schemeClr val="accent6"/>
            </a:solidFill>
          </a:ln>
        </p:spPr>
        <p:txBody>
          <a:bodyPr wrap="square" rtlCol="0">
            <a:spAutoFit/>
          </a:bodyPr>
          <a:lstStyle/>
          <a:p>
            <a:r>
              <a:rPr lang="en-GB" sz="2000" dirty="0"/>
              <a:t>In chemistry, a </a:t>
            </a:r>
            <a:r>
              <a:rPr lang="en-GB" sz="2000" b="1" dirty="0">
                <a:solidFill>
                  <a:schemeClr val="accent6">
                    <a:lumMod val="75000"/>
                  </a:schemeClr>
                </a:solidFill>
              </a:rPr>
              <a:t>pure substance </a:t>
            </a:r>
            <a:r>
              <a:rPr lang="en-GB" sz="2000" dirty="0"/>
              <a:t>is a </a:t>
            </a:r>
            <a:r>
              <a:rPr lang="en-GB" sz="2000" b="1" dirty="0">
                <a:solidFill>
                  <a:schemeClr val="accent6">
                    <a:lumMod val="75000"/>
                  </a:schemeClr>
                </a:solidFill>
              </a:rPr>
              <a:t>single element or compound</a:t>
            </a:r>
            <a:r>
              <a:rPr lang="en-GB" sz="2000" dirty="0"/>
              <a:t> </a:t>
            </a:r>
            <a:r>
              <a:rPr lang="en-GB" sz="2000" b="1" dirty="0">
                <a:solidFill>
                  <a:schemeClr val="accent6">
                    <a:lumMod val="75000"/>
                  </a:schemeClr>
                </a:solidFill>
              </a:rPr>
              <a:t>not mixed </a:t>
            </a:r>
            <a:r>
              <a:rPr lang="en-GB" sz="2000" dirty="0"/>
              <a:t>with any other substance.</a:t>
            </a:r>
          </a:p>
        </p:txBody>
      </p:sp>
      <p:sp>
        <p:nvSpPr>
          <p:cNvPr id="5" name="TextBox 4"/>
          <p:cNvSpPr txBox="1"/>
          <p:nvPr/>
        </p:nvSpPr>
        <p:spPr>
          <a:xfrm>
            <a:off x="6834775" y="764704"/>
            <a:ext cx="2296284" cy="707886"/>
          </a:xfrm>
          <a:custGeom>
            <a:avLst/>
            <a:gdLst>
              <a:gd name="connsiteX0" fmla="*/ 0 w 1872208"/>
              <a:gd name="connsiteY0" fmla="*/ 0 h 646331"/>
              <a:gd name="connsiteX1" fmla="*/ 1872208 w 1872208"/>
              <a:gd name="connsiteY1" fmla="*/ 0 h 646331"/>
              <a:gd name="connsiteX2" fmla="*/ 1872208 w 1872208"/>
              <a:gd name="connsiteY2" fmla="*/ 646331 h 646331"/>
              <a:gd name="connsiteX3" fmla="*/ 0 w 1872208"/>
              <a:gd name="connsiteY3" fmla="*/ 646331 h 646331"/>
              <a:gd name="connsiteX4" fmla="*/ 0 w 1872208"/>
              <a:gd name="connsiteY4" fmla="*/ 0 h 646331"/>
              <a:gd name="connsiteX0" fmla="*/ 0 w 1885087"/>
              <a:gd name="connsiteY0" fmla="*/ 90152 h 646331"/>
              <a:gd name="connsiteX1" fmla="*/ 1885087 w 1885087"/>
              <a:gd name="connsiteY1" fmla="*/ 0 h 646331"/>
              <a:gd name="connsiteX2" fmla="*/ 1885087 w 1885087"/>
              <a:gd name="connsiteY2" fmla="*/ 646331 h 646331"/>
              <a:gd name="connsiteX3" fmla="*/ 12879 w 1885087"/>
              <a:gd name="connsiteY3" fmla="*/ 646331 h 646331"/>
              <a:gd name="connsiteX4" fmla="*/ 0 w 1885087"/>
              <a:gd name="connsiteY4" fmla="*/ 90152 h 646331"/>
              <a:gd name="connsiteX0" fmla="*/ 0 w 1897966"/>
              <a:gd name="connsiteY0" fmla="*/ 0 h 556179"/>
              <a:gd name="connsiteX1" fmla="*/ 1897966 w 1897966"/>
              <a:gd name="connsiteY1" fmla="*/ 0 h 556179"/>
              <a:gd name="connsiteX2" fmla="*/ 1885087 w 1897966"/>
              <a:gd name="connsiteY2" fmla="*/ 556179 h 556179"/>
              <a:gd name="connsiteX3" fmla="*/ 12879 w 1897966"/>
              <a:gd name="connsiteY3" fmla="*/ 556179 h 556179"/>
              <a:gd name="connsiteX4" fmla="*/ 0 w 1897966"/>
              <a:gd name="connsiteY4" fmla="*/ 0 h 556179"/>
              <a:gd name="connsiteX0" fmla="*/ 12879 w 1910845"/>
              <a:gd name="connsiteY0" fmla="*/ 0 h 633452"/>
              <a:gd name="connsiteX1" fmla="*/ 1910845 w 1910845"/>
              <a:gd name="connsiteY1" fmla="*/ 0 h 633452"/>
              <a:gd name="connsiteX2" fmla="*/ 1897966 w 1910845"/>
              <a:gd name="connsiteY2" fmla="*/ 556179 h 633452"/>
              <a:gd name="connsiteX3" fmla="*/ 0 w 1910845"/>
              <a:gd name="connsiteY3" fmla="*/ 633452 h 633452"/>
              <a:gd name="connsiteX4" fmla="*/ 12879 w 1910845"/>
              <a:gd name="connsiteY4" fmla="*/ 0 h 633452"/>
              <a:gd name="connsiteX0" fmla="*/ 12879 w 1910845"/>
              <a:gd name="connsiteY0" fmla="*/ 0 h 633452"/>
              <a:gd name="connsiteX1" fmla="*/ 1910845 w 1910845"/>
              <a:gd name="connsiteY1" fmla="*/ 0 h 633452"/>
              <a:gd name="connsiteX2" fmla="*/ 1910845 w 1910845"/>
              <a:gd name="connsiteY2" fmla="*/ 633452 h 633452"/>
              <a:gd name="connsiteX3" fmla="*/ 0 w 1910845"/>
              <a:gd name="connsiteY3" fmla="*/ 633452 h 633452"/>
              <a:gd name="connsiteX4" fmla="*/ 12879 w 1910845"/>
              <a:gd name="connsiteY4" fmla="*/ 0 h 633452"/>
              <a:gd name="connsiteX0" fmla="*/ 0 w 1923724"/>
              <a:gd name="connsiteY0" fmla="*/ 0 h 633452"/>
              <a:gd name="connsiteX1" fmla="*/ 1923724 w 1923724"/>
              <a:gd name="connsiteY1" fmla="*/ 0 h 633452"/>
              <a:gd name="connsiteX2" fmla="*/ 1923724 w 1923724"/>
              <a:gd name="connsiteY2" fmla="*/ 633452 h 633452"/>
              <a:gd name="connsiteX3" fmla="*/ 12879 w 1923724"/>
              <a:gd name="connsiteY3" fmla="*/ 633452 h 633452"/>
              <a:gd name="connsiteX4" fmla="*/ 0 w 1923724"/>
              <a:gd name="connsiteY4" fmla="*/ 0 h 633452"/>
              <a:gd name="connsiteX0" fmla="*/ 12879 w 1910845"/>
              <a:gd name="connsiteY0" fmla="*/ 0 h 633452"/>
              <a:gd name="connsiteX1" fmla="*/ 1910845 w 1910845"/>
              <a:gd name="connsiteY1" fmla="*/ 0 h 633452"/>
              <a:gd name="connsiteX2" fmla="*/ 1910845 w 1910845"/>
              <a:gd name="connsiteY2" fmla="*/ 633452 h 633452"/>
              <a:gd name="connsiteX3" fmla="*/ 0 w 1910845"/>
              <a:gd name="connsiteY3" fmla="*/ 633452 h 633452"/>
              <a:gd name="connsiteX4" fmla="*/ 12879 w 1910845"/>
              <a:gd name="connsiteY4" fmla="*/ 0 h 633452"/>
              <a:gd name="connsiteX0" fmla="*/ 0 w 1924076"/>
              <a:gd name="connsiteY0" fmla="*/ 0 h 633452"/>
              <a:gd name="connsiteX1" fmla="*/ 1924076 w 1924076"/>
              <a:gd name="connsiteY1" fmla="*/ 0 h 633452"/>
              <a:gd name="connsiteX2" fmla="*/ 1924076 w 1924076"/>
              <a:gd name="connsiteY2" fmla="*/ 633452 h 633452"/>
              <a:gd name="connsiteX3" fmla="*/ 13231 w 1924076"/>
              <a:gd name="connsiteY3" fmla="*/ 633452 h 633452"/>
              <a:gd name="connsiteX4" fmla="*/ 0 w 1924076"/>
              <a:gd name="connsiteY4" fmla="*/ 0 h 633452"/>
              <a:gd name="connsiteX0" fmla="*/ 12879 w 1910845"/>
              <a:gd name="connsiteY0" fmla="*/ 0 h 633452"/>
              <a:gd name="connsiteX1" fmla="*/ 1910845 w 1910845"/>
              <a:gd name="connsiteY1" fmla="*/ 0 h 633452"/>
              <a:gd name="connsiteX2" fmla="*/ 1910845 w 1910845"/>
              <a:gd name="connsiteY2" fmla="*/ 633452 h 633452"/>
              <a:gd name="connsiteX3" fmla="*/ 0 w 1910845"/>
              <a:gd name="connsiteY3" fmla="*/ 633452 h 633452"/>
              <a:gd name="connsiteX4" fmla="*/ 12879 w 1910845"/>
              <a:gd name="connsiteY4" fmla="*/ 0 h 633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0845" h="633452">
                <a:moveTo>
                  <a:pt x="12879" y="0"/>
                </a:moveTo>
                <a:lnTo>
                  <a:pt x="1910845" y="0"/>
                </a:lnTo>
                <a:lnTo>
                  <a:pt x="1910845" y="633452"/>
                </a:lnTo>
                <a:lnTo>
                  <a:pt x="0" y="633452"/>
                </a:lnTo>
                <a:lnTo>
                  <a:pt x="12879" y="0"/>
                </a:lnTo>
                <a:close/>
              </a:path>
            </a:pathLst>
          </a:custGeom>
          <a:solidFill>
            <a:schemeClr val="accent6"/>
          </a:solidFill>
          <a:ln w="28575">
            <a:solidFill>
              <a:schemeClr val="tx1"/>
            </a:solidFill>
          </a:ln>
        </p:spPr>
        <p:txBody>
          <a:bodyPr wrap="square" rtlCol="0">
            <a:spAutoFit/>
          </a:bodyPr>
          <a:lstStyle/>
          <a:p>
            <a:pPr algn="ctr"/>
            <a:r>
              <a:rPr lang="en-GB" sz="2000" dirty="0"/>
              <a:t>Learn this definition for the exam </a:t>
            </a:r>
          </a:p>
        </p:txBody>
      </p:sp>
      <p:sp>
        <p:nvSpPr>
          <p:cNvPr id="7" name="TextBox 6"/>
          <p:cNvSpPr txBox="1"/>
          <p:nvPr/>
        </p:nvSpPr>
        <p:spPr>
          <a:xfrm>
            <a:off x="456308" y="1985586"/>
            <a:ext cx="3312368" cy="1938992"/>
          </a:xfrm>
          <a:custGeom>
            <a:avLst/>
            <a:gdLst>
              <a:gd name="connsiteX0" fmla="*/ 0 w 3312368"/>
              <a:gd name="connsiteY0" fmla="*/ 0 h 2031325"/>
              <a:gd name="connsiteX1" fmla="*/ 3312368 w 3312368"/>
              <a:gd name="connsiteY1" fmla="*/ 0 h 2031325"/>
              <a:gd name="connsiteX2" fmla="*/ 3312368 w 3312368"/>
              <a:gd name="connsiteY2" fmla="*/ 2031325 h 2031325"/>
              <a:gd name="connsiteX3" fmla="*/ 0 w 3312368"/>
              <a:gd name="connsiteY3" fmla="*/ 2031325 h 2031325"/>
              <a:gd name="connsiteX4" fmla="*/ 0 w 3312368"/>
              <a:gd name="connsiteY4" fmla="*/ 0 h 2031325"/>
              <a:gd name="connsiteX0" fmla="*/ 0 w 3312368"/>
              <a:gd name="connsiteY0" fmla="*/ 0 h 2031325"/>
              <a:gd name="connsiteX1" fmla="*/ 3312368 w 3312368"/>
              <a:gd name="connsiteY1" fmla="*/ 0 h 2031325"/>
              <a:gd name="connsiteX2" fmla="*/ 3312368 w 3312368"/>
              <a:gd name="connsiteY2" fmla="*/ 1735762 h 2031325"/>
              <a:gd name="connsiteX3" fmla="*/ 0 w 3312368"/>
              <a:gd name="connsiteY3" fmla="*/ 2031325 h 2031325"/>
              <a:gd name="connsiteX4" fmla="*/ 0 w 3312368"/>
              <a:gd name="connsiteY4" fmla="*/ 0 h 2031325"/>
              <a:gd name="connsiteX0" fmla="*/ 0 w 3312368"/>
              <a:gd name="connsiteY0" fmla="*/ 0 h 1744997"/>
              <a:gd name="connsiteX1" fmla="*/ 3312368 w 3312368"/>
              <a:gd name="connsiteY1" fmla="*/ 0 h 1744997"/>
              <a:gd name="connsiteX2" fmla="*/ 3312368 w 3312368"/>
              <a:gd name="connsiteY2" fmla="*/ 1735762 h 1744997"/>
              <a:gd name="connsiteX3" fmla="*/ 9237 w 3312368"/>
              <a:gd name="connsiteY3" fmla="*/ 1744997 h 1744997"/>
              <a:gd name="connsiteX4" fmla="*/ 0 w 3312368"/>
              <a:gd name="connsiteY4" fmla="*/ 0 h 1744997"/>
              <a:gd name="connsiteX0" fmla="*/ 0 w 3312368"/>
              <a:gd name="connsiteY0" fmla="*/ 0 h 1735762"/>
              <a:gd name="connsiteX1" fmla="*/ 3312368 w 3312368"/>
              <a:gd name="connsiteY1" fmla="*/ 0 h 1735762"/>
              <a:gd name="connsiteX2" fmla="*/ 3312368 w 3312368"/>
              <a:gd name="connsiteY2" fmla="*/ 1735762 h 1735762"/>
              <a:gd name="connsiteX3" fmla="*/ 9237 w 3312368"/>
              <a:gd name="connsiteY3" fmla="*/ 1726525 h 1735762"/>
              <a:gd name="connsiteX4" fmla="*/ 0 w 3312368"/>
              <a:gd name="connsiteY4" fmla="*/ 0 h 1735762"/>
              <a:gd name="connsiteX0" fmla="*/ 0 w 3312368"/>
              <a:gd name="connsiteY0" fmla="*/ 0 h 1735762"/>
              <a:gd name="connsiteX1" fmla="*/ 3312368 w 3312368"/>
              <a:gd name="connsiteY1" fmla="*/ 0 h 1735762"/>
              <a:gd name="connsiteX2" fmla="*/ 3312368 w 3312368"/>
              <a:gd name="connsiteY2" fmla="*/ 1735762 h 1735762"/>
              <a:gd name="connsiteX3" fmla="*/ 0 w 3312368"/>
              <a:gd name="connsiteY3" fmla="*/ 1726525 h 1735762"/>
              <a:gd name="connsiteX4" fmla="*/ 0 w 3312368"/>
              <a:gd name="connsiteY4" fmla="*/ 0 h 1735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2368" h="1735762">
                <a:moveTo>
                  <a:pt x="0" y="0"/>
                </a:moveTo>
                <a:lnTo>
                  <a:pt x="3312368" y="0"/>
                </a:lnTo>
                <a:lnTo>
                  <a:pt x="3312368" y="1735762"/>
                </a:lnTo>
                <a:lnTo>
                  <a:pt x="0" y="1726525"/>
                </a:lnTo>
                <a:lnTo>
                  <a:pt x="0" y="0"/>
                </a:lnTo>
                <a:close/>
              </a:path>
            </a:pathLst>
          </a:custGeom>
          <a:noFill/>
          <a:ln w="28575">
            <a:solidFill>
              <a:schemeClr val="accent6"/>
            </a:solidFill>
          </a:ln>
        </p:spPr>
        <p:txBody>
          <a:bodyPr wrap="square" rtlCol="0">
            <a:spAutoFit/>
          </a:bodyPr>
          <a:lstStyle/>
          <a:p>
            <a:pPr algn="ctr"/>
            <a:r>
              <a:rPr lang="en-GB" sz="2000" b="1" dirty="0">
                <a:solidFill>
                  <a:schemeClr val="accent6">
                    <a:lumMod val="75000"/>
                  </a:schemeClr>
                </a:solidFill>
              </a:rPr>
              <a:t>Pure substances </a:t>
            </a:r>
            <a:r>
              <a:rPr lang="en-GB" sz="2000" dirty="0"/>
              <a:t>have </a:t>
            </a:r>
            <a:r>
              <a:rPr lang="en-GB" sz="2000" b="1" dirty="0">
                <a:solidFill>
                  <a:schemeClr val="accent6">
                    <a:lumMod val="75000"/>
                  </a:schemeClr>
                </a:solidFill>
              </a:rPr>
              <a:t>specific </a:t>
            </a:r>
            <a:r>
              <a:rPr lang="en-GB" sz="2000" dirty="0"/>
              <a:t>melting and boiling temperatures.</a:t>
            </a:r>
          </a:p>
          <a:p>
            <a:pPr algn="ctr"/>
            <a:r>
              <a:rPr lang="en-GB" sz="2000" dirty="0"/>
              <a:t>These can be used to distinguish pure substances from mixtures</a:t>
            </a:r>
            <a:r>
              <a:rPr lang="en-GB" dirty="0"/>
              <a:t>.</a:t>
            </a:r>
          </a:p>
        </p:txBody>
      </p:sp>
      <p:sp>
        <p:nvSpPr>
          <p:cNvPr id="10" name="TextBox 9"/>
          <p:cNvSpPr txBox="1"/>
          <p:nvPr/>
        </p:nvSpPr>
        <p:spPr>
          <a:xfrm>
            <a:off x="0" y="4794301"/>
            <a:ext cx="8663075" cy="707886"/>
          </a:xfrm>
          <a:prstGeom prst="rect">
            <a:avLst/>
          </a:prstGeom>
          <a:noFill/>
        </p:spPr>
        <p:txBody>
          <a:bodyPr wrap="square" rtlCol="0">
            <a:spAutoFit/>
          </a:bodyPr>
          <a:lstStyle/>
          <a:p>
            <a:pPr algn="ctr"/>
            <a:r>
              <a:rPr lang="en-GB" sz="2000" dirty="0"/>
              <a:t>In science we would not refer to a substance such as milk as being pure as it is a mixture of a number of different substances.</a:t>
            </a:r>
          </a:p>
        </p:txBody>
      </p:sp>
      <p:grpSp>
        <p:nvGrpSpPr>
          <p:cNvPr id="12" name="Group 11"/>
          <p:cNvGrpSpPr/>
          <p:nvPr/>
        </p:nvGrpSpPr>
        <p:grpSpPr>
          <a:xfrm>
            <a:off x="3971575" y="2099406"/>
            <a:ext cx="2490769" cy="1873453"/>
            <a:chOff x="0" y="0"/>
            <a:chExt cx="2138680" cy="1478804"/>
          </a:xfrm>
        </p:grpSpPr>
        <p:grpSp>
          <p:nvGrpSpPr>
            <p:cNvPr id="13" name="Group 12"/>
            <p:cNvGrpSpPr/>
            <p:nvPr/>
          </p:nvGrpSpPr>
          <p:grpSpPr>
            <a:xfrm>
              <a:off x="254441" y="0"/>
              <a:ext cx="1622066" cy="1177152"/>
              <a:chOff x="0" y="0"/>
              <a:chExt cx="1622066" cy="1177152"/>
            </a:xfrm>
          </p:grpSpPr>
          <p:cxnSp>
            <p:nvCxnSpPr>
              <p:cNvPr id="15" name="Straight Connector 14"/>
              <p:cNvCxnSpPr/>
              <p:nvPr/>
            </p:nvCxnSpPr>
            <p:spPr>
              <a:xfrm flipH="1">
                <a:off x="381663" y="588396"/>
                <a:ext cx="922020" cy="0"/>
              </a:xfrm>
              <a:prstGeom prst="line">
                <a:avLst/>
              </a:prstGeom>
              <a:noFill/>
              <a:ln w="19050" cap="flat" cmpd="sng" algn="ctr">
                <a:solidFill>
                  <a:sysClr val="windowText" lastClr="000000"/>
                </a:solidFill>
                <a:prstDash val="solid"/>
                <a:miter lim="800000"/>
              </a:ln>
              <a:effectLst/>
            </p:spPr>
          </p:cxnSp>
          <p:cxnSp>
            <p:nvCxnSpPr>
              <p:cNvPr id="16" name="Straight Connector 15"/>
              <p:cNvCxnSpPr/>
              <p:nvPr/>
            </p:nvCxnSpPr>
            <p:spPr>
              <a:xfrm flipH="1">
                <a:off x="15903" y="588396"/>
                <a:ext cx="373711" cy="572494"/>
              </a:xfrm>
              <a:prstGeom prst="line">
                <a:avLst/>
              </a:prstGeom>
              <a:noFill/>
              <a:ln w="19050" cap="flat" cmpd="sng" algn="ctr">
                <a:solidFill>
                  <a:sysClr val="windowText" lastClr="000000"/>
                </a:solidFill>
                <a:prstDash val="solid"/>
                <a:miter lim="800000"/>
              </a:ln>
              <a:effectLst/>
            </p:spPr>
          </p:cxnSp>
          <p:cxnSp>
            <p:nvCxnSpPr>
              <p:cNvPr id="17" name="Straight Connector 16"/>
              <p:cNvCxnSpPr/>
              <p:nvPr/>
            </p:nvCxnSpPr>
            <p:spPr>
              <a:xfrm flipH="1">
                <a:off x="7952" y="0"/>
                <a:ext cx="7952" cy="1176434"/>
              </a:xfrm>
              <a:prstGeom prst="line">
                <a:avLst/>
              </a:prstGeom>
            </p:spPr>
            <p:style>
              <a:lnRef idx="3">
                <a:schemeClr val="dk1"/>
              </a:lnRef>
              <a:fillRef idx="0">
                <a:schemeClr val="dk1"/>
              </a:fillRef>
              <a:effectRef idx="2">
                <a:schemeClr val="dk1"/>
              </a:effectRef>
              <a:fontRef idx="minor">
                <a:schemeClr val="tx1"/>
              </a:fontRef>
            </p:style>
          </p:cxnSp>
          <p:cxnSp>
            <p:nvCxnSpPr>
              <p:cNvPr id="18" name="Straight Connector 17"/>
              <p:cNvCxnSpPr/>
              <p:nvPr/>
            </p:nvCxnSpPr>
            <p:spPr>
              <a:xfrm flipH="1">
                <a:off x="0" y="1176793"/>
                <a:ext cx="1614115" cy="359"/>
              </a:xfrm>
              <a:prstGeom prst="line">
                <a:avLst/>
              </a:prstGeom>
              <a:noFill/>
              <a:ln w="19050" cap="flat" cmpd="sng" algn="ctr">
                <a:solidFill>
                  <a:sysClr val="windowText" lastClr="000000"/>
                </a:solidFill>
                <a:prstDash val="solid"/>
                <a:miter lim="800000"/>
              </a:ln>
              <a:effectLst/>
            </p:spPr>
          </p:cxnSp>
          <p:cxnSp>
            <p:nvCxnSpPr>
              <p:cNvPr id="19" name="Straight Connector 18"/>
              <p:cNvCxnSpPr/>
              <p:nvPr/>
            </p:nvCxnSpPr>
            <p:spPr>
              <a:xfrm flipH="1">
                <a:off x="1304014" y="127221"/>
                <a:ext cx="318052" cy="460816"/>
              </a:xfrm>
              <a:prstGeom prst="line">
                <a:avLst/>
              </a:prstGeom>
              <a:noFill/>
              <a:ln w="19050" cap="flat" cmpd="sng" algn="ctr">
                <a:solidFill>
                  <a:sysClr val="windowText" lastClr="000000"/>
                </a:solidFill>
                <a:prstDash val="solid"/>
                <a:miter lim="800000"/>
              </a:ln>
              <a:effectLst/>
            </p:spPr>
          </p:cxnSp>
        </p:grpSp>
        <p:sp>
          <p:nvSpPr>
            <p:cNvPr id="14" name="Text Box 2"/>
            <p:cNvSpPr txBox="1">
              <a:spLocks noChangeArrowheads="1"/>
            </p:cNvSpPr>
            <p:nvPr/>
          </p:nvSpPr>
          <p:spPr bwMode="auto">
            <a:xfrm>
              <a:off x="0" y="1216549"/>
              <a:ext cx="2138680" cy="26225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ctr">
                <a:lnSpc>
                  <a:spcPct val="107000"/>
                </a:lnSpc>
                <a:spcAft>
                  <a:spcPts val="80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Melting point of a pure substance</a:t>
              </a:r>
            </a:p>
          </p:txBody>
        </p:sp>
      </p:grpSp>
      <p:grpSp>
        <p:nvGrpSpPr>
          <p:cNvPr id="20" name="Group 19"/>
          <p:cNvGrpSpPr/>
          <p:nvPr/>
        </p:nvGrpSpPr>
        <p:grpSpPr>
          <a:xfrm>
            <a:off x="6333021" y="2101507"/>
            <a:ext cx="2853040" cy="1905204"/>
            <a:chOff x="0" y="0"/>
            <a:chExt cx="2377440" cy="1510610"/>
          </a:xfrm>
        </p:grpSpPr>
        <p:grpSp>
          <p:nvGrpSpPr>
            <p:cNvPr id="21" name="Group 20"/>
            <p:cNvGrpSpPr/>
            <p:nvPr/>
          </p:nvGrpSpPr>
          <p:grpSpPr>
            <a:xfrm>
              <a:off x="278296" y="0"/>
              <a:ext cx="1614115" cy="1201006"/>
              <a:chOff x="0" y="0"/>
              <a:chExt cx="1614115" cy="1201006"/>
            </a:xfrm>
          </p:grpSpPr>
          <p:cxnSp>
            <p:nvCxnSpPr>
              <p:cNvPr id="23" name="Straight Connector 22"/>
              <p:cNvCxnSpPr/>
              <p:nvPr/>
            </p:nvCxnSpPr>
            <p:spPr>
              <a:xfrm flipH="1">
                <a:off x="7951" y="0"/>
                <a:ext cx="0" cy="1199791"/>
              </a:xfrm>
              <a:prstGeom prst="line">
                <a:avLst/>
              </a:prstGeom>
              <a:noFill/>
              <a:ln w="19050" cap="flat" cmpd="sng" algn="ctr">
                <a:solidFill>
                  <a:sysClr val="windowText" lastClr="000000"/>
                </a:solidFill>
                <a:prstDash val="solid"/>
                <a:miter lim="800000"/>
              </a:ln>
              <a:effectLst/>
            </p:spPr>
          </p:cxnSp>
          <p:cxnSp>
            <p:nvCxnSpPr>
              <p:cNvPr id="24" name="Straight Connector 23"/>
              <p:cNvCxnSpPr/>
              <p:nvPr/>
            </p:nvCxnSpPr>
            <p:spPr>
              <a:xfrm flipH="1">
                <a:off x="0" y="1200647"/>
                <a:ext cx="1614115" cy="359"/>
              </a:xfrm>
              <a:prstGeom prst="line">
                <a:avLst/>
              </a:prstGeom>
              <a:noFill/>
              <a:ln w="19050" cap="flat" cmpd="sng" algn="ctr">
                <a:solidFill>
                  <a:sysClr val="windowText" lastClr="000000"/>
                </a:solidFill>
                <a:prstDash val="solid"/>
                <a:miter lim="800000"/>
              </a:ln>
              <a:effectLst/>
            </p:spPr>
          </p:cxnSp>
          <p:sp>
            <p:nvSpPr>
              <p:cNvPr id="25" name="Freeform 24"/>
              <p:cNvSpPr/>
              <p:nvPr/>
            </p:nvSpPr>
            <p:spPr>
              <a:xfrm>
                <a:off x="7951" y="206734"/>
                <a:ext cx="1319917" cy="993913"/>
              </a:xfrm>
              <a:custGeom>
                <a:avLst/>
                <a:gdLst>
                  <a:gd name="connsiteX0" fmla="*/ 0 w 1319917"/>
                  <a:gd name="connsiteY0" fmla="*/ 993913 h 993913"/>
                  <a:gd name="connsiteX1" fmla="*/ 206734 w 1319917"/>
                  <a:gd name="connsiteY1" fmla="*/ 628153 h 993913"/>
                  <a:gd name="connsiteX2" fmla="*/ 890546 w 1319917"/>
                  <a:gd name="connsiteY2" fmla="*/ 429370 h 993913"/>
                  <a:gd name="connsiteX3" fmla="*/ 1319917 w 1319917"/>
                  <a:gd name="connsiteY3" fmla="*/ 0 h 993913"/>
                  <a:gd name="connsiteX4" fmla="*/ 1319917 w 1319917"/>
                  <a:gd name="connsiteY4" fmla="*/ 0 h 993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9917" h="993913">
                    <a:moveTo>
                      <a:pt x="0" y="993913"/>
                    </a:moveTo>
                    <a:cubicBezTo>
                      <a:pt x="29155" y="858078"/>
                      <a:pt x="58310" y="722243"/>
                      <a:pt x="206734" y="628153"/>
                    </a:cubicBezTo>
                    <a:cubicBezTo>
                      <a:pt x="355158" y="534063"/>
                      <a:pt x="705015" y="534062"/>
                      <a:pt x="890546" y="429370"/>
                    </a:cubicBezTo>
                    <a:cubicBezTo>
                      <a:pt x="1076077" y="324678"/>
                      <a:pt x="1319917" y="0"/>
                      <a:pt x="1319917" y="0"/>
                    </a:cubicBezTo>
                    <a:lnTo>
                      <a:pt x="1319917" y="0"/>
                    </a:lnTo>
                  </a:path>
                </a:pathLst>
              </a:custGeom>
            </p:spPr>
            <p:style>
              <a:lnRef idx="3">
                <a:schemeClr val="dk1"/>
              </a:lnRef>
              <a:fillRef idx="0">
                <a:schemeClr val="dk1"/>
              </a:fillRef>
              <a:effectRef idx="2">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22" name="Text Box 2"/>
            <p:cNvSpPr txBox="1">
              <a:spLocks noChangeArrowheads="1"/>
            </p:cNvSpPr>
            <p:nvPr/>
          </p:nvSpPr>
          <p:spPr bwMode="auto">
            <a:xfrm>
              <a:off x="0" y="1248355"/>
              <a:ext cx="2377440" cy="26225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gn="ctr">
                <a:lnSpc>
                  <a:spcPct val="107000"/>
                </a:lnSpc>
                <a:spcAft>
                  <a:spcPts val="80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Melting point of an impure substance</a:t>
              </a:r>
            </a:p>
          </p:txBody>
        </p:sp>
      </p:grpSp>
      <p:sp>
        <p:nvSpPr>
          <p:cNvPr id="26" name="Rectangle 25"/>
          <p:cNvSpPr/>
          <p:nvPr/>
        </p:nvSpPr>
        <p:spPr>
          <a:xfrm>
            <a:off x="195893" y="5550523"/>
            <a:ext cx="8765962" cy="1015663"/>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t>A mixture consists of </a:t>
            </a:r>
            <a:r>
              <a:rPr lang="en-GB" sz="2000" b="1" dirty="0"/>
              <a:t>two or more </a:t>
            </a:r>
            <a:r>
              <a:rPr lang="en-GB" sz="2000" dirty="0"/>
              <a:t>elements or compounds </a:t>
            </a:r>
            <a:r>
              <a:rPr lang="en-GB" sz="2000" b="1" dirty="0"/>
              <a:t>not</a:t>
            </a:r>
            <a:r>
              <a:rPr lang="en-GB" sz="2000" dirty="0"/>
              <a:t> chemically combined together. The chemical properties of each substance in the mixture are </a:t>
            </a:r>
            <a:r>
              <a:rPr lang="en-GB" sz="2000" b="1" dirty="0"/>
              <a:t>unchanged</a:t>
            </a:r>
            <a:r>
              <a:rPr lang="en-GB" sz="2000" dirty="0"/>
              <a:t>.</a:t>
            </a:r>
            <a:endParaRPr lang="en-GB" sz="2000" dirty="0">
              <a:solidFill>
                <a:schemeClr val="tx1"/>
              </a:solidFill>
              <a:cs typeface="Arial" pitchFamily="34" charset="0"/>
            </a:endParaRPr>
          </a:p>
        </p:txBody>
      </p:sp>
    </p:spTree>
    <p:extLst>
      <p:ext uri="{BB962C8B-B14F-4D97-AF65-F5344CB8AC3E}">
        <p14:creationId xmlns:p14="http://schemas.microsoft.com/office/powerpoint/2010/main" val="3240416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3970318"/>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US" sz="2800" b="1" dirty="0">
                <a:solidFill>
                  <a:schemeClr val="tx1">
                    <a:lumMod val="50000"/>
                    <a:lumOff val="50000"/>
                  </a:schemeClr>
                </a:solidFill>
              </a:rPr>
              <a:t>Methods of separating and purifying substances – Part 1</a:t>
            </a:r>
          </a:p>
          <a:p>
            <a:endParaRPr lang="en-US" sz="2800" b="1" dirty="0">
              <a:solidFill>
                <a:schemeClr val="tx1">
                  <a:lumMod val="50000"/>
                  <a:lumOff val="50000"/>
                </a:schemeClr>
              </a:solidFill>
            </a:endParaRPr>
          </a:p>
          <a:p>
            <a:pPr marL="685800" lvl="1" indent="-342900">
              <a:buFont typeface="Arial" charset="0"/>
              <a:buChar char="•"/>
            </a:pPr>
            <a:r>
              <a:rPr lang="en-US" sz="2400" dirty="0">
                <a:solidFill>
                  <a:schemeClr val="tx1">
                    <a:lumMod val="50000"/>
                    <a:lumOff val="50000"/>
                  </a:schemeClr>
                </a:solidFill>
              </a:rPr>
              <a:t>Pure substances</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2847028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Pure substances –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632311"/>
          </a:xfrm>
          <a:prstGeom prst="rect">
            <a:avLst/>
          </a:prstGeom>
          <a:noFill/>
        </p:spPr>
        <p:txBody>
          <a:bodyPr wrap="square" rtlCol="0">
            <a:spAutoFit/>
          </a:bodyPr>
          <a:lstStyle/>
          <a:p>
            <a:pPr marL="457200" indent="-457200">
              <a:buAutoNum type="arabicPeriod"/>
            </a:pPr>
            <a:r>
              <a:rPr lang="en-GB" sz="2400" dirty="0"/>
              <a:t>What is a pure substance?</a:t>
            </a:r>
          </a:p>
          <a:p>
            <a:pPr marL="457200" indent="-457200">
              <a:buAutoNum type="arabicPeriod"/>
            </a:pPr>
            <a:endParaRPr lang="en-GB" sz="2400" b="1" i="1" dirty="0">
              <a:solidFill>
                <a:srgbClr val="00B050"/>
              </a:solidFill>
            </a:endParaRPr>
          </a:p>
          <a:p>
            <a:pPr marL="457200" indent="-457200">
              <a:buFont typeface="+mj-lt"/>
              <a:buAutoNum type="arabicPeriod"/>
            </a:pPr>
            <a:r>
              <a:rPr lang="en-GB" sz="2400" dirty="0"/>
              <a:t>How could you distinguish between a pure substance and a mixture</a:t>
            </a:r>
            <a:r>
              <a:rPr lang="en-GB" sz="2000" dirty="0"/>
              <a:t>?</a:t>
            </a:r>
          </a:p>
          <a:p>
            <a:pPr marL="457200" indent="-457200">
              <a:buFont typeface="+mj-lt"/>
              <a:buAutoNum type="arabicPeriod"/>
            </a:pPr>
            <a:endParaRPr lang="en-GB" sz="2000" dirty="0"/>
          </a:p>
          <a:p>
            <a:pPr marL="457200" indent="-457200">
              <a:buFont typeface="+mj-lt"/>
              <a:buAutoNum type="arabicPeriod"/>
            </a:pPr>
            <a:r>
              <a:rPr lang="en-GB" sz="2400" dirty="0"/>
              <a:t>Why would scientists not call milk pure?</a:t>
            </a:r>
          </a:p>
          <a:p>
            <a:pPr>
              <a:lnSpc>
                <a:spcPct val="150000"/>
              </a:lnSpc>
            </a:pPr>
            <a:r>
              <a:rPr lang="en-GB" sz="2000" dirty="0">
                <a:solidFill>
                  <a:srgbClr val="00B050"/>
                </a:solidFill>
              </a:rPr>
              <a:t>	</a:t>
            </a:r>
          </a:p>
          <a:p>
            <a:pPr>
              <a:lnSpc>
                <a:spcPct val="150000"/>
              </a:lnSpc>
            </a:pPr>
            <a:r>
              <a:rPr lang="en-GB" sz="2000" dirty="0"/>
              <a:t>	</a:t>
            </a:r>
            <a:endParaRPr lang="en-GB" sz="2000" b="1" i="1" dirty="0">
              <a:solidFill>
                <a:srgbClr val="00B050"/>
              </a:solidFill>
            </a:endParaRPr>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a:p>
            <a:pPr marL="342900" indent="-342900">
              <a:buFont typeface="+mj-lt"/>
              <a:buAutoNum type="arabicPeriod"/>
            </a:pPr>
            <a:endParaRPr lang="en-GB" sz="1600" dirty="0"/>
          </a:p>
        </p:txBody>
      </p:sp>
    </p:spTree>
    <p:extLst>
      <p:ext uri="{BB962C8B-B14F-4D97-AF65-F5344CB8AC3E}">
        <p14:creationId xmlns:p14="http://schemas.microsoft.com/office/powerpoint/2010/main" val="913162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3970318"/>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US" sz="2800" b="1" dirty="0">
                <a:solidFill>
                  <a:schemeClr val="tx1">
                    <a:lumMod val="50000"/>
                    <a:lumOff val="50000"/>
                  </a:schemeClr>
                </a:solidFill>
              </a:rPr>
              <a:t>Methods of separating and purifying substances – Part 1</a:t>
            </a:r>
          </a:p>
          <a:p>
            <a:endParaRPr lang="en-US" sz="2800" b="1" dirty="0">
              <a:solidFill>
                <a:schemeClr val="tx1">
                  <a:lumMod val="50000"/>
                  <a:lumOff val="50000"/>
                </a:schemeClr>
              </a:solidFill>
            </a:endParaRPr>
          </a:p>
          <a:p>
            <a:pPr marL="685800" lvl="1" indent="-342900">
              <a:buFont typeface="Arial" charset="0"/>
              <a:buChar char="•"/>
            </a:pPr>
            <a:r>
              <a:rPr lang="en-US" sz="2400" dirty="0">
                <a:solidFill>
                  <a:schemeClr val="tx1">
                    <a:lumMod val="50000"/>
                    <a:lumOff val="50000"/>
                  </a:schemeClr>
                </a:solidFill>
              </a:rPr>
              <a:t>Pure substances</a:t>
            </a:r>
          </a:p>
          <a:p>
            <a:endParaRPr lang="en-GB" dirty="0"/>
          </a:p>
        </p:txBody>
      </p:sp>
    </p:spTree>
    <p:extLst>
      <p:ext uri="{BB962C8B-B14F-4D97-AF65-F5344CB8AC3E}">
        <p14:creationId xmlns:p14="http://schemas.microsoft.com/office/powerpoint/2010/main" val="4089428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Pure substances – </a:t>
            </a:r>
            <a:r>
              <a:rPr lang="en-US" sz="2400" b="1" kern="1200" dirty="0" err="1">
                <a:solidFill>
                  <a:schemeClr val="tx1"/>
                </a:solidFill>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970865"/>
          </a:xfrm>
          <a:prstGeom prst="rect">
            <a:avLst/>
          </a:prstGeom>
          <a:noFill/>
        </p:spPr>
        <p:txBody>
          <a:bodyPr wrap="square" rtlCol="0">
            <a:spAutoFit/>
          </a:bodyPr>
          <a:lstStyle/>
          <a:p>
            <a:pPr marL="457200" indent="-457200">
              <a:buAutoNum type="arabicPeriod"/>
            </a:pPr>
            <a:r>
              <a:rPr lang="en-GB" sz="2400" dirty="0"/>
              <a:t>What is a pure substance?</a:t>
            </a:r>
          </a:p>
          <a:p>
            <a:pPr lvl="1"/>
            <a:r>
              <a:rPr lang="en-GB" sz="2400" dirty="0">
                <a:solidFill>
                  <a:srgbClr val="00B050"/>
                </a:solidFill>
              </a:rPr>
              <a:t>A single element or compound, not mixed with any other substance.</a:t>
            </a:r>
          </a:p>
          <a:p>
            <a:pPr marL="457200" indent="-457200">
              <a:buFont typeface="+mj-lt"/>
              <a:buAutoNum type="arabicPeriod"/>
            </a:pPr>
            <a:r>
              <a:rPr lang="en-GB" sz="2400" dirty="0"/>
              <a:t>How could you distinguish between a pure substance and a mixture?</a:t>
            </a:r>
          </a:p>
          <a:p>
            <a:pPr lvl="1"/>
            <a:r>
              <a:rPr lang="en-GB" sz="2400" dirty="0">
                <a:solidFill>
                  <a:srgbClr val="00B050"/>
                </a:solidFill>
              </a:rPr>
              <a:t>The pure substance would have a single melting/boiling point</a:t>
            </a:r>
            <a:r>
              <a:rPr lang="en-GB" sz="2400" b="1" dirty="0">
                <a:solidFill>
                  <a:srgbClr val="00B050"/>
                </a:solidFill>
              </a:rPr>
              <a:t>.</a:t>
            </a:r>
          </a:p>
          <a:p>
            <a:pPr marL="457200" indent="-457200">
              <a:buFont typeface="+mj-lt"/>
              <a:buAutoNum type="arabicPeriod"/>
            </a:pPr>
            <a:r>
              <a:rPr lang="en-GB" sz="2400" dirty="0"/>
              <a:t>Why would scientists not call milk pure?</a:t>
            </a:r>
          </a:p>
          <a:p>
            <a:pPr lvl="1"/>
            <a:r>
              <a:rPr lang="en-GB" sz="2400" dirty="0">
                <a:solidFill>
                  <a:srgbClr val="00B050"/>
                </a:solidFill>
              </a:rPr>
              <a:t>It contains a mixture of substances.</a:t>
            </a:r>
          </a:p>
          <a:p>
            <a:pPr>
              <a:lnSpc>
                <a:spcPct val="150000"/>
              </a:lnSpc>
            </a:pPr>
            <a:endParaRPr lang="en-GB" sz="2000" b="1" i="1" dirty="0">
              <a:solidFill>
                <a:srgbClr val="00B050"/>
              </a:solidFill>
            </a:endParaRPr>
          </a:p>
          <a:p>
            <a:pPr>
              <a:lnSpc>
                <a:spcPct val="150000"/>
              </a:lnSpc>
            </a:pPr>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a:p>
            <a:pPr marL="342900" indent="-342900">
              <a:buFont typeface="+mj-lt"/>
              <a:buAutoNum type="arabicPeriod"/>
            </a:pPr>
            <a:endParaRPr lang="en-GB" sz="1600" dirty="0"/>
          </a:p>
        </p:txBody>
      </p:sp>
    </p:spTree>
    <p:extLst>
      <p:ext uri="{BB962C8B-B14F-4D97-AF65-F5344CB8AC3E}">
        <p14:creationId xmlns:p14="http://schemas.microsoft.com/office/powerpoint/2010/main" val="305074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5693866"/>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US" sz="3600" b="1" dirty="0">
                <a:solidFill>
                  <a:schemeClr val="tx1">
                    <a:lumMod val="50000"/>
                    <a:lumOff val="50000"/>
                  </a:schemeClr>
                </a:solidFill>
              </a:rPr>
              <a:t>Methods of separating and purifying substances – 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Separating techniques</a:t>
            </a:r>
          </a:p>
          <a:p>
            <a:pPr marL="685800" lvl="1" indent="-342900">
              <a:buFont typeface="Arial" charset="0"/>
              <a:buChar char="•"/>
            </a:pPr>
            <a:r>
              <a:rPr lang="en-US" sz="2400" b="1" dirty="0">
                <a:solidFill>
                  <a:schemeClr val="bg1">
                    <a:lumMod val="50000"/>
                  </a:schemeClr>
                </a:solidFill>
              </a:rPr>
              <a:t>Chromatography</a:t>
            </a:r>
          </a:p>
          <a:p>
            <a:endParaRPr lang="en-GB" dirty="0"/>
          </a:p>
        </p:txBody>
      </p:sp>
    </p:spTree>
    <p:extLst>
      <p:ext uri="{BB962C8B-B14F-4D97-AF65-F5344CB8AC3E}">
        <p14:creationId xmlns:p14="http://schemas.microsoft.com/office/powerpoint/2010/main" val="1320359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a:effectLst/>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Atoms, elements, compounds and mixtures - PART 2</a:t>
            </a:r>
            <a:endParaRPr lang="en-GB" sz="2400" b="1" dirty="0">
              <a:solidFill>
                <a:schemeClr val="accent6"/>
              </a:solidFill>
            </a:endParaRPr>
          </a:p>
        </p:txBody>
      </p:sp>
      <p:sp>
        <p:nvSpPr>
          <p:cNvPr id="4" name="Rectangle 3"/>
          <p:cNvSpPr/>
          <p:nvPr/>
        </p:nvSpPr>
        <p:spPr>
          <a:xfrm>
            <a:off x="198525" y="757251"/>
            <a:ext cx="8765962" cy="1015663"/>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t>A mixture consists of </a:t>
            </a:r>
            <a:r>
              <a:rPr lang="en-GB" sz="2000" b="1" dirty="0"/>
              <a:t>two or more </a:t>
            </a:r>
            <a:r>
              <a:rPr lang="en-GB" sz="2000" dirty="0"/>
              <a:t>elements or compounds </a:t>
            </a:r>
            <a:r>
              <a:rPr lang="en-GB" sz="2000" b="1" dirty="0"/>
              <a:t>not</a:t>
            </a:r>
            <a:r>
              <a:rPr lang="en-GB" sz="2000" dirty="0"/>
              <a:t> chemically combined together. The chemical properties of each substance in the mixture are </a:t>
            </a:r>
            <a:r>
              <a:rPr lang="en-GB" sz="2000" b="1" dirty="0"/>
              <a:t>unchanged</a:t>
            </a:r>
            <a:r>
              <a:rPr lang="en-GB" sz="2000" dirty="0"/>
              <a:t>.</a:t>
            </a:r>
            <a:endParaRPr lang="en-GB" sz="2000" dirty="0">
              <a:solidFill>
                <a:schemeClr val="tx1"/>
              </a:solidFill>
              <a:cs typeface="Arial" pitchFamily="34" charset="0"/>
            </a:endParaRPr>
          </a:p>
        </p:txBody>
      </p:sp>
      <p:sp>
        <p:nvSpPr>
          <p:cNvPr id="11" name="Rectangle 10">
            <a:extLst>
              <a:ext uri="{FF2B5EF4-FFF2-40B4-BE49-F238E27FC236}">
                <a16:creationId xmlns:a16="http://schemas.microsoft.com/office/drawing/2014/main" id="{4E90E6A1-E496-4BA0-83B8-FF6FCDE34DE9}"/>
              </a:ext>
            </a:extLst>
          </p:cNvPr>
          <p:cNvSpPr/>
          <p:nvPr/>
        </p:nvSpPr>
        <p:spPr>
          <a:xfrm>
            <a:off x="198524" y="5157192"/>
            <a:ext cx="5021547" cy="1015663"/>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b="1" u="sng" dirty="0"/>
              <a:t>FILTRATION</a:t>
            </a:r>
            <a:r>
              <a:rPr lang="en-GB" sz="2000" dirty="0"/>
              <a:t>: This technique separates substances that are insoluble in a solvent from those that are soluble</a:t>
            </a:r>
            <a:endParaRPr lang="en-GB" sz="2000" dirty="0">
              <a:solidFill>
                <a:schemeClr val="accent6"/>
              </a:solidFill>
              <a:cs typeface="Arial" pitchFamily="34" charset="0"/>
            </a:endParaRPr>
          </a:p>
        </p:txBody>
      </p:sp>
      <p:graphicFrame>
        <p:nvGraphicFramePr>
          <p:cNvPr id="5" name="Table 4">
            <a:extLst>
              <a:ext uri="{FF2B5EF4-FFF2-40B4-BE49-F238E27FC236}">
                <a16:creationId xmlns:a16="http://schemas.microsoft.com/office/drawing/2014/main" id="{976AEF3E-F3DD-44D3-A9F7-EB6A1DA61E27}"/>
              </a:ext>
            </a:extLst>
          </p:cNvPr>
          <p:cNvGraphicFramePr>
            <a:graphicFrameLocks noGrp="1"/>
          </p:cNvGraphicFramePr>
          <p:nvPr>
            <p:extLst/>
          </p:nvPr>
        </p:nvGraphicFramePr>
        <p:xfrm>
          <a:off x="198524" y="2103742"/>
          <a:ext cx="5021547" cy="2670810"/>
        </p:xfrm>
        <a:graphic>
          <a:graphicData uri="http://schemas.openxmlformats.org/drawingml/2006/table">
            <a:tbl>
              <a:tblPr>
                <a:tableStyleId>{E8B1032C-EA38-4F05-BA0D-38AFFFC7BED3}</a:tableStyleId>
              </a:tblPr>
              <a:tblGrid>
                <a:gridCol w="1044022">
                  <a:extLst>
                    <a:ext uri="{9D8B030D-6E8A-4147-A177-3AD203B41FA5}">
                      <a16:colId xmlns:a16="http://schemas.microsoft.com/office/drawing/2014/main" val="3060657768"/>
                    </a:ext>
                  </a:extLst>
                </a:gridCol>
                <a:gridCol w="3977525">
                  <a:extLst>
                    <a:ext uri="{9D8B030D-6E8A-4147-A177-3AD203B41FA5}">
                      <a16:colId xmlns:a16="http://schemas.microsoft.com/office/drawing/2014/main" val="2480230326"/>
                    </a:ext>
                  </a:extLst>
                </a:gridCol>
              </a:tblGrid>
              <a:tr h="308521">
                <a:tc>
                  <a:txBody>
                    <a:bodyPr/>
                    <a:lstStyle/>
                    <a:p>
                      <a:pPr algn="ctr" fontAlgn="t"/>
                      <a:r>
                        <a:rPr lang="en-GB" sz="1800" b="1" dirty="0">
                          <a:effectLst/>
                        </a:rPr>
                        <a:t>Solvent</a:t>
                      </a:r>
                    </a:p>
                  </a:txBody>
                  <a:tcPr marL="76200" marR="47625" marT="76200" marB="19050" anchor="ctr"/>
                </a:tc>
                <a:tc>
                  <a:txBody>
                    <a:bodyPr/>
                    <a:lstStyle/>
                    <a:p>
                      <a:pPr algn="ctr" fontAlgn="t"/>
                      <a:r>
                        <a:rPr lang="en-GB" sz="1800" dirty="0">
                          <a:effectLst/>
                        </a:rPr>
                        <a:t>the liquid in which a solute dissolves</a:t>
                      </a:r>
                      <a:endParaRPr lang="en-GB" sz="1800" b="0" dirty="0">
                        <a:effectLst/>
                      </a:endParaRPr>
                    </a:p>
                  </a:txBody>
                  <a:tcPr marL="76200" marR="47625" marT="76200" marB="19050" anchor="ctr"/>
                </a:tc>
                <a:extLst>
                  <a:ext uri="{0D108BD9-81ED-4DB2-BD59-A6C34878D82A}">
                    <a16:rowId xmlns:a16="http://schemas.microsoft.com/office/drawing/2014/main" val="467051256"/>
                  </a:ext>
                </a:extLst>
              </a:tr>
              <a:tr h="521819">
                <a:tc>
                  <a:txBody>
                    <a:bodyPr/>
                    <a:lstStyle/>
                    <a:p>
                      <a:pPr algn="ctr" fontAlgn="t"/>
                      <a:r>
                        <a:rPr lang="en-GB" sz="1800" b="1" dirty="0">
                          <a:effectLst/>
                        </a:rPr>
                        <a:t>Solute</a:t>
                      </a:r>
                    </a:p>
                  </a:txBody>
                  <a:tcPr marL="76200" marR="47625" marT="76200" marB="19050" anchor="ctr"/>
                </a:tc>
                <a:tc>
                  <a:txBody>
                    <a:bodyPr/>
                    <a:lstStyle/>
                    <a:p>
                      <a:pPr algn="ctr" fontAlgn="t"/>
                      <a:r>
                        <a:rPr lang="en-GB" sz="1800" dirty="0">
                          <a:effectLst/>
                        </a:rPr>
                        <a:t>the substance that dissolves in a liquid to form a solution</a:t>
                      </a:r>
                      <a:endParaRPr lang="en-GB" sz="1800" b="0" dirty="0">
                        <a:effectLst/>
                      </a:endParaRPr>
                    </a:p>
                  </a:txBody>
                  <a:tcPr marL="76200" marR="47625" marT="76200" marB="19050" anchor="ctr"/>
                </a:tc>
                <a:extLst>
                  <a:ext uri="{0D108BD9-81ED-4DB2-BD59-A6C34878D82A}">
                    <a16:rowId xmlns:a16="http://schemas.microsoft.com/office/drawing/2014/main" val="348651441"/>
                  </a:ext>
                </a:extLst>
              </a:tr>
              <a:tr h="300079">
                <a:tc>
                  <a:txBody>
                    <a:bodyPr/>
                    <a:lstStyle/>
                    <a:p>
                      <a:pPr algn="ctr" fontAlgn="t"/>
                      <a:r>
                        <a:rPr lang="en-GB" sz="1800" b="1" dirty="0">
                          <a:effectLst/>
                        </a:rPr>
                        <a:t>Solution</a:t>
                      </a:r>
                    </a:p>
                  </a:txBody>
                  <a:tcPr marL="76200" marR="47625" marT="76200" marB="19050" anchor="ctr"/>
                </a:tc>
                <a:tc>
                  <a:txBody>
                    <a:bodyPr/>
                    <a:lstStyle/>
                    <a:p>
                      <a:pPr algn="ctr" fontAlgn="t"/>
                      <a:r>
                        <a:rPr lang="en-GB" sz="1800" dirty="0">
                          <a:effectLst/>
                        </a:rPr>
                        <a:t>is the mixture formed when a solute has dissolved in a solvent</a:t>
                      </a:r>
                      <a:endParaRPr lang="en-GB" sz="1800" b="0" dirty="0">
                        <a:effectLst/>
                      </a:endParaRPr>
                    </a:p>
                  </a:txBody>
                  <a:tcPr marL="76200" marR="47625" marT="76200" marB="19050" anchor="ctr"/>
                </a:tc>
                <a:extLst>
                  <a:ext uri="{0D108BD9-81ED-4DB2-BD59-A6C34878D82A}">
                    <a16:rowId xmlns:a16="http://schemas.microsoft.com/office/drawing/2014/main" val="1333993652"/>
                  </a:ext>
                </a:extLst>
              </a:tr>
              <a:tr h="308521">
                <a:tc>
                  <a:txBody>
                    <a:bodyPr/>
                    <a:lstStyle/>
                    <a:p>
                      <a:pPr algn="ctr" fontAlgn="t"/>
                      <a:r>
                        <a:rPr lang="en-GB" sz="1800" b="1" dirty="0">
                          <a:effectLst/>
                        </a:rPr>
                        <a:t>Soluble</a:t>
                      </a:r>
                    </a:p>
                  </a:txBody>
                  <a:tcPr marL="76200" marR="47625" marT="76200" marB="19050" anchor="ctr"/>
                </a:tc>
                <a:tc>
                  <a:txBody>
                    <a:bodyPr/>
                    <a:lstStyle/>
                    <a:p>
                      <a:pPr algn="ctr" fontAlgn="t"/>
                      <a:r>
                        <a:rPr lang="en-GB" sz="1800" dirty="0">
                          <a:effectLst/>
                        </a:rPr>
                        <a:t>describes a substance that will dissolve</a:t>
                      </a:r>
                      <a:endParaRPr lang="en-GB" sz="1800" b="0" dirty="0">
                        <a:effectLst/>
                      </a:endParaRPr>
                    </a:p>
                  </a:txBody>
                  <a:tcPr marL="76200" marR="47625" marT="76200" marB="19050" anchor="ctr"/>
                </a:tc>
                <a:extLst>
                  <a:ext uri="{0D108BD9-81ED-4DB2-BD59-A6C34878D82A}">
                    <a16:rowId xmlns:a16="http://schemas.microsoft.com/office/drawing/2014/main" val="1322543045"/>
                  </a:ext>
                </a:extLst>
              </a:tr>
              <a:tr h="308521">
                <a:tc>
                  <a:txBody>
                    <a:bodyPr/>
                    <a:lstStyle/>
                    <a:p>
                      <a:pPr algn="ctr" fontAlgn="t"/>
                      <a:r>
                        <a:rPr lang="en-GB" sz="1800" b="1" dirty="0">
                          <a:effectLst/>
                        </a:rPr>
                        <a:t>Insoluble</a:t>
                      </a:r>
                    </a:p>
                  </a:txBody>
                  <a:tcPr marL="76200" marR="47625" marT="76200" marB="19050" anchor="ctr"/>
                </a:tc>
                <a:tc>
                  <a:txBody>
                    <a:bodyPr/>
                    <a:lstStyle/>
                    <a:p>
                      <a:pPr algn="ctr" fontAlgn="t"/>
                      <a:r>
                        <a:rPr lang="en-GB" sz="1800" dirty="0">
                          <a:effectLst/>
                        </a:rPr>
                        <a:t>describes a substance that will not dissolve</a:t>
                      </a:r>
                      <a:endParaRPr lang="en-GB" sz="1800" b="0" dirty="0">
                        <a:effectLst/>
                      </a:endParaRPr>
                    </a:p>
                  </a:txBody>
                  <a:tcPr marL="76200" marR="47625" marT="76200" marB="19050" anchor="ctr"/>
                </a:tc>
                <a:extLst>
                  <a:ext uri="{0D108BD9-81ED-4DB2-BD59-A6C34878D82A}">
                    <a16:rowId xmlns:a16="http://schemas.microsoft.com/office/drawing/2014/main" val="2366580011"/>
                  </a:ext>
                </a:extLst>
              </a:tr>
            </a:tbl>
          </a:graphicData>
        </a:graphic>
      </p:graphicFrame>
      <p:sp>
        <p:nvSpPr>
          <p:cNvPr id="12" name="Rectangle 11"/>
          <p:cNvSpPr/>
          <p:nvPr/>
        </p:nvSpPr>
        <p:spPr>
          <a:xfrm>
            <a:off x="5436096" y="2470063"/>
            <a:ext cx="3528391" cy="3170099"/>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r>
              <a:rPr lang="en-GB" sz="2000" dirty="0"/>
              <a:t>Mixtures can be separated by </a:t>
            </a:r>
            <a:r>
              <a:rPr lang="en-GB" sz="2000" b="1" dirty="0"/>
              <a:t>physical processes</a:t>
            </a:r>
            <a:r>
              <a:rPr lang="en-GB" sz="2000" dirty="0"/>
              <a:t> including:</a:t>
            </a:r>
          </a:p>
          <a:p>
            <a:pPr marL="342900" indent="-342900">
              <a:buAutoNum type="arabicPeriod"/>
            </a:pPr>
            <a:r>
              <a:rPr lang="en-GB" sz="2000" dirty="0">
                <a:solidFill>
                  <a:schemeClr val="accent6"/>
                </a:solidFill>
              </a:rPr>
              <a:t>Filtration</a:t>
            </a:r>
          </a:p>
          <a:p>
            <a:pPr marL="342900" indent="-342900">
              <a:buAutoNum type="arabicPeriod"/>
            </a:pPr>
            <a:r>
              <a:rPr lang="en-GB" sz="2000" dirty="0">
                <a:solidFill>
                  <a:schemeClr val="accent6"/>
                </a:solidFill>
              </a:rPr>
              <a:t>Crystallisation</a:t>
            </a:r>
          </a:p>
          <a:p>
            <a:pPr marL="342900" indent="-342900">
              <a:buAutoNum type="arabicPeriod"/>
            </a:pPr>
            <a:r>
              <a:rPr lang="en-GB" sz="2000" dirty="0">
                <a:solidFill>
                  <a:schemeClr val="accent6"/>
                </a:solidFill>
              </a:rPr>
              <a:t>Simple distillation</a:t>
            </a:r>
          </a:p>
          <a:p>
            <a:pPr marL="342900" indent="-342900">
              <a:buAutoNum type="arabicPeriod"/>
            </a:pPr>
            <a:r>
              <a:rPr lang="en-GB" sz="2000" dirty="0">
                <a:solidFill>
                  <a:schemeClr val="accent6"/>
                </a:solidFill>
              </a:rPr>
              <a:t>Fractional distillation</a:t>
            </a:r>
          </a:p>
          <a:p>
            <a:pPr marL="342900" indent="-342900">
              <a:buAutoNum type="arabicPeriod"/>
            </a:pPr>
            <a:r>
              <a:rPr lang="en-GB" sz="2000" dirty="0">
                <a:solidFill>
                  <a:schemeClr val="accent6"/>
                </a:solidFill>
              </a:rPr>
              <a:t>Chromatography</a:t>
            </a:r>
          </a:p>
          <a:p>
            <a:r>
              <a:rPr lang="en-GB" sz="2000" dirty="0"/>
              <a:t>These physical processes do not involve chemical reactions and no new substances are made.</a:t>
            </a:r>
          </a:p>
        </p:txBody>
      </p:sp>
    </p:spTree>
    <p:extLst>
      <p:ext uri="{BB962C8B-B14F-4D97-AF65-F5344CB8AC3E}">
        <p14:creationId xmlns:p14="http://schemas.microsoft.com/office/powerpoint/2010/main" val="14109583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a:effectLst/>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Atoms, elements, compounds and mixtures - PART 2</a:t>
            </a:r>
            <a:endParaRPr lang="en-GB" sz="2400" b="1" dirty="0">
              <a:solidFill>
                <a:schemeClr val="accent6"/>
              </a:solidFill>
            </a:endParaRPr>
          </a:p>
        </p:txBody>
      </p:sp>
      <p:sp>
        <p:nvSpPr>
          <p:cNvPr id="6" name="TextBox 5"/>
          <p:cNvSpPr txBox="1"/>
          <p:nvPr/>
        </p:nvSpPr>
        <p:spPr>
          <a:xfrm>
            <a:off x="179513" y="722802"/>
            <a:ext cx="8712968" cy="400110"/>
          </a:xfrm>
          <a:prstGeom prst="rect">
            <a:avLst/>
          </a:prstGeom>
          <a:noFill/>
          <a:effectLst/>
        </p:spPr>
        <p:txBody>
          <a:bodyPr wrap="square" rtlCol="0">
            <a:spAutoFit/>
          </a:bodyPr>
          <a:lstStyle/>
          <a:p>
            <a:r>
              <a:rPr lang="en-GB" sz="2000" b="1" dirty="0">
                <a:solidFill>
                  <a:schemeClr val="accent6"/>
                </a:solidFill>
              </a:rPr>
              <a:t>Crystallisation                                                      Simple distillation</a:t>
            </a:r>
          </a:p>
        </p:txBody>
      </p:sp>
      <p:sp>
        <p:nvSpPr>
          <p:cNvPr id="17" name="Rectangle 16"/>
          <p:cNvSpPr/>
          <p:nvPr/>
        </p:nvSpPr>
        <p:spPr>
          <a:xfrm>
            <a:off x="179513" y="1122912"/>
            <a:ext cx="4176464" cy="1015663"/>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t>This technique separates a soluble substance from a solvent by evaporation  </a:t>
            </a:r>
            <a:endParaRPr lang="en-GB" sz="2000" dirty="0">
              <a:solidFill>
                <a:schemeClr val="accent6"/>
              </a:solidFill>
              <a:cs typeface="Arial" pitchFamily="34" charset="0"/>
            </a:endParaRPr>
          </a:p>
        </p:txBody>
      </p:sp>
      <p:sp>
        <p:nvSpPr>
          <p:cNvPr id="7" name="Rectangle 6"/>
          <p:cNvSpPr/>
          <p:nvPr/>
        </p:nvSpPr>
        <p:spPr>
          <a:xfrm>
            <a:off x="4805083" y="1091585"/>
            <a:ext cx="4176464" cy="1015663"/>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t>This technique separates a liquid from a mixture by evaporation, followed by condensation </a:t>
            </a:r>
            <a:endParaRPr lang="en-GB" sz="2000" dirty="0">
              <a:solidFill>
                <a:schemeClr val="accent6"/>
              </a:solidFill>
              <a:cs typeface="Arial" pitchFamily="34" charset="0"/>
            </a:endParaRPr>
          </a:p>
        </p:txBody>
      </p:sp>
      <p:pic>
        <p:nvPicPr>
          <p:cNvPr id="1028" name="Picture 4" descr="Image result for simple distill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5997" y="2408174"/>
            <a:ext cx="4466094" cy="2344699"/>
          </a:xfrm>
          <a:prstGeom prst="rect">
            <a:avLst/>
          </a:prstGeom>
          <a:noFill/>
          <a:effectLst/>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64879C7D-8B45-492D-8059-7DB972BD5D04}"/>
              </a:ext>
            </a:extLst>
          </p:cNvPr>
          <p:cNvSpPr/>
          <p:nvPr/>
        </p:nvSpPr>
        <p:spPr>
          <a:xfrm>
            <a:off x="5293350" y="5229200"/>
            <a:ext cx="3199929" cy="707886"/>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solidFill>
                  <a:schemeClr val="accent6"/>
                </a:solidFill>
              </a:rPr>
              <a:t>Example - obtaining water </a:t>
            </a:r>
            <a:r>
              <a:rPr lang="en-GB" sz="2000">
                <a:solidFill>
                  <a:schemeClr val="accent6"/>
                </a:solidFill>
              </a:rPr>
              <a:t>from sea </a:t>
            </a:r>
            <a:r>
              <a:rPr lang="en-GB" sz="2000" dirty="0">
                <a:solidFill>
                  <a:schemeClr val="accent6"/>
                </a:solidFill>
              </a:rPr>
              <a:t>water</a:t>
            </a:r>
          </a:p>
        </p:txBody>
      </p:sp>
      <p:sp>
        <p:nvSpPr>
          <p:cNvPr id="9" name="Rectangle 8">
            <a:extLst>
              <a:ext uri="{FF2B5EF4-FFF2-40B4-BE49-F238E27FC236}">
                <a16:creationId xmlns:a16="http://schemas.microsoft.com/office/drawing/2014/main" id="{4B6A3487-233F-465B-A95D-24DAF7E13C48}"/>
              </a:ext>
            </a:extLst>
          </p:cNvPr>
          <p:cNvSpPr/>
          <p:nvPr/>
        </p:nvSpPr>
        <p:spPr>
          <a:xfrm>
            <a:off x="404147" y="5229200"/>
            <a:ext cx="3727195" cy="707886"/>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solidFill>
                  <a:schemeClr val="accent6"/>
                </a:solidFill>
              </a:rPr>
              <a:t>Example - crystallisation of sodium chloride from salt solution</a:t>
            </a:r>
            <a:endParaRPr lang="en-GB" sz="2000" dirty="0"/>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7584" y="2455664"/>
            <a:ext cx="2304256" cy="2297209"/>
          </a:xfrm>
          <a:prstGeom prst="rect">
            <a:avLst/>
          </a:prstGeom>
        </p:spPr>
      </p:pic>
    </p:spTree>
    <p:extLst>
      <p:ext uri="{BB962C8B-B14F-4D97-AF65-F5344CB8AC3E}">
        <p14:creationId xmlns:p14="http://schemas.microsoft.com/office/powerpoint/2010/main" val="2360915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distillation of ethan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878" y="3589440"/>
            <a:ext cx="2015392" cy="2953431"/>
          </a:xfrm>
          <a:prstGeom prst="rect">
            <a:avLst/>
          </a:prstGeom>
          <a:noFill/>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Atoms, elements, compounds and mixtures - PART 2</a:t>
            </a:r>
            <a:endParaRPr lang="en-GB" sz="2400" b="1" dirty="0">
              <a:solidFill>
                <a:schemeClr val="accent6"/>
              </a:solidFill>
            </a:endParaRPr>
          </a:p>
        </p:txBody>
      </p:sp>
      <p:sp>
        <p:nvSpPr>
          <p:cNvPr id="6" name="TextBox 5"/>
          <p:cNvSpPr txBox="1"/>
          <p:nvPr/>
        </p:nvSpPr>
        <p:spPr>
          <a:xfrm>
            <a:off x="-5444" y="683241"/>
            <a:ext cx="8712968" cy="369332"/>
          </a:xfrm>
          <a:prstGeom prst="rect">
            <a:avLst/>
          </a:prstGeom>
          <a:noFill/>
          <a:effectLst/>
        </p:spPr>
        <p:txBody>
          <a:bodyPr wrap="square" rtlCol="0">
            <a:spAutoFit/>
          </a:bodyPr>
          <a:lstStyle/>
          <a:p>
            <a:r>
              <a:rPr lang="en-GB" b="1" dirty="0">
                <a:solidFill>
                  <a:schemeClr val="accent6"/>
                </a:solidFill>
              </a:rPr>
              <a:t>Fractional distillation                                                          Chromatography</a:t>
            </a:r>
          </a:p>
        </p:txBody>
      </p:sp>
      <p:sp>
        <p:nvSpPr>
          <p:cNvPr id="17" name="Rectangle 16"/>
          <p:cNvSpPr/>
          <p:nvPr/>
        </p:nvSpPr>
        <p:spPr>
          <a:xfrm>
            <a:off x="72310" y="1036837"/>
            <a:ext cx="5147762" cy="2554545"/>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t>This technique </a:t>
            </a:r>
            <a:r>
              <a:rPr lang="en-GB" sz="2000" dirty="0">
                <a:solidFill>
                  <a:srgbClr val="333333"/>
                </a:solidFill>
              </a:rPr>
              <a:t>separates a mixture into a number of different parts, called </a:t>
            </a:r>
            <a:r>
              <a:rPr lang="en-GB" sz="2000" b="1" dirty="0">
                <a:solidFill>
                  <a:schemeClr val="accent6">
                    <a:lumMod val="75000"/>
                  </a:schemeClr>
                </a:solidFill>
              </a:rPr>
              <a:t>fractions</a:t>
            </a:r>
            <a:r>
              <a:rPr lang="en-GB" sz="2000" dirty="0">
                <a:solidFill>
                  <a:srgbClr val="333333"/>
                </a:solidFill>
              </a:rPr>
              <a:t>. Substances with </a:t>
            </a:r>
            <a:r>
              <a:rPr lang="en-GB" sz="2000" b="1" dirty="0">
                <a:solidFill>
                  <a:schemeClr val="accent6">
                    <a:lumMod val="75000"/>
                  </a:schemeClr>
                </a:solidFill>
              </a:rPr>
              <a:t>high</a:t>
            </a:r>
            <a:r>
              <a:rPr lang="en-GB" sz="2000" dirty="0">
                <a:solidFill>
                  <a:srgbClr val="333333"/>
                </a:solidFill>
              </a:rPr>
              <a:t> boiling points </a:t>
            </a:r>
            <a:r>
              <a:rPr lang="en-GB" sz="2000" b="1" dirty="0">
                <a:solidFill>
                  <a:schemeClr val="accent6">
                    <a:lumMod val="75000"/>
                  </a:schemeClr>
                </a:solidFill>
              </a:rPr>
              <a:t>condense at the bottom</a:t>
            </a:r>
            <a:r>
              <a:rPr lang="en-GB" sz="2000" dirty="0">
                <a:solidFill>
                  <a:srgbClr val="333333"/>
                </a:solidFill>
              </a:rPr>
              <a:t> and substances with </a:t>
            </a:r>
            <a:r>
              <a:rPr lang="en-GB" sz="2000" b="1" dirty="0">
                <a:solidFill>
                  <a:schemeClr val="accent6">
                    <a:lumMod val="75000"/>
                  </a:schemeClr>
                </a:solidFill>
              </a:rPr>
              <a:t>low</a:t>
            </a:r>
            <a:r>
              <a:rPr lang="en-GB" sz="2000" dirty="0">
                <a:solidFill>
                  <a:srgbClr val="333333"/>
                </a:solidFill>
              </a:rPr>
              <a:t> boiling points </a:t>
            </a:r>
            <a:r>
              <a:rPr lang="en-GB" sz="2000" b="1" dirty="0">
                <a:solidFill>
                  <a:schemeClr val="accent6">
                    <a:lumMod val="75000"/>
                  </a:schemeClr>
                </a:solidFill>
              </a:rPr>
              <a:t>condense at the top</a:t>
            </a:r>
            <a:r>
              <a:rPr lang="en-GB" sz="2000" dirty="0">
                <a:solidFill>
                  <a:srgbClr val="333333"/>
                </a:solidFill>
              </a:rPr>
              <a:t>. </a:t>
            </a:r>
          </a:p>
          <a:p>
            <a:pPr algn="ctr"/>
            <a:r>
              <a:rPr lang="en-GB" sz="2000" dirty="0">
                <a:solidFill>
                  <a:srgbClr val="333333"/>
                </a:solidFill>
              </a:rPr>
              <a:t>Fractional distillation works because the different substances in the mixture have different boiling points.</a:t>
            </a:r>
            <a:endParaRPr lang="en-GB" sz="2000" dirty="0"/>
          </a:p>
        </p:txBody>
      </p:sp>
      <p:sp>
        <p:nvSpPr>
          <p:cNvPr id="7" name="Rectangle 6"/>
          <p:cNvSpPr/>
          <p:nvPr/>
        </p:nvSpPr>
        <p:spPr>
          <a:xfrm>
            <a:off x="5423712" y="1216040"/>
            <a:ext cx="3614446" cy="707886"/>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t>This technique separates mixtures of soluble substances.</a:t>
            </a:r>
            <a:endParaRPr lang="en-GB" sz="2000" dirty="0">
              <a:solidFill>
                <a:schemeClr val="accent6"/>
              </a:solidFill>
              <a:cs typeface="Arial" pitchFamily="34" charset="0"/>
            </a:endParaRPr>
          </a:p>
        </p:txBody>
      </p:sp>
      <p:pic>
        <p:nvPicPr>
          <p:cNvPr id="3" name="Picture 2"/>
          <p:cNvPicPr>
            <a:picLocks noChangeAspect="1"/>
          </p:cNvPicPr>
          <p:nvPr/>
        </p:nvPicPr>
        <p:blipFill>
          <a:blip r:embed="rId4"/>
          <a:stretch>
            <a:fillRect/>
          </a:stretch>
        </p:blipFill>
        <p:spPr>
          <a:xfrm>
            <a:off x="5423712" y="2584712"/>
            <a:ext cx="3625349" cy="1973613"/>
          </a:xfrm>
          <a:prstGeom prst="rect">
            <a:avLst/>
          </a:prstGeom>
          <a:effectLst/>
        </p:spPr>
      </p:pic>
      <p:sp>
        <p:nvSpPr>
          <p:cNvPr id="8" name="Rectangle 7">
            <a:extLst>
              <a:ext uri="{FF2B5EF4-FFF2-40B4-BE49-F238E27FC236}">
                <a16:creationId xmlns:a16="http://schemas.microsoft.com/office/drawing/2014/main" id="{A49B3F7F-0529-4CDA-B850-35AA4E2803AE}"/>
              </a:ext>
            </a:extLst>
          </p:cNvPr>
          <p:cNvSpPr/>
          <p:nvPr/>
        </p:nvSpPr>
        <p:spPr>
          <a:xfrm>
            <a:off x="2294370" y="4558325"/>
            <a:ext cx="2583410" cy="1015663"/>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solidFill>
                  <a:schemeClr val="accent6"/>
                </a:solidFill>
              </a:rPr>
              <a:t>Example - obtaining ethanol from a mixture of ethanol and water</a:t>
            </a:r>
            <a:endParaRPr lang="en-GB" sz="2000" dirty="0"/>
          </a:p>
        </p:txBody>
      </p:sp>
      <p:sp>
        <p:nvSpPr>
          <p:cNvPr id="9" name="Rectangle 8">
            <a:extLst>
              <a:ext uri="{FF2B5EF4-FFF2-40B4-BE49-F238E27FC236}">
                <a16:creationId xmlns:a16="http://schemas.microsoft.com/office/drawing/2014/main" id="{51481914-0E4A-4C84-90C9-33576ED12913}"/>
              </a:ext>
            </a:extLst>
          </p:cNvPr>
          <p:cNvSpPr/>
          <p:nvPr/>
        </p:nvSpPr>
        <p:spPr>
          <a:xfrm>
            <a:off x="5423712" y="4603558"/>
            <a:ext cx="3644386" cy="707886"/>
          </a:xfrm>
          <a:prstGeom prst="rect">
            <a:avLst/>
          </a:prstGeom>
          <a:solidFill>
            <a:schemeClr val="accent6">
              <a:lumMod val="20000"/>
              <a:lumOff val="80000"/>
            </a:schemeClr>
          </a:solid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GB" sz="2000" dirty="0">
                <a:solidFill>
                  <a:schemeClr val="accent6"/>
                </a:solidFill>
              </a:rPr>
              <a:t>Example - separating the different colours in ink</a:t>
            </a:r>
            <a:endParaRPr lang="en-GB" sz="2000" dirty="0"/>
          </a:p>
        </p:txBody>
      </p:sp>
    </p:spTree>
    <p:extLst>
      <p:ext uri="{BB962C8B-B14F-4D97-AF65-F5344CB8AC3E}">
        <p14:creationId xmlns:p14="http://schemas.microsoft.com/office/powerpoint/2010/main" val="1759404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9672" y="35655"/>
            <a:ext cx="7524328"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200" b="1" dirty="0">
                <a:solidFill>
                  <a:schemeClr val="accent6"/>
                </a:solidFill>
              </a:rPr>
              <a:t>Chromatography</a:t>
            </a:r>
            <a:endParaRPr lang="en-GB" sz="2200" b="1" dirty="0">
              <a:solidFill>
                <a:schemeClr val="accent6"/>
              </a:solidFill>
            </a:endParaRPr>
          </a:p>
        </p:txBody>
      </p:sp>
      <p:sp>
        <p:nvSpPr>
          <p:cNvPr id="6" name="TextBox 5"/>
          <p:cNvSpPr txBox="1"/>
          <p:nvPr/>
        </p:nvSpPr>
        <p:spPr>
          <a:xfrm>
            <a:off x="179512" y="883914"/>
            <a:ext cx="5040560" cy="1631216"/>
          </a:xfrm>
          <a:prstGeom prst="rect">
            <a:avLst/>
          </a:prstGeom>
          <a:noFill/>
          <a:ln w="28575">
            <a:solidFill>
              <a:schemeClr val="accent6"/>
            </a:solidFill>
          </a:ln>
        </p:spPr>
        <p:txBody>
          <a:bodyPr wrap="square" rtlCol="0">
            <a:spAutoFit/>
          </a:bodyPr>
          <a:lstStyle/>
          <a:p>
            <a:r>
              <a:rPr lang="en-GB" sz="2000" dirty="0"/>
              <a:t>Chromatography can be used to separate </a:t>
            </a:r>
            <a:r>
              <a:rPr lang="en-GB" sz="2000" b="1" dirty="0">
                <a:solidFill>
                  <a:schemeClr val="accent6">
                    <a:lumMod val="75000"/>
                  </a:schemeClr>
                </a:solidFill>
              </a:rPr>
              <a:t>mixtures of soluble substances </a:t>
            </a:r>
            <a:r>
              <a:rPr lang="en-GB" sz="2000" dirty="0"/>
              <a:t>by running a solvent (</a:t>
            </a:r>
            <a:r>
              <a:rPr lang="en-GB" sz="2000" b="1" dirty="0">
                <a:solidFill>
                  <a:schemeClr val="accent6">
                    <a:lumMod val="75000"/>
                  </a:schemeClr>
                </a:solidFill>
              </a:rPr>
              <a:t>mobile phase</a:t>
            </a:r>
            <a:r>
              <a:rPr lang="en-GB" sz="2000" dirty="0"/>
              <a:t>) through the mixture on the paper (</a:t>
            </a:r>
            <a:r>
              <a:rPr lang="en-GB" sz="2000" b="1" dirty="0">
                <a:solidFill>
                  <a:schemeClr val="accent6">
                    <a:lumMod val="75000"/>
                  </a:schemeClr>
                </a:solidFill>
              </a:rPr>
              <a:t>stationary phase</a:t>
            </a:r>
            <a:r>
              <a:rPr lang="en-GB" sz="2000" dirty="0"/>
              <a:t>) causing the substances to </a:t>
            </a:r>
            <a:r>
              <a:rPr lang="en-GB" sz="2000" b="1" dirty="0">
                <a:solidFill>
                  <a:schemeClr val="accent6">
                    <a:lumMod val="75000"/>
                  </a:schemeClr>
                </a:solidFill>
              </a:rPr>
              <a:t>move at different rates</a:t>
            </a:r>
            <a:r>
              <a:rPr lang="en-GB" sz="2000" dirty="0"/>
              <a:t>. </a:t>
            </a:r>
          </a:p>
        </p:txBody>
      </p:sp>
      <p:sp>
        <p:nvSpPr>
          <p:cNvPr id="8" name="TextBox 7"/>
          <p:cNvSpPr txBox="1"/>
          <p:nvPr/>
        </p:nvSpPr>
        <p:spPr>
          <a:xfrm>
            <a:off x="192392" y="2515130"/>
            <a:ext cx="5027680" cy="1631216"/>
          </a:xfrm>
          <a:custGeom>
            <a:avLst/>
            <a:gdLst>
              <a:gd name="connsiteX0" fmla="*/ 0 w 8712968"/>
              <a:gd name="connsiteY0" fmla="*/ 0 h 1477328"/>
              <a:gd name="connsiteX1" fmla="*/ 8712968 w 8712968"/>
              <a:gd name="connsiteY1" fmla="*/ 0 h 1477328"/>
              <a:gd name="connsiteX2" fmla="*/ 8712968 w 8712968"/>
              <a:gd name="connsiteY2" fmla="*/ 1477328 h 1477328"/>
              <a:gd name="connsiteX3" fmla="*/ 0 w 8712968"/>
              <a:gd name="connsiteY3" fmla="*/ 1477328 h 1477328"/>
              <a:gd name="connsiteX4" fmla="*/ 0 w 8712968"/>
              <a:gd name="connsiteY4" fmla="*/ 0 h 1477328"/>
              <a:gd name="connsiteX0" fmla="*/ 0 w 8712968"/>
              <a:gd name="connsiteY0" fmla="*/ 0 h 2597790"/>
              <a:gd name="connsiteX1" fmla="*/ 8712968 w 8712968"/>
              <a:gd name="connsiteY1" fmla="*/ 0 h 2597790"/>
              <a:gd name="connsiteX2" fmla="*/ 8712968 w 8712968"/>
              <a:gd name="connsiteY2" fmla="*/ 1477328 h 2597790"/>
              <a:gd name="connsiteX3" fmla="*/ 0 w 8712968"/>
              <a:gd name="connsiteY3" fmla="*/ 2597790 h 2597790"/>
              <a:gd name="connsiteX4" fmla="*/ 0 w 8712968"/>
              <a:gd name="connsiteY4" fmla="*/ 0 h 2597790"/>
              <a:gd name="connsiteX0" fmla="*/ 0 w 8712968"/>
              <a:gd name="connsiteY0" fmla="*/ 0 h 2597790"/>
              <a:gd name="connsiteX1" fmla="*/ 8712968 w 8712968"/>
              <a:gd name="connsiteY1" fmla="*/ 0 h 2597790"/>
              <a:gd name="connsiteX2" fmla="*/ 8712968 w 8712968"/>
              <a:gd name="connsiteY2" fmla="*/ 2559154 h 2597790"/>
              <a:gd name="connsiteX3" fmla="*/ 0 w 8712968"/>
              <a:gd name="connsiteY3" fmla="*/ 2597790 h 2597790"/>
              <a:gd name="connsiteX4" fmla="*/ 0 w 8712968"/>
              <a:gd name="connsiteY4" fmla="*/ 0 h 2597790"/>
              <a:gd name="connsiteX0" fmla="*/ 0 w 8712968"/>
              <a:gd name="connsiteY0" fmla="*/ 0 h 2597790"/>
              <a:gd name="connsiteX1" fmla="*/ 8712968 w 8712968"/>
              <a:gd name="connsiteY1" fmla="*/ 0 h 2597790"/>
              <a:gd name="connsiteX2" fmla="*/ 8712968 w 8712968"/>
              <a:gd name="connsiteY2" fmla="*/ 2572033 h 2597790"/>
              <a:gd name="connsiteX3" fmla="*/ 0 w 8712968"/>
              <a:gd name="connsiteY3" fmla="*/ 2597790 h 2597790"/>
              <a:gd name="connsiteX4" fmla="*/ 0 w 8712968"/>
              <a:gd name="connsiteY4" fmla="*/ 0 h 2597790"/>
              <a:gd name="connsiteX0" fmla="*/ 0 w 8712968"/>
              <a:gd name="connsiteY0" fmla="*/ 0 h 2597790"/>
              <a:gd name="connsiteX1" fmla="*/ 8712968 w 8712968"/>
              <a:gd name="connsiteY1" fmla="*/ 0 h 2597790"/>
              <a:gd name="connsiteX2" fmla="*/ 8712968 w 8712968"/>
              <a:gd name="connsiteY2" fmla="*/ 2597790 h 2597790"/>
              <a:gd name="connsiteX3" fmla="*/ 0 w 8712968"/>
              <a:gd name="connsiteY3" fmla="*/ 2597790 h 2597790"/>
              <a:gd name="connsiteX4" fmla="*/ 0 w 8712968"/>
              <a:gd name="connsiteY4" fmla="*/ 0 h 2597790"/>
              <a:gd name="connsiteX0" fmla="*/ 0 w 8725846"/>
              <a:gd name="connsiteY0" fmla="*/ 991673 h 2597790"/>
              <a:gd name="connsiteX1" fmla="*/ 8725846 w 8725846"/>
              <a:gd name="connsiteY1" fmla="*/ 0 h 2597790"/>
              <a:gd name="connsiteX2" fmla="*/ 8725846 w 8725846"/>
              <a:gd name="connsiteY2" fmla="*/ 2597790 h 2597790"/>
              <a:gd name="connsiteX3" fmla="*/ 12878 w 8725846"/>
              <a:gd name="connsiteY3" fmla="*/ 2597790 h 2597790"/>
              <a:gd name="connsiteX4" fmla="*/ 0 w 8725846"/>
              <a:gd name="connsiteY4" fmla="*/ 991673 h 2597790"/>
              <a:gd name="connsiteX0" fmla="*/ 0 w 8725846"/>
              <a:gd name="connsiteY0" fmla="*/ 64394 h 1670511"/>
              <a:gd name="connsiteX1" fmla="*/ 8725846 w 8725846"/>
              <a:gd name="connsiteY1" fmla="*/ 0 h 1670511"/>
              <a:gd name="connsiteX2" fmla="*/ 8725846 w 8725846"/>
              <a:gd name="connsiteY2" fmla="*/ 1670511 h 1670511"/>
              <a:gd name="connsiteX3" fmla="*/ 12878 w 8725846"/>
              <a:gd name="connsiteY3" fmla="*/ 1670511 h 1670511"/>
              <a:gd name="connsiteX4" fmla="*/ 0 w 8725846"/>
              <a:gd name="connsiteY4" fmla="*/ 64394 h 1670511"/>
              <a:gd name="connsiteX0" fmla="*/ 0 w 8725846"/>
              <a:gd name="connsiteY0" fmla="*/ 38637 h 1644754"/>
              <a:gd name="connsiteX1" fmla="*/ 8725846 w 8725846"/>
              <a:gd name="connsiteY1" fmla="*/ 0 h 1644754"/>
              <a:gd name="connsiteX2" fmla="*/ 8725846 w 8725846"/>
              <a:gd name="connsiteY2" fmla="*/ 1644754 h 1644754"/>
              <a:gd name="connsiteX3" fmla="*/ 12878 w 8725846"/>
              <a:gd name="connsiteY3" fmla="*/ 1644754 h 1644754"/>
              <a:gd name="connsiteX4" fmla="*/ 0 w 8725846"/>
              <a:gd name="connsiteY4" fmla="*/ 38637 h 1644754"/>
              <a:gd name="connsiteX0" fmla="*/ 0 w 8725846"/>
              <a:gd name="connsiteY0" fmla="*/ 25758 h 1631875"/>
              <a:gd name="connsiteX1" fmla="*/ 8725846 w 8725846"/>
              <a:gd name="connsiteY1" fmla="*/ 0 h 1631875"/>
              <a:gd name="connsiteX2" fmla="*/ 8725846 w 8725846"/>
              <a:gd name="connsiteY2" fmla="*/ 1631875 h 1631875"/>
              <a:gd name="connsiteX3" fmla="*/ 12878 w 8725846"/>
              <a:gd name="connsiteY3" fmla="*/ 1631875 h 1631875"/>
              <a:gd name="connsiteX4" fmla="*/ 0 w 8725846"/>
              <a:gd name="connsiteY4" fmla="*/ 25758 h 1631875"/>
              <a:gd name="connsiteX0" fmla="*/ 0 w 8725846"/>
              <a:gd name="connsiteY0" fmla="*/ 0 h 1606117"/>
              <a:gd name="connsiteX1" fmla="*/ 8725846 w 8725846"/>
              <a:gd name="connsiteY1" fmla="*/ 12879 h 1606117"/>
              <a:gd name="connsiteX2" fmla="*/ 8725846 w 8725846"/>
              <a:gd name="connsiteY2" fmla="*/ 1606117 h 1606117"/>
              <a:gd name="connsiteX3" fmla="*/ 12878 w 8725846"/>
              <a:gd name="connsiteY3" fmla="*/ 1606117 h 1606117"/>
              <a:gd name="connsiteX4" fmla="*/ 0 w 8725846"/>
              <a:gd name="connsiteY4" fmla="*/ 0 h 1606117"/>
              <a:gd name="connsiteX0" fmla="*/ 0 w 8725846"/>
              <a:gd name="connsiteY0" fmla="*/ 0 h 1606117"/>
              <a:gd name="connsiteX1" fmla="*/ 8725846 w 8725846"/>
              <a:gd name="connsiteY1" fmla="*/ 12879 h 1606117"/>
              <a:gd name="connsiteX2" fmla="*/ 8725846 w 8725846"/>
              <a:gd name="connsiteY2" fmla="*/ 1606117 h 1606117"/>
              <a:gd name="connsiteX3" fmla="*/ 12878 w 8725846"/>
              <a:gd name="connsiteY3" fmla="*/ 1606117 h 1606117"/>
              <a:gd name="connsiteX4" fmla="*/ 0 w 8725846"/>
              <a:gd name="connsiteY4" fmla="*/ 0 h 1606117"/>
              <a:gd name="connsiteX0" fmla="*/ 31599 w 8712968"/>
              <a:gd name="connsiteY0" fmla="*/ 0 h 2007006"/>
              <a:gd name="connsiteX1" fmla="*/ 8712968 w 8712968"/>
              <a:gd name="connsiteY1" fmla="*/ 413768 h 2007006"/>
              <a:gd name="connsiteX2" fmla="*/ 8712968 w 8712968"/>
              <a:gd name="connsiteY2" fmla="*/ 2007006 h 2007006"/>
              <a:gd name="connsiteX3" fmla="*/ 0 w 8712968"/>
              <a:gd name="connsiteY3" fmla="*/ 2007006 h 2007006"/>
              <a:gd name="connsiteX4" fmla="*/ 31599 w 8712968"/>
              <a:gd name="connsiteY4" fmla="*/ 0 h 2007006"/>
              <a:gd name="connsiteX0" fmla="*/ 31599 w 8712968"/>
              <a:gd name="connsiteY0" fmla="*/ 0 h 2007006"/>
              <a:gd name="connsiteX1" fmla="*/ 8712968 w 8712968"/>
              <a:gd name="connsiteY1" fmla="*/ 24670 h 2007006"/>
              <a:gd name="connsiteX2" fmla="*/ 8712968 w 8712968"/>
              <a:gd name="connsiteY2" fmla="*/ 2007006 h 2007006"/>
              <a:gd name="connsiteX3" fmla="*/ 0 w 8712968"/>
              <a:gd name="connsiteY3" fmla="*/ 2007006 h 2007006"/>
              <a:gd name="connsiteX4" fmla="*/ 31599 w 8712968"/>
              <a:gd name="connsiteY4" fmla="*/ 0 h 2007006"/>
              <a:gd name="connsiteX0" fmla="*/ 31599 w 8712968"/>
              <a:gd name="connsiteY0" fmla="*/ 0 h 2007006"/>
              <a:gd name="connsiteX1" fmla="*/ 8712968 w 8712968"/>
              <a:gd name="connsiteY1" fmla="*/ 12879 h 2007006"/>
              <a:gd name="connsiteX2" fmla="*/ 8712968 w 8712968"/>
              <a:gd name="connsiteY2" fmla="*/ 2007006 h 2007006"/>
              <a:gd name="connsiteX3" fmla="*/ 0 w 8712968"/>
              <a:gd name="connsiteY3" fmla="*/ 2007006 h 2007006"/>
              <a:gd name="connsiteX4" fmla="*/ 31599 w 8712968"/>
              <a:gd name="connsiteY4" fmla="*/ 0 h 2007006"/>
              <a:gd name="connsiteX0" fmla="*/ 31599 w 8712968"/>
              <a:gd name="connsiteY0" fmla="*/ 0 h 2007006"/>
              <a:gd name="connsiteX1" fmla="*/ 8712968 w 8712968"/>
              <a:gd name="connsiteY1" fmla="*/ 12879 h 2007006"/>
              <a:gd name="connsiteX2" fmla="*/ 8712968 w 8712968"/>
              <a:gd name="connsiteY2" fmla="*/ 1629699 h 2007006"/>
              <a:gd name="connsiteX3" fmla="*/ 0 w 8712968"/>
              <a:gd name="connsiteY3" fmla="*/ 2007006 h 2007006"/>
              <a:gd name="connsiteX4" fmla="*/ 31599 w 8712968"/>
              <a:gd name="connsiteY4" fmla="*/ 0 h 2007006"/>
              <a:gd name="connsiteX0" fmla="*/ 0 w 8681369"/>
              <a:gd name="connsiteY0" fmla="*/ 0 h 1641490"/>
              <a:gd name="connsiteX1" fmla="*/ 8681369 w 8681369"/>
              <a:gd name="connsiteY1" fmla="*/ 12879 h 1641490"/>
              <a:gd name="connsiteX2" fmla="*/ 8681369 w 8681369"/>
              <a:gd name="connsiteY2" fmla="*/ 1629699 h 1641490"/>
              <a:gd name="connsiteX3" fmla="*/ 12878 w 8681369"/>
              <a:gd name="connsiteY3" fmla="*/ 1641490 h 1641490"/>
              <a:gd name="connsiteX4" fmla="*/ 0 w 8681369"/>
              <a:gd name="connsiteY4" fmla="*/ 0 h 1641490"/>
              <a:gd name="connsiteX0" fmla="*/ 0 w 8681369"/>
              <a:gd name="connsiteY0" fmla="*/ 0 h 1641490"/>
              <a:gd name="connsiteX1" fmla="*/ 8681369 w 8681369"/>
              <a:gd name="connsiteY1" fmla="*/ 1089 h 1641490"/>
              <a:gd name="connsiteX2" fmla="*/ 8681369 w 8681369"/>
              <a:gd name="connsiteY2" fmla="*/ 1629699 h 1641490"/>
              <a:gd name="connsiteX3" fmla="*/ 12878 w 8681369"/>
              <a:gd name="connsiteY3" fmla="*/ 1641490 h 1641490"/>
              <a:gd name="connsiteX4" fmla="*/ 0 w 8681369"/>
              <a:gd name="connsiteY4" fmla="*/ 0 h 1641490"/>
              <a:gd name="connsiteX0" fmla="*/ 0 w 8681369"/>
              <a:gd name="connsiteY0" fmla="*/ 10702 h 1652192"/>
              <a:gd name="connsiteX1" fmla="*/ 8681369 w 8681369"/>
              <a:gd name="connsiteY1" fmla="*/ 0 h 1652192"/>
              <a:gd name="connsiteX2" fmla="*/ 8681369 w 8681369"/>
              <a:gd name="connsiteY2" fmla="*/ 1640401 h 1652192"/>
              <a:gd name="connsiteX3" fmla="*/ 12878 w 8681369"/>
              <a:gd name="connsiteY3" fmla="*/ 1652192 h 1652192"/>
              <a:gd name="connsiteX4" fmla="*/ 0 w 8681369"/>
              <a:gd name="connsiteY4" fmla="*/ 10702 h 1652192"/>
              <a:gd name="connsiteX0" fmla="*/ 0 w 8681369"/>
              <a:gd name="connsiteY0" fmla="*/ 0 h 1641490"/>
              <a:gd name="connsiteX1" fmla="*/ 8681369 w 8681369"/>
              <a:gd name="connsiteY1" fmla="*/ 1089 h 1641490"/>
              <a:gd name="connsiteX2" fmla="*/ 8681369 w 8681369"/>
              <a:gd name="connsiteY2" fmla="*/ 1629699 h 1641490"/>
              <a:gd name="connsiteX3" fmla="*/ 12878 w 8681369"/>
              <a:gd name="connsiteY3" fmla="*/ 1641490 h 1641490"/>
              <a:gd name="connsiteX4" fmla="*/ 0 w 8681369"/>
              <a:gd name="connsiteY4" fmla="*/ 0 h 1641490"/>
              <a:gd name="connsiteX0" fmla="*/ 0 w 8681369"/>
              <a:gd name="connsiteY0" fmla="*/ 0 h 1641490"/>
              <a:gd name="connsiteX1" fmla="*/ 8681369 w 8681369"/>
              <a:gd name="connsiteY1" fmla="*/ 1089 h 1641490"/>
              <a:gd name="connsiteX2" fmla="*/ 8681369 w 8681369"/>
              <a:gd name="connsiteY2" fmla="*/ 1617908 h 1641490"/>
              <a:gd name="connsiteX3" fmla="*/ 12878 w 8681369"/>
              <a:gd name="connsiteY3" fmla="*/ 1641490 h 1641490"/>
              <a:gd name="connsiteX4" fmla="*/ 0 w 8681369"/>
              <a:gd name="connsiteY4" fmla="*/ 0 h 1641490"/>
              <a:gd name="connsiteX0" fmla="*/ 0 w 8681369"/>
              <a:gd name="connsiteY0" fmla="*/ 0 h 1617908"/>
              <a:gd name="connsiteX1" fmla="*/ 8681369 w 8681369"/>
              <a:gd name="connsiteY1" fmla="*/ 1089 h 1617908"/>
              <a:gd name="connsiteX2" fmla="*/ 8681369 w 8681369"/>
              <a:gd name="connsiteY2" fmla="*/ 1617908 h 1617908"/>
              <a:gd name="connsiteX3" fmla="*/ 12878 w 8681369"/>
              <a:gd name="connsiteY3" fmla="*/ 1617908 h 1617908"/>
              <a:gd name="connsiteX4" fmla="*/ 0 w 8681369"/>
              <a:gd name="connsiteY4" fmla="*/ 0 h 1617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1369" h="1617908">
                <a:moveTo>
                  <a:pt x="0" y="0"/>
                </a:moveTo>
                <a:lnTo>
                  <a:pt x="8681369" y="1089"/>
                </a:lnTo>
                <a:lnTo>
                  <a:pt x="8681369" y="1617908"/>
                </a:lnTo>
                <a:lnTo>
                  <a:pt x="12878" y="1617908"/>
                </a:lnTo>
                <a:lnTo>
                  <a:pt x="0" y="0"/>
                </a:lnTo>
                <a:close/>
              </a:path>
            </a:pathLst>
          </a:custGeom>
          <a:noFill/>
          <a:ln w="28575">
            <a:solidFill>
              <a:schemeClr val="accent6"/>
            </a:solidFill>
          </a:ln>
        </p:spPr>
        <p:txBody>
          <a:bodyPr wrap="square" rtlCol="0">
            <a:spAutoFit/>
          </a:bodyPr>
          <a:lstStyle/>
          <a:p>
            <a:r>
              <a:rPr lang="en-GB" sz="2000" dirty="0"/>
              <a:t>The ratio of the distance moved by a compound (centre of spot from origin) can be expressed as its </a:t>
            </a:r>
            <a:r>
              <a:rPr lang="en-GB" sz="2000" dirty="0" err="1"/>
              <a:t>R</a:t>
            </a:r>
            <a:r>
              <a:rPr lang="en-GB" sz="2000" baseline="-25000" dirty="0" err="1"/>
              <a:t>f</a:t>
            </a:r>
            <a:r>
              <a:rPr lang="en-GB" sz="2000" dirty="0"/>
              <a:t> value:</a:t>
            </a:r>
          </a:p>
          <a:p>
            <a:pPr algn="ctr"/>
            <a:r>
              <a:rPr lang="en-GB" sz="2000" b="1" dirty="0" err="1">
                <a:solidFill>
                  <a:schemeClr val="accent6">
                    <a:lumMod val="75000"/>
                  </a:schemeClr>
                </a:solidFill>
              </a:rPr>
              <a:t>R</a:t>
            </a:r>
            <a:r>
              <a:rPr lang="en-GB" sz="2000" b="1" baseline="-25000" dirty="0" err="1">
                <a:solidFill>
                  <a:schemeClr val="accent6">
                    <a:lumMod val="75000"/>
                  </a:schemeClr>
                </a:solidFill>
              </a:rPr>
              <a:t>f</a:t>
            </a:r>
            <a:r>
              <a:rPr lang="en-GB" sz="2000" b="1" dirty="0">
                <a:solidFill>
                  <a:schemeClr val="accent6">
                    <a:lumMod val="75000"/>
                  </a:schemeClr>
                </a:solidFill>
              </a:rPr>
              <a:t>  =  </a:t>
            </a:r>
            <a:r>
              <a:rPr lang="en-GB" sz="2000" b="1" u="sng" dirty="0">
                <a:solidFill>
                  <a:schemeClr val="accent6">
                    <a:lumMod val="75000"/>
                  </a:schemeClr>
                </a:solidFill>
              </a:rPr>
              <a:t>distance moved by substance</a:t>
            </a:r>
          </a:p>
          <a:p>
            <a:pPr algn="ctr"/>
            <a:r>
              <a:rPr lang="en-GB" sz="2000" b="1" dirty="0">
                <a:solidFill>
                  <a:schemeClr val="accent6">
                    <a:lumMod val="75000"/>
                  </a:schemeClr>
                </a:solidFill>
              </a:rPr>
              <a:t>         distance moved by solvent</a:t>
            </a:r>
          </a:p>
        </p:txBody>
      </p:sp>
      <p:sp>
        <p:nvSpPr>
          <p:cNvPr id="10" name="TextBox 9"/>
          <p:cNvSpPr txBox="1"/>
          <p:nvPr/>
        </p:nvSpPr>
        <p:spPr>
          <a:xfrm>
            <a:off x="210141" y="4078225"/>
            <a:ext cx="5171695" cy="1323439"/>
          </a:xfrm>
          <a:prstGeom prst="rect">
            <a:avLst/>
          </a:prstGeom>
          <a:noFill/>
        </p:spPr>
        <p:txBody>
          <a:bodyPr wrap="square" rtlCol="0">
            <a:spAutoFit/>
          </a:bodyPr>
          <a:lstStyle/>
          <a:p>
            <a:r>
              <a:rPr lang="en-GB" sz="2000" dirty="0"/>
              <a:t>When calculating the </a:t>
            </a:r>
            <a:r>
              <a:rPr lang="en-GB" sz="2000" dirty="0" err="1"/>
              <a:t>R</a:t>
            </a:r>
            <a:r>
              <a:rPr lang="en-GB" sz="2000" baseline="-25000" dirty="0" err="1"/>
              <a:t>f</a:t>
            </a:r>
            <a:r>
              <a:rPr lang="en-GB" sz="2000" dirty="0"/>
              <a:t> value, remember the </a:t>
            </a:r>
            <a:r>
              <a:rPr lang="en-GB" sz="2000" b="1" dirty="0">
                <a:solidFill>
                  <a:schemeClr val="accent6">
                    <a:lumMod val="75000"/>
                  </a:schemeClr>
                </a:solidFill>
              </a:rPr>
              <a:t>solvent will always travel further than the substance </a:t>
            </a:r>
            <a:r>
              <a:rPr lang="en-GB" sz="2000" dirty="0"/>
              <a:t>so the </a:t>
            </a:r>
            <a:r>
              <a:rPr lang="en-GB" sz="2000" b="1" dirty="0" err="1">
                <a:solidFill>
                  <a:schemeClr val="accent6">
                    <a:lumMod val="75000"/>
                  </a:schemeClr>
                </a:solidFill>
              </a:rPr>
              <a:t>R</a:t>
            </a:r>
            <a:r>
              <a:rPr lang="en-GB" sz="2000" b="1" baseline="-25000" dirty="0" err="1">
                <a:solidFill>
                  <a:schemeClr val="accent6">
                    <a:lumMod val="75000"/>
                  </a:schemeClr>
                </a:solidFill>
              </a:rPr>
              <a:t>f</a:t>
            </a:r>
            <a:r>
              <a:rPr lang="en-GB" sz="2000" b="1" dirty="0">
                <a:solidFill>
                  <a:schemeClr val="accent6">
                    <a:lumMod val="75000"/>
                  </a:schemeClr>
                </a:solidFill>
              </a:rPr>
              <a:t> value can never be greater than 1</a:t>
            </a:r>
            <a:r>
              <a:rPr lang="en-GB" sz="2000" dirty="0"/>
              <a:t>.</a:t>
            </a:r>
          </a:p>
        </p:txBody>
      </p:sp>
      <p:sp>
        <p:nvSpPr>
          <p:cNvPr id="12" name="TextBox 11"/>
          <p:cNvSpPr txBox="1"/>
          <p:nvPr/>
        </p:nvSpPr>
        <p:spPr>
          <a:xfrm>
            <a:off x="192392" y="5453864"/>
            <a:ext cx="8700088" cy="1015663"/>
          </a:xfrm>
          <a:custGeom>
            <a:avLst/>
            <a:gdLst>
              <a:gd name="connsiteX0" fmla="*/ 0 w 8700088"/>
              <a:gd name="connsiteY0" fmla="*/ 0 h 1200329"/>
              <a:gd name="connsiteX1" fmla="*/ 8700088 w 8700088"/>
              <a:gd name="connsiteY1" fmla="*/ 0 h 1200329"/>
              <a:gd name="connsiteX2" fmla="*/ 8700088 w 8700088"/>
              <a:gd name="connsiteY2" fmla="*/ 1200329 h 1200329"/>
              <a:gd name="connsiteX3" fmla="*/ 0 w 8700088"/>
              <a:gd name="connsiteY3" fmla="*/ 1200329 h 1200329"/>
              <a:gd name="connsiteX4" fmla="*/ 0 w 8700088"/>
              <a:gd name="connsiteY4" fmla="*/ 0 h 1200329"/>
              <a:gd name="connsiteX0" fmla="*/ 0 w 8700088"/>
              <a:gd name="connsiteY0" fmla="*/ 103031 h 1200329"/>
              <a:gd name="connsiteX1" fmla="*/ 8700088 w 8700088"/>
              <a:gd name="connsiteY1" fmla="*/ 0 h 1200329"/>
              <a:gd name="connsiteX2" fmla="*/ 8700088 w 8700088"/>
              <a:gd name="connsiteY2" fmla="*/ 1200329 h 1200329"/>
              <a:gd name="connsiteX3" fmla="*/ 0 w 8700088"/>
              <a:gd name="connsiteY3" fmla="*/ 1200329 h 1200329"/>
              <a:gd name="connsiteX4" fmla="*/ 0 w 8700088"/>
              <a:gd name="connsiteY4" fmla="*/ 103031 h 1200329"/>
              <a:gd name="connsiteX0" fmla="*/ 0 w 8700088"/>
              <a:gd name="connsiteY0" fmla="*/ 12879 h 1110177"/>
              <a:gd name="connsiteX1" fmla="*/ 8700088 w 8700088"/>
              <a:gd name="connsiteY1" fmla="*/ 0 h 1110177"/>
              <a:gd name="connsiteX2" fmla="*/ 8700088 w 8700088"/>
              <a:gd name="connsiteY2" fmla="*/ 1110177 h 1110177"/>
              <a:gd name="connsiteX3" fmla="*/ 0 w 8700088"/>
              <a:gd name="connsiteY3" fmla="*/ 1110177 h 1110177"/>
              <a:gd name="connsiteX4" fmla="*/ 0 w 8700088"/>
              <a:gd name="connsiteY4" fmla="*/ 12879 h 1110177"/>
              <a:gd name="connsiteX0" fmla="*/ 0 w 8700088"/>
              <a:gd name="connsiteY0" fmla="*/ 0 h 1123056"/>
              <a:gd name="connsiteX1" fmla="*/ 8700088 w 8700088"/>
              <a:gd name="connsiteY1" fmla="*/ 12879 h 1123056"/>
              <a:gd name="connsiteX2" fmla="*/ 8700088 w 8700088"/>
              <a:gd name="connsiteY2" fmla="*/ 1123056 h 1123056"/>
              <a:gd name="connsiteX3" fmla="*/ 0 w 8700088"/>
              <a:gd name="connsiteY3" fmla="*/ 1123056 h 1123056"/>
              <a:gd name="connsiteX4" fmla="*/ 0 w 8700088"/>
              <a:gd name="connsiteY4" fmla="*/ 0 h 1123056"/>
              <a:gd name="connsiteX0" fmla="*/ 0 w 8700088"/>
              <a:gd name="connsiteY0" fmla="*/ 0 h 1161692"/>
              <a:gd name="connsiteX1" fmla="*/ 8700088 w 8700088"/>
              <a:gd name="connsiteY1" fmla="*/ 12879 h 1161692"/>
              <a:gd name="connsiteX2" fmla="*/ 8700088 w 8700088"/>
              <a:gd name="connsiteY2" fmla="*/ 1123056 h 1161692"/>
              <a:gd name="connsiteX3" fmla="*/ 0 w 8700088"/>
              <a:gd name="connsiteY3" fmla="*/ 1161692 h 1161692"/>
              <a:gd name="connsiteX4" fmla="*/ 0 w 8700088"/>
              <a:gd name="connsiteY4" fmla="*/ 0 h 1161692"/>
              <a:gd name="connsiteX0" fmla="*/ 0 w 8700088"/>
              <a:gd name="connsiteY0" fmla="*/ 0 h 1161692"/>
              <a:gd name="connsiteX1" fmla="*/ 8700088 w 8700088"/>
              <a:gd name="connsiteY1" fmla="*/ 12879 h 1161692"/>
              <a:gd name="connsiteX2" fmla="*/ 8700088 w 8700088"/>
              <a:gd name="connsiteY2" fmla="*/ 1161692 h 1161692"/>
              <a:gd name="connsiteX3" fmla="*/ 0 w 8700088"/>
              <a:gd name="connsiteY3" fmla="*/ 1161692 h 1161692"/>
              <a:gd name="connsiteX4" fmla="*/ 0 w 8700088"/>
              <a:gd name="connsiteY4" fmla="*/ 0 h 1161692"/>
              <a:gd name="connsiteX0" fmla="*/ 0 w 8700088"/>
              <a:gd name="connsiteY0" fmla="*/ 0 h 1161692"/>
              <a:gd name="connsiteX1" fmla="*/ 8700088 w 8700088"/>
              <a:gd name="connsiteY1" fmla="*/ 0 h 1161692"/>
              <a:gd name="connsiteX2" fmla="*/ 8700088 w 8700088"/>
              <a:gd name="connsiteY2" fmla="*/ 1161692 h 1161692"/>
              <a:gd name="connsiteX3" fmla="*/ 0 w 8700088"/>
              <a:gd name="connsiteY3" fmla="*/ 1161692 h 1161692"/>
              <a:gd name="connsiteX4" fmla="*/ 0 w 8700088"/>
              <a:gd name="connsiteY4" fmla="*/ 0 h 1161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00088" h="1161692">
                <a:moveTo>
                  <a:pt x="0" y="0"/>
                </a:moveTo>
                <a:lnTo>
                  <a:pt x="8700088" y="0"/>
                </a:lnTo>
                <a:lnTo>
                  <a:pt x="8700088" y="1161692"/>
                </a:lnTo>
                <a:lnTo>
                  <a:pt x="0" y="1161692"/>
                </a:lnTo>
                <a:lnTo>
                  <a:pt x="0" y="0"/>
                </a:lnTo>
                <a:close/>
              </a:path>
            </a:pathLst>
          </a:custGeom>
          <a:noFill/>
          <a:ln w="28575">
            <a:solidFill>
              <a:schemeClr val="accent6"/>
            </a:solidFill>
          </a:ln>
        </p:spPr>
        <p:txBody>
          <a:bodyPr wrap="square" rtlCol="0">
            <a:spAutoFit/>
          </a:bodyPr>
          <a:lstStyle/>
          <a:p>
            <a:r>
              <a:rPr lang="en-GB" sz="2000" dirty="0"/>
              <a:t>Different compounds have different </a:t>
            </a:r>
            <a:r>
              <a:rPr lang="en-GB" sz="2000" dirty="0" err="1"/>
              <a:t>Rf</a:t>
            </a:r>
            <a:r>
              <a:rPr lang="en-GB" sz="2000" dirty="0"/>
              <a:t> values in different solvents, which can be used to help identify the compounds. A pure compound will produce a single spot in all solvents</a:t>
            </a:r>
            <a:r>
              <a:rPr lang="en-GB" dirty="0"/>
              <a:t>.</a:t>
            </a:r>
          </a:p>
        </p:txBody>
      </p:sp>
      <p:grpSp>
        <p:nvGrpSpPr>
          <p:cNvPr id="11" name="Group 10"/>
          <p:cNvGrpSpPr/>
          <p:nvPr/>
        </p:nvGrpSpPr>
        <p:grpSpPr>
          <a:xfrm>
            <a:off x="5283152" y="452471"/>
            <a:ext cx="3585374" cy="4841227"/>
            <a:chOff x="0" y="0"/>
            <a:chExt cx="3204211" cy="5510143"/>
          </a:xfrm>
        </p:grpSpPr>
        <p:cxnSp>
          <p:nvCxnSpPr>
            <p:cNvPr id="13" name="Straight Connector 12"/>
            <p:cNvCxnSpPr/>
            <p:nvPr/>
          </p:nvCxnSpPr>
          <p:spPr>
            <a:xfrm>
              <a:off x="143123" y="1900362"/>
              <a:ext cx="2018803" cy="0"/>
            </a:xfrm>
            <a:prstGeom prst="line">
              <a:avLst/>
            </a:prstGeom>
            <a:noFill/>
            <a:ln w="19050" cap="flat" cmpd="sng" algn="ctr">
              <a:solidFill>
                <a:sysClr val="windowText" lastClr="000000"/>
              </a:solidFill>
              <a:prstDash val="lgDash"/>
              <a:miter lim="800000"/>
            </a:ln>
            <a:effectLst/>
          </p:spPr>
        </p:cxnSp>
        <p:sp>
          <p:nvSpPr>
            <p:cNvPr id="14" name="Rectangle 13"/>
            <p:cNvSpPr/>
            <p:nvPr/>
          </p:nvSpPr>
          <p:spPr>
            <a:xfrm>
              <a:off x="1550504" y="206734"/>
              <a:ext cx="1391478" cy="43891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15" name="Straight Connector 14"/>
            <p:cNvCxnSpPr/>
            <p:nvPr/>
          </p:nvCxnSpPr>
          <p:spPr>
            <a:xfrm>
              <a:off x="1550504" y="532737"/>
              <a:ext cx="1391258" cy="0"/>
            </a:xfrm>
            <a:prstGeom prst="line">
              <a:avLst/>
            </a:prstGeom>
            <a:ln/>
          </p:spPr>
          <p:style>
            <a:lnRef idx="3">
              <a:schemeClr val="dk1"/>
            </a:lnRef>
            <a:fillRef idx="0">
              <a:schemeClr val="dk1"/>
            </a:fillRef>
            <a:effectRef idx="2">
              <a:schemeClr val="dk1"/>
            </a:effectRef>
            <a:fontRef idx="minor">
              <a:schemeClr val="tx1"/>
            </a:fontRef>
          </p:style>
        </p:cxnSp>
        <p:cxnSp>
          <p:nvCxnSpPr>
            <p:cNvPr id="16" name="Straight Connector 15"/>
            <p:cNvCxnSpPr/>
            <p:nvPr/>
          </p:nvCxnSpPr>
          <p:spPr>
            <a:xfrm>
              <a:off x="1542553" y="4230094"/>
              <a:ext cx="1391258" cy="0"/>
            </a:xfrm>
            <a:prstGeom prst="line">
              <a:avLst/>
            </a:prstGeom>
            <a:ln/>
          </p:spPr>
          <p:style>
            <a:lnRef idx="3">
              <a:schemeClr val="dk1"/>
            </a:lnRef>
            <a:fillRef idx="0">
              <a:schemeClr val="dk1"/>
            </a:fillRef>
            <a:effectRef idx="2">
              <a:schemeClr val="dk1"/>
            </a:effectRef>
            <a:fontRef idx="minor">
              <a:schemeClr val="tx1"/>
            </a:fontRef>
          </p:style>
        </p:cxnSp>
        <p:sp>
          <p:nvSpPr>
            <p:cNvPr id="17" name="Right Bracket 16"/>
            <p:cNvSpPr/>
            <p:nvPr/>
          </p:nvSpPr>
          <p:spPr>
            <a:xfrm rot="5400000">
              <a:off x="787180" y="2289975"/>
              <a:ext cx="2878151" cy="1955910"/>
            </a:xfrm>
            <a:prstGeom prst="rightBracket">
              <a:avLst/>
            </a:prstGeom>
          </p:spPr>
          <p:style>
            <a:lnRef idx="3">
              <a:schemeClr val="dk1"/>
            </a:lnRef>
            <a:fillRef idx="0">
              <a:schemeClr val="dk1"/>
            </a:fillRef>
            <a:effectRef idx="2">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18" name="Straight Connector 17"/>
            <p:cNvCxnSpPr/>
            <p:nvPr/>
          </p:nvCxnSpPr>
          <p:spPr>
            <a:xfrm flipV="1">
              <a:off x="1367624" y="4460682"/>
              <a:ext cx="1749287" cy="0"/>
            </a:xfrm>
            <a:prstGeom prst="line">
              <a:avLst/>
            </a:prstGeom>
            <a:noFill/>
            <a:ln w="19050" cap="flat" cmpd="sng" algn="ctr">
              <a:solidFill>
                <a:sysClr val="windowText" lastClr="000000"/>
              </a:solidFill>
              <a:prstDash val="solid"/>
              <a:miter lim="800000"/>
            </a:ln>
            <a:effectLst/>
          </p:spPr>
        </p:cxnSp>
        <p:sp>
          <p:nvSpPr>
            <p:cNvPr id="19" name="Oval 18"/>
            <p:cNvSpPr/>
            <p:nvPr/>
          </p:nvSpPr>
          <p:spPr>
            <a:xfrm>
              <a:off x="2146852" y="4126727"/>
              <a:ext cx="135172" cy="190831"/>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0" name="Oval 19"/>
            <p:cNvSpPr/>
            <p:nvPr/>
          </p:nvSpPr>
          <p:spPr>
            <a:xfrm>
              <a:off x="2146852" y="2655736"/>
              <a:ext cx="135172" cy="190831"/>
            </a:xfrm>
            <a:prstGeom prst="ellipse">
              <a:avLst/>
            </a:prstGeom>
            <a:ln/>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1" name="Oval 20"/>
            <p:cNvSpPr/>
            <p:nvPr/>
          </p:nvSpPr>
          <p:spPr>
            <a:xfrm>
              <a:off x="2130949" y="1804946"/>
              <a:ext cx="135172" cy="190831"/>
            </a:xfrm>
            <a:prstGeom prst="ellipse">
              <a:avLst/>
            </a:prstGeom>
            <a:ln/>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cxnSp>
          <p:nvCxnSpPr>
            <p:cNvPr id="22" name="Straight Connector 21"/>
            <p:cNvCxnSpPr/>
            <p:nvPr/>
          </p:nvCxnSpPr>
          <p:spPr>
            <a:xfrm>
              <a:off x="127221" y="532737"/>
              <a:ext cx="1391258" cy="0"/>
            </a:xfrm>
            <a:prstGeom prst="line">
              <a:avLst/>
            </a:prstGeom>
            <a:noFill/>
            <a:ln w="19050" cap="flat" cmpd="sng" algn="ctr">
              <a:solidFill>
                <a:sysClr val="windowText" lastClr="000000"/>
              </a:solidFill>
              <a:prstDash val="lgDash"/>
              <a:miter lim="800000"/>
            </a:ln>
            <a:effectLst/>
          </p:spPr>
        </p:cxnSp>
        <p:cxnSp>
          <p:nvCxnSpPr>
            <p:cNvPr id="23" name="Straight Connector 22"/>
            <p:cNvCxnSpPr/>
            <p:nvPr/>
          </p:nvCxnSpPr>
          <p:spPr>
            <a:xfrm>
              <a:off x="206734" y="4222142"/>
              <a:ext cx="1391258" cy="0"/>
            </a:xfrm>
            <a:prstGeom prst="line">
              <a:avLst/>
            </a:prstGeom>
            <a:noFill/>
            <a:ln w="19050" cap="flat" cmpd="sng" algn="ctr">
              <a:solidFill>
                <a:sysClr val="windowText" lastClr="000000"/>
              </a:solidFill>
              <a:prstDash val="lgDash"/>
              <a:miter lim="800000"/>
            </a:ln>
            <a:effectLst/>
          </p:spPr>
        </p:cxnSp>
        <p:sp>
          <p:nvSpPr>
            <p:cNvPr id="24" name="Up-Down Arrow 23"/>
            <p:cNvSpPr/>
            <p:nvPr/>
          </p:nvSpPr>
          <p:spPr>
            <a:xfrm>
              <a:off x="79513" y="612250"/>
              <a:ext cx="151075" cy="3570135"/>
            </a:xfrm>
            <a:prstGeom prst="upDownArrow">
              <a:avLst/>
            </a:prstGeom>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5" name="Up-Down Arrow 24"/>
            <p:cNvSpPr/>
            <p:nvPr/>
          </p:nvSpPr>
          <p:spPr>
            <a:xfrm>
              <a:off x="715617" y="1956021"/>
              <a:ext cx="149557" cy="2202511"/>
            </a:xfrm>
            <a:prstGeom prst="upDownArrow">
              <a:avLst/>
            </a:prstGeom>
            <a:ln/>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26" name="Line Callout 1 25"/>
            <p:cNvSpPr/>
            <p:nvPr/>
          </p:nvSpPr>
          <p:spPr>
            <a:xfrm>
              <a:off x="127221" y="0"/>
              <a:ext cx="1216328" cy="429260"/>
            </a:xfrm>
            <a:prstGeom prst="borderCallout1">
              <a:avLst>
                <a:gd name="adj1" fmla="val 53944"/>
                <a:gd name="adj2" fmla="val 105432"/>
                <a:gd name="adj3" fmla="val 114352"/>
                <a:gd name="adj4" fmla="val 148730"/>
              </a:avLst>
            </a:prstGeom>
            <a:noFill/>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sz="1100">
                  <a:effectLst/>
                  <a:ea typeface="Calibri" panose="020F0502020204030204" pitchFamily="34" charset="0"/>
                  <a:cs typeface="Times New Roman" panose="02020603050405020304" pitchFamily="18" charset="0"/>
                </a:rPr>
                <a:t>Position solvent reaches</a:t>
              </a:r>
            </a:p>
          </p:txBody>
        </p:sp>
        <p:sp>
          <p:nvSpPr>
            <p:cNvPr id="27" name="Line Callout 1 26"/>
            <p:cNvSpPr/>
            <p:nvPr/>
          </p:nvSpPr>
          <p:spPr>
            <a:xfrm>
              <a:off x="302149" y="985962"/>
              <a:ext cx="1216025" cy="429260"/>
            </a:xfrm>
            <a:prstGeom prst="borderCallout1">
              <a:avLst>
                <a:gd name="adj1" fmla="val 53944"/>
                <a:gd name="adj2" fmla="val 105432"/>
                <a:gd name="adj3" fmla="val 194002"/>
                <a:gd name="adj4" fmla="val 148076"/>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sz="1100">
                  <a:effectLst/>
                  <a:latin typeface="Calibri" panose="020F0502020204030204" pitchFamily="34" charset="0"/>
                  <a:ea typeface="Calibri" panose="020F0502020204030204" pitchFamily="34" charset="0"/>
                  <a:cs typeface="Times New Roman" panose="02020603050405020304" pitchFamily="18" charset="0"/>
                </a:rPr>
                <a:t>Parts of mixture separated</a:t>
              </a:r>
            </a:p>
          </p:txBody>
        </p:sp>
        <p:cxnSp>
          <p:nvCxnSpPr>
            <p:cNvPr id="28" name="Straight Connector 27"/>
            <p:cNvCxnSpPr/>
            <p:nvPr/>
          </p:nvCxnSpPr>
          <p:spPr>
            <a:xfrm>
              <a:off x="1614115" y="1391478"/>
              <a:ext cx="532737" cy="1240404"/>
            </a:xfrm>
            <a:prstGeom prst="line">
              <a:avLst/>
            </a:prstGeom>
            <a:noFill/>
            <a:ln w="19050" cap="flat" cmpd="sng" algn="ctr">
              <a:solidFill>
                <a:sysClr val="windowText" lastClr="000000"/>
              </a:solidFill>
              <a:prstDash val="solid"/>
              <a:miter lim="800000"/>
            </a:ln>
            <a:effectLst/>
          </p:spPr>
        </p:cxnSp>
        <p:sp>
          <p:nvSpPr>
            <p:cNvPr id="29" name="Line Callout 1 28"/>
            <p:cNvSpPr/>
            <p:nvPr/>
          </p:nvSpPr>
          <p:spPr>
            <a:xfrm>
              <a:off x="0" y="4365266"/>
              <a:ext cx="1216025" cy="429260"/>
            </a:xfrm>
            <a:prstGeom prst="borderCallout1">
              <a:avLst>
                <a:gd name="adj1" fmla="val 53944"/>
                <a:gd name="adj2" fmla="val 105432"/>
                <a:gd name="adj3" fmla="val -19016"/>
                <a:gd name="adj4" fmla="val 175539"/>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sz="1100">
                  <a:effectLst/>
                  <a:latin typeface="Calibri" panose="020F0502020204030204" pitchFamily="34" charset="0"/>
                  <a:ea typeface="Calibri" panose="020F0502020204030204" pitchFamily="34" charset="0"/>
                  <a:cs typeface="Times New Roman" panose="02020603050405020304" pitchFamily="18" charset="0"/>
                </a:rPr>
                <a:t>Mixture to be separated</a:t>
              </a:r>
            </a:p>
          </p:txBody>
        </p:sp>
        <p:sp>
          <p:nvSpPr>
            <p:cNvPr id="30" name="Line Callout 1 29"/>
            <p:cNvSpPr/>
            <p:nvPr/>
          </p:nvSpPr>
          <p:spPr>
            <a:xfrm>
              <a:off x="1351722" y="5080883"/>
              <a:ext cx="1216025" cy="429260"/>
            </a:xfrm>
            <a:prstGeom prst="borderCallout1">
              <a:avLst>
                <a:gd name="adj1" fmla="val -16445"/>
                <a:gd name="adj2" fmla="val 47237"/>
                <a:gd name="adj3" fmla="val -104223"/>
                <a:gd name="adj4" fmla="val 67649"/>
              </a:avLst>
            </a:prstGeom>
            <a:no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b" anchorCtr="0" forceAA="0" compatLnSpc="1">
              <a:prstTxWarp prst="textNoShape">
                <a:avLst/>
              </a:prstTxWarp>
              <a:noAutofit/>
            </a:bodyPr>
            <a:lstStyle/>
            <a:p>
              <a:pPr algn="ctr">
                <a:lnSpc>
                  <a:spcPct val="107000"/>
                </a:lnSpc>
                <a:spcAft>
                  <a:spcPts val="800"/>
                </a:spcAft>
              </a:pPr>
              <a:r>
                <a:rPr lang="en-GB" sz="1100">
                  <a:effectLst/>
                  <a:latin typeface="Calibri" panose="020F0502020204030204" pitchFamily="34" charset="0"/>
                  <a:ea typeface="Calibri" panose="020F0502020204030204" pitchFamily="34" charset="0"/>
                  <a:cs typeface="Times New Roman" panose="02020603050405020304" pitchFamily="18" charset="0"/>
                </a:rPr>
                <a:t>Solvent</a:t>
              </a:r>
            </a:p>
          </p:txBody>
        </p:sp>
      </p:grpSp>
    </p:spTree>
    <p:extLst>
      <p:ext uri="{BB962C8B-B14F-4D97-AF65-F5344CB8AC3E}">
        <p14:creationId xmlns:p14="http://schemas.microsoft.com/office/powerpoint/2010/main" val="3057055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5139869"/>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US" sz="3600" b="1" dirty="0">
                <a:solidFill>
                  <a:schemeClr val="tx1">
                    <a:lumMod val="50000"/>
                    <a:lumOff val="50000"/>
                  </a:schemeClr>
                </a:solidFill>
              </a:rPr>
              <a:t>Methods of separating and purifying substances – 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Separating techniques</a:t>
            </a:r>
          </a:p>
          <a:p>
            <a:pPr marL="685800" lvl="1" indent="-342900">
              <a:buFont typeface="Arial" charset="0"/>
              <a:buChar char="•"/>
            </a:pPr>
            <a:r>
              <a:rPr lang="en-US" sz="2400" b="1" dirty="0">
                <a:solidFill>
                  <a:schemeClr val="bg1">
                    <a:lumMod val="50000"/>
                  </a:schemeClr>
                </a:solidFill>
              </a:rPr>
              <a:t>Chromatography</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3710359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Mixtures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339376"/>
          </a:xfrm>
          <a:prstGeom prst="rect">
            <a:avLst/>
          </a:prstGeom>
          <a:noFill/>
        </p:spPr>
        <p:txBody>
          <a:bodyPr wrap="square" rtlCol="0">
            <a:spAutoFit/>
          </a:bodyPr>
          <a:lstStyle/>
          <a:p>
            <a:pPr marL="457200" indent="-457200">
              <a:buAutoNum type="arabicPeriod"/>
            </a:pPr>
            <a:r>
              <a:rPr lang="en-GB" sz="2400" dirty="0"/>
              <a:t>What is the difference between a compound and a mixture?</a:t>
            </a:r>
          </a:p>
          <a:p>
            <a:pPr marL="457200" indent="-457200">
              <a:buAutoNum type="arabicPeriod"/>
            </a:pPr>
            <a:endParaRPr lang="en-GB" sz="2400" dirty="0"/>
          </a:p>
          <a:p>
            <a:pPr marL="457200" indent="-457200">
              <a:buAutoNum type="arabicPeriod"/>
            </a:pPr>
            <a:r>
              <a:rPr lang="en-GB" sz="2400" dirty="0"/>
              <a:t>Describe the method used to collect the salt from a mixture of sand and salt.</a:t>
            </a:r>
          </a:p>
          <a:p>
            <a:pPr marL="457200" indent="-457200">
              <a:buAutoNum type="arabicPeriod"/>
            </a:pPr>
            <a:endParaRPr lang="en-GB" sz="2400" dirty="0"/>
          </a:p>
          <a:p>
            <a:pPr marL="457200" indent="-457200">
              <a:buAutoNum type="arabicPeriod"/>
            </a:pPr>
            <a:r>
              <a:rPr lang="en-GB" sz="2400" dirty="0"/>
              <a:t>What process is used to purify seawater to obtain usable water?</a:t>
            </a:r>
          </a:p>
          <a:p>
            <a:pPr marL="457200" indent="-457200">
              <a:buAutoNum type="arabicPeriod"/>
            </a:pPr>
            <a:endParaRPr lang="en-GB" sz="2400" dirty="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39614782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Mixtures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1492716"/>
          </a:xfrm>
          <a:prstGeom prst="rect">
            <a:avLst/>
          </a:prstGeom>
          <a:noFill/>
        </p:spPr>
        <p:txBody>
          <a:bodyPr wrap="square" rtlCol="0">
            <a:spAutoFit/>
          </a:bodyPr>
          <a:lstStyle/>
          <a:p>
            <a:r>
              <a:rPr lang="en-GB" sz="2400" dirty="0"/>
              <a:t>4.  Describe how the following equipment is used to separate water  </a:t>
            </a:r>
          </a:p>
          <a:p>
            <a:r>
              <a:rPr lang="en-GB" sz="2400" dirty="0"/>
              <a:t>     and ethanol.</a:t>
            </a:r>
          </a:p>
          <a:p>
            <a:pPr>
              <a:lnSpc>
                <a:spcPct val="150000"/>
              </a:lnSpc>
            </a:pPr>
            <a:endParaRPr lang="en-GB" dirty="0"/>
          </a:p>
          <a:p>
            <a:pPr marL="342900" indent="-342900">
              <a:buFont typeface="+mj-lt"/>
              <a:buAutoNum type="arabicPeriod"/>
            </a:pPr>
            <a:endParaRPr lang="en-GB" sz="1600" dirty="0"/>
          </a:p>
        </p:txBody>
      </p:sp>
      <p:pic>
        <p:nvPicPr>
          <p:cNvPr id="7" name="Picture 2" descr="Image result for distillation of ethanol">
            <a:extLst>
              <a:ext uri="{FF2B5EF4-FFF2-40B4-BE49-F238E27FC236}">
                <a16:creationId xmlns:a16="http://schemas.microsoft.com/office/drawing/2014/main" id="{80605123-73A3-4C7F-81D8-8DAEA871BC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1412776"/>
            <a:ext cx="3312368" cy="4854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912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Mixtures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509200"/>
          </a:xfrm>
          <a:prstGeom prst="rect">
            <a:avLst/>
          </a:prstGeom>
          <a:noFill/>
        </p:spPr>
        <p:txBody>
          <a:bodyPr wrap="square" rtlCol="0">
            <a:spAutoFit/>
          </a:bodyPr>
          <a:lstStyle/>
          <a:p>
            <a:pPr marL="457200" indent="-457200">
              <a:buFont typeface="+mj-lt"/>
              <a:buAutoNum type="arabicPeriod" startAt="5"/>
            </a:pPr>
            <a:r>
              <a:rPr lang="en-GB" sz="2400" dirty="0"/>
              <a:t>A mixture and six colours are tested using chromatography. The following chromatogram was produced.</a:t>
            </a:r>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r>
              <a:rPr lang="en-GB" sz="2400" dirty="0"/>
              <a:t>      a) What can you conclude about the mixture?</a:t>
            </a:r>
          </a:p>
          <a:p>
            <a:endParaRPr lang="en-GB" sz="2400" dirty="0"/>
          </a:p>
          <a:p>
            <a:r>
              <a:rPr lang="en-GB" sz="2400" dirty="0"/>
              <a:t>      b) Why do the inks separate?</a:t>
            </a:r>
          </a:p>
          <a:p>
            <a:r>
              <a:rPr lang="en-GB" sz="2400" dirty="0"/>
              <a:t> </a:t>
            </a:r>
          </a:p>
          <a:p>
            <a:pPr marL="342900" indent="-342900">
              <a:buFont typeface="+mj-lt"/>
              <a:buAutoNum type="arabicPeriod"/>
            </a:pPr>
            <a:endParaRPr lang="en-GB" sz="1600" dirty="0"/>
          </a:p>
        </p:txBody>
      </p:sp>
      <p:pic>
        <p:nvPicPr>
          <p:cNvPr id="3" name="Picture 2">
            <a:extLst>
              <a:ext uri="{FF2B5EF4-FFF2-40B4-BE49-F238E27FC236}">
                <a16:creationId xmlns:a16="http://schemas.microsoft.com/office/drawing/2014/main" id="{6EE77C87-4478-48D1-826D-B11AAFDFB1C0}"/>
              </a:ext>
            </a:extLst>
          </p:cNvPr>
          <p:cNvPicPr>
            <a:picLocks noChangeAspect="1"/>
          </p:cNvPicPr>
          <p:nvPr/>
        </p:nvPicPr>
        <p:blipFill>
          <a:blip r:embed="rId2"/>
          <a:stretch>
            <a:fillRect/>
          </a:stretch>
        </p:blipFill>
        <p:spPr>
          <a:xfrm>
            <a:off x="1403648" y="1484784"/>
            <a:ext cx="6521921" cy="2946942"/>
          </a:xfrm>
          <a:prstGeom prst="rect">
            <a:avLst/>
          </a:prstGeom>
        </p:spPr>
      </p:pic>
    </p:spTree>
    <p:extLst>
      <p:ext uri="{BB962C8B-B14F-4D97-AF65-F5344CB8AC3E}">
        <p14:creationId xmlns:p14="http://schemas.microsoft.com/office/powerpoint/2010/main" val="2185021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Mixtures –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431983"/>
          </a:xfrm>
          <a:prstGeom prst="rect">
            <a:avLst/>
          </a:prstGeom>
          <a:noFill/>
        </p:spPr>
        <p:txBody>
          <a:bodyPr wrap="square" rtlCol="0">
            <a:spAutoFit/>
          </a:bodyPr>
          <a:lstStyle/>
          <a:p>
            <a:pPr>
              <a:lnSpc>
                <a:spcPct val="150000"/>
              </a:lnSpc>
            </a:pPr>
            <a:r>
              <a:rPr lang="en-GB" sz="2400" dirty="0"/>
              <a:t>6. What is chromatograph?</a:t>
            </a:r>
          </a:p>
          <a:p>
            <a:pPr>
              <a:lnSpc>
                <a:spcPct val="150000"/>
              </a:lnSpc>
            </a:pPr>
            <a:r>
              <a:rPr lang="en-GB" sz="2400" dirty="0">
                <a:solidFill>
                  <a:srgbClr val="00B050"/>
                </a:solidFill>
              </a:rPr>
              <a:t>	</a:t>
            </a:r>
          </a:p>
          <a:p>
            <a:pPr>
              <a:lnSpc>
                <a:spcPct val="150000"/>
              </a:lnSpc>
            </a:pPr>
            <a:r>
              <a:rPr lang="en-GB" sz="2400" dirty="0"/>
              <a:t>7. What happens in the stationary and mobile phases?</a:t>
            </a:r>
          </a:p>
          <a:p>
            <a:pPr>
              <a:lnSpc>
                <a:spcPct val="150000"/>
              </a:lnSpc>
            </a:pPr>
            <a:endParaRPr lang="en-GB" sz="2400" dirty="0">
              <a:solidFill>
                <a:srgbClr val="00B050"/>
              </a:solidFill>
            </a:endParaRPr>
          </a:p>
          <a:p>
            <a:pPr>
              <a:lnSpc>
                <a:spcPct val="150000"/>
              </a:lnSpc>
            </a:pPr>
            <a:r>
              <a:rPr lang="en-GB" sz="2400" dirty="0"/>
              <a:t>8. A solvent travels 8cm up the stationary phase; two spots separate out. A travels 6cm up the mobile phase, B travels 4.5cm up the mobile phase. Give the </a:t>
            </a:r>
            <a:r>
              <a:rPr lang="en-GB" sz="2400" dirty="0" err="1"/>
              <a:t>Rf</a:t>
            </a:r>
            <a:r>
              <a:rPr lang="en-GB" sz="2400" dirty="0"/>
              <a:t> value for both, to two decimal places.</a:t>
            </a:r>
          </a:p>
          <a:p>
            <a:pPr>
              <a:lnSpc>
                <a:spcPct val="150000"/>
              </a:lnSpc>
            </a:pPr>
            <a:r>
              <a:rPr lang="en-GB" sz="2000" dirty="0"/>
              <a:t>	</a:t>
            </a:r>
            <a:endParaRPr lang="en-GB" sz="1600" dirty="0"/>
          </a:p>
        </p:txBody>
      </p:sp>
    </p:spTree>
    <p:extLst>
      <p:ext uri="{BB962C8B-B14F-4D97-AF65-F5344CB8AC3E}">
        <p14:creationId xmlns:p14="http://schemas.microsoft.com/office/powerpoint/2010/main" val="2579311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139869"/>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US" sz="3600" b="1" dirty="0">
                <a:solidFill>
                  <a:schemeClr val="tx1">
                    <a:lumMod val="50000"/>
                    <a:lumOff val="50000"/>
                  </a:schemeClr>
                </a:solidFill>
              </a:rPr>
              <a:t>Methods of separating and purifying substances – 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Separating techniques</a:t>
            </a:r>
          </a:p>
          <a:p>
            <a:pPr marL="685800" lvl="1" indent="-342900">
              <a:buFont typeface="Arial" charset="0"/>
              <a:buChar char="•"/>
            </a:pPr>
            <a:r>
              <a:rPr lang="en-US" sz="2400" b="1" dirty="0">
                <a:solidFill>
                  <a:schemeClr val="bg1">
                    <a:lumMod val="50000"/>
                  </a:schemeClr>
                </a:solidFill>
              </a:rPr>
              <a:t>Chromatography</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11627127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Mixtures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186035"/>
          </a:xfrm>
          <a:prstGeom prst="rect">
            <a:avLst/>
          </a:prstGeom>
          <a:noFill/>
        </p:spPr>
        <p:txBody>
          <a:bodyPr wrap="square" rtlCol="0">
            <a:spAutoFit/>
          </a:bodyPr>
          <a:lstStyle/>
          <a:p>
            <a:pPr marL="457200" indent="-457200">
              <a:buAutoNum type="arabicPeriod"/>
            </a:pPr>
            <a:r>
              <a:rPr lang="en-GB" sz="2400" dirty="0"/>
              <a:t>What is the difference between a compound and a mixture?</a:t>
            </a:r>
          </a:p>
          <a:p>
            <a:r>
              <a:rPr lang="en-GB" sz="2400" dirty="0"/>
              <a:t>       </a:t>
            </a:r>
            <a:r>
              <a:rPr lang="en-GB" sz="2400" b="1" dirty="0">
                <a:solidFill>
                  <a:srgbClr val="00B050"/>
                </a:solidFill>
              </a:rPr>
              <a:t>The substances in a mixture are not chemically bonded together,    </a:t>
            </a:r>
          </a:p>
          <a:p>
            <a:r>
              <a:rPr lang="en-GB" sz="2400" b="1" dirty="0">
                <a:solidFill>
                  <a:srgbClr val="00B050"/>
                </a:solidFill>
              </a:rPr>
              <a:t>       but they are in a compound.</a:t>
            </a:r>
          </a:p>
          <a:p>
            <a:endParaRPr lang="en-GB" sz="2400" dirty="0"/>
          </a:p>
          <a:p>
            <a:r>
              <a:rPr lang="en-GB" sz="2400" dirty="0"/>
              <a:t>2.  Describe the method used to collect the salt from  a mixture of   </a:t>
            </a:r>
          </a:p>
          <a:p>
            <a:r>
              <a:rPr lang="en-GB" sz="2400" dirty="0"/>
              <a:t>      sand and salt.</a:t>
            </a:r>
          </a:p>
          <a:p>
            <a:r>
              <a:rPr lang="en-GB" sz="2400" dirty="0"/>
              <a:t>      </a:t>
            </a:r>
            <a:r>
              <a:rPr lang="en-GB" sz="2400" b="1" dirty="0">
                <a:solidFill>
                  <a:srgbClr val="00B050"/>
                </a:solidFill>
              </a:rPr>
              <a:t>Add water and stir to dissolve the salt. Use filtration to remove     </a:t>
            </a:r>
          </a:p>
          <a:p>
            <a:r>
              <a:rPr lang="en-GB" sz="2400" b="1" dirty="0">
                <a:solidFill>
                  <a:srgbClr val="00B050"/>
                </a:solidFill>
              </a:rPr>
              <a:t>      the sand. Heat the water (gently) to allow the salt to crystallise </a:t>
            </a:r>
          </a:p>
          <a:p>
            <a:r>
              <a:rPr lang="en-GB" sz="2400" b="1" dirty="0">
                <a:solidFill>
                  <a:srgbClr val="00B050"/>
                </a:solidFill>
              </a:rPr>
              <a:t>      (to avoid dryness).</a:t>
            </a:r>
          </a:p>
          <a:p>
            <a:endParaRPr lang="en-GB" sz="2400" dirty="0"/>
          </a:p>
          <a:p>
            <a:r>
              <a:rPr lang="en-GB" sz="2400" dirty="0"/>
              <a:t>3.  What process is used to purify seawater to obtain usable water?</a:t>
            </a:r>
          </a:p>
          <a:p>
            <a:r>
              <a:rPr lang="en-GB" sz="2400" b="1" dirty="0">
                <a:solidFill>
                  <a:srgbClr val="00B050"/>
                </a:solidFill>
              </a:rPr>
              <a:t>      Simple distillation</a:t>
            </a:r>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985828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Mixtures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924699"/>
          </a:xfrm>
          <a:prstGeom prst="rect">
            <a:avLst/>
          </a:prstGeom>
          <a:noFill/>
        </p:spPr>
        <p:txBody>
          <a:bodyPr wrap="square" rtlCol="0">
            <a:spAutoFit/>
          </a:bodyPr>
          <a:lstStyle/>
          <a:p>
            <a:r>
              <a:rPr lang="en-GB" sz="2400" dirty="0"/>
              <a:t>4.  Describe how the following equipment is used to separate water </a:t>
            </a:r>
          </a:p>
          <a:p>
            <a:r>
              <a:rPr lang="en-GB" sz="2400" dirty="0"/>
              <a:t>      and ethanol.</a:t>
            </a:r>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r>
              <a:rPr lang="en-GB" sz="2400" b="1" dirty="0">
                <a:solidFill>
                  <a:srgbClr val="00B050"/>
                </a:solidFill>
              </a:rPr>
              <a:t>The ethanol and water mixture are heated. Ethanol has a boiling point of 78°C and will vaporise first. The gas passes over the fractionating column and into the condenser. Here it will condense, turning back into it’s liquid state.</a:t>
            </a:r>
          </a:p>
          <a:p>
            <a:pPr>
              <a:lnSpc>
                <a:spcPct val="150000"/>
              </a:lnSpc>
            </a:pPr>
            <a:endParaRPr lang="en-GB" dirty="0"/>
          </a:p>
          <a:p>
            <a:pPr marL="342900" indent="-342900">
              <a:buFont typeface="+mj-lt"/>
              <a:buAutoNum type="arabicPeriod"/>
            </a:pPr>
            <a:endParaRPr lang="en-GB" sz="1600" dirty="0"/>
          </a:p>
        </p:txBody>
      </p:sp>
      <p:pic>
        <p:nvPicPr>
          <p:cNvPr id="7" name="Picture 2" descr="Image result for distillation of ethanol">
            <a:extLst>
              <a:ext uri="{FF2B5EF4-FFF2-40B4-BE49-F238E27FC236}">
                <a16:creationId xmlns:a16="http://schemas.microsoft.com/office/drawing/2014/main" id="{80605123-73A3-4C7F-81D8-8DAEA871BC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1357881"/>
            <a:ext cx="1872208" cy="2743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41978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Mixtures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AnswerIT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6" y="697936"/>
            <a:ext cx="9103433" cy="5878532"/>
          </a:xfrm>
          <a:prstGeom prst="rect">
            <a:avLst/>
          </a:prstGeom>
          <a:noFill/>
        </p:spPr>
        <p:txBody>
          <a:bodyPr wrap="square" rtlCol="0">
            <a:spAutoFit/>
          </a:bodyPr>
          <a:lstStyle/>
          <a:p>
            <a:pPr marL="457200" indent="-457200">
              <a:buFont typeface="+mj-lt"/>
              <a:buAutoNum type="arabicPeriod" startAt="5"/>
            </a:pPr>
            <a:r>
              <a:rPr lang="en-GB" sz="2400" dirty="0"/>
              <a:t>A mixture and six colours are tested using chromatography.  The following chromatogram was produced:</a:t>
            </a:r>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r>
              <a:rPr lang="en-GB" sz="2400" dirty="0"/>
              <a:t>      a) What can you conclude about the mixture?</a:t>
            </a:r>
          </a:p>
          <a:p>
            <a:r>
              <a:rPr lang="en-GB" sz="2400" b="1" dirty="0">
                <a:solidFill>
                  <a:srgbClr val="00B050"/>
                </a:solidFill>
              </a:rPr>
              <a:t>           The mixture is made up from substance 1 and 4.</a:t>
            </a:r>
            <a:endParaRPr lang="en-GB" sz="2400" dirty="0"/>
          </a:p>
          <a:p>
            <a:r>
              <a:rPr lang="en-GB" sz="2400" dirty="0"/>
              <a:t>      b) Why do the inks separate to produce a chromatogram?</a:t>
            </a:r>
          </a:p>
          <a:p>
            <a:r>
              <a:rPr lang="en-GB" sz="2400" b="1" dirty="0">
                <a:solidFill>
                  <a:srgbClr val="00B050"/>
                </a:solidFill>
              </a:rPr>
              <a:t>           The separation depends on how soluble the chemical is in the  </a:t>
            </a:r>
          </a:p>
          <a:p>
            <a:r>
              <a:rPr lang="en-GB" sz="2400" b="1" dirty="0">
                <a:solidFill>
                  <a:srgbClr val="00B050"/>
                </a:solidFill>
              </a:rPr>
              <a:t>           solvent and how strongly the chemical is attracted to the paper.</a:t>
            </a:r>
          </a:p>
          <a:p>
            <a:pPr marL="342900" indent="-342900">
              <a:buFont typeface="+mj-lt"/>
              <a:buAutoNum type="arabicPeriod"/>
            </a:pPr>
            <a:endParaRPr lang="en-GB" sz="1600" dirty="0"/>
          </a:p>
        </p:txBody>
      </p:sp>
      <p:pic>
        <p:nvPicPr>
          <p:cNvPr id="3" name="Picture 2">
            <a:extLst>
              <a:ext uri="{FF2B5EF4-FFF2-40B4-BE49-F238E27FC236}">
                <a16:creationId xmlns:a16="http://schemas.microsoft.com/office/drawing/2014/main" id="{6EE77C87-4478-48D1-826D-B11AAFDFB1C0}"/>
              </a:ext>
            </a:extLst>
          </p:cNvPr>
          <p:cNvPicPr>
            <a:picLocks noChangeAspect="1"/>
          </p:cNvPicPr>
          <p:nvPr/>
        </p:nvPicPr>
        <p:blipFill>
          <a:blip r:embed="rId2"/>
          <a:stretch>
            <a:fillRect/>
          </a:stretch>
        </p:blipFill>
        <p:spPr>
          <a:xfrm>
            <a:off x="1403648" y="1484784"/>
            <a:ext cx="6521921" cy="2946942"/>
          </a:xfrm>
          <a:prstGeom prst="rect">
            <a:avLst/>
          </a:prstGeom>
        </p:spPr>
      </p:pic>
    </p:spTree>
    <p:extLst>
      <p:ext uri="{BB962C8B-B14F-4D97-AF65-F5344CB8AC3E}">
        <p14:creationId xmlns:p14="http://schemas.microsoft.com/office/powerpoint/2010/main" val="13492096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kern="1200" dirty="0">
                <a:solidFill>
                  <a:schemeClr val="accent6"/>
                </a:solidFill>
                <a:latin typeface="Calibri"/>
                <a:ea typeface=""/>
                <a:cs typeface="News Gothic MT"/>
              </a:rPr>
              <a:t>Mixtures – </a:t>
            </a:r>
            <a:r>
              <a:rPr lang="en-US" sz="2400" b="1" kern="1200" dirty="0" err="1">
                <a:solidFill>
                  <a:schemeClr val="tx1"/>
                </a:solidFill>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632311"/>
          </a:xfrm>
          <a:prstGeom prst="rect">
            <a:avLst/>
          </a:prstGeom>
          <a:noFill/>
        </p:spPr>
        <p:txBody>
          <a:bodyPr wrap="square" rtlCol="0">
            <a:spAutoFit/>
          </a:bodyPr>
          <a:lstStyle/>
          <a:p>
            <a:pPr>
              <a:lnSpc>
                <a:spcPct val="150000"/>
              </a:lnSpc>
            </a:pPr>
            <a:r>
              <a:rPr lang="en-GB" sz="2400" dirty="0"/>
              <a:t>6. What is chromatograph?</a:t>
            </a:r>
          </a:p>
          <a:p>
            <a:pPr>
              <a:lnSpc>
                <a:spcPct val="150000"/>
              </a:lnSpc>
            </a:pPr>
            <a:r>
              <a:rPr lang="en-GB" sz="2400" dirty="0">
                <a:solidFill>
                  <a:srgbClr val="00B050"/>
                </a:solidFill>
              </a:rPr>
              <a:t>	</a:t>
            </a:r>
            <a:r>
              <a:rPr lang="en-GB" sz="2400" b="1" dirty="0">
                <a:solidFill>
                  <a:srgbClr val="00B050"/>
                </a:solidFill>
              </a:rPr>
              <a:t>It is used to separate mixtures and helps identify substances.</a:t>
            </a:r>
          </a:p>
          <a:p>
            <a:pPr>
              <a:lnSpc>
                <a:spcPct val="150000"/>
              </a:lnSpc>
            </a:pPr>
            <a:r>
              <a:rPr lang="en-GB" sz="2400" dirty="0"/>
              <a:t>7. What happens in the stationary and mobile phases?</a:t>
            </a:r>
          </a:p>
          <a:p>
            <a:pPr>
              <a:lnSpc>
                <a:spcPct val="150000"/>
              </a:lnSpc>
            </a:pPr>
            <a:r>
              <a:rPr lang="en-GB" sz="2400" dirty="0">
                <a:solidFill>
                  <a:srgbClr val="00B050"/>
                </a:solidFill>
              </a:rPr>
              <a:t>	</a:t>
            </a:r>
            <a:r>
              <a:rPr lang="en-GB" sz="2400" b="1" dirty="0">
                <a:solidFill>
                  <a:srgbClr val="00B050"/>
                </a:solidFill>
              </a:rPr>
              <a:t>The stationary phase is the material that the mixture moves 	up through, the mobile phase is the  movement of the 	mixture in the solvent.</a:t>
            </a:r>
          </a:p>
          <a:p>
            <a:pPr>
              <a:lnSpc>
                <a:spcPct val="150000"/>
              </a:lnSpc>
            </a:pPr>
            <a:r>
              <a:rPr lang="en-GB" sz="2400" dirty="0"/>
              <a:t>8. A solvent travels 8cm up the stationary phase; two spots separate out. A travels 6cm up the mobile phase, B travels 4.5cm up the mobile phase. Give the </a:t>
            </a:r>
            <a:r>
              <a:rPr lang="en-GB" sz="2400" dirty="0" err="1"/>
              <a:t>Rf</a:t>
            </a:r>
            <a:r>
              <a:rPr lang="en-GB" sz="2400" dirty="0"/>
              <a:t> value for both to two decimal places.</a:t>
            </a:r>
          </a:p>
          <a:p>
            <a:pPr>
              <a:lnSpc>
                <a:spcPct val="150000"/>
              </a:lnSpc>
            </a:pPr>
            <a:r>
              <a:rPr lang="en-GB" sz="2400" dirty="0"/>
              <a:t>	</a:t>
            </a:r>
            <a:r>
              <a:rPr lang="en-GB" sz="2400" b="1" dirty="0">
                <a:solidFill>
                  <a:srgbClr val="00B050"/>
                </a:solidFill>
              </a:rPr>
              <a:t>A = 0.75, B= 0.56</a:t>
            </a:r>
          </a:p>
        </p:txBody>
      </p:sp>
    </p:spTree>
    <p:extLst>
      <p:ext uri="{BB962C8B-B14F-4D97-AF65-F5344CB8AC3E}">
        <p14:creationId xmlns:p14="http://schemas.microsoft.com/office/powerpoint/2010/main" val="21790656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
        <p:nvSpPr>
          <p:cNvPr id="7" name="TextBox 6"/>
          <p:cNvSpPr txBox="1"/>
          <p:nvPr/>
        </p:nvSpPr>
        <p:spPr>
          <a:xfrm>
            <a:off x="0" y="980728"/>
            <a:ext cx="3707904" cy="6478697"/>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US" sz="2800" b="1" dirty="0">
                <a:solidFill>
                  <a:schemeClr val="tx1">
                    <a:lumMod val="50000"/>
                    <a:lumOff val="50000"/>
                  </a:schemeClr>
                </a:solidFill>
              </a:rPr>
              <a:t>Methods of separating and purifying substances – Part 3</a:t>
            </a:r>
          </a:p>
          <a:p>
            <a:endParaRPr lang="en-US" sz="2800" b="1" dirty="0">
              <a:solidFill>
                <a:schemeClr val="tx1">
                  <a:lumMod val="50000"/>
                  <a:lumOff val="50000"/>
                </a:schemeClr>
              </a:solidFill>
            </a:endParaRPr>
          </a:p>
          <a:p>
            <a:pPr marL="685800" lvl="1" indent="-342900">
              <a:buFont typeface="Arial" charset="0"/>
              <a:buChar char="•"/>
            </a:pPr>
            <a:r>
              <a:rPr lang="en-US" sz="2400" dirty="0">
                <a:solidFill>
                  <a:schemeClr val="tx1">
                    <a:lumMod val="50000"/>
                    <a:lumOff val="50000"/>
                  </a:schemeClr>
                </a:solidFill>
              </a:rPr>
              <a:t>Waste and ground water treatment</a:t>
            </a:r>
          </a:p>
          <a:p>
            <a:pPr marL="685800" lvl="1" indent="-342900">
              <a:buFont typeface="Arial" charset="0"/>
              <a:buChar char="•"/>
            </a:pPr>
            <a:r>
              <a:rPr lang="en-US" sz="2400" dirty="0">
                <a:solidFill>
                  <a:schemeClr val="tx1">
                    <a:lumMod val="50000"/>
                    <a:lumOff val="50000"/>
                  </a:schemeClr>
                </a:solidFill>
              </a:rPr>
              <a:t>Sea water treatment</a:t>
            </a:r>
          </a:p>
          <a:p>
            <a:pPr>
              <a:lnSpc>
                <a:spcPct val="150000"/>
              </a:lnSpc>
            </a:pPr>
            <a:endParaRPr lang="en-GB" b="1" dirty="0">
              <a:solidFill>
                <a:schemeClr val="tx1">
                  <a:lumMod val="50000"/>
                  <a:lumOff val="50000"/>
                </a:schemeClr>
              </a:solidFill>
            </a:endParaRPr>
          </a:p>
          <a:p>
            <a:endParaRPr lang="en-GB" sz="2400" b="1" dirty="0">
              <a:solidFill>
                <a:schemeClr val="tx1">
                  <a:lumMod val="50000"/>
                  <a:lumOff val="50000"/>
                </a:schemeClr>
              </a:solidFill>
            </a:endParaRPr>
          </a:p>
          <a:p>
            <a:endParaRPr lang="en-GB" dirty="0"/>
          </a:p>
        </p:txBody>
      </p:sp>
    </p:spTree>
    <p:extLst>
      <p:ext uri="{BB962C8B-B14F-4D97-AF65-F5344CB8AC3E}">
        <p14:creationId xmlns:p14="http://schemas.microsoft.com/office/powerpoint/2010/main" val="11022906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35655"/>
            <a:ext cx="8676456" cy="657041"/>
          </a:xfrm>
        </p:spPr>
        <p:txBody>
          <a:bodyPr>
            <a:noAutofit/>
          </a:bodyPr>
          <a:lstStyle/>
          <a:p>
            <a:pPr marL="342900" lvl="1" algn="r"/>
            <a:r>
              <a:rPr lang="en-US" sz="2400" dirty="0">
                <a:solidFill>
                  <a:schemeClr val="accent6"/>
                </a:solidFill>
              </a:rPr>
              <a:t>Potable water</a:t>
            </a:r>
          </a:p>
        </p:txBody>
      </p:sp>
      <p:sp>
        <p:nvSpPr>
          <p:cNvPr id="11" name="TextBox 10"/>
          <p:cNvSpPr txBox="1"/>
          <p:nvPr/>
        </p:nvSpPr>
        <p:spPr>
          <a:xfrm>
            <a:off x="179512" y="764704"/>
            <a:ext cx="8784976" cy="400110"/>
          </a:xfrm>
          <a:prstGeom prst="rect">
            <a:avLst/>
          </a:prstGeom>
          <a:noFill/>
          <a:ln w="28575">
            <a:solidFill>
              <a:schemeClr val="accent6"/>
            </a:solidFill>
          </a:ln>
        </p:spPr>
        <p:txBody>
          <a:bodyPr wrap="square" rtlCol="0">
            <a:spAutoFit/>
          </a:bodyPr>
          <a:lstStyle/>
          <a:p>
            <a:pPr algn="ctr"/>
            <a:r>
              <a:rPr lang="en-GB" sz="2000" dirty="0"/>
              <a:t>Water used in chemical analysis </a:t>
            </a:r>
            <a:r>
              <a:rPr lang="en-GB" sz="2000" b="1" dirty="0">
                <a:solidFill>
                  <a:schemeClr val="accent6">
                    <a:lumMod val="75000"/>
                  </a:schemeClr>
                </a:solidFill>
              </a:rPr>
              <a:t>must not </a:t>
            </a:r>
            <a:r>
              <a:rPr lang="en-GB" sz="2000" dirty="0"/>
              <a:t>contain any </a:t>
            </a:r>
            <a:r>
              <a:rPr lang="en-GB" sz="2000" b="1" dirty="0">
                <a:solidFill>
                  <a:schemeClr val="accent6">
                    <a:lumMod val="75000"/>
                  </a:schemeClr>
                </a:solidFill>
              </a:rPr>
              <a:t>dissolved salts</a:t>
            </a:r>
            <a:r>
              <a:rPr lang="en-GB" sz="2000" dirty="0"/>
              <a:t>. </a:t>
            </a:r>
          </a:p>
        </p:txBody>
      </p:sp>
      <p:pic>
        <p:nvPicPr>
          <p:cNvPr id="13" name="Picture 12"/>
          <p:cNvPicPr>
            <a:picLocks noChangeAspect="1"/>
          </p:cNvPicPr>
          <p:nvPr/>
        </p:nvPicPr>
        <p:blipFill>
          <a:blip r:embed="rId3"/>
          <a:stretch>
            <a:fillRect/>
          </a:stretch>
        </p:blipFill>
        <p:spPr>
          <a:xfrm>
            <a:off x="1043607" y="1543330"/>
            <a:ext cx="6768752" cy="4104456"/>
          </a:xfrm>
          <a:prstGeom prst="rect">
            <a:avLst/>
          </a:prstGeom>
        </p:spPr>
      </p:pic>
      <p:sp>
        <p:nvSpPr>
          <p:cNvPr id="14" name="TextBox 13"/>
          <p:cNvSpPr txBox="1"/>
          <p:nvPr/>
        </p:nvSpPr>
        <p:spPr>
          <a:xfrm>
            <a:off x="274646" y="5754185"/>
            <a:ext cx="8594709" cy="707886"/>
          </a:xfrm>
          <a:custGeom>
            <a:avLst/>
            <a:gdLst>
              <a:gd name="connsiteX0" fmla="*/ 0 w 8568952"/>
              <a:gd name="connsiteY0" fmla="*/ 0 h 646331"/>
              <a:gd name="connsiteX1" fmla="*/ 8568952 w 8568952"/>
              <a:gd name="connsiteY1" fmla="*/ 0 h 646331"/>
              <a:gd name="connsiteX2" fmla="*/ 8568952 w 8568952"/>
              <a:gd name="connsiteY2" fmla="*/ 646331 h 646331"/>
              <a:gd name="connsiteX3" fmla="*/ 0 w 8568952"/>
              <a:gd name="connsiteY3" fmla="*/ 646331 h 646331"/>
              <a:gd name="connsiteX4" fmla="*/ 0 w 8568952"/>
              <a:gd name="connsiteY4" fmla="*/ 0 h 646331"/>
              <a:gd name="connsiteX0" fmla="*/ 12879 w 8581831"/>
              <a:gd name="connsiteY0" fmla="*/ 0 h 1251638"/>
              <a:gd name="connsiteX1" fmla="*/ 8581831 w 8581831"/>
              <a:gd name="connsiteY1" fmla="*/ 0 h 1251638"/>
              <a:gd name="connsiteX2" fmla="*/ 8581831 w 8581831"/>
              <a:gd name="connsiteY2" fmla="*/ 646331 h 1251638"/>
              <a:gd name="connsiteX3" fmla="*/ 0 w 8581831"/>
              <a:gd name="connsiteY3" fmla="*/ 1251638 h 1251638"/>
              <a:gd name="connsiteX4" fmla="*/ 12879 w 8581831"/>
              <a:gd name="connsiteY4" fmla="*/ 0 h 1251638"/>
              <a:gd name="connsiteX0" fmla="*/ 12879 w 8581831"/>
              <a:gd name="connsiteY0" fmla="*/ 0 h 1251638"/>
              <a:gd name="connsiteX1" fmla="*/ 8581831 w 8581831"/>
              <a:gd name="connsiteY1" fmla="*/ 0 h 1251638"/>
              <a:gd name="connsiteX2" fmla="*/ 8581831 w 8581831"/>
              <a:gd name="connsiteY2" fmla="*/ 1251638 h 1251638"/>
              <a:gd name="connsiteX3" fmla="*/ 0 w 8581831"/>
              <a:gd name="connsiteY3" fmla="*/ 1251638 h 1251638"/>
              <a:gd name="connsiteX4" fmla="*/ 12879 w 8581831"/>
              <a:gd name="connsiteY4" fmla="*/ 0 h 1251638"/>
              <a:gd name="connsiteX0" fmla="*/ 12879 w 8581831"/>
              <a:gd name="connsiteY0" fmla="*/ 0 h 1251638"/>
              <a:gd name="connsiteX1" fmla="*/ 8581831 w 8581831"/>
              <a:gd name="connsiteY1" fmla="*/ 708338 h 1251638"/>
              <a:gd name="connsiteX2" fmla="*/ 8581831 w 8581831"/>
              <a:gd name="connsiteY2" fmla="*/ 1251638 h 1251638"/>
              <a:gd name="connsiteX3" fmla="*/ 0 w 8581831"/>
              <a:gd name="connsiteY3" fmla="*/ 1251638 h 1251638"/>
              <a:gd name="connsiteX4" fmla="*/ 12879 w 8581831"/>
              <a:gd name="connsiteY4" fmla="*/ 0 h 1251638"/>
              <a:gd name="connsiteX0" fmla="*/ 0 w 8594709"/>
              <a:gd name="connsiteY0" fmla="*/ 0 h 543300"/>
              <a:gd name="connsiteX1" fmla="*/ 8594709 w 8594709"/>
              <a:gd name="connsiteY1" fmla="*/ 0 h 543300"/>
              <a:gd name="connsiteX2" fmla="*/ 8594709 w 8594709"/>
              <a:gd name="connsiteY2" fmla="*/ 543300 h 543300"/>
              <a:gd name="connsiteX3" fmla="*/ 12878 w 8594709"/>
              <a:gd name="connsiteY3" fmla="*/ 543300 h 543300"/>
              <a:gd name="connsiteX4" fmla="*/ 0 w 8594709"/>
              <a:gd name="connsiteY4" fmla="*/ 0 h 543300"/>
              <a:gd name="connsiteX0" fmla="*/ 0 w 8594709"/>
              <a:gd name="connsiteY0" fmla="*/ 0 h 607694"/>
              <a:gd name="connsiteX1" fmla="*/ 8594709 w 8594709"/>
              <a:gd name="connsiteY1" fmla="*/ 0 h 607694"/>
              <a:gd name="connsiteX2" fmla="*/ 8594709 w 8594709"/>
              <a:gd name="connsiteY2" fmla="*/ 543300 h 607694"/>
              <a:gd name="connsiteX3" fmla="*/ 12878 w 8594709"/>
              <a:gd name="connsiteY3" fmla="*/ 607694 h 607694"/>
              <a:gd name="connsiteX4" fmla="*/ 0 w 8594709"/>
              <a:gd name="connsiteY4" fmla="*/ 0 h 607694"/>
              <a:gd name="connsiteX0" fmla="*/ 0 w 8594709"/>
              <a:gd name="connsiteY0" fmla="*/ 0 h 607694"/>
              <a:gd name="connsiteX1" fmla="*/ 8594709 w 8594709"/>
              <a:gd name="connsiteY1" fmla="*/ 0 h 607694"/>
              <a:gd name="connsiteX2" fmla="*/ 8594709 w 8594709"/>
              <a:gd name="connsiteY2" fmla="*/ 607694 h 607694"/>
              <a:gd name="connsiteX3" fmla="*/ 12878 w 8594709"/>
              <a:gd name="connsiteY3" fmla="*/ 607694 h 607694"/>
              <a:gd name="connsiteX4" fmla="*/ 0 w 8594709"/>
              <a:gd name="connsiteY4" fmla="*/ 0 h 607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4709" h="607694">
                <a:moveTo>
                  <a:pt x="0" y="0"/>
                </a:moveTo>
                <a:lnTo>
                  <a:pt x="8594709" y="0"/>
                </a:lnTo>
                <a:lnTo>
                  <a:pt x="8594709" y="607694"/>
                </a:lnTo>
                <a:lnTo>
                  <a:pt x="12878" y="607694"/>
                </a:lnTo>
                <a:lnTo>
                  <a:pt x="0" y="0"/>
                </a:lnTo>
                <a:close/>
              </a:path>
            </a:pathLst>
          </a:custGeom>
          <a:noFill/>
          <a:ln w="28575">
            <a:solidFill>
              <a:schemeClr val="accent6"/>
            </a:solidFill>
          </a:ln>
        </p:spPr>
        <p:txBody>
          <a:bodyPr wrap="square" rtlCol="0">
            <a:spAutoFit/>
          </a:bodyPr>
          <a:lstStyle/>
          <a:p>
            <a:r>
              <a:rPr lang="en-GB" sz="2000" dirty="0"/>
              <a:t>Water that is </a:t>
            </a:r>
            <a:r>
              <a:rPr lang="en-GB" sz="2000" b="1" dirty="0">
                <a:solidFill>
                  <a:schemeClr val="accent6"/>
                </a:solidFill>
              </a:rPr>
              <a:t>safe to drink is called potable water</a:t>
            </a:r>
            <a:r>
              <a:rPr lang="en-GB" sz="2000" dirty="0"/>
              <a:t>. Potable water is </a:t>
            </a:r>
            <a:r>
              <a:rPr lang="en-GB" sz="2000" b="1" dirty="0">
                <a:solidFill>
                  <a:schemeClr val="accent6"/>
                </a:solidFill>
              </a:rPr>
              <a:t>not pure water</a:t>
            </a:r>
            <a:r>
              <a:rPr lang="en-GB" sz="2000" dirty="0"/>
              <a:t> in the chemical sense because it </a:t>
            </a:r>
            <a:r>
              <a:rPr lang="en-GB" sz="2000" b="1" dirty="0">
                <a:solidFill>
                  <a:schemeClr val="accent6"/>
                </a:solidFill>
              </a:rPr>
              <a:t>contains dissolved substances</a:t>
            </a:r>
            <a:r>
              <a:rPr lang="en-GB" sz="2000" dirty="0"/>
              <a:t>.</a:t>
            </a:r>
          </a:p>
        </p:txBody>
      </p:sp>
    </p:spTree>
    <p:extLst>
      <p:ext uri="{BB962C8B-B14F-4D97-AF65-F5344CB8AC3E}">
        <p14:creationId xmlns:p14="http://schemas.microsoft.com/office/powerpoint/2010/main" val="7403291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35655"/>
            <a:ext cx="8676456" cy="657041"/>
          </a:xfrm>
        </p:spPr>
        <p:txBody>
          <a:bodyPr>
            <a:noAutofit/>
          </a:bodyPr>
          <a:lstStyle/>
          <a:p>
            <a:pPr marL="342900" lvl="1" algn="r"/>
            <a:r>
              <a:rPr lang="en-US" sz="2400" dirty="0">
                <a:solidFill>
                  <a:schemeClr val="accent6"/>
                </a:solidFill>
              </a:rPr>
              <a:t>Potable water</a:t>
            </a:r>
          </a:p>
        </p:txBody>
      </p:sp>
      <p:sp>
        <p:nvSpPr>
          <p:cNvPr id="3" name="TextBox 2"/>
          <p:cNvSpPr txBox="1"/>
          <p:nvPr/>
        </p:nvSpPr>
        <p:spPr>
          <a:xfrm>
            <a:off x="179512" y="836712"/>
            <a:ext cx="8712968" cy="707886"/>
          </a:xfrm>
          <a:prstGeom prst="rect">
            <a:avLst/>
          </a:prstGeom>
          <a:noFill/>
          <a:ln w="28575">
            <a:solidFill>
              <a:schemeClr val="accent6"/>
            </a:solidFill>
          </a:ln>
        </p:spPr>
        <p:txBody>
          <a:bodyPr wrap="square" rtlCol="0">
            <a:spAutoFit/>
          </a:bodyPr>
          <a:lstStyle/>
          <a:p>
            <a:r>
              <a:rPr lang="en-GB" sz="2000" dirty="0"/>
              <a:t>The methods used to produce potable water depend on available supplies of water and local conditions.</a:t>
            </a:r>
          </a:p>
        </p:txBody>
      </p:sp>
      <p:sp>
        <p:nvSpPr>
          <p:cNvPr id="4" name="TextBox 3"/>
          <p:cNvSpPr txBox="1"/>
          <p:nvPr/>
        </p:nvSpPr>
        <p:spPr>
          <a:xfrm>
            <a:off x="179512" y="1598954"/>
            <a:ext cx="8697741" cy="707886"/>
          </a:xfrm>
          <a:custGeom>
            <a:avLst/>
            <a:gdLst>
              <a:gd name="connsiteX0" fmla="*/ 0 w 8568952"/>
              <a:gd name="connsiteY0" fmla="*/ 0 h 646331"/>
              <a:gd name="connsiteX1" fmla="*/ 8568952 w 8568952"/>
              <a:gd name="connsiteY1" fmla="*/ 0 h 646331"/>
              <a:gd name="connsiteX2" fmla="*/ 8568952 w 8568952"/>
              <a:gd name="connsiteY2" fmla="*/ 646331 h 646331"/>
              <a:gd name="connsiteX3" fmla="*/ 0 w 8568952"/>
              <a:gd name="connsiteY3" fmla="*/ 646331 h 646331"/>
              <a:gd name="connsiteX4" fmla="*/ 0 w 8568952"/>
              <a:gd name="connsiteY4" fmla="*/ 0 h 646331"/>
              <a:gd name="connsiteX0" fmla="*/ 0 w 8568952"/>
              <a:gd name="connsiteY0" fmla="*/ 0 h 787999"/>
              <a:gd name="connsiteX1" fmla="*/ 8568952 w 8568952"/>
              <a:gd name="connsiteY1" fmla="*/ 0 h 787999"/>
              <a:gd name="connsiteX2" fmla="*/ 8568952 w 8568952"/>
              <a:gd name="connsiteY2" fmla="*/ 646331 h 787999"/>
              <a:gd name="connsiteX3" fmla="*/ 0 w 8568952"/>
              <a:gd name="connsiteY3" fmla="*/ 787999 h 787999"/>
              <a:gd name="connsiteX4" fmla="*/ 0 w 8568952"/>
              <a:gd name="connsiteY4" fmla="*/ 0 h 787999"/>
              <a:gd name="connsiteX0" fmla="*/ 0 w 8697741"/>
              <a:gd name="connsiteY0" fmla="*/ 0 h 800878"/>
              <a:gd name="connsiteX1" fmla="*/ 8568952 w 8697741"/>
              <a:gd name="connsiteY1" fmla="*/ 0 h 800878"/>
              <a:gd name="connsiteX2" fmla="*/ 8697741 w 8697741"/>
              <a:gd name="connsiteY2" fmla="*/ 800878 h 800878"/>
              <a:gd name="connsiteX3" fmla="*/ 0 w 8697741"/>
              <a:gd name="connsiteY3" fmla="*/ 787999 h 800878"/>
              <a:gd name="connsiteX4" fmla="*/ 0 w 8697741"/>
              <a:gd name="connsiteY4" fmla="*/ 0 h 800878"/>
              <a:gd name="connsiteX0" fmla="*/ 0 w 8684862"/>
              <a:gd name="connsiteY0" fmla="*/ 0 h 787999"/>
              <a:gd name="connsiteX1" fmla="*/ 8568952 w 8684862"/>
              <a:gd name="connsiteY1" fmla="*/ 0 h 787999"/>
              <a:gd name="connsiteX2" fmla="*/ 8684862 w 8684862"/>
              <a:gd name="connsiteY2" fmla="*/ 775120 h 787999"/>
              <a:gd name="connsiteX3" fmla="*/ 0 w 8684862"/>
              <a:gd name="connsiteY3" fmla="*/ 787999 h 787999"/>
              <a:gd name="connsiteX4" fmla="*/ 0 w 8684862"/>
              <a:gd name="connsiteY4" fmla="*/ 0 h 787999"/>
              <a:gd name="connsiteX0" fmla="*/ 0 w 8684862"/>
              <a:gd name="connsiteY0" fmla="*/ 0 h 787999"/>
              <a:gd name="connsiteX1" fmla="*/ 8568952 w 8684862"/>
              <a:gd name="connsiteY1" fmla="*/ 0 h 787999"/>
              <a:gd name="connsiteX2" fmla="*/ 8684862 w 8684862"/>
              <a:gd name="connsiteY2" fmla="*/ 787999 h 787999"/>
              <a:gd name="connsiteX3" fmla="*/ 0 w 8684862"/>
              <a:gd name="connsiteY3" fmla="*/ 787999 h 787999"/>
              <a:gd name="connsiteX4" fmla="*/ 0 w 8684862"/>
              <a:gd name="connsiteY4" fmla="*/ 0 h 787999"/>
              <a:gd name="connsiteX0" fmla="*/ 0 w 8684862"/>
              <a:gd name="connsiteY0" fmla="*/ 0 h 787999"/>
              <a:gd name="connsiteX1" fmla="*/ 8684862 w 8684862"/>
              <a:gd name="connsiteY1" fmla="*/ 141668 h 787999"/>
              <a:gd name="connsiteX2" fmla="*/ 8684862 w 8684862"/>
              <a:gd name="connsiteY2" fmla="*/ 787999 h 787999"/>
              <a:gd name="connsiteX3" fmla="*/ 0 w 8684862"/>
              <a:gd name="connsiteY3" fmla="*/ 787999 h 787999"/>
              <a:gd name="connsiteX4" fmla="*/ 0 w 8684862"/>
              <a:gd name="connsiteY4" fmla="*/ 0 h 787999"/>
              <a:gd name="connsiteX0" fmla="*/ 0 w 8684862"/>
              <a:gd name="connsiteY0" fmla="*/ 0 h 684968"/>
              <a:gd name="connsiteX1" fmla="*/ 8684862 w 8684862"/>
              <a:gd name="connsiteY1" fmla="*/ 38637 h 684968"/>
              <a:gd name="connsiteX2" fmla="*/ 8684862 w 8684862"/>
              <a:gd name="connsiteY2" fmla="*/ 684968 h 684968"/>
              <a:gd name="connsiteX3" fmla="*/ 0 w 8684862"/>
              <a:gd name="connsiteY3" fmla="*/ 684968 h 684968"/>
              <a:gd name="connsiteX4" fmla="*/ 0 w 8684862"/>
              <a:gd name="connsiteY4" fmla="*/ 0 h 684968"/>
              <a:gd name="connsiteX0" fmla="*/ 12879 w 8684862"/>
              <a:gd name="connsiteY0" fmla="*/ 0 h 672089"/>
              <a:gd name="connsiteX1" fmla="*/ 8684862 w 8684862"/>
              <a:gd name="connsiteY1" fmla="*/ 25758 h 672089"/>
              <a:gd name="connsiteX2" fmla="*/ 8684862 w 8684862"/>
              <a:gd name="connsiteY2" fmla="*/ 672089 h 672089"/>
              <a:gd name="connsiteX3" fmla="*/ 0 w 8684862"/>
              <a:gd name="connsiteY3" fmla="*/ 672089 h 672089"/>
              <a:gd name="connsiteX4" fmla="*/ 12879 w 8684862"/>
              <a:gd name="connsiteY4" fmla="*/ 0 h 672089"/>
              <a:gd name="connsiteX0" fmla="*/ 12879 w 8697741"/>
              <a:gd name="connsiteY0" fmla="*/ 0 h 672089"/>
              <a:gd name="connsiteX1" fmla="*/ 8697741 w 8697741"/>
              <a:gd name="connsiteY1" fmla="*/ 12879 h 672089"/>
              <a:gd name="connsiteX2" fmla="*/ 8684862 w 8697741"/>
              <a:gd name="connsiteY2" fmla="*/ 672089 h 672089"/>
              <a:gd name="connsiteX3" fmla="*/ 0 w 8697741"/>
              <a:gd name="connsiteY3" fmla="*/ 672089 h 672089"/>
              <a:gd name="connsiteX4" fmla="*/ 12879 w 8697741"/>
              <a:gd name="connsiteY4" fmla="*/ 0 h 672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7741" h="672089">
                <a:moveTo>
                  <a:pt x="12879" y="0"/>
                </a:moveTo>
                <a:lnTo>
                  <a:pt x="8697741" y="12879"/>
                </a:lnTo>
                <a:lnTo>
                  <a:pt x="8684862" y="672089"/>
                </a:lnTo>
                <a:lnTo>
                  <a:pt x="0" y="672089"/>
                </a:lnTo>
                <a:lnTo>
                  <a:pt x="12879" y="0"/>
                </a:lnTo>
                <a:close/>
              </a:path>
            </a:pathLst>
          </a:custGeom>
          <a:noFill/>
          <a:ln w="28575">
            <a:solidFill>
              <a:schemeClr val="accent6"/>
            </a:solidFill>
          </a:ln>
        </p:spPr>
        <p:txBody>
          <a:bodyPr wrap="square" rtlCol="0">
            <a:spAutoFit/>
          </a:bodyPr>
          <a:lstStyle/>
          <a:p>
            <a:r>
              <a:rPr lang="en-GB" sz="2000" dirty="0"/>
              <a:t>In the United Kingdom (UK), rain provides water with low levels of dissolved substances (fresh water) that collects in the ground and in </a:t>
            </a:r>
            <a:r>
              <a:rPr lang="en-GB" sz="2000" b="1" dirty="0">
                <a:solidFill>
                  <a:schemeClr val="accent6"/>
                </a:solidFill>
              </a:rPr>
              <a:t>lakes and rivers</a:t>
            </a:r>
            <a:r>
              <a:rPr lang="en-GB" sz="2000" dirty="0"/>
              <a:t>.</a:t>
            </a:r>
            <a:endParaRPr lang="en-GB" sz="2000" b="1" dirty="0"/>
          </a:p>
        </p:txBody>
      </p:sp>
      <p:pic>
        <p:nvPicPr>
          <p:cNvPr id="5" name="Picture 4"/>
          <p:cNvPicPr>
            <a:picLocks noChangeAspect="1"/>
          </p:cNvPicPr>
          <p:nvPr/>
        </p:nvPicPr>
        <p:blipFill>
          <a:blip r:embed="rId3"/>
          <a:stretch>
            <a:fillRect/>
          </a:stretch>
        </p:blipFill>
        <p:spPr>
          <a:xfrm>
            <a:off x="166708" y="2420888"/>
            <a:ext cx="5701436" cy="3240360"/>
          </a:xfrm>
          <a:prstGeom prst="rect">
            <a:avLst/>
          </a:prstGeom>
        </p:spPr>
      </p:pic>
      <p:cxnSp>
        <p:nvCxnSpPr>
          <p:cNvPr id="9" name="Straight Arrow Connector 8"/>
          <p:cNvCxnSpPr/>
          <p:nvPr/>
        </p:nvCxnSpPr>
        <p:spPr>
          <a:xfrm flipH="1">
            <a:off x="4283968" y="3573016"/>
            <a:ext cx="1728192" cy="1152128"/>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012160" y="2276872"/>
            <a:ext cx="2736304" cy="6217087"/>
          </a:xfrm>
          <a:prstGeom prst="rect">
            <a:avLst/>
          </a:prstGeom>
          <a:noFill/>
        </p:spPr>
        <p:txBody>
          <a:bodyPr wrap="square" rtlCol="0">
            <a:spAutoFit/>
          </a:bodyPr>
          <a:lstStyle/>
          <a:p>
            <a:endParaRPr lang="en-GB" dirty="0"/>
          </a:p>
          <a:p>
            <a:r>
              <a:rPr lang="en-GB" sz="2000" dirty="0"/>
              <a:t>Most potable water is produced by;</a:t>
            </a:r>
          </a:p>
          <a:p>
            <a:r>
              <a:rPr lang="en-GB" sz="2000" dirty="0"/>
              <a:t>   </a:t>
            </a:r>
          </a:p>
          <a:p>
            <a:pPr marL="285750" indent="-285750">
              <a:buFont typeface="Arial" panose="020B0604020202020204" pitchFamily="34" charset="0"/>
              <a:buChar char="•"/>
            </a:pPr>
            <a:r>
              <a:rPr lang="en-GB" sz="2000" dirty="0"/>
              <a:t>choosing an appropriate source of fresh water</a:t>
            </a:r>
          </a:p>
          <a:p>
            <a:pPr marL="285750" indent="-285750">
              <a:buFont typeface="Arial" panose="020B0604020202020204" pitchFamily="34" charset="0"/>
              <a:buChar char="•"/>
            </a:pPr>
            <a:r>
              <a:rPr lang="en-GB" sz="2000" dirty="0"/>
              <a:t>sedimentation</a:t>
            </a:r>
          </a:p>
          <a:p>
            <a:pPr marL="285750" indent="-285750">
              <a:buFont typeface="Arial" panose="020B0604020202020204" pitchFamily="34" charset="0"/>
              <a:buChar char="•"/>
            </a:pPr>
            <a:r>
              <a:rPr lang="en-GB" sz="2000" dirty="0"/>
              <a:t>passing the water through filter beds</a:t>
            </a:r>
          </a:p>
          <a:p>
            <a:pPr marL="285750" indent="-285750">
              <a:buFont typeface="Arial" panose="020B0604020202020204" pitchFamily="34" charset="0"/>
              <a:buChar char="•"/>
            </a:pPr>
            <a:r>
              <a:rPr lang="en-GB" sz="2000" dirty="0"/>
              <a:t>chlorination.</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37860761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35655"/>
            <a:ext cx="8028384"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000" b="1" dirty="0">
                <a:solidFill>
                  <a:schemeClr val="accent6"/>
                </a:solidFill>
              </a:rPr>
              <a:t>Waste water treatment</a:t>
            </a:r>
            <a:endParaRPr lang="en-GB" sz="2000" b="1" dirty="0">
              <a:solidFill>
                <a:schemeClr val="accent6"/>
              </a:solidFill>
            </a:endParaRPr>
          </a:p>
        </p:txBody>
      </p:sp>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
        <p:nvSpPr>
          <p:cNvPr id="4" name="TextBox 3"/>
          <p:cNvSpPr txBox="1"/>
          <p:nvPr/>
        </p:nvSpPr>
        <p:spPr>
          <a:xfrm>
            <a:off x="179512" y="836712"/>
            <a:ext cx="8640960" cy="707886"/>
          </a:xfrm>
          <a:prstGeom prst="rect">
            <a:avLst/>
          </a:prstGeom>
          <a:noFill/>
          <a:ln w="28575">
            <a:solidFill>
              <a:schemeClr val="accent6"/>
            </a:solidFill>
          </a:ln>
        </p:spPr>
        <p:txBody>
          <a:bodyPr wrap="square" rtlCol="0">
            <a:spAutoFit/>
          </a:bodyPr>
          <a:lstStyle/>
          <a:p>
            <a:r>
              <a:rPr lang="en-GB" sz="2000" dirty="0"/>
              <a:t>Urban lifestyles and industrial processes produce large amounts of waste water that require treatment before being released into the environment.</a:t>
            </a:r>
          </a:p>
        </p:txBody>
      </p:sp>
      <p:sp>
        <p:nvSpPr>
          <p:cNvPr id="6" name="TextBox 5"/>
          <p:cNvSpPr txBox="1"/>
          <p:nvPr/>
        </p:nvSpPr>
        <p:spPr>
          <a:xfrm>
            <a:off x="179512" y="1628800"/>
            <a:ext cx="8640960" cy="1015663"/>
          </a:xfrm>
          <a:prstGeom prst="rect">
            <a:avLst/>
          </a:prstGeom>
          <a:noFill/>
        </p:spPr>
        <p:txBody>
          <a:bodyPr wrap="square" rtlCol="0">
            <a:spAutoFit/>
          </a:bodyPr>
          <a:lstStyle/>
          <a:p>
            <a:r>
              <a:rPr lang="en-GB" sz="2000" dirty="0"/>
              <a:t>Sewage and agricultural waste water require removal of</a:t>
            </a:r>
          </a:p>
          <a:p>
            <a:pPr marL="285750" indent="-285750">
              <a:buFont typeface="Arial" panose="020B0604020202020204" pitchFamily="34" charset="0"/>
              <a:buChar char="•"/>
            </a:pPr>
            <a:r>
              <a:rPr lang="en-GB" sz="2000" dirty="0"/>
              <a:t>organic matter</a:t>
            </a:r>
          </a:p>
          <a:p>
            <a:pPr marL="285750" indent="-285750">
              <a:buFont typeface="Arial" panose="020B0604020202020204" pitchFamily="34" charset="0"/>
              <a:buChar char="•"/>
            </a:pPr>
            <a:r>
              <a:rPr lang="en-GB" sz="2000" dirty="0"/>
              <a:t>harmful microbes.</a:t>
            </a:r>
          </a:p>
        </p:txBody>
      </p:sp>
      <p:sp>
        <p:nvSpPr>
          <p:cNvPr id="11" name="TextBox 10"/>
          <p:cNvSpPr txBox="1"/>
          <p:nvPr/>
        </p:nvSpPr>
        <p:spPr>
          <a:xfrm>
            <a:off x="179512" y="2636912"/>
            <a:ext cx="8424936" cy="1015663"/>
          </a:xfrm>
          <a:prstGeom prst="rect">
            <a:avLst/>
          </a:prstGeom>
          <a:noFill/>
        </p:spPr>
        <p:txBody>
          <a:bodyPr wrap="square" rtlCol="0">
            <a:spAutoFit/>
          </a:bodyPr>
          <a:lstStyle/>
          <a:p>
            <a:r>
              <a:rPr lang="en-GB" sz="2000" dirty="0"/>
              <a:t>Industrial waste water may require removal of</a:t>
            </a:r>
          </a:p>
          <a:p>
            <a:pPr marL="285750" indent="-285750">
              <a:buFont typeface="Arial" panose="020B0604020202020204" pitchFamily="34" charset="0"/>
              <a:buChar char="•"/>
            </a:pPr>
            <a:r>
              <a:rPr lang="en-GB" sz="2000" dirty="0"/>
              <a:t>organic matter</a:t>
            </a:r>
          </a:p>
          <a:p>
            <a:pPr marL="285750" indent="-285750">
              <a:buFont typeface="Arial" panose="020B0604020202020204" pitchFamily="34" charset="0"/>
              <a:buChar char="•"/>
            </a:pPr>
            <a:r>
              <a:rPr lang="en-GB" sz="2000" dirty="0"/>
              <a:t>harmful chemicals.</a:t>
            </a:r>
          </a:p>
        </p:txBody>
      </p:sp>
      <p:pic>
        <p:nvPicPr>
          <p:cNvPr id="12" name="Picture 11"/>
          <p:cNvPicPr>
            <a:picLocks noChangeAspect="1"/>
          </p:cNvPicPr>
          <p:nvPr/>
        </p:nvPicPr>
        <p:blipFill>
          <a:blip r:embed="rId3"/>
          <a:stretch>
            <a:fillRect/>
          </a:stretch>
        </p:blipFill>
        <p:spPr>
          <a:xfrm>
            <a:off x="4788024" y="2132856"/>
            <a:ext cx="4104455" cy="3096343"/>
          </a:xfrm>
          <a:prstGeom prst="rect">
            <a:avLst/>
          </a:prstGeom>
        </p:spPr>
      </p:pic>
      <p:sp>
        <p:nvSpPr>
          <p:cNvPr id="13" name="TextBox 12"/>
          <p:cNvSpPr txBox="1"/>
          <p:nvPr/>
        </p:nvSpPr>
        <p:spPr>
          <a:xfrm>
            <a:off x="179512" y="3789040"/>
            <a:ext cx="4464496" cy="1631216"/>
          </a:xfrm>
          <a:prstGeom prst="rect">
            <a:avLst/>
          </a:prstGeom>
          <a:noFill/>
          <a:ln w="28575">
            <a:solidFill>
              <a:schemeClr val="accent6"/>
            </a:solidFill>
          </a:ln>
        </p:spPr>
        <p:txBody>
          <a:bodyPr wrap="square" rtlCol="0">
            <a:spAutoFit/>
          </a:bodyPr>
          <a:lstStyle/>
          <a:p>
            <a:r>
              <a:rPr lang="en-GB" sz="2000" dirty="0"/>
              <a:t>Sewage treatment includes</a:t>
            </a:r>
          </a:p>
          <a:p>
            <a:pPr marL="285750" indent="-285750">
              <a:buFont typeface="Arial" panose="020B0604020202020204" pitchFamily="34" charset="0"/>
              <a:buChar char="•"/>
            </a:pPr>
            <a:r>
              <a:rPr lang="en-GB" sz="2000" dirty="0">
                <a:solidFill>
                  <a:schemeClr val="accent6">
                    <a:lumMod val="75000"/>
                  </a:schemeClr>
                </a:solidFill>
              </a:rPr>
              <a:t>filtration</a:t>
            </a:r>
            <a:r>
              <a:rPr lang="en-GB" sz="2000" dirty="0"/>
              <a:t> and grit removal</a:t>
            </a:r>
          </a:p>
          <a:p>
            <a:pPr marL="285750" indent="-285750">
              <a:buFont typeface="Arial" panose="020B0604020202020204" pitchFamily="34" charset="0"/>
              <a:buChar char="•"/>
            </a:pPr>
            <a:r>
              <a:rPr lang="en-GB" sz="2000" dirty="0">
                <a:solidFill>
                  <a:schemeClr val="accent6">
                    <a:lumMod val="75000"/>
                  </a:schemeClr>
                </a:solidFill>
              </a:rPr>
              <a:t>sedimentation</a:t>
            </a:r>
            <a:r>
              <a:rPr lang="en-GB" sz="2000" dirty="0"/>
              <a:t> to produce sewage sludge and effluent</a:t>
            </a:r>
          </a:p>
          <a:p>
            <a:pPr marL="285750" indent="-285750">
              <a:buFont typeface="Arial" panose="020B0604020202020204" pitchFamily="34" charset="0"/>
              <a:buChar char="•"/>
            </a:pPr>
            <a:r>
              <a:rPr lang="en-GB" sz="2000" dirty="0">
                <a:solidFill>
                  <a:schemeClr val="accent6">
                    <a:lumMod val="75000"/>
                  </a:schemeClr>
                </a:solidFill>
              </a:rPr>
              <a:t>chlorination</a:t>
            </a:r>
            <a:r>
              <a:rPr lang="en-GB" sz="2000" dirty="0"/>
              <a:t> to kill bacteria.</a:t>
            </a:r>
          </a:p>
        </p:txBody>
      </p:sp>
    </p:spTree>
    <p:extLst>
      <p:ext uri="{BB962C8B-B14F-4D97-AF65-F5344CB8AC3E}">
        <p14:creationId xmlns:p14="http://schemas.microsoft.com/office/powerpoint/2010/main" val="17674920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35655"/>
            <a:ext cx="8676456" cy="657041"/>
          </a:xfrm>
        </p:spPr>
        <p:txBody>
          <a:bodyPr>
            <a:noAutofit/>
          </a:bodyPr>
          <a:lstStyle/>
          <a:p>
            <a:pPr marL="342900" lvl="1" algn="r"/>
            <a:r>
              <a:rPr lang="en-US" sz="2400" dirty="0">
                <a:solidFill>
                  <a:schemeClr val="accent6"/>
                </a:solidFill>
              </a:rPr>
              <a:t>Potable water</a:t>
            </a:r>
          </a:p>
        </p:txBody>
      </p:sp>
      <p:sp>
        <p:nvSpPr>
          <p:cNvPr id="3" name="TextBox 2"/>
          <p:cNvSpPr txBox="1"/>
          <p:nvPr/>
        </p:nvSpPr>
        <p:spPr>
          <a:xfrm>
            <a:off x="251520" y="836712"/>
            <a:ext cx="8640960" cy="707886"/>
          </a:xfrm>
          <a:prstGeom prst="rect">
            <a:avLst/>
          </a:prstGeom>
          <a:noFill/>
          <a:ln w="28575">
            <a:solidFill>
              <a:schemeClr val="accent6"/>
            </a:solidFill>
          </a:ln>
        </p:spPr>
        <p:txBody>
          <a:bodyPr wrap="square" rtlCol="0">
            <a:spAutoFit/>
          </a:bodyPr>
          <a:lstStyle/>
          <a:p>
            <a:r>
              <a:rPr lang="en-GB" sz="2000" dirty="0"/>
              <a:t>If supplies of fresh water are limited, </a:t>
            </a:r>
            <a:r>
              <a:rPr lang="en-GB" sz="2000" b="1" dirty="0">
                <a:solidFill>
                  <a:schemeClr val="accent6"/>
                </a:solidFill>
              </a:rPr>
              <a:t>desalination</a:t>
            </a:r>
            <a:r>
              <a:rPr lang="en-GB" sz="2000" dirty="0"/>
              <a:t> of salty water or sea water may be required. Desalination can be done by </a:t>
            </a:r>
            <a:r>
              <a:rPr lang="en-GB" sz="2000" b="1" dirty="0">
                <a:solidFill>
                  <a:schemeClr val="accent6"/>
                </a:solidFill>
              </a:rPr>
              <a:t>distillation.</a:t>
            </a:r>
            <a:endParaRPr lang="en-GB" sz="2000" dirty="0"/>
          </a:p>
        </p:txBody>
      </p:sp>
      <p:pic>
        <p:nvPicPr>
          <p:cNvPr id="4" name="Picture 3"/>
          <p:cNvPicPr>
            <a:picLocks noChangeAspect="1"/>
          </p:cNvPicPr>
          <p:nvPr/>
        </p:nvPicPr>
        <p:blipFill>
          <a:blip r:embed="rId3"/>
          <a:stretch>
            <a:fillRect/>
          </a:stretch>
        </p:blipFill>
        <p:spPr>
          <a:xfrm>
            <a:off x="1403648" y="1904057"/>
            <a:ext cx="4248471" cy="2893095"/>
          </a:xfrm>
          <a:prstGeom prst="rect">
            <a:avLst/>
          </a:prstGeom>
        </p:spPr>
      </p:pic>
      <p:sp>
        <p:nvSpPr>
          <p:cNvPr id="6" name="TextBox 5"/>
          <p:cNvSpPr txBox="1"/>
          <p:nvPr/>
        </p:nvSpPr>
        <p:spPr>
          <a:xfrm>
            <a:off x="1406381" y="4802668"/>
            <a:ext cx="4248472" cy="707886"/>
          </a:xfrm>
          <a:prstGeom prst="rect">
            <a:avLst/>
          </a:prstGeom>
          <a:noFill/>
        </p:spPr>
        <p:txBody>
          <a:bodyPr wrap="square" rtlCol="0">
            <a:spAutoFit/>
          </a:bodyPr>
          <a:lstStyle/>
          <a:p>
            <a:pPr algn="ctr"/>
            <a:r>
              <a:rPr lang="en-GB" sz="2000" b="1" dirty="0">
                <a:solidFill>
                  <a:schemeClr val="accent6"/>
                </a:solidFill>
              </a:rPr>
              <a:t>Desalination by distillation </a:t>
            </a:r>
            <a:r>
              <a:rPr lang="en-GB" sz="2000" dirty="0"/>
              <a:t>in Hamburg Germany</a:t>
            </a:r>
          </a:p>
        </p:txBody>
      </p:sp>
      <p:sp>
        <p:nvSpPr>
          <p:cNvPr id="8" name="TextBox 7"/>
          <p:cNvSpPr txBox="1"/>
          <p:nvPr/>
        </p:nvSpPr>
        <p:spPr>
          <a:xfrm>
            <a:off x="6084168" y="2888940"/>
            <a:ext cx="2104102" cy="1323439"/>
          </a:xfrm>
          <a:custGeom>
            <a:avLst/>
            <a:gdLst>
              <a:gd name="connsiteX0" fmla="*/ 0 w 8352928"/>
              <a:gd name="connsiteY0" fmla="*/ 0 h 369332"/>
              <a:gd name="connsiteX1" fmla="*/ 8352928 w 8352928"/>
              <a:gd name="connsiteY1" fmla="*/ 0 h 369332"/>
              <a:gd name="connsiteX2" fmla="*/ 8352928 w 8352928"/>
              <a:gd name="connsiteY2" fmla="*/ 369332 h 369332"/>
              <a:gd name="connsiteX3" fmla="*/ 0 w 8352928"/>
              <a:gd name="connsiteY3" fmla="*/ 369332 h 369332"/>
              <a:gd name="connsiteX4" fmla="*/ 0 w 8352928"/>
              <a:gd name="connsiteY4" fmla="*/ 0 h 369332"/>
              <a:gd name="connsiteX0" fmla="*/ 1236372 w 8352928"/>
              <a:gd name="connsiteY0" fmla="*/ 0 h 369332"/>
              <a:gd name="connsiteX1" fmla="*/ 8352928 w 8352928"/>
              <a:gd name="connsiteY1" fmla="*/ 0 h 369332"/>
              <a:gd name="connsiteX2" fmla="*/ 8352928 w 8352928"/>
              <a:gd name="connsiteY2" fmla="*/ 369332 h 369332"/>
              <a:gd name="connsiteX3" fmla="*/ 0 w 8352928"/>
              <a:gd name="connsiteY3" fmla="*/ 369332 h 369332"/>
              <a:gd name="connsiteX4" fmla="*/ 1236372 w 8352928"/>
              <a:gd name="connsiteY4" fmla="*/ 0 h 369332"/>
              <a:gd name="connsiteX0" fmla="*/ 0 w 7116556"/>
              <a:gd name="connsiteY0" fmla="*/ 0 h 369332"/>
              <a:gd name="connsiteX1" fmla="*/ 7116556 w 7116556"/>
              <a:gd name="connsiteY1" fmla="*/ 0 h 369332"/>
              <a:gd name="connsiteX2" fmla="*/ 7116556 w 7116556"/>
              <a:gd name="connsiteY2" fmla="*/ 369332 h 369332"/>
              <a:gd name="connsiteX3" fmla="*/ 12879 w 7116556"/>
              <a:gd name="connsiteY3" fmla="*/ 369332 h 369332"/>
              <a:gd name="connsiteX4" fmla="*/ 0 w 7116556"/>
              <a:gd name="connsiteY4" fmla="*/ 0 h 369332"/>
              <a:gd name="connsiteX0" fmla="*/ 0 w 7116556"/>
              <a:gd name="connsiteY0" fmla="*/ 0 h 369332"/>
              <a:gd name="connsiteX1" fmla="*/ 7116556 w 7116556"/>
              <a:gd name="connsiteY1" fmla="*/ 0 h 369332"/>
              <a:gd name="connsiteX2" fmla="*/ 7116556 w 7116556"/>
              <a:gd name="connsiteY2" fmla="*/ 369332 h 369332"/>
              <a:gd name="connsiteX3" fmla="*/ 0 w 7116556"/>
              <a:gd name="connsiteY3" fmla="*/ 369332 h 369332"/>
              <a:gd name="connsiteX4" fmla="*/ 0 w 7116556"/>
              <a:gd name="connsiteY4" fmla="*/ 0 h 369332"/>
              <a:gd name="connsiteX0" fmla="*/ 0 w 7116556"/>
              <a:gd name="connsiteY0" fmla="*/ 0 h 369332"/>
              <a:gd name="connsiteX1" fmla="*/ 6047610 w 7116556"/>
              <a:gd name="connsiteY1" fmla="*/ 0 h 369332"/>
              <a:gd name="connsiteX2" fmla="*/ 7116556 w 7116556"/>
              <a:gd name="connsiteY2" fmla="*/ 369332 h 369332"/>
              <a:gd name="connsiteX3" fmla="*/ 0 w 7116556"/>
              <a:gd name="connsiteY3" fmla="*/ 369332 h 369332"/>
              <a:gd name="connsiteX4" fmla="*/ 0 w 7116556"/>
              <a:gd name="connsiteY4" fmla="*/ 0 h 369332"/>
              <a:gd name="connsiteX0" fmla="*/ 0 w 6073368"/>
              <a:gd name="connsiteY0" fmla="*/ 0 h 369332"/>
              <a:gd name="connsiteX1" fmla="*/ 6047610 w 6073368"/>
              <a:gd name="connsiteY1" fmla="*/ 0 h 369332"/>
              <a:gd name="connsiteX2" fmla="*/ 6073368 w 6073368"/>
              <a:gd name="connsiteY2" fmla="*/ 369332 h 369332"/>
              <a:gd name="connsiteX3" fmla="*/ 0 w 6073368"/>
              <a:gd name="connsiteY3" fmla="*/ 369332 h 369332"/>
              <a:gd name="connsiteX4" fmla="*/ 0 w 6073368"/>
              <a:gd name="connsiteY4" fmla="*/ 0 h 369332"/>
              <a:gd name="connsiteX0" fmla="*/ 0 w 6047610"/>
              <a:gd name="connsiteY0" fmla="*/ 0 h 369332"/>
              <a:gd name="connsiteX1" fmla="*/ 6047610 w 6047610"/>
              <a:gd name="connsiteY1" fmla="*/ 0 h 369332"/>
              <a:gd name="connsiteX2" fmla="*/ 5790032 w 6047610"/>
              <a:gd name="connsiteY2" fmla="*/ 369332 h 369332"/>
              <a:gd name="connsiteX3" fmla="*/ 0 w 6047610"/>
              <a:gd name="connsiteY3" fmla="*/ 369332 h 369332"/>
              <a:gd name="connsiteX4" fmla="*/ 0 w 6047610"/>
              <a:gd name="connsiteY4" fmla="*/ 0 h 369332"/>
              <a:gd name="connsiteX0" fmla="*/ 0 w 5790032"/>
              <a:gd name="connsiteY0" fmla="*/ 0 h 369332"/>
              <a:gd name="connsiteX1" fmla="*/ 5764275 w 5790032"/>
              <a:gd name="connsiteY1" fmla="*/ 0 h 369332"/>
              <a:gd name="connsiteX2" fmla="*/ 5790032 w 5790032"/>
              <a:gd name="connsiteY2" fmla="*/ 369332 h 369332"/>
              <a:gd name="connsiteX3" fmla="*/ 0 w 5790032"/>
              <a:gd name="connsiteY3" fmla="*/ 369332 h 369332"/>
              <a:gd name="connsiteX4" fmla="*/ 0 w 5790032"/>
              <a:gd name="connsiteY4" fmla="*/ 0 h 369332"/>
              <a:gd name="connsiteX0" fmla="*/ 0 w 5764275"/>
              <a:gd name="connsiteY0" fmla="*/ 0 h 369332"/>
              <a:gd name="connsiteX1" fmla="*/ 5764275 w 5764275"/>
              <a:gd name="connsiteY1" fmla="*/ 0 h 369332"/>
              <a:gd name="connsiteX2" fmla="*/ 5751477 w 5764275"/>
              <a:gd name="connsiteY2" fmla="*/ 369332 h 369332"/>
              <a:gd name="connsiteX3" fmla="*/ 0 w 5764275"/>
              <a:gd name="connsiteY3" fmla="*/ 369332 h 369332"/>
              <a:gd name="connsiteX4" fmla="*/ 0 w 5764275"/>
              <a:gd name="connsiteY4" fmla="*/ 0 h 369332"/>
              <a:gd name="connsiteX0" fmla="*/ 0 w 5764329"/>
              <a:gd name="connsiteY0" fmla="*/ 0 h 369332"/>
              <a:gd name="connsiteX1" fmla="*/ 5764275 w 5764329"/>
              <a:gd name="connsiteY1" fmla="*/ 0 h 369332"/>
              <a:gd name="connsiteX2" fmla="*/ 5764329 w 5764329"/>
              <a:gd name="connsiteY2" fmla="*/ 369332 h 369332"/>
              <a:gd name="connsiteX3" fmla="*/ 0 w 5764329"/>
              <a:gd name="connsiteY3" fmla="*/ 369332 h 369332"/>
              <a:gd name="connsiteX4" fmla="*/ 0 w 5764329"/>
              <a:gd name="connsiteY4" fmla="*/ 0 h 369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4329" h="369332">
                <a:moveTo>
                  <a:pt x="0" y="0"/>
                </a:moveTo>
                <a:lnTo>
                  <a:pt x="5764275" y="0"/>
                </a:lnTo>
                <a:cubicBezTo>
                  <a:pt x="5764293" y="123111"/>
                  <a:pt x="5764311" y="246221"/>
                  <a:pt x="5764329" y="369332"/>
                </a:cubicBezTo>
                <a:lnTo>
                  <a:pt x="0" y="369332"/>
                </a:lnTo>
                <a:lnTo>
                  <a:pt x="0" y="0"/>
                </a:lnTo>
                <a:close/>
              </a:path>
            </a:pathLst>
          </a:custGeom>
          <a:noFill/>
          <a:ln w="28575">
            <a:solidFill>
              <a:schemeClr val="accent6"/>
            </a:solidFill>
          </a:ln>
        </p:spPr>
        <p:txBody>
          <a:bodyPr wrap="square" rtlCol="0">
            <a:spAutoFit/>
          </a:bodyPr>
          <a:lstStyle/>
          <a:p>
            <a:pPr algn="ctr"/>
            <a:r>
              <a:rPr lang="en-GB" sz="2000" dirty="0"/>
              <a:t>Desalination requires </a:t>
            </a:r>
            <a:r>
              <a:rPr lang="en-GB" sz="2000" b="1" dirty="0">
                <a:solidFill>
                  <a:schemeClr val="accent6"/>
                </a:solidFill>
              </a:rPr>
              <a:t>large amounts of energy</a:t>
            </a:r>
          </a:p>
        </p:txBody>
      </p:sp>
    </p:spTree>
    <p:extLst>
      <p:ext uri="{BB962C8B-B14F-4D97-AF65-F5344CB8AC3E}">
        <p14:creationId xmlns:p14="http://schemas.microsoft.com/office/powerpoint/2010/main" val="30060271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431983"/>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US" sz="2800" b="1" dirty="0">
                <a:solidFill>
                  <a:schemeClr val="tx1">
                    <a:lumMod val="50000"/>
                    <a:lumOff val="50000"/>
                  </a:schemeClr>
                </a:solidFill>
              </a:rPr>
              <a:t>Methods of separating and purifying substances – Part 3</a:t>
            </a:r>
          </a:p>
          <a:p>
            <a:endParaRPr lang="en-US" sz="2800" b="1" dirty="0">
              <a:solidFill>
                <a:schemeClr val="tx1">
                  <a:lumMod val="50000"/>
                  <a:lumOff val="50000"/>
                </a:schemeClr>
              </a:solidFill>
            </a:endParaRPr>
          </a:p>
          <a:p>
            <a:pPr marL="685800" lvl="1" indent="-342900">
              <a:buFont typeface="Arial" charset="0"/>
              <a:buChar char="•"/>
            </a:pPr>
            <a:r>
              <a:rPr lang="en-US" sz="2400" dirty="0">
                <a:solidFill>
                  <a:schemeClr val="tx1">
                    <a:lumMod val="50000"/>
                    <a:lumOff val="50000"/>
                  </a:schemeClr>
                </a:solidFill>
              </a:rPr>
              <a:t>Waste and ground water treatment</a:t>
            </a:r>
          </a:p>
          <a:p>
            <a:pPr marL="685800" lvl="1" indent="-342900">
              <a:buFont typeface="Arial" charset="0"/>
              <a:buChar char="•"/>
            </a:pPr>
            <a:r>
              <a:rPr lang="en-US" sz="2400" dirty="0">
                <a:solidFill>
                  <a:schemeClr val="tx1">
                    <a:lumMod val="50000"/>
                    <a:lumOff val="50000"/>
                  </a:schemeClr>
                </a:solidFill>
              </a:rPr>
              <a:t>Sea water treatment</a:t>
            </a:r>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32852759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dirty="0">
                <a:solidFill>
                  <a:schemeClr val="accent6"/>
                </a:solidFill>
              </a:rPr>
              <a:t>Potable water -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955203"/>
          </a:xfrm>
          <a:prstGeom prst="rect">
            <a:avLst/>
          </a:prstGeom>
          <a:noFill/>
        </p:spPr>
        <p:txBody>
          <a:bodyPr wrap="square" rtlCol="0">
            <a:spAutoFit/>
          </a:bodyPr>
          <a:lstStyle/>
          <a:p>
            <a:pPr marL="457200" indent="-457200">
              <a:buFont typeface="+mj-lt"/>
              <a:buAutoNum type="arabicPeriod"/>
            </a:pPr>
            <a:r>
              <a:rPr lang="en-GB" sz="2400" dirty="0"/>
              <a:t>Why is potable water not described as pure water by scientists?</a:t>
            </a:r>
          </a:p>
          <a:p>
            <a:pPr marL="457200" indent="-457200">
              <a:buFont typeface="+mj-lt"/>
              <a:buAutoNum type="arabicPeriod"/>
            </a:pPr>
            <a:endParaRPr lang="en-GB" sz="2400" dirty="0">
              <a:solidFill>
                <a:srgbClr val="00B050"/>
              </a:solidFill>
            </a:endParaRPr>
          </a:p>
          <a:p>
            <a:pPr marL="457200" indent="-457200">
              <a:buFont typeface="+mj-lt"/>
              <a:buAutoNum type="arabicPeriod"/>
            </a:pPr>
            <a:r>
              <a:rPr lang="en-GB" sz="2400" dirty="0"/>
              <a:t>What does the method used to produce potable water depend upon?</a:t>
            </a:r>
            <a:r>
              <a:rPr lang="en-GB" sz="2400" b="1" dirty="0">
                <a:solidFill>
                  <a:srgbClr val="00B050"/>
                </a:solidFill>
              </a:rPr>
              <a:t> </a:t>
            </a:r>
          </a:p>
          <a:p>
            <a:pPr marL="457200" indent="-457200">
              <a:buFont typeface="+mj-lt"/>
              <a:buAutoNum type="arabicPeriod"/>
            </a:pPr>
            <a:endParaRPr lang="en-GB" sz="2400" b="1" dirty="0">
              <a:solidFill>
                <a:srgbClr val="00B050"/>
              </a:solidFill>
            </a:endParaRPr>
          </a:p>
          <a:p>
            <a:pPr marL="457200" indent="-457200">
              <a:buFont typeface="+mj-lt"/>
              <a:buAutoNum type="arabicPeriod"/>
            </a:pPr>
            <a:r>
              <a:rPr lang="en-GB" sz="2400" dirty="0"/>
              <a:t>How is most potable water in the UK produced?</a:t>
            </a:r>
          </a:p>
          <a:p>
            <a:pPr marL="457200" indent="-457200">
              <a:buFont typeface="+mj-lt"/>
              <a:buAutoNum type="arabicPeriod"/>
            </a:pPr>
            <a:endParaRPr lang="en-GB" sz="2400" dirty="0"/>
          </a:p>
          <a:p>
            <a:pPr marL="457200" indent="-457200">
              <a:buFont typeface="+mj-lt"/>
              <a:buAutoNum type="arabicPeriod"/>
            </a:pPr>
            <a:r>
              <a:rPr lang="en-GB" sz="2400" dirty="0"/>
              <a:t>What method can be used for the desalination of salty water? </a:t>
            </a:r>
          </a:p>
          <a:p>
            <a:pPr marL="457200" indent="-457200">
              <a:buFont typeface="+mj-lt"/>
              <a:buAutoNum type="arabicPeriod"/>
            </a:pPr>
            <a:endParaRPr lang="en-GB" sz="2400" dirty="0"/>
          </a:p>
          <a:p>
            <a:pPr marL="457200" indent="-457200">
              <a:buFont typeface="+mj-lt"/>
              <a:buAutoNum type="arabicPeriod"/>
            </a:pPr>
            <a:r>
              <a:rPr lang="en-GB" sz="2400" dirty="0"/>
              <a:t>What needs to be removed from sewage and agricultural waste water?</a:t>
            </a:r>
            <a:r>
              <a:rPr lang="en-GB" sz="2800" dirty="0">
                <a:solidFill>
                  <a:srgbClr val="00B050"/>
                </a:solidFill>
              </a:rPr>
              <a:t>	</a:t>
            </a:r>
          </a:p>
          <a:p>
            <a:pPr marL="457200" indent="-457200">
              <a:buFont typeface="+mj-lt"/>
              <a:buAutoNum type="arabicPeriod"/>
            </a:pPr>
            <a:endParaRPr lang="en-GB" sz="2400" dirty="0">
              <a:solidFill>
                <a:srgbClr val="00B050"/>
              </a:solidFill>
            </a:endParaRPr>
          </a:p>
          <a:p>
            <a:pPr marL="457200" indent="-457200">
              <a:buFont typeface="+mj-lt"/>
              <a:buAutoNum type="arabicPeriod"/>
            </a:pPr>
            <a:r>
              <a:rPr lang="en-GB" sz="2400" dirty="0"/>
              <a:t>What are the three stages in the treatment of sewage?</a:t>
            </a:r>
          </a:p>
        </p:txBody>
      </p:sp>
    </p:spTree>
    <p:extLst>
      <p:ext uri="{BB962C8B-B14F-4D97-AF65-F5344CB8AC3E}">
        <p14:creationId xmlns:p14="http://schemas.microsoft.com/office/powerpoint/2010/main" val="3955077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431983"/>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US" sz="2800" b="1" dirty="0">
                <a:solidFill>
                  <a:schemeClr val="tx1">
                    <a:lumMod val="50000"/>
                    <a:lumOff val="50000"/>
                  </a:schemeClr>
                </a:solidFill>
              </a:rPr>
              <a:t>Methods of separating and purifying substances – Part 3</a:t>
            </a:r>
          </a:p>
          <a:p>
            <a:endParaRPr lang="en-US" sz="2800" b="1" dirty="0">
              <a:solidFill>
                <a:schemeClr val="tx1">
                  <a:lumMod val="50000"/>
                  <a:lumOff val="50000"/>
                </a:schemeClr>
              </a:solidFill>
            </a:endParaRPr>
          </a:p>
          <a:p>
            <a:pPr marL="685800" lvl="1" indent="-342900">
              <a:buFont typeface="Arial" charset="0"/>
              <a:buChar char="•"/>
            </a:pPr>
            <a:r>
              <a:rPr lang="en-US" sz="2400" dirty="0">
                <a:solidFill>
                  <a:schemeClr val="tx1">
                    <a:lumMod val="50000"/>
                    <a:lumOff val="50000"/>
                  </a:schemeClr>
                </a:solidFill>
              </a:rPr>
              <a:t>Waste and ground water treatment</a:t>
            </a:r>
          </a:p>
          <a:p>
            <a:pPr marL="685800" lvl="1" indent="-342900">
              <a:buFont typeface="Arial" charset="0"/>
              <a:buChar char="•"/>
            </a:pPr>
            <a:r>
              <a:rPr lang="en-US" sz="2400" dirty="0">
                <a:solidFill>
                  <a:schemeClr val="tx1">
                    <a:lumMod val="50000"/>
                    <a:lumOff val="50000"/>
                  </a:schemeClr>
                </a:solidFill>
              </a:rPr>
              <a:t>Sea water treatment</a:t>
            </a:r>
          </a:p>
        </p:txBody>
      </p:sp>
    </p:spTree>
    <p:extLst>
      <p:ext uri="{BB962C8B-B14F-4D97-AF65-F5344CB8AC3E}">
        <p14:creationId xmlns:p14="http://schemas.microsoft.com/office/powerpoint/2010/main" val="41561402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dirty="0">
                <a:solidFill>
                  <a:schemeClr val="accent6"/>
                </a:solidFill>
              </a:rPr>
              <a:t>Potable water -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693866"/>
          </a:xfrm>
          <a:prstGeom prst="rect">
            <a:avLst/>
          </a:prstGeom>
          <a:noFill/>
        </p:spPr>
        <p:txBody>
          <a:bodyPr wrap="square" rtlCol="0">
            <a:spAutoFit/>
          </a:bodyPr>
          <a:lstStyle/>
          <a:p>
            <a:pPr marL="457200" indent="-457200">
              <a:buFont typeface="+mj-lt"/>
              <a:buAutoNum type="arabicPeriod"/>
            </a:pPr>
            <a:r>
              <a:rPr lang="en-GB" sz="2400" dirty="0"/>
              <a:t>Why is potable water not described as pure water by scientists?</a:t>
            </a:r>
          </a:p>
          <a:p>
            <a:pPr lvl="1"/>
            <a:r>
              <a:rPr lang="en-GB" sz="2400" dirty="0">
                <a:solidFill>
                  <a:srgbClr val="00B050"/>
                </a:solidFill>
              </a:rPr>
              <a:t>It contains dissolved substances.</a:t>
            </a:r>
          </a:p>
          <a:p>
            <a:pPr marL="457200" indent="-457200">
              <a:buFont typeface="+mj-lt"/>
              <a:buAutoNum type="arabicPeriod"/>
            </a:pPr>
            <a:r>
              <a:rPr lang="en-GB" sz="2400" dirty="0"/>
              <a:t>What does the method used to produce potable water depend upon?</a:t>
            </a:r>
            <a:r>
              <a:rPr lang="en-GB" sz="2400" dirty="0">
                <a:solidFill>
                  <a:srgbClr val="00B050"/>
                </a:solidFill>
              </a:rPr>
              <a:t> </a:t>
            </a:r>
          </a:p>
          <a:p>
            <a:pPr lvl="1"/>
            <a:r>
              <a:rPr lang="en-GB" sz="2400" dirty="0">
                <a:solidFill>
                  <a:srgbClr val="00B050"/>
                </a:solidFill>
              </a:rPr>
              <a:t>Availability of supplies and local conditions.</a:t>
            </a:r>
          </a:p>
          <a:p>
            <a:pPr marL="457200" indent="-457200">
              <a:buFont typeface="+mj-lt"/>
              <a:buAutoNum type="arabicPeriod"/>
            </a:pPr>
            <a:r>
              <a:rPr lang="en-GB" sz="2400" dirty="0"/>
              <a:t>How is most potable water in the UK produced?</a:t>
            </a:r>
          </a:p>
          <a:p>
            <a:pPr lvl="1"/>
            <a:r>
              <a:rPr lang="en-GB" sz="2400" dirty="0">
                <a:solidFill>
                  <a:srgbClr val="00B050"/>
                </a:solidFill>
              </a:rPr>
              <a:t>Choosing suitable fresh water, sedimentation, filtering and chlorination.</a:t>
            </a:r>
          </a:p>
          <a:p>
            <a:pPr marL="457200" indent="-457200">
              <a:buFont typeface="+mj-lt"/>
              <a:buAutoNum type="arabicPeriod"/>
            </a:pPr>
            <a:r>
              <a:rPr lang="en-GB" sz="2400" dirty="0"/>
              <a:t>What method can be used for the desalination of salty water? </a:t>
            </a:r>
          </a:p>
          <a:p>
            <a:pPr lvl="1"/>
            <a:r>
              <a:rPr lang="en-GB" sz="2400" dirty="0">
                <a:solidFill>
                  <a:srgbClr val="00B050"/>
                </a:solidFill>
              </a:rPr>
              <a:t>Distillation.</a:t>
            </a:r>
          </a:p>
          <a:p>
            <a:pPr marL="457200" indent="-457200">
              <a:buFont typeface="+mj-lt"/>
              <a:buAutoNum type="arabicPeriod"/>
            </a:pPr>
            <a:r>
              <a:rPr lang="en-GB" sz="2400" dirty="0"/>
              <a:t>What needs to be removed from sewage and agricultural waste water?</a:t>
            </a:r>
            <a:r>
              <a:rPr lang="en-GB" sz="2800" dirty="0">
                <a:solidFill>
                  <a:srgbClr val="00B050"/>
                </a:solidFill>
              </a:rPr>
              <a:t>	</a:t>
            </a:r>
          </a:p>
          <a:p>
            <a:pPr lvl="1"/>
            <a:r>
              <a:rPr lang="en-GB" sz="2400" dirty="0">
                <a:solidFill>
                  <a:srgbClr val="00B050"/>
                </a:solidFill>
              </a:rPr>
              <a:t>Organic matter and harmful microbes.</a:t>
            </a:r>
          </a:p>
          <a:p>
            <a:pPr marL="457200" indent="-457200">
              <a:buFont typeface="+mj-lt"/>
              <a:buAutoNum type="arabicPeriod"/>
            </a:pPr>
            <a:r>
              <a:rPr lang="en-GB" sz="2400" dirty="0"/>
              <a:t>What are the three stages in the treatment of sewage?</a:t>
            </a:r>
          </a:p>
          <a:p>
            <a:pPr lvl="1"/>
            <a:r>
              <a:rPr lang="en-GB" sz="2400" dirty="0">
                <a:solidFill>
                  <a:srgbClr val="00B050"/>
                </a:solidFill>
              </a:rPr>
              <a:t>Sedimentation, filtration, chlorination.</a:t>
            </a:r>
          </a:p>
        </p:txBody>
      </p:sp>
    </p:spTree>
    <p:extLst>
      <p:ext uri="{BB962C8B-B14F-4D97-AF65-F5344CB8AC3E}">
        <p14:creationId xmlns:p14="http://schemas.microsoft.com/office/powerpoint/2010/main" val="388611710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4489A17B-A778-43E8-8CAD-39AF0ABD1C3C}" vid="{5B90DF28-B678-4AF8-820C-D210C98786D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IXL Sci">
  <a:themeElements>
    <a:clrScheme name="Custom 1">
      <a:dk1>
        <a:sysClr val="windowText" lastClr="000000"/>
      </a:dk1>
      <a:lt1>
        <a:sysClr val="window" lastClr="FFFFFF"/>
      </a:lt1>
      <a:dk2>
        <a:srgbClr val="1F497D"/>
      </a:dk2>
      <a:lt2>
        <a:srgbClr val="EEECE1"/>
      </a:lt2>
      <a:accent1>
        <a:srgbClr val="4F81BD"/>
      </a:accent1>
      <a:accent2>
        <a:srgbClr val="FF99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IXL Sci" id="{2CFE4A30-D880-BA4E-B779-8E17F61ECAC9}" vid="{3D4DF9ED-AD7F-6943-859C-106C4E33968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28507</TotalTime>
  <Words>4373</Words>
  <Application>Microsoft Office PowerPoint</Application>
  <PresentationFormat>On-screen Show (4:3)</PresentationFormat>
  <Paragraphs>423</Paragraphs>
  <Slides>39</Slides>
  <Notes>24</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39</vt:i4>
      </vt:variant>
    </vt:vector>
  </HeadingPairs>
  <TitlesOfParts>
    <vt:vector size="50" baseType="lpstr">
      <vt:lpstr>Arial</vt:lpstr>
      <vt:lpstr>Beirut</vt:lpstr>
      <vt:lpstr>Calibri</vt:lpstr>
      <vt:lpstr>Calibri Light</vt:lpstr>
      <vt:lpstr>Gill Sans</vt:lpstr>
      <vt:lpstr>Lato Medium</vt:lpstr>
      <vt:lpstr>News Gothic MT</vt:lpstr>
      <vt:lpstr>Times New Roman</vt:lpstr>
      <vt:lpstr>1_Office Theme</vt:lpstr>
      <vt:lpstr>Custom Design</vt:lpstr>
      <vt:lpstr>PIXL Sci</vt:lpstr>
      <vt:lpstr>PowerPoint Presentation</vt:lpstr>
      <vt:lpstr>Overview   States of matter and mixtures</vt:lpstr>
      <vt:lpstr>PowerPoint Presentation</vt:lpstr>
      <vt:lpstr>States of matter and state symbols</vt:lpstr>
      <vt:lpstr>Changes of state</vt:lpstr>
      <vt:lpstr>PowerPoint Presentation</vt:lpstr>
      <vt:lpstr>Properties of substances – Part 1 – QuestionIT</vt:lpstr>
      <vt:lpstr>PowerPoint Presentation</vt:lpstr>
      <vt:lpstr>Properties of substances – Part 1– QuestionIT</vt:lpstr>
      <vt:lpstr>PowerPoint Presentation</vt:lpstr>
      <vt:lpstr>Pure substances and Formulations</vt:lpstr>
      <vt:lpstr>PowerPoint Presentation</vt:lpstr>
      <vt:lpstr>Pure substances – QuestionIT</vt:lpstr>
      <vt:lpstr>PowerPoint Presentation</vt:lpstr>
      <vt:lpstr>Pure substances – AnswerIT</vt:lpstr>
      <vt:lpstr>PowerPoint Presentation</vt:lpstr>
      <vt:lpstr>Atoms, elements, compounds and mixtures - PART 2</vt:lpstr>
      <vt:lpstr>Atoms, elements, compounds and mixtures - PART 2</vt:lpstr>
      <vt:lpstr>Atoms, elements, compounds and mixtures - PART 2</vt:lpstr>
      <vt:lpstr>Chromatography</vt:lpstr>
      <vt:lpstr>PowerPoint Presentation</vt:lpstr>
      <vt:lpstr>Mixtures – QuestionIT</vt:lpstr>
      <vt:lpstr>Mixtures – QuestionIT</vt:lpstr>
      <vt:lpstr>Mixtures – QuestionIT</vt:lpstr>
      <vt:lpstr>Mixtures – QuestionIT</vt:lpstr>
      <vt:lpstr>PowerPoint Presentation</vt:lpstr>
      <vt:lpstr>Mixtures – AnswerIT</vt:lpstr>
      <vt:lpstr>Mixtures – AnswerIT</vt:lpstr>
      <vt:lpstr>Mixtures – AnswerIT</vt:lpstr>
      <vt:lpstr>Mixtures – AnswerIT</vt:lpstr>
      <vt:lpstr>PowerPoint Presentation</vt:lpstr>
      <vt:lpstr>Potable water</vt:lpstr>
      <vt:lpstr>Potable water</vt:lpstr>
      <vt:lpstr>Waste water treatment</vt:lpstr>
      <vt:lpstr>Potable water</vt:lpstr>
      <vt:lpstr>PowerPoint Presentation</vt:lpstr>
      <vt:lpstr>Potable water - QuestionIT</vt:lpstr>
      <vt:lpstr>PowerPoint Presentation</vt:lpstr>
      <vt:lpstr>Potable water - QuestionIT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zarina shaffi</dc:creator>
  <cp:lastModifiedBy>Vicki Pugh</cp:lastModifiedBy>
  <cp:revision>280</cp:revision>
  <dcterms:created xsi:type="dcterms:W3CDTF">2016-03-05T09:38:04Z</dcterms:created>
  <dcterms:modified xsi:type="dcterms:W3CDTF">2018-02-08T19:54:01Z</dcterms:modified>
</cp:coreProperties>
</file>