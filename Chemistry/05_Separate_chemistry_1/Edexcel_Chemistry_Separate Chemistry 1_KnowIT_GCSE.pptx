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 id="2147483675" r:id="rId3"/>
  </p:sldMasterIdLst>
  <p:notesMasterIdLst>
    <p:notesMasterId r:id="rId73"/>
  </p:notesMasterIdLst>
  <p:sldIdLst>
    <p:sldId id="256" r:id="rId4"/>
    <p:sldId id="281" r:id="rId5"/>
    <p:sldId id="314" r:id="rId6"/>
    <p:sldId id="351" r:id="rId7"/>
    <p:sldId id="365" r:id="rId8"/>
    <p:sldId id="366" r:id="rId9"/>
    <p:sldId id="377" r:id="rId10"/>
    <p:sldId id="368" r:id="rId11"/>
    <p:sldId id="367" r:id="rId12"/>
    <p:sldId id="378" r:id="rId13"/>
    <p:sldId id="323" r:id="rId14"/>
    <p:sldId id="360" r:id="rId15"/>
    <p:sldId id="379" r:id="rId16"/>
    <p:sldId id="350" r:id="rId17"/>
    <p:sldId id="380" r:id="rId18"/>
    <p:sldId id="381" r:id="rId19"/>
    <p:sldId id="382" r:id="rId20"/>
    <p:sldId id="385" r:id="rId21"/>
    <p:sldId id="404" r:id="rId22"/>
    <p:sldId id="405" r:id="rId23"/>
    <p:sldId id="383" r:id="rId24"/>
    <p:sldId id="387" r:id="rId25"/>
    <p:sldId id="427" r:id="rId26"/>
    <p:sldId id="428" r:id="rId27"/>
    <p:sldId id="384" r:id="rId28"/>
    <p:sldId id="429" r:id="rId29"/>
    <p:sldId id="430" r:id="rId30"/>
    <p:sldId id="431" r:id="rId31"/>
    <p:sldId id="425" r:id="rId32"/>
    <p:sldId id="391" r:id="rId33"/>
    <p:sldId id="392" r:id="rId34"/>
    <p:sldId id="393" r:id="rId35"/>
    <p:sldId id="394" r:id="rId36"/>
    <p:sldId id="395" r:id="rId37"/>
    <p:sldId id="396" r:id="rId38"/>
    <p:sldId id="397" r:id="rId39"/>
    <p:sldId id="398" r:id="rId40"/>
    <p:sldId id="399" r:id="rId41"/>
    <p:sldId id="400" r:id="rId42"/>
    <p:sldId id="401" r:id="rId43"/>
    <p:sldId id="402" r:id="rId44"/>
    <p:sldId id="403" r:id="rId45"/>
    <p:sldId id="408" r:id="rId46"/>
    <p:sldId id="406" r:id="rId47"/>
    <p:sldId id="407" r:id="rId48"/>
    <p:sldId id="409" r:id="rId49"/>
    <p:sldId id="410" r:id="rId50"/>
    <p:sldId id="413" r:id="rId51"/>
    <p:sldId id="414" r:id="rId52"/>
    <p:sldId id="418" r:id="rId53"/>
    <p:sldId id="432" r:id="rId54"/>
    <p:sldId id="442" r:id="rId55"/>
    <p:sldId id="443" r:id="rId56"/>
    <p:sldId id="444" r:id="rId57"/>
    <p:sldId id="437" r:id="rId58"/>
    <p:sldId id="438" r:id="rId59"/>
    <p:sldId id="445" r:id="rId60"/>
    <p:sldId id="441" r:id="rId61"/>
    <p:sldId id="446" r:id="rId62"/>
    <p:sldId id="447" r:id="rId63"/>
    <p:sldId id="448" r:id="rId64"/>
    <p:sldId id="449" r:id="rId65"/>
    <p:sldId id="450" r:id="rId66"/>
    <p:sldId id="451" r:id="rId67"/>
    <p:sldId id="452" r:id="rId68"/>
    <p:sldId id="453" r:id="rId69"/>
    <p:sldId id="454" r:id="rId70"/>
    <p:sldId id="455" r:id="rId71"/>
    <p:sldId id="456" r:id="rId7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k Simpkins" initials="MS" lastIdx="55" clrIdx="0">
    <p:extLst/>
  </p:cmAuthor>
  <p:cmAuthor id="2" name="Amanda Fleck" initials="AF" lastIdx="1" clrIdx="1">
    <p:extLst/>
  </p:cmAuthor>
  <p:cmAuthor id="3" name="Amanda Fleck" initials="AF [2]" lastIdx="1" clrIdx="2">
    <p:extLst/>
  </p:cmAuthor>
  <p:cmAuthor id="4" name="Amanda Fleck" initials="AF [3]" lastIdx="1" clrIdx="3">
    <p:extLst/>
  </p:cmAuthor>
  <p:cmAuthor id="5" name="Amanda Fleck" initials="AF [4]" lastIdx="1" clrIdx="4">
    <p:extLst/>
  </p:cmAuthor>
  <p:cmAuthor id="6" name="Amanda Fleck" initials="AF [5]" lastIdx="1" clrIdx="5">
    <p:extLst/>
  </p:cmAuthor>
  <p:cmAuthor id="7" name="Amanda Fleck" initials="AF [6]" lastIdx="1" clrIdx="6">
    <p:extLst/>
  </p:cmAuthor>
  <p:cmAuthor id="8" name="Amanda Fleck" initials="AF [7]" lastIdx="1" clrIdx="7">
    <p:extLst/>
  </p:cmAuthor>
  <p:cmAuthor id="9" name="Amanda Fleck" initials="AF [8]" lastIdx="1" clrIdx="8">
    <p:extLst/>
  </p:cmAuthor>
  <p:cmAuthor id="10" name="Amanda Fleck" initials="AF [9]" lastIdx="1" clrIdx="9">
    <p:extLst/>
  </p:cmAuthor>
  <p:cmAuthor id="11" name="Amanda Fleck" initials="AF [10]" lastIdx="1" clrIdx="10">
    <p:extLst/>
  </p:cmAuthor>
  <p:cmAuthor id="12" name="Amanda Fleck" initials="AF [11]" lastIdx="1" clrIdx="11">
    <p:extLst/>
  </p:cmAuthor>
  <p:cmAuthor id="13" name="Tracy Barrett" initials="TB" lastIdx="68" clrIdx="12">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868" autoAdjust="0"/>
    <p:restoredTop sz="83642" autoAdjust="0"/>
  </p:normalViewPr>
  <p:slideViewPr>
    <p:cSldViewPr>
      <p:cViewPr varScale="1">
        <p:scale>
          <a:sx n="60" d="100"/>
          <a:sy n="60" d="100"/>
        </p:scale>
        <p:origin x="1020" y="7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10232"/>
    </p:cViewPr>
  </p:sorterViewPr>
  <p:notesViewPr>
    <p:cSldViewPr>
      <p:cViewPr varScale="1">
        <p:scale>
          <a:sx n="85" d="100"/>
          <a:sy n="85" d="100"/>
        </p:scale>
        <p:origin x="1952"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viewProps" Target="viewProps.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2D2026-0859-4913-9377-3DA08F595AD2}" type="datetimeFigureOut">
              <a:rPr lang="en-US" smtClean="0"/>
              <a:t>2/9/2018</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D32D9-63A9-423F-8B77-368638260D4D}" type="slidenum">
              <a:rPr lang="en-US" smtClean="0"/>
              <a:t>‹#›</a:t>
            </a:fld>
            <a:endParaRPr lang="en-US"/>
          </a:p>
        </p:txBody>
      </p:sp>
    </p:spTree>
    <p:extLst>
      <p:ext uri="{BB962C8B-B14F-4D97-AF65-F5344CB8AC3E}">
        <p14:creationId xmlns:p14="http://schemas.microsoft.com/office/powerpoint/2010/main" val="45470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https://c2.staticflickr.com/4/3178/4076380768_03994aed44_b.jpg</a:t>
            </a:r>
          </a:p>
        </p:txBody>
      </p:sp>
      <p:sp>
        <p:nvSpPr>
          <p:cNvPr id="4" name="Slide Number Placeholder 3"/>
          <p:cNvSpPr>
            <a:spLocks noGrp="1"/>
          </p:cNvSpPr>
          <p:nvPr>
            <p:ph type="sldNum" sz="quarter" idx="10"/>
          </p:nvPr>
        </p:nvSpPr>
        <p:spPr/>
        <p:txBody>
          <a:bodyPr/>
          <a:lstStyle/>
          <a:p>
            <a:fld id="{2C9D32D9-63A9-423F-8B77-368638260D4D}" type="slidenum">
              <a:rPr lang="en-US" smtClean="0"/>
              <a:t>2</a:t>
            </a:fld>
            <a:endParaRPr lang="en-US"/>
          </a:p>
        </p:txBody>
      </p:sp>
    </p:spTree>
    <p:extLst>
      <p:ext uri="{BB962C8B-B14F-4D97-AF65-F5344CB8AC3E}">
        <p14:creationId xmlns:p14="http://schemas.microsoft.com/office/powerpoint/2010/main" val="2536047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a:t>
            </a:fld>
            <a:endParaRPr lang="en-US"/>
          </a:p>
        </p:txBody>
      </p:sp>
    </p:spTree>
    <p:extLst>
      <p:ext uri="{BB962C8B-B14F-4D97-AF65-F5344CB8AC3E}">
        <p14:creationId xmlns:p14="http://schemas.microsoft.com/office/powerpoint/2010/main" val="598747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a:t>
            </a:fld>
            <a:endParaRPr lang="en-US"/>
          </a:p>
        </p:txBody>
      </p:sp>
    </p:spTree>
    <p:extLst>
      <p:ext uri="{BB962C8B-B14F-4D97-AF65-F5344CB8AC3E}">
        <p14:creationId xmlns:p14="http://schemas.microsoft.com/office/powerpoint/2010/main" val="2991426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a:t>
            </a:fld>
            <a:endParaRPr lang="en-US" dirty="0"/>
          </a:p>
        </p:txBody>
      </p:sp>
    </p:spTree>
    <p:extLst>
      <p:ext uri="{BB962C8B-B14F-4D97-AF65-F5344CB8AC3E}">
        <p14:creationId xmlns:p14="http://schemas.microsoft.com/office/powerpoint/2010/main" val="991000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a:t>
            </a:fld>
            <a:endParaRPr lang="en-US" dirty="0"/>
          </a:p>
        </p:txBody>
      </p:sp>
    </p:spTree>
    <p:extLst>
      <p:ext uri="{BB962C8B-B14F-4D97-AF65-F5344CB8AC3E}">
        <p14:creationId xmlns:p14="http://schemas.microsoft.com/office/powerpoint/2010/main" val="3617387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a:t>
            </a:fld>
            <a:endParaRPr lang="en-US"/>
          </a:p>
        </p:txBody>
      </p:sp>
    </p:spTree>
    <p:extLst>
      <p:ext uri="{BB962C8B-B14F-4D97-AF65-F5344CB8AC3E}">
        <p14:creationId xmlns:p14="http://schemas.microsoft.com/office/powerpoint/2010/main" val="26967418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8</a:t>
            </a:fld>
            <a:endParaRPr lang="en-US" dirty="0"/>
          </a:p>
        </p:txBody>
      </p:sp>
    </p:spTree>
    <p:extLst>
      <p:ext uri="{BB962C8B-B14F-4D97-AF65-F5344CB8AC3E}">
        <p14:creationId xmlns:p14="http://schemas.microsoft.com/office/powerpoint/2010/main" val="11396692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9</a:t>
            </a:fld>
            <a:endParaRPr lang="en-US" dirty="0"/>
          </a:p>
        </p:txBody>
      </p:sp>
    </p:spTree>
    <p:extLst>
      <p:ext uri="{BB962C8B-B14F-4D97-AF65-F5344CB8AC3E}">
        <p14:creationId xmlns:p14="http://schemas.microsoft.com/office/powerpoint/2010/main" val="41858077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10</a:t>
            </a:fld>
            <a:endParaRPr lang="en-US" dirty="0"/>
          </a:p>
        </p:txBody>
      </p:sp>
    </p:spTree>
    <p:extLst>
      <p:ext uri="{BB962C8B-B14F-4D97-AF65-F5344CB8AC3E}">
        <p14:creationId xmlns:p14="http://schemas.microsoft.com/office/powerpoint/2010/main" val="19400962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11</a:t>
            </a:fld>
            <a:endParaRPr lang="en-US"/>
          </a:p>
        </p:txBody>
      </p:sp>
    </p:spTree>
    <p:extLst>
      <p:ext uri="{BB962C8B-B14F-4D97-AF65-F5344CB8AC3E}">
        <p14:creationId xmlns:p14="http://schemas.microsoft.com/office/powerpoint/2010/main" val="13350086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14</a:t>
            </a:fld>
            <a:endParaRPr lang="en-US" dirty="0"/>
          </a:p>
        </p:txBody>
      </p:sp>
    </p:spTree>
    <p:extLst>
      <p:ext uri="{BB962C8B-B14F-4D97-AF65-F5344CB8AC3E}">
        <p14:creationId xmlns:p14="http://schemas.microsoft.com/office/powerpoint/2010/main" val="21590348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17</a:t>
            </a:fld>
            <a:endParaRPr lang="en-US"/>
          </a:p>
        </p:txBody>
      </p:sp>
    </p:spTree>
    <p:extLst>
      <p:ext uri="{BB962C8B-B14F-4D97-AF65-F5344CB8AC3E}">
        <p14:creationId xmlns:p14="http://schemas.microsoft.com/office/powerpoint/2010/main" val="36950751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18</a:t>
            </a:fld>
            <a:endParaRPr lang="en-US"/>
          </a:p>
        </p:txBody>
      </p:sp>
    </p:spTree>
    <p:extLst>
      <p:ext uri="{BB962C8B-B14F-4D97-AF65-F5344CB8AC3E}">
        <p14:creationId xmlns:p14="http://schemas.microsoft.com/office/powerpoint/2010/main" val="24504038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19</a:t>
            </a:fld>
            <a:endParaRPr lang="en-US"/>
          </a:p>
        </p:txBody>
      </p:sp>
    </p:spTree>
    <p:extLst>
      <p:ext uri="{BB962C8B-B14F-4D97-AF65-F5344CB8AC3E}">
        <p14:creationId xmlns:p14="http://schemas.microsoft.com/office/powerpoint/2010/main" val="18734713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20</a:t>
            </a:fld>
            <a:endParaRPr lang="en-US"/>
          </a:p>
        </p:txBody>
      </p:sp>
    </p:spTree>
    <p:extLst>
      <p:ext uri="{BB962C8B-B14F-4D97-AF65-F5344CB8AC3E}">
        <p14:creationId xmlns:p14="http://schemas.microsoft.com/office/powerpoint/2010/main" val="40804054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21</a:t>
            </a:fld>
            <a:endParaRPr lang="en-US"/>
          </a:p>
        </p:txBody>
      </p:sp>
    </p:spTree>
    <p:extLst>
      <p:ext uri="{BB962C8B-B14F-4D97-AF65-F5344CB8AC3E}">
        <p14:creationId xmlns:p14="http://schemas.microsoft.com/office/powerpoint/2010/main" val="27588427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22</a:t>
            </a:fld>
            <a:endParaRPr lang="en-US"/>
          </a:p>
        </p:txBody>
      </p:sp>
    </p:spTree>
    <p:extLst>
      <p:ext uri="{BB962C8B-B14F-4D97-AF65-F5344CB8AC3E}">
        <p14:creationId xmlns:p14="http://schemas.microsoft.com/office/powerpoint/2010/main" val="19766832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23</a:t>
            </a:fld>
            <a:endParaRPr lang="en-US"/>
          </a:p>
        </p:txBody>
      </p:sp>
    </p:spTree>
    <p:extLst>
      <p:ext uri="{BB962C8B-B14F-4D97-AF65-F5344CB8AC3E}">
        <p14:creationId xmlns:p14="http://schemas.microsoft.com/office/powerpoint/2010/main" val="29575375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24</a:t>
            </a:fld>
            <a:endParaRPr lang="en-US"/>
          </a:p>
        </p:txBody>
      </p:sp>
    </p:spTree>
    <p:extLst>
      <p:ext uri="{BB962C8B-B14F-4D97-AF65-F5344CB8AC3E}">
        <p14:creationId xmlns:p14="http://schemas.microsoft.com/office/powerpoint/2010/main" val="38741896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25</a:t>
            </a:fld>
            <a:endParaRPr lang="en-US" dirty="0"/>
          </a:p>
        </p:txBody>
      </p:sp>
    </p:spTree>
    <p:extLst>
      <p:ext uri="{BB962C8B-B14F-4D97-AF65-F5344CB8AC3E}">
        <p14:creationId xmlns:p14="http://schemas.microsoft.com/office/powerpoint/2010/main" val="32312013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26</a:t>
            </a:fld>
            <a:endParaRPr lang="en-US"/>
          </a:p>
        </p:txBody>
      </p:sp>
    </p:spTree>
    <p:extLst>
      <p:ext uri="{BB962C8B-B14F-4D97-AF65-F5344CB8AC3E}">
        <p14:creationId xmlns:p14="http://schemas.microsoft.com/office/powerpoint/2010/main" val="12705531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27</a:t>
            </a:fld>
            <a:endParaRPr lang="en-US"/>
          </a:p>
        </p:txBody>
      </p:sp>
    </p:spTree>
    <p:extLst>
      <p:ext uri="{BB962C8B-B14F-4D97-AF65-F5344CB8AC3E}">
        <p14:creationId xmlns:p14="http://schemas.microsoft.com/office/powerpoint/2010/main" val="36555804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28</a:t>
            </a:fld>
            <a:endParaRPr lang="en-US"/>
          </a:p>
        </p:txBody>
      </p:sp>
    </p:spTree>
    <p:extLst>
      <p:ext uri="{BB962C8B-B14F-4D97-AF65-F5344CB8AC3E}">
        <p14:creationId xmlns:p14="http://schemas.microsoft.com/office/powerpoint/2010/main" val="14364712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29</a:t>
            </a:fld>
            <a:endParaRPr lang="en-US"/>
          </a:p>
        </p:txBody>
      </p:sp>
    </p:spTree>
    <p:extLst>
      <p:ext uri="{BB962C8B-B14F-4D97-AF65-F5344CB8AC3E}">
        <p14:creationId xmlns:p14="http://schemas.microsoft.com/office/powerpoint/2010/main" val="3219738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30</a:t>
            </a:fld>
            <a:endParaRPr lang="en-US"/>
          </a:p>
        </p:txBody>
      </p:sp>
    </p:spTree>
    <p:extLst>
      <p:ext uri="{BB962C8B-B14F-4D97-AF65-F5344CB8AC3E}">
        <p14:creationId xmlns:p14="http://schemas.microsoft.com/office/powerpoint/2010/main" val="6282439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31</a:t>
            </a:fld>
            <a:endParaRPr lang="en-US"/>
          </a:p>
        </p:txBody>
      </p:sp>
    </p:spTree>
    <p:extLst>
      <p:ext uri="{BB962C8B-B14F-4D97-AF65-F5344CB8AC3E}">
        <p14:creationId xmlns:p14="http://schemas.microsoft.com/office/powerpoint/2010/main" val="19932640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32</a:t>
            </a:fld>
            <a:endParaRPr lang="en-US"/>
          </a:p>
        </p:txBody>
      </p:sp>
    </p:spTree>
    <p:extLst>
      <p:ext uri="{BB962C8B-B14F-4D97-AF65-F5344CB8AC3E}">
        <p14:creationId xmlns:p14="http://schemas.microsoft.com/office/powerpoint/2010/main" val="14031429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33</a:t>
            </a:fld>
            <a:endParaRPr lang="en-US"/>
          </a:p>
        </p:txBody>
      </p:sp>
    </p:spTree>
    <p:extLst>
      <p:ext uri="{BB962C8B-B14F-4D97-AF65-F5344CB8AC3E}">
        <p14:creationId xmlns:p14="http://schemas.microsoft.com/office/powerpoint/2010/main" val="39807485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34</a:t>
            </a:fld>
            <a:endParaRPr lang="en-US"/>
          </a:p>
        </p:txBody>
      </p:sp>
    </p:spTree>
    <p:extLst>
      <p:ext uri="{BB962C8B-B14F-4D97-AF65-F5344CB8AC3E}">
        <p14:creationId xmlns:p14="http://schemas.microsoft.com/office/powerpoint/2010/main" val="35783148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35</a:t>
            </a:fld>
            <a:endParaRPr lang="en-US"/>
          </a:p>
        </p:txBody>
      </p:sp>
    </p:spTree>
    <p:extLst>
      <p:ext uri="{BB962C8B-B14F-4D97-AF65-F5344CB8AC3E}">
        <p14:creationId xmlns:p14="http://schemas.microsoft.com/office/powerpoint/2010/main" val="11668966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36</a:t>
            </a:fld>
            <a:endParaRPr lang="en-US"/>
          </a:p>
        </p:txBody>
      </p:sp>
    </p:spTree>
    <p:extLst>
      <p:ext uri="{BB962C8B-B14F-4D97-AF65-F5344CB8AC3E}">
        <p14:creationId xmlns:p14="http://schemas.microsoft.com/office/powerpoint/2010/main" val="42672960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37</a:t>
            </a:fld>
            <a:endParaRPr lang="en-US"/>
          </a:p>
        </p:txBody>
      </p:sp>
    </p:spTree>
    <p:extLst>
      <p:ext uri="{BB962C8B-B14F-4D97-AF65-F5344CB8AC3E}">
        <p14:creationId xmlns:p14="http://schemas.microsoft.com/office/powerpoint/2010/main" val="265422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38</a:t>
            </a:fld>
            <a:endParaRPr lang="en-US" dirty="0"/>
          </a:p>
        </p:txBody>
      </p:sp>
    </p:spTree>
    <p:extLst>
      <p:ext uri="{BB962C8B-B14F-4D97-AF65-F5344CB8AC3E}">
        <p14:creationId xmlns:p14="http://schemas.microsoft.com/office/powerpoint/2010/main" val="4949088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39</a:t>
            </a:fld>
            <a:endParaRPr lang="en-US"/>
          </a:p>
        </p:txBody>
      </p:sp>
    </p:spTree>
    <p:extLst>
      <p:ext uri="{BB962C8B-B14F-4D97-AF65-F5344CB8AC3E}">
        <p14:creationId xmlns:p14="http://schemas.microsoft.com/office/powerpoint/2010/main" val="36093388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40</a:t>
            </a:fld>
            <a:endParaRPr lang="en-US"/>
          </a:p>
        </p:txBody>
      </p:sp>
    </p:spTree>
    <p:extLst>
      <p:ext uri="{BB962C8B-B14F-4D97-AF65-F5344CB8AC3E}">
        <p14:creationId xmlns:p14="http://schemas.microsoft.com/office/powerpoint/2010/main" val="1253946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41</a:t>
            </a:fld>
            <a:endParaRPr lang="en-US"/>
          </a:p>
        </p:txBody>
      </p:sp>
    </p:spTree>
    <p:extLst>
      <p:ext uri="{BB962C8B-B14F-4D97-AF65-F5344CB8AC3E}">
        <p14:creationId xmlns:p14="http://schemas.microsoft.com/office/powerpoint/2010/main" val="23346454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42</a:t>
            </a:fld>
            <a:endParaRPr lang="en-US"/>
          </a:p>
        </p:txBody>
      </p:sp>
    </p:spTree>
    <p:extLst>
      <p:ext uri="{BB962C8B-B14F-4D97-AF65-F5344CB8AC3E}">
        <p14:creationId xmlns:p14="http://schemas.microsoft.com/office/powerpoint/2010/main" val="16962573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43</a:t>
            </a:fld>
            <a:endParaRPr lang="en-US"/>
          </a:p>
        </p:txBody>
      </p:sp>
    </p:spTree>
    <p:extLst>
      <p:ext uri="{BB962C8B-B14F-4D97-AF65-F5344CB8AC3E}">
        <p14:creationId xmlns:p14="http://schemas.microsoft.com/office/powerpoint/2010/main" val="18585729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44</a:t>
            </a:fld>
            <a:endParaRPr lang="en-US"/>
          </a:p>
        </p:txBody>
      </p:sp>
    </p:spTree>
    <p:extLst>
      <p:ext uri="{BB962C8B-B14F-4D97-AF65-F5344CB8AC3E}">
        <p14:creationId xmlns:p14="http://schemas.microsoft.com/office/powerpoint/2010/main" val="7561671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45</a:t>
            </a:fld>
            <a:endParaRPr lang="en-US"/>
          </a:p>
        </p:txBody>
      </p:sp>
    </p:spTree>
    <p:extLst>
      <p:ext uri="{BB962C8B-B14F-4D97-AF65-F5344CB8AC3E}">
        <p14:creationId xmlns:p14="http://schemas.microsoft.com/office/powerpoint/2010/main" val="41019656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46</a:t>
            </a:fld>
            <a:endParaRPr lang="en-US"/>
          </a:p>
        </p:txBody>
      </p:sp>
    </p:spTree>
    <p:extLst>
      <p:ext uri="{BB962C8B-B14F-4D97-AF65-F5344CB8AC3E}">
        <p14:creationId xmlns:p14="http://schemas.microsoft.com/office/powerpoint/2010/main" val="782638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47</a:t>
            </a:fld>
            <a:endParaRPr lang="en-US"/>
          </a:p>
        </p:txBody>
      </p:sp>
    </p:spTree>
    <p:extLst>
      <p:ext uri="{BB962C8B-B14F-4D97-AF65-F5344CB8AC3E}">
        <p14:creationId xmlns:p14="http://schemas.microsoft.com/office/powerpoint/2010/main" val="23841259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48</a:t>
            </a:fld>
            <a:endParaRPr lang="en-US" dirty="0"/>
          </a:p>
        </p:txBody>
      </p:sp>
    </p:spTree>
    <p:extLst>
      <p:ext uri="{BB962C8B-B14F-4D97-AF65-F5344CB8AC3E}">
        <p14:creationId xmlns:p14="http://schemas.microsoft.com/office/powerpoint/2010/main" val="9405498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49</a:t>
            </a:fld>
            <a:endParaRPr lang="en-US"/>
          </a:p>
        </p:txBody>
      </p:sp>
    </p:spTree>
    <p:extLst>
      <p:ext uri="{BB962C8B-B14F-4D97-AF65-F5344CB8AC3E}">
        <p14:creationId xmlns:p14="http://schemas.microsoft.com/office/powerpoint/2010/main" val="70355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50</a:t>
            </a:fld>
            <a:endParaRPr lang="en-US"/>
          </a:p>
        </p:txBody>
      </p:sp>
    </p:spTree>
    <p:extLst>
      <p:ext uri="{BB962C8B-B14F-4D97-AF65-F5344CB8AC3E}">
        <p14:creationId xmlns:p14="http://schemas.microsoft.com/office/powerpoint/2010/main" val="39259435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51</a:t>
            </a:fld>
            <a:endParaRPr lang="en-US" dirty="0"/>
          </a:p>
        </p:txBody>
      </p:sp>
    </p:spTree>
    <p:extLst>
      <p:ext uri="{BB962C8B-B14F-4D97-AF65-F5344CB8AC3E}">
        <p14:creationId xmlns:p14="http://schemas.microsoft.com/office/powerpoint/2010/main" val="31193401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52</a:t>
            </a:fld>
            <a:endParaRPr lang="en-US" dirty="0"/>
          </a:p>
        </p:txBody>
      </p:sp>
    </p:spTree>
    <p:extLst>
      <p:ext uri="{BB962C8B-B14F-4D97-AF65-F5344CB8AC3E}">
        <p14:creationId xmlns:p14="http://schemas.microsoft.com/office/powerpoint/2010/main" val="360707490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53</a:t>
            </a:fld>
            <a:endParaRPr lang="en-US" dirty="0"/>
          </a:p>
        </p:txBody>
      </p:sp>
    </p:spTree>
    <p:extLst>
      <p:ext uri="{BB962C8B-B14F-4D97-AF65-F5344CB8AC3E}">
        <p14:creationId xmlns:p14="http://schemas.microsoft.com/office/powerpoint/2010/main" val="42305913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54</a:t>
            </a:fld>
            <a:endParaRPr lang="en-US" dirty="0"/>
          </a:p>
        </p:txBody>
      </p:sp>
    </p:spTree>
    <p:extLst>
      <p:ext uri="{BB962C8B-B14F-4D97-AF65-F5344CB8AC3E}">
        <p14:creationId xmlns:p14="http://schemas.microsoft.com/office/powerpoint/2010/main" val="36830058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55</a:t>
            </a:fld>
            <a:endParaRPr lang="en-US" dirty="0"/>
          </a:p>
        </p:txBody>
      </p:sp>
    </p:spTree>
    <p:extLst>
      <p:ext uri="{BB962C8B-B14F-4D97-AF65-F5344CB8AC3E}">
        <p14:creationId xmlns:p14="http://schemas.microsoft.com/office/powerpoint/2010/main" val="20675829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58</a:t>
            </a:fld>
            <a:endParaRPr lang="en-US" dirty="0"/>
          </a:p>
        </p:txBody>
      </p:sp>
    </p:spTree>
    <p:extLst>
      <p:ext uri="{BB962C8B-B14F-4D97-AF65-F5344CB8AC3E}">
        <p14:creationId xmlns:p14="http://schemas.microsoft.com/office/powerpoint/2010/main" val="103810511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61</a:t>
            </a:fld>
            <a:endParaRPr lang="en-US" dirty="0"/>
          </a:p>
        </p:txBody>
      </p:sp>
    </p:spTree>
    <p:extLst>
      <p:ext uri="{BB962C8B-B14F-4D97-AF65-F5344CB8AC3E}">
        <p14:creationId xmlns:p14="http://schemas.microsoft.com/office/powerpoint/2010/main" val="37116131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62</a:t>
            </a:fld>
            <a:endParaRPr lang="en-US" dirty="0"/>
          </a:p>
        </p:txBody>
      </p:sp>
    </p:spTree>
    <p:extLst>
      <p:ext uri="{BB962C8B-B14F-4D97-AF65-F5344CB8AC3E}">
        <p14:creationId xmlns:p14="http://schemas.microsoft.com/office/powerpoint/2010/main" val="147049778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63</a:t>
            </a:fld>
            <a:endParaRPr lang="en-US" dirty="0"/>
          </a:p>
        </p:txBody>
      </p:sp>
    </p:spTree>
    <p:extLst>
      <p:ext uri="{BB962C8B-B14F-4D97-AF65-F5344CB8AC3E}">
        <p14:creationId xmlns:p14="http://schemas.microsoft.com/office/powerpoint/2010/main" val="212316089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64</a:t>
            </a:fld>
            <a:endParaRPr lang="en-US" dirty="0"/>
          </a:p>
        </p:txBody>
      </p:sp>
    </p:spTree>
    <p:extLst>
      <p:ext uri="{BB962C8B-B14F-4D97-AF65-F5344CB8AC3E}">
        <p14:creationId xmlns:p14="http://schemas.microsoft.com/office/powerpoint/2010/main" val="87906575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67</a:t>
            </a:fld>
            <a:endParaRPr lang="en-US" dirty="0"/>
          </a:p>
        </p:txBody>
      </p:sp>
    </p:spTree>
    <p:extLst>
      <p:ext uri="{BB962C8B-B14F-4D97-AF65-F5344CB8AC3E}">
        <p14:creationId xmlns:p14="http://schemas.microsoft.com/office/powerpoint/2010/main" val="364527111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69</a:t>
            </a:fld>
            <a:endParaRPr lang="en-US"/>
          </a:p>
        </p:txBody>
      </p:sp>
    </p:spTree>
    <p:extLst>
      <p:ext uri="{BB962C8B-B14F-4D97-AF65-F5344CB8AC3E}">
        <p14:creationId xmlns:p14="http://schemas.microsoft.com/office/powerpoint/2010/main" val="2916652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406" y="764704"/>
            <a:ext cx="8964488"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83406" y="2420888"/>
            <a:ext cx="8964488" cy="1752600"/>
          </a:xfrm>
        </p:spPr>
        <p:txBody>
          <a:bodyPr/>
          <a:lstStyle>
            <a:lvl1pPr marL="0" indent="0" algn="ctr">
              <a:buNone/>
              <a:defRPr>
                <a:solidFill>
                  <a:schemeClr val="tx1">
                    <a:tint val="75000"/>
                  </a:schemeClr>
                </a:solidFill>
                <a:latin typeface="News Gothic MT"/>
                <a:cs typeface="News Gothic M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88179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270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95916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9398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459971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94769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750867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595F713-2110-964B-A68E-481EBA276186}" type="datetimeFigureOut">
              <a:rPr lang="en-GB" smtClean="0"/>
              <a:t>09/02/2018</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224364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595F713-2110-964B-A68E-481EBA276186}" type="datetimeFigureOut">
              <a:rPr lang="en-GB" smtClean="0"/>
              <a:t>09/02/2018</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706585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5F713-2110-964B-A68E-481EBA276186}" type="datetimeFigureOut">
              <a:rPr lang="en-GB" smtClean="0"/>
              <a:t>09/02/2018</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214464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617688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348606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486682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694073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Drag picture to placeholder or click icon to add</a:t>
            </a:r>
            <a:endParaRPr lang="en-GB"/>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4"/>
            <a:ext cx="2133600" cy="365125"/>
          </a:xfrm>
          <a:prstGeom prst="rect">
            <a:avLst/>
          </a:prstGeom>
        </p:spPr>
        <p:txBody>
          <a:bodyPr/>
          <a:lstStyle/>
          <a:p>
            <a:fld id="{B595F713-2110-964B-A68E-481EBA276186}" type="datetimeFigureOut">
              <a:rPr lang="en-GB" smtClean="0"/>
              <a:t>09/02/2018</a:t>
            </a:fld>
            <a:endParaRPr lang="en-GB"/>
          </a:p>
        </p:txBody>
      </p:sp>
      <p:sp>
        <p:nvSpPr>
          <p:cNvPr id="3" name="Footer Placeholder 2"/>
          <p:cNvSpPr>
            <a:spLocks noGrp="1"/>
          </p:cNvSpPr>
          <p:nvPr>
            <p:ph type="ftr" sz="quarter" idx="11"/>
          </p:nvPr>
        </p:nvSpPr>
        <p:spPr>
          <a:xfrm>
            <a:off x="3124200" y="6356354"/>
            <a:ext cx="2895600" cy="365125"/>
          </a:xfrm>
          <a:prstGeom prst="rect">
            <a:avLst/>
          </a:prstGeom>
        </p:spPr>
        <p:txBody>
          <a:bodyPr/>
          <a:lstStyle/>
          <a:p>
            <a:endParaRPr lang="en-GB"/>
          </a:p>
        </p:txBody>
      </p:sp>
      <p:sp>
        <p:nvSpPr>
          <p:cNvPr id="4" name="Slide Number Placeholder 3"/>
          <p:cNvSpPr>
            <a:spLocks noGrp="1"/>
          </p:cNvSpPr>
          <p:nvPr>
            <p:ph type="sldNum" sz="quarter" idx="12"/>
          </p:nvPr>
        </p:nvSpPr>
        <p:spPr>
          <a:xfrm>
            <a:off x="6553200" y="6356354"/>
            <a:ext cx="2133600" cy="365125"/>
          </a:xfrm>
          <a:prstGeom prst="rect">
            <a:avLst/>
          </a:prstGeom>
        </p:spPr>
        <p:txBody>
          <a:bodyPr/>
          <a:lstStyle/>
          <a:p>
            <a:fld id="{402CBB9E-F5D3-6E40-A939-4B2058AA44B4}" type="slidenum">
              <a:rPr lang="en-GB" smtClean="0"/>
              <a:t>‹#›</a:t>
            </a:fld>
            <a:endParaRPr lang="en-GB"/>
          </a:p>
        </p:txBody>
      </p:sp>
    </p:spTree>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6" name="Shape 6"/>
          <p:cNvSpPr>
            <a:spLocks noGrp="1"/>
          </p:cNvSpPr>
          <p:nvPr>
            <p:ph type="title"/>
          </p:nvPr>
        </p:nvSpPr>
        <p:spPr>
          <a:xfrm>
            <a:off x="457200" y="92079"/>
            <a:ext cx="8229600" cy="1508125"/>
          </a:xfrm>
          <a:prstGeom prst="rect">
            <a:avLst/>
          </a:prstGeom>
        </p:spPr>
        <p:txBody>
          <a:bodyPr lIns="0" tIns="0" rIns="0" bIns="0">
            <a:noAutofit/>
          </a:bodyPr>
          <a:lstStyle>
            <a:lvl1pPr>
              <a:defRPr sz="4425">
                <a:latin typeface="Gill Sans"/>
                <a:ea typeface="Gill Sans"/>
                <a:cs typeface="Gill Sans"/>
                <a:sym typeface="Gill Sans"/>
              </a:defRPr>
            </a:lvl1pPr>
          </a:lstStyle>
          <a:p>
            <a:pPr lvl="0">
              <a:defRPr sz="1800"/>
            </a:pPr>
            <a:r>
              <a:rPr lang="en-US" sz="4425"/>
              <a:t>Click to edit Master title style</a:t>
            </a:r>
            <a:endParaRPr sz="4425"/>
          </a:p>
        </p:txBody>
      </p:sp>
      <p:sp>
        <p:nvSpPr>
          <p:cNvPr id="7" name="Shape 7"/>
          <p:cNvSpPr>
            <a:spLocks noGrp="1"/>
          </p:cNvSpPr>
          <p:nvPr>
            <p:ph type="body" idx="1"/>
          </p:nvPr>
        </p:nvSpPr>
        <p:spPr>
          <a:xfrm>
            <a:off x="457200" y="1600200"/>
            <a:ext cx="8229600" cy="5257800"/>
          </a:xfrm>
          <a:prstGeom prst="rect">
            <a:avLst/>
          </a:prstGeom>
        </p:spPr>
        <p:txBody>
          <a:bodyPr>
            <a:noAutofit/>
          </a:bodyPr>
          <a:lstStyle>
            <a:lvl1pPr marL="0" indent="0" algn="ctr">
              <a:spcBef>
                <a:spcPts val="2475"/>
              </a:spcBef>
              <a:buSzTx/>
              <a:buFontTx/>
              <a:buNone/>
              <a:defRPr>
                <a:latin typeface="Gill Sans"/>
                <a:ea typeface="Gill Sans"/>
                <a:cs typeface="Gill Sans"/>
                <a:sym typeface="Gill Sans"/>
              </a:defRPr>
            </a:lvl1pPr>
            <a:lvl2pPr marL="0" indent="240506" algn="ctr">
              <a:spcBef>
                <a:spcPts val="2475"/>
              </a:spcBef>
              <a:buSzTx/>
              <a:buFontTx/>
              <a:buNone/>
              <a:defRPr>
                <a:latin typeface="Gill Sans"/>
                <a:ea typeface="Gill Sans"/>
                <a:cs typeface="Gill Sans"/>
                <a:sym typeface="Gill Sans"/>
              </a:defRPr>
            </a:lvl2pPr>
            <a:lvl3pPr marL="0" indent="481013" algn="ctr">
              <a:spcBef>
                <a:spcPts val="2475"/>
              </a:spcBef>
              <a:buSzTx/>
              <a:buFontTx/>
              <a:buNone/>
              <a:defRPr>
                <a:latin typeface="Gill Sans"/>
                <a:ea typeface="Gill Sans"/>
                <a:cs typeface="Gill Sans"/>
                <a:sym typeface="Gill Sans"/>
              </a:defRPr>
            </a:lvl3pPr>
            <a:lvl4pPr marL="0" indent="722709" algn="ctr">
              <a:spcBef>
                <a:spcPts val="2475"/>
              </a:spcBef>
              <a:buSzTx/>
              <a:buFontTx/>
              <a:buNone/>
              <a:defRPr>
                <a:latin typeface="Gill Sans"/>
                <a:ea typeface="Gill Sans"/>
                <a:cs typeface="Gill Sans"/>
                <a:sym typeface="Gill Sans"/>
              </a:defRPr>
            </a:lvl4pPr>
            <a:lvl5pPr marL="0" indent="963215" algn="ctr">
              <a:spcBef>
                <a:spcPts val="2475"/>
              </a:spcBef>
              <a:buSzTx/>
              <a:buFontTx/>
              <a:buNone/>
              <a:defRPr>
                <a:latin typeface="Gill Sans"/>
                <a:ea typeface="Gill Sans"/>
                <a:cs typeface="Gill Sans"/>
                <a:sym typeface="Gill Sans"/>
              </a:defRPr>
            </a:lvl5pPr>
          </a:lstStyle>
          <a:p>
            <a:pPr lvl="0">
              <a:defRPr sz="1800"/>
            </a:pPr>
            <a:r>
              <a:rPr lang="en-US" sz="2250"/>
              <a:t>Click to edit Master text styles</a:t>
            </a:r>
          </a:p>
          <a:p>
            <a:pPr lvl="1">
              <a:defRPr sz="1800"/>
            </a:pPr>
            <a:r>
              <a:rPr lang="en-US" sz="2250"/>
              <a:t>Second level</a:t>
            </a:r>
          </a:p>
          <a:p>
            <a:pPr lvl="2">
              <a:defRPr sz="1800"/>
            </a:pPr>
            <a:r>
              <a:rPr lang="en-US" sz="2250"/>
              <a:t>Third level</a:t>
            </a:r>
          </a:p>
          <a:p>
            <a:pPr lvl="3">
              <a:defRPr sz="1800"/>
            </a:pPr>
            <a:r>
              <a:rPr lang="en-US" sz="2250"/>
              <a:t>Fourth level</a:t>
            </a:r>
          </a:p>
          <a:p>
            <a:pPr lvl="4">
              <a:defRPr sz="1800"/>
            </a:pPr>
            <a:r>
              <a:rPr lang="en-US" sz="2250"/>
              <a:t>Fifth level</a:t>
            </a:r>
            <a:endParaRPr sz="2250"/>
          </a:p>
        </p:txBody>
      </p:sp>
    </p:spTree>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3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4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3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3"/>
            <a:ext cx="2057400" cy="365125"/>
          </a:xfrm>
          <a:prstGeom prst="rect">
            <a:avLst/>
          </a:prstGeom>
        </p:spPr>
        <p:txBody>
          <a:bodyPr/>
          <a:lstStyle/>
          <a:p>
            <a:fld id="{B595F713-2110-964B-A68E-481EBA276186}" type="datetimeFigureOut">
              <a:rPr lang="en-GB" smtClean="0"/>
              <a:t>09/02/2018</a:t>
            </a:fld>
            <a:endParaRPr lang="en-GB"/>
          </a:p>
        </p:txBody>
      </p:sp>
      <p:sp>
        <p:nvSpPr>
          <p:cNvPr id="4" name="Footer Placeholder 3"/>
          <p:cNvSpPr>
            <a:spLocks noGrp="1"/>
          </p:cNvSpPr>
          <p:nvPr>
            <p:ph type="ftr" sz="quarter" idx="11"/>
          </p:nvPr>
        </p:nvSpPr>
        <p:spPr>
          <a:xfrm>
            <a:off x="3028950" y="6356353"/>
            <a:ext cx="3086100" cy="365125"/>
          </a:xfrm>
          <a:prstGeom prst="rect">
            <a:avLst/>
          </a:prstGeom>
        </p:spPr>
        <p:txBody>
          <a:bodyPr/>
          <a:lstStyle/>
          <a:p>
            <a:endParaRPr lang="en-GB"/>
          </a:p>
        </p:txBody>
      </p:sp>
      <p:sp>
        <p:nvSpPr>
          <p:cNvPr id="5" name="Slide Number Placeholder 4"/>
          <p:cNvSpPr>
            <a:spLocks noGrp="1"/>
          </p:cNvSpPr>
          <p:nvPr>
            <p:ph type="sldNum" sz="quarter" idx="12"/>
          </p:nvPr>
        </p:nvSpPr>
        <p:spPr>
          <a:xfrm>
            <a:off x="6457950" y="6356353"/>
            <a:ext cx="2057400" cy="365125"/>
          </a:xfrm>
          <a:prstGeom prst="rect">
            <a:avLst/>
          </a:prstGeom>
        </p:spPr>
        <p:txBody>
          <a:bodyPr/>
          <a:lstStyle/>
          <a:p>
            <a:fld id="{402CBB9E-F5D3-6E40-A939-4B2058AA44B4}" type="slidenum">
              <a:rPr lang="en-GB" smtClean="0"/>
              <a:t>‹#›</a:t>
            </a:fld>
            <a:endParaRPr lang="en-GB"/>
          </a:p>
        </p:txBody>
      </p:sp>
    </p:spTree>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2.jpe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3.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image" Target="../media/image3.jpeg"/><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pic>
        <p:nvPicPr>
          <p:cNvPr id="11" name="Picture 10" descr="pixl ppt back generic 2015.jp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27938" y="774701"/>
            <a:ext cx="9116061" cy="20828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429" y="2996952"/>
            <a:ext cx="9126570" cy="34563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a:t>
            </a:r>
            <a:r>
              <a:rPr lang="en-US" dirty="0" err="1"/>
              <a:t>hkhkjh</a:t>
            </a:r>
            <a:endParaRPr lang="en-US" dirty="0"/>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1791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92" r:id="rId3"/>
  </p:sldLayoutIdLst>
  <p:txStyles>
    <p:titleStyle>
      <a:lvl1pPr algn="l" defTabSz="342900" rtl="0" eaLnBrk="1" latinLnBrk="0" hangingPunct="1">
        <a:spcBef>
          <a:spcPct val="0"/>
        </a:spcBef>
        <a:buNone/>
        <a:defRPr sz="3300" kern="1200">
          <a:solidFill>
            <a:schemeClr val="tx1"/>
          </a:solidFill>
          <a:latin typeface="+mj-lt"/>
          <a:ea typeface="+mj-ea"/>
          <a:cs typeface="Lato Medium"/>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News Gothic MT"/>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News Gothic MT"/>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News Gothic MT"/>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5F713-2110-964B-A68E-481EBA276186}" type="datetimeFigureOut">
              <a:rPr lang="en-GB" smtClean="0"/>
              <a:t>09/02/2018</a:t>
            </a:fld>
            <a:endParaRPr lang="en-GB"/>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CBB9E-F5D3-6E40-A939-4B2058AA44B4}" type="slidenum">
              <a:rPr lang="en-GB" smtClean="0"/>
              <a:t>‹#›</a:t>
            </a:fld>
            <a:endParaRPr lang="en-GB"/>
          </a:p>
        </p:txBody>
      </p:sp>
    </p:spTree>
    <p:extLst>
      <p:ext uri="{BB962C8B-B14F-4D97-AF65-F5344CB8AC3E}">
        <p14:creationId xmlns:p14="http://schemas.microsoft.com/office/powerpoint/2010/main" val="30590050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595F713-2110-964B-A68E-481EBA276186}" type="datetimeFigureOut">
              <a:rPr lang="en-GB" smtClean="0"/>
              <a:t>09/02/2018</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02CBB9E-F5D3-6E40-A939-4B2058AA44B4}" type="slidenum">
              <a:rPr lang="en-GB" smtClean="0"/>
              <a:t>‹#›</a:t>
            </a:fld>
            <a:endParaRPr lang="en-GB"/>
          </a:p>
        </p:txBody>
      </p:sp>
      <p:pic>
        <p:nvPicPr>
          <p:cNvPr id="7" name="Picture 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091113" y="16872"/>
            <a:ext cx="1029761" cy="1020648"/>
          </a:xfrm>
          <a:prstGeom prst="rect">
            <a:avLst/>
          </a:prstGeom>
        </p:spPr>
      </p:pic>
      <p:pic>
        <p:nvPicPr>
          <p:cNvPr id="8" name="Picture 7"/>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3126" y="16872"/>
            <a:ext cx="2530113" cy="831540"/>
          </a:xfrm>
          <a:prstGeom prst="rect">
            <a:avLst/>
          </a:prstGeom>
        </p:spPr>
      </p:pic>
      <p:sp>
        <p:nvSpPr>
          <p:cNvPr id="9" name="Rectangle 8"/>
          <p:cNvSpPr/>
          <p:nvPr/>
        </p:nvSpPr>
        <p:spPr>
          <a:xfrm>
            <a:off x="0" y="6561058"/>
            <a:ext cx="9144000" cy="22640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GB" sz="900" dirty="0">
                <a:latin typeface="Arial" panose="020B0604020202020204" pitchFamily="34" charset="0"/>
                <a:cs typeface="Arial" panose="020B0604020202020204" pitchFamily="34" charset="0"/>
              </a:rPr>
              <a:t>better hope – brighter</a:t>
            </a:r>
            <a:r>
              <a:rPr lang="en-GB" sz="900" baseline="0" dirty="0">
                <a:latin typeface="Arial" panose="020B0604020202020204" pitchFamily="34" charset="0"/>
                <a:cs typeface="Arial" panose="020B0604020202020204" pitchFamily="34" charset="0"/>
              </a:rPr>
              <a:t> future</a:t>
            </a:r>
            <a:endParaRPr lang="en-GB"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74570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pixl.org.uk/" TargetMode="External"/><Relationship Id="rId2" Type="http://schemas.openxmlformats.org/officeDocument/2006/relationships/image" Target="../media/image4.jpeg"/><Relationship Id="rId1" Type="http://schemas.openxmlformats.org/officeDocument/2006/relationships/slideLayout" Target="../slideLayouts/slideLayout10.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jpg"/></Relationships>
</file>

<file path=ppt/slides/_rels/slide7.xml.rels><?xml version="1.0" encoding="UTF-8" standalone="yes"?>
<Relationships xmlns="http://schemas.openxmlformats.org/package/2006/relationships"><Relationship Id="rId3" Type="http://schemas.openxmlformats.org/officeDocument/2006/relationships/hyperlink" Target="http://www.google.co.uk/url?sa=i&amp;rct=j&amp;q=metals+conducting+electricy&amp;source=images&amp;cd=&amp;cad=rja&amp;uact=8&amp;docid=RUkvxDAIrxn0nM&amp;tbnid=VKyvh3y1-Ld-KM:&amp;ved=0CAUQjRw&amp;url=http://www.bbc.co.uk/schools/gcsebitesize/science/add_ocr_gateway/periodic_table/metalsrev2.shtml&amp;ei=nOezU8r6J7OZ0QX3_oHwDQ&amp;psig=AFQjCNG99EvPsnKr2apjXHAGCrE1J228_w&amp;ust=1404385549322745"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gif"/></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jpe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1.jpg"/></Relationships>
</file>

<file path=ppt/slides/_rels/slide1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28.tiff"/><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2.tiff"/><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28.tiff"/><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32.tiff"/><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8520" y="0"/>
            <a:ext cx="9252520" cy="7571303"/>
          </a:xfrm>
          <a:prstGeom prst="rect">
            <a:avLst/>
          </a:prstGeom>
          <a:noFill/>
        </p:spPr>
        <p:txBody>
          <a:bodyPr wrap="square" rtlCol="0">
            <a:spAutoFit/>
          </a:bodyPr>
          <a:lstStyle/>
          <a:p>
            <a:r>
              <a:rPr lang="en-GB" sz="900" dirty="0">
                <a:solidFill>
                  <a:schemeClr val="bg1">
                    <a:lumMod val="85000"/>
                  </a:schemeClr>
                </a:solidFill>
              </a:rPr>
              <a:t>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a:t>
            </a:r>
            <a:r>
              <a:rPr lang="en-GB" sz="900">
                <a:solidFill>
                  <a:schemeClr val="bg1">
                    <a:lumMod val="85000"/>
                  </a:schemeClr>
                </a:solidFill>
              </a:rPr>
              <a:t>Club XL </a:t>
            </a:r>
            <a:r>
              <a:rPr lang="en-GB" sz="900" dirty="0">
                <a:solidFill>
                  <a:schemeClr val="bg1">
                    <a:lumMod val="85000"/>
                  </a:schemeClr>
                </a:solidFill>
              </a:rPr>
              <a:t>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a:t>
            </a:r>
          </a:p>
        </p:txBody>
      </p:sp>
      <p:pic>
        <p:nvPicPr>
          <p:cNvPr id="1026" name="Picture 2" descr="pixl-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4624"/>
            <a:ext cx="1639040" cy="792088"/>
          </a:xfrm>
          <a:prstGeom prst="rect">
            <a:avLst/>
          </a:prstGeom>
          <a:noFill/>
          <a:ln w="9525">
            <a:solidFill>
              <a:srgbClr val="000000"/>
            </a:solidFill>
            <a:miter lim="800000"/>
            <a:headEnd/>
            <a:tailEnd/>
          </a:ln>
          <a:effectLst>
            <a:outerShdw dist="107763" dir="2700000" algn="ctr" rotWithShape="0">
              <a:srgbClr val="808080">
                <a:alpha val="50000"/>
              </a:srgbClr>
            </a:outerShdw>
          </a:effectLst>
          <a:extLst>
            <a:ext uri="{909E8E84-426E-40dd-AFC4-6F175D3DCCD1}">
              <a14:hiddenFill xmlns="" xmlns:a14="http://schemas.microsoft.com/office/drawing/2010/main">
                <a:solidFill>
                  <a:srgbClr val="FFFFFF"/>
                </a:solidFill>
              </a14:hiddenFill>
            </a:ext>
          </a:extLst>
        </p:spPr>
      </p:pic>
      <p:sp>
        <p:nvSpPr>
          <p:cNvPr id="5" name="Text Box 3"/>
          <p:cNvSpPr txBox="1">
            <a:spLocks noChangeArrowheads="1"/>
          </p:cNvSpPr>
          <p:nvPr/>
        </p:nvSpPr>
        <p:spPr bwMode="auto">
          <a:xfrm>
            <a:off x="215516" y="5217942"/>
            <a:ext cx="8820979" cy="887304"/>
          </a:xfrm>
          <a:prstGeom prst="rect">
            <a:avLst/>
          </a:prstGeom>
          <a:solidFill>
            <a:srgbClr val="FFFFFF"/>
          </a:solidFill>
          <a:ln w="38100" cmpd="dbl">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a:ln>
                  <a:noFill/>
                </a:ln>
                <a:solidFill>
                  <a:schemeClr val="tx1"/>
                </a:solidFill>
                <a:effectLst/>
                <a:latin typeface="Arial" pitchFamily="34" charset="0"/>
                <a:cs typeface="Arial" pitchFamily="34" charset="0"/>
              </a:rPr>
              <a:t>This resource is strictly for the use of member schools for as long as they remain members of The PiXL Club. It may not be copied, sold nor transferred to a third party or used by the school after membership ceases. Until such time it may be freely used within the member school.</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GB" altLang="en-US" sz="1000" b="0" i="0" u="none" strike="noStrike" cap="none" normalizeH="0" baseline="0">
              <a:ln>
                <a:noFill/>
              </a:ln>
              <a:solidFill>
                <a:schemeClr val="tx1"/>
              </a:solidFill>
              <a:effectLst/>
              <a:latin typeface="Arial"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a:ln>
                  <a:noFill/>
                </a:ln>
                <a:solidFill>
                  <a:schemeClr val="tx1"/>
                </a:solidFill>
                <a:effectLst/>
                <a:latin typeface="Arial" pitchFamily="34" charset="0"/>
                <a:cs typeface="Arial" pitchFamily="34" charset="0"/>
              </a:rPr>
              <a:t>All opinions and contributions are those of the authors. The contents of this resource are not connected with nor endorsed by any other company, organisation or institution.</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6" name="TextBox 5"/>
          <p:cNvSpPr txBox="1"/>
          <p:nvPr/>
        </p:nvSpPr>
        <p:spPr>
          <a:xfrm>
            <a:off x="827584" y="6237312"/>
            <a:ext cx="7272808" cy="400110"/>
          </a:xfrm>
          <a:prstGeom prst="rect">
            <a:avLst/>
          </a:prstGeom>
          <a:noFill/>
        </p:spPr>
        <p:txBody>
          <a:bodyPr wrap="square" rtlCol="0">
            <a:spAutoFit/>
          </a:bodyPr>
          <a:lstStyle/>
          <a:p>
            <a:r>
              <a:rPr lang="en-US" sz="1000" u="sng" dirty="0">
                <a:hlinkClick r:id="rId3"/>
              </a:rPr>
              <a:t>www.pixl.org.uk</a:t>
            </a:r>
            <a:r>
              <a:rPr lang="en-US" sz="1000" dirty="0"/>
              <a:t>					The PiXL Club Ltd, Company number 07321607</a:t>
            </a:r>
            <a:endParaRPr lang="en-GB" sz="1000" dirty="0"/>
          </a:p>
          <a:p>
            <a:endParaRPr lang="en-GB" sz="1000" dirty="0"/>
          </a:p>
        </p:txBody>
      </p:sp>
      <p:sp>
        <p:nvSpPr>
          <p:cNvPr id="7" name="TextBox 6"/>
          <p:cNvSpPr txBox="1"/>
          <p:nvPr/>
        </p:nvSpPr>
        <p:spPr>
          <a:xfrm>
            <a:off x="2555775" y="4747322"/>
            <a:ext cx="3816424" cy="338554"/>
          </a:xfrm>
          <a:prstGeom prst="rect">
            <a:avLst/>
          </a:prstGeom>
          <a:noFill/>
        </p:spPr>
        <p:txBody>
          <a:bodyPr wrap="square" rtlCol="0">
            <a:spAutoFit/>
          </a:bodyPr>
          <a:lstStyle/>
          <a:p>
            <a:pPr algn="ctr"/>
            <a:r>
              <a:rPr lang="en-GB" sz="1600" dirty="0"/>
              <a:t>© Copyright The PiXL Club Ltd, 2017</a:t>
            </a:r>
          </a:p>
        </p:txBody>
      </p:sp>
      <p:sp>
        <p:nvSpPr>
          <p:cNvPr id="8" name="TextBox 7"/>
          <p:cNvSpPr txBox="1"/>
          <p:nvPr/>
        </p:nvSpPr>
        <p:spPr>
          <a:xfrm>
            <a:off x="233952" y="881336"/>
            <a:ext cx="8496943" cy="4742837"/>
          </a:xfrm>
          <a:prstGeom prst="rect">
            <a:avLst/>
          </a:prstGeom>
          <a:noFill/>
        </p:spPr>
        <p:txBody>
          <a:bodyPr wrap="square" rtlCol="0">
            <a:spAutoFit/>
          </a:bodyPr>
          <a:lstStyle/>
          <a:p>
            <a:pPr algn="ctr">
              <a:lnSpc>
                <a:spcPct val="115000"/>
              </a:lnSpc>
              <a:spcAft>
                <a:spcPts val="0"/>
              </a:spcAft>
            </a:pPr>
            <a:r>
              <a:rPr lang="en-GB" sz="7200" b="1" dirty="0"/>
              <a:t>PiXL </a:t>
            </a:r>
            <a:r>
              <a:rPr lang="en-GB" sz="7200" b="1" dirty="0" err="1"/>
              <a:t>KnowIT</a:t>
            </a:r>
            <a:r>
              <a:rPr lang="en-GB" sz="7200" b="1" dirty="0"/>
              <a:t>!</a:t>
            </a:r>
          </a:p>
          <a:p>
            <a:pPr algn="ctr">
              <a:lnSpc>
                <a:spcPct val="115000"/>
              </a:lnSpc>
              <a:spcAft>
                <a:spcPts val="0"/>
              </a:spcAft>
            </a:pPr>
            <a:r>
              <a:rPr lang="en-GB" sz="3600" b="1" dirty="0">
                <a:latin typeface="Arial" panose="020B0604020202020204" pitchFamily="34" charset="0"/>
                <a:ea typeface="Calibri" panose="020F0502020204030204" pitchFamily="34" charset="0"/>
                <a:cs typeface="Times New Roman" panose="02020603050405020304" pitchFamily="18" charset="0"/>
              </a:rPr>
              <a:t>GCSE Chemistry</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gn="ctr"/>
            <a:r>
              <a:rPr lang="en-GB" dirty="0"/>
              <a:t> </a:t>
            </a:r>
          </a:p>
          <a:p>
            <a:pPr algn="ctr"/>
            <a:endParaRPr lang="en-GB" dirty="0"/>
          </a:p>
          <a:p>
            <a:pPr algn="ctr"/>
            <a:r>
              <a:rPr lang="en-GB" sz="4400" b="1" dirty="0">
                <a:solidFill>
                  <a:schemeClr val="accent2"/>
                </a:solidFill>
              </a:rPr>
              <a:t>Edexcel Topic – Separate Chemistry 1</a:t>
            </a:r>
          </a:p>
          <a:p>
            <a:pPr algn="ctr"/>
            <a:r>
              <a:rPr lang="en-GB" dirty="0"/>
              <a:t>  </a:t>
            </a:r>
          </a:p>
          <a:p>
            <a:pPr algn="ctr"/>
            <a:r>
              <a:rPr lang="en-GB" dirty="0"/>
              <a:t> </a:t>
            </a:r>
          </a:p>
          <a:p>
            <a:pPr algn="ctr"/>
            <a:endParaRPr lang="en-GB" dirty="0"/>
          </a:p>
        </p:txBody>
      </p:sp>
      <p:pic>
        <p:nvPicPr>
          <p:cNvPr id="9" name="374f7cfc-9279-43ad-9851-155d90395642" descr="image001"/>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5552" y="58096"/>
            <a:ext cx="1484057" cy="11047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937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87824" y="35655"/>
            <a:ext cx="6156176" cy="1017081"/>
          </a:xfrm>
        </p:spPr>
        <p:txBody>
          <a:bodyPr>
            <a:normAutofit fontScale="90000"/>
          </a:bodyPr>
          <a:lstStyle/>
          <a:p>
            <a:pPr algn="r"/>
            <a:r>
              <a:rPr lang="en-GB" b="1" dirty="0">
                <a:solidFill>
                  <a:schemeClr val="accent6"/>
                </a:solidFill>
              </a:rPr>
              <a:t>Overview </a:t>
            </a:r>
            <a:br>
              <a:rPr lang="en-GB" b="1" dirty="0">
                <a:solidFill>
                  <a:schemeClr val="accent6"/>
                </a:solidFill>
              </a:rPr>
            </a:br>
            <a:r>
              <a:rPr lang="en-GB" b="1" dirty="0">
                <a:solidFill>
                  <a:schemeClr val="accent6"/>
                </a:solidFill>
              </a:rPr>
              <a:t> </a:t>
            </a:r>
            <a:r>
              <a:rPr lang="en-GB" sz="2700" b="1" dirty="0">
                <a:solidFill>
                  <a:schemeClr val="accent6"/>
                </a:solidFill>
              </a:rPr>
              <a:t>Separate Chemistry 1</a:t>
            </a:r>
          </a:p>
        </p:txBody>
      </p:sp>
      <p:sp>
        <p:nvSpPr>
          <p:cNvPr id="3" name="Subtitle 2"/>
          <p:cNvSpPr>
            <a:spLocks noGrp="1"/>
          </p:cNvSpPr>
          <p:nvPr>
            <p:ph type="subTitle" idx="1"/>
          </p:nvPr>
        </p:nvSpPr>
        <p:spPr>
          <a:xfrm>
            <a:off x="0" y="764704"/>
            <a:ext cx="5544617" cy="5760640"/>
          </a:xfrm>
        </p:spPr>
        <p:txBody>
          <a:bodyPr>
            <a:normAutofit lnSpcReduction="10000"/>
          </a:bodyPr>
          <a:lstStyle/>
          <a:p>
            <a:pPr algn="l"/>
            <a:r>
              <a:rPr lang="en-US" sz="2200" b="1" dirty="0">
                <a:solidFill>
                  <a:schemeClr val="tx1"/>
                </a:solidFill>
              </a:rPr>
              <a:t>Transition metals, alloys and corrosion</a:t>
            </a:r>
          </a:p>
          <a:p>
            <a:pPr marL="685800" lvl="1" indent="-342900" algn="l">
              <a:buFont typeface="Arial" charset="0"/>
              <a:buChar char="•"/>
            </a:pPr>
            <a:r>
              <a:rPr lang="en-US" dirty="0">
                <a:solidFill>
                  <a:schemeClr val="tx1"/>
                </a:solidFill>
              </a:rPr>
              <a:t>Transition metals</a:t>
            </a:r>
          </a:p>
          <a:p>
            <a:pPr marL="685800" lvl="1" indent="-342900" algn="l">
              <a:buFont typeface="Arial" charset="0"/>
              <a:buChar char="•"/>
            </a:pPr>
            <a:r>
              <a:rPr lang="en-US" dirty="0">
                <a:solidFill>
                  <a:schemeClr val="tx1"/>
                </a:solidFill>
              </a:rPr>
              <a:t>Corrosion</a:t>
            </a:r>
          </a:p>
          <a:p>
            <a:pPr marL="685800" lvl="1" indent="-342900" algn="l">
              <a:buFont typeface="Arial" charset="0"/>
              <a:buChar char="•"/>
            </a:pPr>
            <a:r>
              <a:rPr lang="en-US" dirty="0">
                <a:solidFill>
                  <a:schemeClr val="tx1"/>
                </a:solidFill>
              </a:rPr>
              <a:t>Alloys</a:t>
            </a:r>
          </a:p>
          <a:p>
            <a:pPr algn="l"/>
            <a:r>
              <a:rPr lang="en-US" sz="2200" b="1" dirty="0">
                <a:solidFill>
                  <a:schemeClr val="tx1"/>
                </a:solidFill>
              </a:rPr>
              <a:t>Quantitative analysis</a:t>
            </a:r>
          </a:p>
          <a:p>
            <a:pPr marL="685800" lvl="1" indent="-342900" algn="l">
              <a:buFont typeface="Arial" charset="0"/>
              <a:buChar char="•"/>
            </a:pPr>
            <a:r>
              <a:rPr lang="en-US" dirty="0">
                <a:solidFill>
                  <a:schemeClr val="tx1"/>
                </a:solidFill>
              </a:rPr>
              <a:t>Titrations and unknown concentration (HT)</a:t>
            </a:r>
          </a:p>
          <a:p>
            <a:pPr marL="685800" lvl="1" indent="-342900" algn="l">
              <a:buFont typeface="Arial" charset="0"/>
              <a:buChar char="•"/>
            </a:pPr>
            <a:r>
              <a:rPr lang="en-US" dirty="0">
                <a:solidFill>
                  <a:schemeClr val="tx1"/>
                </a:solidFill>
              </a:rPr>
              <a:t>Percentage yield</a:t>
            </a:r>
          </a:p>
          <a:p>
            <a:pPr marL="685800" lvl="1" indent="-342900" algn="l">
              <a:buFont typeface="Arial" charset="0"/>
              <a:buChar char="•"/>
            </a:pPr>
            <a:r>
              <a:rPr lang="en-US" dirty="0">
                <a:solidFill>
                  <a:schemeClr val="tx1"/>
                </a:solidFill>
              </a:rPr>
              <a:t>Atom economy</a:t>
            </a:r>
          </a:p>
          <a:p>
            <a:pPr marL="685800" lvl="1" indent="-342900" algn="l">
              <a:buFont typeface="Arial" charset="0"/>
              <a:buChar char="•"/>
            </a:pPr>
            <a:r>
              <a:rPr lang="en-US" dirty="0">
                <a:solidFill>
                  <a:schemeClr val="tx1"/>
                </a:solidFill>
              </a:rPr>
              <a:t>Molar volume of gas (HT)</a:t>
            </a:r>
          </a:p>
          <a:p>
            <a:pPr algn="l"/>
            <a:r>
              <a:rPr lang="en-US" sz="2200" b="1" dirty="0">
                <a:solidFill>
                  <a:schemeClr val="tx1"/>
                </a:solidFill>
              </a:rPr>
              <a:t>Dynamic equilibria</a:t>
            </a:r>
          </a:p>
          <a:p>
            <a:pPr marL="685800" lvl="1" indent="-342900" algn="l">
              <a:buFont typeface="Arial" charset="0"/>
              <a:buChar char="•"/>
            </a:pPr>
            <a:r>
              <a:rPr lang="en-US" dirty="0">
                <a:solidFill>
                  <a:schemeClr val="tx1"/>
                </a:solidFill>
              </a:rPr>
              <a:t>Haber Process</a:t>
            </a:r>
          </a:p>
          <a:p>
            <a:pPr marL="685800" lvl="1" indent="-342900" algn="l">
              <a:buFont typeface="Arial" charset="0"/>
              <a:buChar char="•"/>
            </a:pPr>
            <a:r>
              <a:rPr lang="en-US" dirty="0">
                <a:solidFill>
                  <a:schemeClr val="tx1"/>
                </a:solidFill>
              </a:rPr>
              <a:t>Factors affecting equilibrium (HT)</a:t>
            </a:r>
          </a:p>
          <a:p>
            <a:pPr marL="685800" lvl="1" indent="-342900" algn="l">
              <a:buFont typeface="Arial" charset="0"/>
              <a:buChar char="•"/>
            </a:pPr>
            <a:r>
              <a:rPr lang="en-US" dirty="0" err="1">
                <a:solidFill>
                  <a:schemeClr val="tx1"/>
                </a:solidFill>
              </a:rPr>
              <a:t>Fertilisers</a:t>
            </a:r>
            <a:endParaRPr lang="en-US" dirty="0">
              <a:solidFill>
                <a:schemeClr val="tx1"/>
              </a:solidFill>
            </a:endParaRPr>
          </a:p>
          <a:p>
            <a:pPr algn="l"/>
            <a:r>
              <a:rPr lang="en-US" sz="2200" b="1" dirty="0">
                <a:solidFill>
                  <a:schemeClr val="tx1"/>
                </a:solidFill>
              </a:rPr>
              <a:t>Chemical cells and fuel cells</a:t>
            </a:r>
          </a:p>
          <a:p>
            <a:pPr marL="685800" lvl="1" indent="-342900" algn="l">
              <a:buFont typeface="Arial" charset="0"/>
              <a:buChar char="•"/>
            </a:pPr>
            <a:r>
              <a:rPr lang="en-US" dirty="0">
                <a:solidFill>
                  <a:schemeClr val="tx1"/>
                </a:solidFill>
              </a:rPr>
              <a:t>Chemical cells</a:t>
            </a:r>
          </a:p>
          <a:p>
            <a:pPr marL="685800" lvl="1" indent="-342900" algn="l">
              <a:buFont typeface="Arial" charset="0"/>
              <a:buChar char="•"/>
            </a:pPr>
            <a:r>
              <a:rPr lang="en-US" dirty="0">
                <a:solidFill>
                  <a:schemeClr val="tx1"/>
                </a:solidFill>
              </a:rPr>
              <a:t>Hydrogen-oxygen fuel cell</a:t>
            </a:r>
          </a:p>
          <a:p>
            <a:pPr marL="685800" lvl="1" indent="-342900" algn="l">
              <a:buFont typeface="Arial" charset="0"/>
              <a:buChar char="•"/>
            </a:pPr>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endParaRPr lang="en-GB" dirty="0">
              <a:solidFill>
                <a:schemeClr val="tx1"/>
              </a:solidFill>
            </a:endParaRPr>
          </a:p>
        </p:txBody>
      </p:sp>
      <p:pic>
        <p:nvPicPr>
          <p:cNvPr id="1026"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2819" y="1322940"/>
            <a:ext cx="3473090" cy="4932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2448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652120" cy="5509200"/>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Transition metals, </a:t>
            </a:r>
          </a:p>
          <a:p>
            <a:r>
              <a:rPr lang="en-GB" sz="3600" b="1" dirty="0">
                <a:solidFill>
                  <a:schemeClr val="tx1">
                    <a:lumMod val="50000"/>
                    <a:lumOff val="50000"/>
                  </a:schemeClr>
                </a:solidFill>
              </a:rPr>
              <a:t>alloys and corrosion</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Transition metals</a:t>
            </a:r>
          </a:p>
          <a:p>
            <a:pPr marL="685800" lvl="1" indent="-342900">
              <a:buFont typeface="Arial" charset="0"/>
              <a:buChar char="•"/>
            </a:pPr>
            <a:r>
              <a:rPr lang="en-US" sz="2400" b="1" dirty="0">
                <a:solidFill>
                  <a:schemeClr val="bg1">
                    <a:lumMod val="50000"/>
                  </a:schemeClr>
                </a:solidFill>
              </a:rPr>
              <a:t>Corrosion</a:t>
            </a:r>
          </a:p>
          <a:p>
            <a:pPr marL="685800" lvl="1" indent="-342900">
              <a:buFont typeface="Arial" charset="0"/>
              <a:buChar char="•"/>
            </a:pPr>
            <a:r>
              <a:rPr lang="en-US" sz="2400" b="1" dirty="0">
                <a:solidFill>
                  <a:schemeClr val="bg1">
                    <a:lumMod val="50000"/>
                  </a:schemeClr>
                </a:solidFill>
              </a:rPr>
              <a:t>Alloys</a:t>
            </a:r>
          </a:p>
          <a:p>
            <a:endParaRPr lang="en-GB" dirty="0"/>
          </a:p>
        </p:txBody>
      </p:sp>
    </p:spTree>
    <p:extLst>
      <p:ext uri="{BB962C8B-B14F-4D97-AF65-F5344CB8AC3E}">
        <p14:creationId xmlns:p14="http://schemas.microsoft.com/office/powerpoint/2010/main" val="632385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5" name="Group 134">
            <a:extLst>
              <a:ext uri="{FF2B5EF4-FFF2-40B4-BE49-F238E27FC236}">
                <a16:creationId xmlns:a16="http://schemas.microsoft.com/office/drawing/2014/main" id="{E79E6199-25F7-4C17-A993-AC93F8BA14DD}"/>
              </a:ext>
            </a:extLst>
          </p:cNvPr>
          <p:cNvGrpSpPr/>
          <p:nvPr/>
        </p:nvGrpSpPr>
        <p:grpSpPr>
          <a:xfrm>
            <a:off x="192194" y="1663948"/>
            <a:ext cx="5314846" cy="2186592"/>
            <a:chOff x="446601" y="2411007"/>
            <a:chExt cx="8243374" cy="3610282"/>
          </a:xfrm>
        </p:grpSpPr>
        <p:grpSp>
          <p:nvGrpSpPr>
            <p:cNvPr id="147" name="Group 146">
              <a:extLst>
                <a:ext uri="{FF2B5EF4-FFF2-40B4-BE49-F238E27FC236}">
                  <a16:creationId xmlns:a16="http://schemas.microsoft.com/office/drawing/2014/main" id="{E4EA4089-802B-4ACD-AD75-5638527F72AE}"/>
                </a:ext>
              </a:extLst>
            </p:cNvPr>
            <p:cNvGrpSpPr/>
            <p:nvPr/>
          </p:nvGrpSpPr>
          <p:grpSpPr>
            <a:xfrm>
              <a:off x="446601" y="2411007"/>
              <a:ext cx="8243374" cy="3610282"/>
              <a:chOff x="446601" y="2411007"/>
              <a:chExt cx="8243374" cy="3610282"/>
            </a:xfrm>
          </p:grpSpPr>
          <p:grpSp>
            <p:nvGrpSpPr>
              <p:cNvPr id="157" name="Group 4">
                <a:extLst>
                  <a:ext uri="{FF2B5EF4-FFF2-40B4-BE49-F238E27FC236}">
                    <a16:creationId xmlns:a16="http://schemas.microsoft.com/office/drawing/2014/main" id="{6F7802A3-9FF4-46B3-94D1-31AB710BB76C}"/>
                  </a:ext>
                </a:extLst>
              </p:cNvPr>
              <p:cNvGrpSpPr>
                <a:grpSpLocks/>
              </p:cNvGrpSpPr>
              <p:nvPr/>
            </p:nvGrpSpPr>
            <p:grpSpPr bwMode="auto">
              <a:xfrm>
                <a:off x="460375" y="2820889"/>
                <a:ext cx="8229600" cy="3200400"/>
                <a:chOff x="279" y="1508"/>
                <a:chExt cx="5184" cy="2016"/>
              </a:xfrm>
            </p:grpSpPr>
            <p:sp>
              <p:nvSpPr>
                <p:cNvPr id="166" name="Rectangle 5">
                  <a:extLst>
                    <a:ext uri="{FF2B5EF4-FFF2-40B4-BE49-F238E27FC236}">
                      <a16:creationId xmlns:a16="http://schemas.microsoft.com/office/drawing/2014/main" id="{B96546F7-63B0-46A4-9E69-E7686E524F9B}"/>
                    </a:ext>
                  </a:extLst>
                </p:cNvPr>
                <p:cNvSpPr>
                  <a:spLocks noChangeArrowheads="1"/>
                </p:cNvSpPr>
                <p:nvPr/>
              </p:nvSpPr>
              <p:spPr bwMode="auto">
                <a:xfrm>
                  <a:off x="279" y="150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a:t>
                  </a:r>
                </a:p>
              </p:txBody>
            </p:sp>
            <p:sp>
              <p:nvSpPr>
                <p:cNvPr id="167" name="Rectangle 6">
                  <a:extLst>
                    <a:ext uri="{FF2B5EF4-FFF2-40B4-BE49-F238E27FC236}">
                      <a16:creationId xmlns:a16="http://schemas.microsoft.com/office/drawing/2014/main" id="{97F1180E-E8EE-4885-902F-9F122B25C0C8}"/>
                    </a:ext>
                  </a:extLst>
                </p:cNvPr>
                <p:cNvSpPr>
                  <a:spLocks noChangeArrowheads="1"/>
                </p:cNvSpPr>
                <p:nvPr/>
              </p:nvSpPr>
              <p:spPr bwMode="auto">
                <a:xfrm>
                  <a:off x="279"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Li</a:t>
                  </a:r>
                </a:p>
              </p:txBody>
            </p:sp>
            <p:sp>
              <p:nvSpPr>
                <p:cNvPr id="168" name="Rectangle 7">
                  <a:extLst>
                    <a:ext uri="{FF2B5EF4-FFF2-40B4-BE49-F238E27FC236}">
                      <a16:creationId xmlns:a16="http://schemas.microsoft.com/office/drawing/2014/main" id="{A814870C-1C8F-458A-8080-F245E1E64A48}"/>
                    </a:ext>
                  </a:extLst>
                </p:cNvPr>
                <p:cNvSpPr>
                  <a:spLocks noChangeArrowheads="1"/>
                </p:cNvSpPr>
                <p:nvPr/>
              </p:nvSpPr>
              <p:spPr bwMode="auto">
                <a:xfrm>
                  <a:off x="279"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Na</a:t>
                  </a:r>
                </a:p>
              </p:txBody>
            </p:sp>
            <p:sp>
              <p:nvSpPr>
                <p:cNvPr id="169" name="Rectangle 8">
                  <a:extLst>
                    <a:ext uri="{FF2B5EF4-FFF2-40B4-BE49-F238E27FC236}">
                      <a16:creationId xmlns:a16="http://schemas.microsoft.com/office/drawing/2014/main" id="{ECA1DCCE-6452-4803-875D-A48C4003EF79}"/>
                    </a:ext>
                  </a:extLst>
                </p:cNvPr>
                <p:cNvSpPr>
                  <a:spLocks noChangeArrowheads="1"/>
                </p:cNvSpPr>
                <p:nvPr/>
              </p:nvSpPr>
              <p:spPr bwMode="auto">
                <a:xfrm>
                  <a:off x="279"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K</a:t>
                  </a:r>
                </a:p>
              </p:txBody>
            </p:sp>
            <p:sp>
              <p:nvSpPr>
                <p:cNvPr id="170" name="Rectangle 9">
                  <a:extLst>
                    <a:ext uri="{FF2B5EF4-FFF2-40B4-BE49-F238E27FC236}">
                      <a16:creationId xmlns:a16="http://schemas.microsoft.com/office/drawing/2014/main" id="{94B3EC36-E898-4BEC-A1BE-EDC2BC9B7D4F}"/>
                    </a:ext>
                  </a:extLst>
                </p:cNvPr>
                <p:cNvSpPr>
                  <a:spLocks noChangeArrowheads="1"/>
                </p:cNvSpPr>
                <p:nvPr/>
              </p:nvSpPr>
              <p:spPr bwMode="auto">
                <a:xfrm>
                  <a:off x="27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Rb</a:t>
                  </a:r>
                </a:p>
              </p:txBody>
            </p:sp>
            <p:sp>
              <p:nvSpPr>
                <p:cNvPr id="171" name="Rectangle 10">
                  <a:extLst>
                    <a:ext uri="{FF2B5EF4-FFF2-40B4-BE49-F238E27FC236}">
                      <a16:creationId xmlns:a16="http://schemas.microsoft.com/office/drawing/2014/main" id="{384157D7-5F6E-4F4C-A041-1DA767F8533A}"/>
                    </a:ext>
                  </a:extLst>
                </p:cNvPr>
                <p:cNvSpPr>
                  <a:spLocks noChangeArrowheads="1"/>
                </p:cNvSpPr>
                <p:nvPr/>
              </p:nvSpPr>
              <p:spPr bwMode="auto">
                <a:xfrm>
                  <a:off x="27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Cs</a:t>
                  </a:r>
                </a:p>
              </p:txBody>
            </p:sp>
            <p:sp>
              <p:nvSpPr>
                <p:cNvPr id="172" name="Rectangle 11">
                  <a:extLst>
                    <a:ext uri="{FF2B5EF4-FFF2-40B4-BE49-F238E27FC236}">
                      <a16:creationId xmlns:a16="http://schemas.microsoft.com/office/drawing/2014/main" id="{90682CD4-7010-4E87-BE93-2B4ACA014C1B}"/>
                    </a:ext>
                  </a:extLst>
                </p:cNvPr>
                <p:cNvSpPr>
                  <a:spLocks noChangeArrowheads="1"/>
                </p:cNvSpPr>
                <p:nvPr/>
              </p:nvSpPr>
              <p:spPr bwMode="auto">
                <a:xfrm>
                  <a:off x="27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Fr</a:t>
                  </a:r>
                </a:p>
              </p:txBody>
            </p:sp>
            <p:sp>
              <p:nvSpPr>
                <p:cNvPr id="173" name="Rectangle 12">
                  <a:extLst>
                    <a:ext uri="{FF2B5EF4-FFF2-40B4-BE49-F238E27FC236}">
                      <a16:creationId xmlns:a16="http://schemas.microsoft.com/office/drawing/2014/main" id="{852E874C-58DC-4096-9C6A-6172AE7B3086}"/>
                    </a:ext>
                  </a:extLst>
                </p:cNvPr>
                <p:cNvSpPr>
                  <a:spLocks noChangeArrowheads="1"/>
                </p:cNvSpPr>
                <p:nvPr/>
              </p:nvSpPr>
              <p:spPr bwMode="auto">
                <a:xfrm>
                  <a:off x="567" y="1796"/>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Be</a:t>
                  </a:r>
                </a:p>
              </p:txBody>
            </p:sp>
            <p:sp>
              <p:nvSpPr>
                <p:cNvPr id="174" name="Rectangle 13">
                  <a:extLst>
                    <a:ext uri="{FF2B5EF4-FFF2-40B4-BE49-F238E27FC236}">
                      <a16:creationId xmlns:a16="http://schemas.microsoft.com/office/drawing/2014/main" id="{CD18AB6A-2806-4B1C-B703-D19A6B7EA0CE}"/>
                    </a:ext>
                  </a:extLst>
                </p:cNvPr>
                <p:cNvSpPr>
                  <a:spLocks noChangeArrowheads="1"/>
                </p:cNvSpPr>
                <p:nvPr/>
              </p:nvSpPr>
              <p:spPr bwMode="auto">
                <a:xfrm>
                  <a:off x="855"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Sc</a:t>
                  </a:r>
                  <a:endParaRPr lang="en-GB" sz="1400" dirty="0"/>
                </a:p>
              </p:txBody>
            </p:sp>
            <p:sp>
              <p:nvSpPr>
                <p:cNvPr id="175" name="Rectangle 14">
                  <a:extLst>
                    <a:ext uri="{FF2B5EF4-FFF2-40B4-BE49-F238E27FC236}">
                      <a16:creationId xmlns:a16="http://schemas.microsoft.com/office/drawing/2014/main" id="{5A14FCAA-0805-4AB1-B735-C64757539B39}"/>
                    </a:ext>
                  </a:extLst>
                </p:cNvPr>
                <p:cNvSpPr>
                  <a:spLocks noChangeArrowheads="1"/>
                </p:cNvSpPr>
                <p:nvPr/>
              </p:nvSpPr>
              <p:spPr bwMode="auto">
                <a:xfrm>
                  <a:off x="1143"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Ti</a:t>
                  </a:r>
                </a:p>
              </p:txBody>
            </p:sp>
            <p:sp>
              <p:nvSpPr>
                <p:cNvPr id="176" name="Rectangle 15">
                  <a:extLst>
                    <a:ext uri="{FF2B5EF4-FFF2-40B4-BE49-F238E27FC236}">
                      <a16:creationId xmlns:a16="http://schemas.microsoft.com/office/drawing/2014/main" id="{C7C202C0-B922-4D5C-AE63-52AE1B2942E2}"/>
                    </a:ext>
                  </a:extLst>
                </p:cNvPr>
                <p:cNvSpPr>
                  <a:spLocks noChangeArrowheads="1"/>
                </p:cNvSpPr>
                <p:nvPr/>
              </p:nvSpPr>
              <p:spPr bwMode="auto">
                <a:xfrm>
                  <a:off x="567" y="2084"/>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Mg</a:t>
                  </a:r>
                </a:p>
              </p:txBody>
            </p:sp>
            <p:sp>
              <p:nvSpPr>
                <p:cNvPr id="177" name="Rectangle 16">
                  <a:extLst>
                    <a:ext uri="{FF2B5EF4-FFF2-40B4-BE49-F238E27FC236}">
                      <a16:creationId xmlns:a16="http://schemas.microsoft.com/office/drawing/2014/main" id="{5E46B36C-8C96-46A5-ADFD-1F38F6A42954}"/>
                    </a:ext>
                  </a:extLst>
                </p:cNvPr>
                <p:cNvSpPr>
                  <a:spLocks noChangeArrowheads="1"/>
                </p:cNvSpPr>
                <p:nvPr/>
              </p:nvSpPr>
              <p:spPr bwMode="auto">
                <a:xfrm>
                  <a:off x="1431"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V</a:t>
                  </a:r>
                </a:p>
              </p:txBody>
            </p:sp>
            <p:sp>
              <p:nvSpPr>
                <p:cNvPr id="178" name="Rectangle 17">
                  <a:extLst>
                    <a:ext uri="{FF2B5EF4-FFF2-40B4-BE49-F238E27FC236}">
                      <a16:creationId xmlns:a16="http://schemas.microsoft.com/office/drawing/2014/main" id="{293BD8FE-AC65-4B6A-AE5A-72D1D9AA38F4}"/>
                    </a:ext>
                  </a:extLst>
                </p:cNvPr>
                <p:cNvSpPr>
                  <a:spLocks noChangeArrowheads="1"/>
                </p:cNvSpPr>
                <p:nvPr/>
              </p:nvSpPr>
              <p:spPr bwMode="auto">
                <a:xfrm>
                  <a:off x="171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Cr</a:t>
                  </a:r>
                </a:p>
              </p:txBody>
            </p:sp>
            <p:sp>
              <p:nvSpPr>
                <p:cNvPr id="179" name="Rectangle 18">
                  <a:extLst>
                    <a:ext uri="{FF2B5EF4-FFF2-40B4-BE49-F238E27FC236}">
                      <a16:creationId xmlns:a16="http://schemas.microsoft.com/office/drawing/2014/main" id="{F6BE1D3F-5A8E-4FE5-9F96-F31ED3AF0BBD}"/>
                    </a:ext>
                  </a:extLst>
                </p:cNvPr>
                <p:cNvSpPr>
                  <a:spLocks noChangeArrowheads="1"/>
                </p:cNvSpPr>
                <p:nvPr/>
              </p:nvSpPr>
              <p:spPr bwMode="auto">
                <a:xfrm>
                  <a:off x="200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Mn</a:t>
                  </a:r>
                </a:p>
              </p:txBody>
            </p:sp>
            <p:sp>
              <p:nvSpPr>
                <p:cNvPr id="180" name="Rectangle 19">
                  <a:extLst>
                    <a:ext uri="{FF2B5EF4-FFF2-40B4-BE49-F238E27FC236}">
                      <a16:creationId xmlns:a16="http://schemas.microsoft.com/office/drawing/2014/main" id="{5B651AA2-9D75-4EA1-AD17-5B94124B5F85}"/>
                    </a:ext>
                  </a:extLst>
                </p:cNvPr>
                <p:cNvSpPr>
                  <a:spLocks noChangeArrowheads="1"/>
                </p:cNvSpPr>
                <p:nvPr/>
              </p:nvSpPr>
              <p:spPr bwMode="auto">
                <a:xfrm>
                  <a:off x="229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Fe</a:t>
                  </a:r>
                </a:p>
              </p:txBody>
            </p:sp>
            <p:sp>
              <p:nvSpPr>
                <p:cNvPr id="181" name="Rectangle 20">
                  <a:extLst>
                    <a:ext uri="{FF2B5EF4-FFF2-40B4-BE49-F238E27FC236}">
                      <a16:creationId xmlns:a16="http://schemas.microsoft.com/office/drawing/2014/main" id="{5AED5F5B-E2D1-42D2-A512-99AB7C05770C}"/>
                    </a:ext>
                  </a:extLst>
                </p:cNvPr>
                <p:cNvSpPr>
                  <a:spLocks noChangeArrowheads="1"/>
                </p:cNvSpPr>
                <p:nvPr/>
              </p:nvSpPr>
              <p:spPr bwMode="auto">
                <a:xfrm>
                  <a:off x="2583"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Co</a:t>
                  </a:r>
                </a:p>
              </p:txBody>
            </p:sp>
            <p:sp>
              <p:nvSpPr>
                <p:cNvPr id="182" name="Rectangle 21">
                  <a:extLst>
                    <a:ext uri="{FF2B5EF4-FFF2-40B4-BE49-F238E27FC236}">
                      <a16:creationId xmlns:a16="http://schemas.microsoft.com/office/drawing/2014/main" id="{B7F978D0-CD76-4E47-AB42-02C3BC31E1E3}"/>
                    </a:ext>
                  </a:extLst>
                </p:cNvPr>
                <p:cNvSpPr>
                  <a:spLocks noChangeArrowheads="1"/>
                </p:cNvSpPr>
                <p:nvPr/>
              </p:nvSpPr>
              <p:spPr bwMode="auto">
                <a:xfrm>
                  <a:off x="2871"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Ni</a:t>
                  </a:r>
                </a:p>
              </p:txBody>
            </p:sp>
            <p:sp>
              <p:nvSpPr>
                <p:cNvPr id="183" name="Rectangle 22">
                  <a:extLst>
                    <a:ext uri="{FF2B5EF4-FFF2-40B4-BE49-F238E27FC236}">
                      <a16:creationId xmlns:a16="http://schemas.microsoft.com/office/drawing/2014/main" id="{485A4143-C629-444E-BB0D-DF4F67E033FF}"/>
                    </a:ext>
                  </a:extLst>
                </p:cNvPr>
                <p:cNvSpPr>
                  <a:spLocks noChangeArrowheads="1"/>
                </p:cNvSpPr>
                <p:nvPr/>
              </p:nvSpPr>
              <p:spPr bwMode="auto">
                <a:xfrm>
                  <a:off x="315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Cu</a:t>
                  </a:r>
                </a:p>
              </p:txBody>
            </p:sp>
            <p:sp>
              <p:nvSpPr>
                <p:cNvPr id="184" name="Rectangle 23">
                  <a:extLst>
                    <a:ext uri="{FF2B5EF4-FFF2-40B4-BE49-F238E27FC236}">
                      <a16:creationId xmlns:a16="http://schemas.microsoft.com/office/drawing/2014/main" id="{E6A1B244-3748-4716-9351-C336447EC679}"/>
                    </a:ext>
                  </a:extLst>
                </p:cNvPr>
                <p:cNvSpPr>
                  <a:spLocks noChangeArrowheads="1"/>
                </p:cNvSpPr>
                <p:nvPr/>
              </p:nvSpPr>
              <p:spPr bwMode="auto">
                <a:xfrm>
                  <a:off x="344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Zn</a:t>
                  </a:r>
                </a:p>
              </p:txBody>
            </p:sp>
            <p:sp>
              <p:nvSpPr>
                <p:cNvPr id="185" name="Rectangle 24">
                  <a:extLst>
                    <a:ext uri="{FF2B5EF4-FFF2-40B4-BE49-F238E27FC236}">
                      <a16:creationId xmlns:a16="http://schemas.microsoft.com/office/drawing/2014/main" id="{62786334-4071-44DD-80E6-B1E91464918A}"/>
                    </a:ext>
                  </a:extLst>
                </p:cNvPr>
                <p:cNvSpPr>
                  <a:spLocks noChangeArrowheads="1"/>
                </p:cNvSpPr>
                <p:nvPr/>
              </p:nvSpPr>
              <p:spPr bwMode="auto">
                <a:xfrm>
                  <a:off x="373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Ga</a:t>
                  </a:r>
                </a:p>
              </p:txBody>
            </p:sp>
            <p:sp>
              <p:nvSpPr>
                <p:cNvPr id="186" name="Rectangle 25">
                  <a:extLst>
                    <a:ext uri="{FF2B5EF4-FFF2-40B4-BE49-F238E27FC236}">
                      <a16:creationId xmlns:a16="http://schemas.microsoft.com/office/drawing/2014/main" id="{FE060110-A69A-4153-A806-91037F95E495}"/>
                    </a:ext>
                  </a:extLst>
                </p:cNvPr>
                <p:cNvSpPr>
                  <a:spLocks noChangeArrowheads="1"/>
                </p:cNvSpPr>
                <p:nvPr/>
              </p:nvSpPr>
              <p:spPr bwMode="auto">
                <a:xfrm>
                  <a:off x="4023"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Ge</a:t>
                  </a:r>
                </a:p>
              </p:txBody>
            </p:sp>
            <p:sp>
              <p:nvSpPr>
                <p:cNvPr id="187" name="Rectangle 26">
                  <a:extLst>
                    <a:ext uri="{FF2B5EF4-FFF2-40B4-BE49-F238E27FC236}">
                      <a16:creationId xmlns:a16="http://schemas.microsoft.com/office/drawing/2014/main" id="{7C50D03A-E173-44E1-8DAF-6A8B0ACB1228}"/>
                    </a:ext>
                  </a:extLst>
                </p:cNvPr>
                <p:cNvSpPr>
                  <a:spLocks noChangeArrowheads="1"/>
                </p:cNvSpPr>
                <p:nvPr/>
              </p:nvSpPr>
              <p:spPr bwMode="auto">
                <a:xfrm>
                  <a:off x="459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Se</a:t>
                  </a:r>
                </a:p>
              </p:txBody>
            </p:sp>
            <p:sp>
              <p:nvSpPr>
                <p:cNvPr id="188" name="Rectangle 27">
                  <a:extLst>
                    <a:ext uri="{FF2B5EF4-FFF2-40B4-BE49-F238E27FC236}">
                      <a16:creationId xmlns:a16="http://schemas.microsoft.com/office/drawing/2014/main" id="{F9B7A593-24FE-4456-A325-B910A8BB3667}"/>
                    </a:ext>
                  </a:extLst>
                </p:cNvPr>
                <p:cNvSpPr>
                  <a:spLocks noChangeArrowheads="1"/>
                </p:cNvSpPr>
                <p:nvPr/>
              </p:nvSpPr>
              <p:spPr bwMode="auto">
                <a:xfrm>
                  <a:off x="488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Br</a:t>
                  </a:r>
                </a:p>
              </p:txBody>
            </p:sp>
            <p:sp>
              <p:nvSpPr>
                <p:cNvPr id="189" name="Rectangle 28">
                  <a:extLst>
                    <a:ext uri="{FF2B5EF4-FFF2-40B4-BE49-F238E27FC236}">
                      <a16:creationId xmlns:a16="http://schemas.microsoft.com/office/drawing/2014/main" id="{6051798F-A03B-4CE8-B56F-A42CD4D0404F}"/>
                    </a:ext>
                  </a:extLst>
                </p:cNvPr>
                <p:cNvSpPr>
                  <a:spLocks noChangeArrowheads="1"/>
                </p:cNvSpPr>
                <p:nvPr/>
              </p:nvSpPr>
              <p:spPr bwMode="auto">
                <a:xfrm>
                  <a:off x="567"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Ca</a:t>
                  </a:r>
                </a:p>
              </p:txBody>
            </p:sp>
            <p:sp>
              <p:nvSpPr>
                <p:cNvPr id="190" name="Rectangle 29">
                  <a:extLst>
                    <a:ext uri="{FF2B5EF4-FFF2-40B4-BE49-F238E27FC236}">
                      <a16:creationId xmlns:a16="http://schemas.microsoft.com/office/drawing/2014/main" id="{6FC3A6A6-ACA1-489C-BC9B-A0E7F4CEEE19}"/>
                    </a:ext>
                  </a:extLst>
                </p:cNvPr>
                <p:cNvSpPr>
                  <a:spLocks noChangeArrowheads="1"/>
                </p:cNvSpPr>
                <p:nvPr/>
              </p:nvSpPr>
              <p:spPr bwMode="auto">
                <a:xfrm>
                  <a:off x="517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Kr</a:t>
                  </a:r>
                </a:p>
              </p:txBody>
            </p:sp>
            <p:sp>
              <p:nvSpPr>
                <p:cNvPr id="191" name="Rectangle 30">
                  <a:extLst>
                    <a:ext uri="{FF2B5EF4-FFF2-40B4-BE49-F238E27FC236}">
                      <a16:creationId xmlns:a16="http://schemas.microsoft.com/office/drawing/2014/main" id="{8343349F-6CF9-4E81-8F1C-13B4A951F26D}"/>
                    </a:ext>
                  </a:extLst>
                </p:cNvPr>
                <p:cNvSpPr>
                  <a:spLocks noChangeArrowheads="1"/>
                </p:cNvSpPr>
                <p:nvPr/>
              </p:nvSpPr>
              <p:spPr bwMode="auto">
                <a:xfrm>
                  <a:off x="85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Y</a:t>
                  </a:r>
                </a:p>
              </p:txBody>
            </p:sp>
            <p:sp>
              <p:nvSpPr>
                <p:cNvPr id="192" name="Rectangle 31">
                  <a:extLst>
                    <a:ext uri="{FF2B5EF4-FFF2-40B4-BE49-F238E27FC236}">
                      <a16:creationId xmlns:a16="http://schemas.microsoft.com/office/drawing/2014/main" id="{16579B63-32DC-4189-8395-86F169E43B07}"/>
                    </a:ext>
                  </a:extLst>
                </p:cNvPr>
                <p:cNvSpPr>
                  <a:spLocks noChangeArrowheads="1"/>
                </p:cNvSpPr>
                <p:nvPr/>
              </p:nvSpPr>
              <p:spPr bwMode="auto">
                <a:xfrm>
                  <a:off x="114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Zr</a:t>
                  </a:r>
                </a:p>
              </p:txBody>
            </p:sp>
            <p:sp>
              <p:nvSpPr>
                <p:cNvPr id="193" name="Rectangle 32">
                  <a:extLst>
                    <a:ext uri="{FF2B5EF4-FFF2-40B4-BE49-F238E27FC236}">
                      <a16:creationId xmlns:a16="http://schemas.microsoft.com/office/drawing/2014/main" id="{AB80C673-DECD-4AF8-8935-AE70D1877292}"/>
                    </a:ext>
                  </a:extLst>
                </p:cNvPr>
                <p:cNvSpPr>
                  <a:spLocks noChangeArrowheads="1"/>
                </p:cNvSpPr>
                <p:nvPr/>
              </p:nvSpPr>
              <p:spPr bwMode="auto">
                <a:xfrm>
                  <a:off x="143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Nb</a:t>
                  </a:r>
                </a:p>
              </p:txBody>
            </p:sp>
            <p:sp>
              <p:nvSpPr>
                <p:cNvPr id="194" name="Rectangle 33">
                  <a:extLst>
                    <a:ext uri="{FF2B5EF4-FFF2-40B4-BE49-F238E27FC236}">
                      <a16:creationId xmlns:a16="http://schemas.microsoft.com/office/drawing/2014/main" id="{1F464366-8514-42F9-9D3F-6E0143D31F07}"/>
                    </a:ext>
                  </a:extLst>
                </p:cNvPr>
                <p:cNvSpPr>
                  <a:spLocks noChangeArrowheads="1"/>
                </p:cNvSpPr>
                <p:nvPr/>
              </p:nvSpPr>
              <p:spPr bwMode="auto">
                <a:xfrm>
                  <a:off x="171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Mo</a:t>
                  </a:r>
                </a:p>
              </p:txBody>
            </p:sp>
            <p:sp>
              <p:nvSpPr>
                <p:cNvPr id="195" name="Rectangle 34">
                  <a:extLst>
                    <a:ext uri="{FF2B5EF4-FFF2-40B4-BE49-F238E27FC236}">
                      <a16:creationId xmlns:a16="http://schemas.microsoft.com/office/drawing/2014/main" id="{9F3EA6D0-8FF6-468B-BD27-A4C643BFD296}"/>
                    </a:ext>
                  </a:extLst>
                </p:cNvPr>
                <p:cNvSpPr>
                  <a:spLocks noChangeArrowheads="1"/>
                </p:cNvSpPr>
                <p:nvPr/>
              </p:nvSpPr>
              <p:spPr bwMode="auto">
                <a:xfrm>
                  <a:off x="200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Tc</a:t>
                  </a:r>
                </a:p>
              </p:txBody>
            </p:sp>
            <p:sp>
              <p:nvSpPr>
                <p:cNvPr id="196" name="Rectangle 35">
                  <a:extLst>
                    <a:ext uri="{FF2B5EF4-FFF2-40B4-BE49-F238E27FC236}">
                      <a16:creationId xmlns:a16="http://schemas.microsoft.com/office/drawing/2014/main" id="{B20FEAB1-A2E7-4AE9-9FA3-E7EA6981C981}"/>
                    </a:ext>
                  </a:extLst>
                </p:cNvPr>
                <p:cNvSpPr>
                  <a:spLocks noChangeArrowheads="1"/>
                </p:cNvSpPr>
                <p:nvPr/>
              </p:nvSpPr>
              <p:spPr bwMode="auto">
                <a:xfrm>
                  <a:off x="229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Ru</a:t>
                  </a:r>
                </a:p>
              </p:txBody>
            </p:sp>
            <p:sp>
              <p:nvSpPr>
                <p:cNvPr id="197" name="Rectangle 36">
                  <a:extLst>
                    <a:ext uri="{FF2B5EF4-FFF2-40B4-BE49-F238E27FC236}">
                      <a16:creationId xmlns:a16="http://schemas.microsoft.com/office/drawing/2014/main" id="{3DF797B9-1B73-4C52-BBB0-DC3C505B02C7}"/>
                    </a:ext>
                  </a:extLst>
                </p:cNvPr>
                <p:cNvSpPr>
                  <a:spLocks noChangeArrowheads="1"/>
                </p:cNvSpPr>
                <p:nvPr/>
              </p:nvSpPr>
              <p:spPr bwMode="auto">
                <a:xfrm>
                  <a:off x="287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Pd</a:t>
                  </a:r>
                </a:p>
              </p:txBody>
            </p:sp>
            <p:sp>
              <p:nvSpPr>
                <p:cNvPr id="198" name="Rectangle 37">
                  <a:extLst>
                    <a:ext uri="{FF2B5EF4-FFF2-40B4-BE49-F238E27FC236}">
                      <a16:creationId xmlns:a16="http://schemas.microsoft.com/office/drawing/2014/main" id="{DB3E6CA7-49FD-4617-99C6-D78246C5C46C}"/>
                    </a:ext>
                  </a:extLst>
                </p:cNvPr>
                <p:cNvSpPr>
                  <a:spLocks noChangeArrowheads="1"/>
                </p:cNvSpPr>
                <p:nvPr/>
              </p:nvSpPr>
              <p:spPr bwMode="auto">
                <a:xfrm>
                  <a:off x="315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Ag</a:t>
                  </a:r>
                </a:p>
              </p:txBody>
            </p:sp>
            <p:sp>
              <p:nvSpPr>
                <p:cNvPr id="199" name="Rectangle 38">
                  <a:extLst>
                    <a:ext uri="{FF2B5EF4-FFF2-40B4-BE49-F238E27FC236}">
                      <a16:creationId xmlns:a16="http://schemas.microsoft.com/office/drawing/2014/main" id="{C175068C-72E9-4DAF-8335-FAED2A37AE76}"/>
                    </a:ext>
                  </a:extLst>
                </p:cNvPr>
                <p:cNvSpPr>
                  <a:spLocks noChangeArrowheads="1"/>
                </p:cNvSpPr>
                <p:nvPr/>
              </p:nvSpPr>
              <p:spPr bwMode="auto">
                <a:xfrm>
                  <a:off x="344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Cd</a:t>
                  </a:r>
                </a:p>
              </p:txBody>
            </p:sp>
            <p:sp>
              <p:nvSpPr>
                <p:cNvPr id="200" name="Rectangle 39">
                  <a:extLst>
                    <a:ext uri="{FF2B5EF4-FFF2-40B4-BE49-F238E27FC236}">
                      <a16:creationId xmlns:a16="http://schemas.microsoft.com/office/drawing/2014/main" id="{B37E53DE-8774-4B35-8104-79A5C15C7BD2}"/>
                    </a:ext>
                  </a:extLst>
                </p:cNvPr>
                <p:cNvSpPr>
                  <a:spLocks noChangeArrowheads="1"/>
                </p:cNvSpPr>
                <p:nvPr/>
              </p:nvSpPr>
              <p:spPr bwMode="auto">
                <a:xfrm>
                  <a:off x="373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In</a:t>
                  </a:r>
                </a:p>
              </p:txBody>
            </p:sp>
            <p:sp>
              <p:nvSpPr>
                <p:cNvPr id="201" name="Rectangle 40">
                  <a:extLst>
                    <a:ext uri="{FF2B5EF4-FFF2-40B4-BE49-F238E27FC236}">
                      <a16:creationId xmlns:a16="http://schemas.microsoft.com/office/drawing/2014/main" id="{3EE97B8E-EFBF-40B2-A153-B883BF2E5278}"/>
                    </a:ext>
                  </a:extLst>
                </p:cNvPr>
                <p:cNvSpPr>
                  <a:spLocks noChangeArrowheads="1"/>
                </p:cNvSpPr>
                <p:nvPr/>
              </p:nvSpPr>
              <p:spPr bwMode="auto">
                <a:xfrm>
                  <a:off x="402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Sn</a:t>
                  </a:r>
                </a:p>
              </p:txBody>
            </p:sp>
            <p:sp>
              <p:nvSpPr>
                <p:cNvPr id="202" name="Rectangle 41">
                  <a:extLst>
                    <a:ext uri="{FF2B5EF4-FFF2-40B4-BE49-F238E27FC236}">
                      <a16:creationId xmlns:a16="http://schemas.microsoft.com/office/drawing/2014/main" id="{582F0D00-3584-46E4-BDD3-2D3CEC94A64C}"/>
                    </a:ext>
                  </a:extLst>
                </p:cNvPr>
                <p:cNvSpPr>
                  <a:spLocks noChangeArrowheads="1"/>
                </p:cNvSpPr>
                <p:nvPr/>
              </p:nvSpPr>
              <p:spPr bwMode="auto">
                <a:xfrm>
                  <a:off x="431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Sb</a:t>
                  </a:r>
                </a:p>
              </p:txBody>
            </p:sp>
            <p:sp>
              <p:nvSpPr>
                <p:cNvPr id="203" name="Rectangle 42">
                  <a:extLst>
                    <a:ext uri="{FF2B5EF4-FFF2-40B4-BE49-F238E27FC236}">
                      <a16:creationId xmlns:a16="http://schemas.microsoft.com/office/drawing/2014/main" id="{25FF33B6-6F9D-4651-9270-2A1AA9640DCA}"/>
                    </a:ext>
                  </a:extLst>
                </p:cNvPr>
                <p:cNvSpPr>
                  <a:spLocks noChangeArrowheads="1"/>
                </p:cNvSpPr>
                <p:nvPr/>
              </p:nvSpPr>
              <p:spPr bwMode="auto">
                <a:xfrm>
                  <a:off x="567" y="2660"/>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Sr</a:t>
                  </a:r>
                  <a:endParaRPr lang="en-GB" sz="1400" dirty="0"/>
                </a:p>
              </p:txBody>
            </p:sp>
            <p:sp>
              <p:nvSpPr>
                <p:cNvPr id="204" name="Rectangle 43">
                  <a:extLst>
                    <a:ext uri="{FF2B5EF4-FFF2-40B4-BE49-F238E27FC236}">
                      <a16:creationId xmlns:a16="http://schemas.microsoft.com/office/drawing/2014/main" id="{5656A08A-7714-4816-B139-E675087623FF}"/>
                    </a:ext>
                  </a:extLst>
                </p:cNvPr>
                <p:cNvSpPr>
                  <a:spLocks noChangeArrowheads="1"/>
                </p:cNvSpPr>
                <p:nvPr/>
              </p:nvSpPr>
              <p:spPr bwMode="auto">
                <a:xfrm>
                  <a:off x="459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Te</a:t>
                  </a:r>
                </a:p>
              </p:txBody>
            </p:sp>
            <p:sp>
              <p:nvSpPr>
                <p:cNvPr id="205" name="Rectangle 44">
                  <a:extLst>
                    <a:ext uri="{FF2B5EF4-FFF2-40B4-BE49-F238E27FC236}">
                      <a16:creationId xmlns:a16="http://schemas.microsoft.com/office/drawing/2014/main" id="{0FC38AE7-5ACD-45BE-8CAA-2BAFF9BCBA20}"/>
                    </a:ext>
                  </a:extLst>
                </p:cNvPr>
                <p:cNvSpPr>
                  <a:spLocks noChangeArrowheads="1"/>
                </p:cNvSpPr>
                <p:nvPr/>
              </p:nvSpPr>
              <p:spPr bwMode="auto">
                <a:xfrm>
                  <a:off x="258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Rh</a:t>
                  </a:r>
                </a:p>
              </p:txBody>
            </p:sp>
            <p:sp>
              <p:nvSpPr>
                <p:cNvPr id="206" name="Rectangle 45">
                  <a:extLst>
                    <a:ext uri="{FF2B5EF4-FFF2-40B4-BE49-F238E27FC236}">
                      <a16:creationId xmlns:a16="http://schemas.microsoft.com/office/drawing/2014/main" id="{73602226-C7E3-49DA-80B7-5AA09E350E35}"/>
                    </a:ext>
                  </a:extLst>
                </p:cNvPr>
                <p:cNvSpPr>
                  <a:spLocks noChangeArrowheads="1"/>
                </p:cNvSpPr>
                <p:nvPr/>
              </p:nvSpPr>
              <p:spPr bwMode="auto">
                <a:xfrm>
                  <a:off x="567" y="2948"/>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Ba</a:t>
                  </a:r>
                </a:p>
              </p:txBody>
            </p:sp>
            <p:sp>
              <p:nvSpPr>
                <p:cNvPr id="207" name="Rectangle 46">
                  <a:extLst>
                    <a:ext uri="{FF2B5EF4-FFF2-40B4-BE49-F238E27FC236}">
                      <a16:creationId xmlns:a16="http://schemas.microsoft.com/office/drawing/2014/main" id="{D1DC2478-80A5-4308-A72F-0ECE60B066FD}"/>
                    </a:ext>
                  </a:extLst>
                </p:cNvPr>
                <p:cNvSpPr>
                  <a:spLocks noChangeArrowheads="1"/>
                </p:cNvSpPr>
                <p:nvPr/>
              </p:nvSpPr>
              <p:spPr bwMode="auto">
                <a:xfrm>
                  <a:off x="114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Hf</a:t>
                  </a:r>
                </a:p>
              </p:txBody>
            </p:sp>
            <p:sp>
              <p:nvSpPr>
                <p:cNvPr id="208" name="Rectangle 47">
                  <a:extLst>
                    <a:ext uri="{FF2B5EF4-FFF2-40B4-BE49-F238E27FC236}">
                      <a16:creationId xmlns:a16="http://schemas.microsoft.com/office/drawing/2014/main" id="{8C1229AE-62BF-4B68-BBA4-CBF366896973}"/>
                    </a:ext>
                  </a:extLst>
                </p:cNvPr>
                <p:cNvSpPr>
                  <a:spLocks noChangeArrowheads="1"/>
                </p:cNvSpPr>
                <p:nvPr/>
              </p:nvSpPr>
              <p:spPr bwMode="auto">
                <a:xfrm>
                  <a:off x="143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Ta</a:t>
                  </a:r>
                </a:p>
              </p:txBody>
            </p:sp>
            <p:sp>
              <p:nvSpPr>
                <p:cNvPr id="209" name="Rectangle 48">
                  <a:extLst>
                    <a:ext uri="{FF2B5EF4-FFF2-40B4-BE49-F238E27FC236}">
                      <a16:creationId xmlns:a16="http://schemas.microsoft.com/office/drawing/2014/main" id="{5845C39F-8AE8-49BC-8078-5B324B49A107}"/>
                    </a:ext>
                  </a:extLst>
                </p:cNvPr>
                <p:cNvSpPr>
                  <a:spLocks noChangeArrowheads="1"/>
                </p:cNvSpPr>
                <p:nvPr/>
              </p:nvSpPr>
              <p:spPr bwMode="auto">
                <a:xfrm>
                  <a:off x="171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W</a:t>
                  </a:r>
                </a:p>
              </p:txBody>
            </p:sp>
            <p:sp>
              <p:nvSpPr>
                <p:cNvPr id="210" name="Rectangle 49">
                  <a:extLst>
                    <a:ext uri="{FF2B5EF4-FFF2-40B4-BE49-F238E27FC236}">
                      <a16:creationId xmlns:a16="http://schemas.microsoft.com/office/drawing/2014/main" id="{A7F9C3FB-E8D9-4B99-A125-7DA723F22C9B}"/>
                    </a:ext>
                  </a:extLst>
                </p:cNvPr>
                <p:cNvSpPr>
                  <a:spLocks noChangeArrowheads="1"/>
                </p:cNvSpPr>
                <p:nvPr/>
              </p:nvSpPr>
              <p:spPr bwMode="auto">
                <a:xfrm>
                  <a:off x="200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Re</a:t>
                  </a:r>
                </a:p>
              </p:txBody>
            </p:sp>
            <p:sp>
              <p:nvSpPr>
                <p:cNvPr id="211" name="Rectangle 50">
                  <a:extLst>
                    <a:ext uri="{FF2B5EF4-FFF2-40B4-BE49-F238E27FC236}">
                      <a16:creationId xmlns:a16="http://schemas.microsoft.com/office/drawing/2014/main" id="{A98467C7-D0AB-4D86-9FFA-96659B8D2BA6}"/>
                    </a:ext>
                  </a:extLst>
                </p:cNvPr>
                <p:cNvSpPr>
                  <a:spLocks noChangeArrowheads="1"/>
                </p:cNvSpPr>
                <p:nvPr/>
              </p:nvSpPr>
              <p:spPr bwMode="auto">
                <a:xfrm>
                  <a:off x="229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Os</a:t>
                  </a:r>
                </a:p>
              </p:txBody>
            </p:sp>
            <p:sp>
              <p:nvSpPr>
                <p:cNvPr id="212" name="Rectangle 51">
                  <a:extLst>
                    <a:ext uri="{FF2B5EF4-FFF2-40B4-BE49-F238E27FC236}">
                      <a16:creationId xmlns:a16="http://schemas.microsoft.com/office/drawing/2014/main" id="{B9C24338-74A5-4386-9C4C-F0EF6835E075}"/>
                    </a:ext>
                  </a:extLst>
                </p:cNvPr>
                <p:cNvSpPr>
                  <a:spLocks noChangeArrowheads="1"/>
                </p:cNvSpPr>
                <p:nvPr/>
              </p:nvSpPr>
              <p:spPr bwMode="auto">
                <a:xfrm>
                  <a:off x="258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Ir</a:t>
                  </a:r>
                </a:p>
              </p:txBody>
            </p:sp>
            <p:sp>
              <p:nvSpPr>
                <p:cNvPr id="213" name="Rectangle 52">
                  <a:extLst>
                    <a:ext uri="{FF2B5EF4-FFF2-40B4-BE49-F238E27FC236}">
                      <a16:creationId xmlns:a16="http://schemas.microsoft.com/office/drawing/2014/main" id="{28BF82EA-7419-438B-954B-2B4ED18D02C6}"/>
                    </a:ext>
                  </a:extLst>
                </p:cNvPr>
                <p:cNvSpPr>
                  <a:spLocks noChangeArrowheads="1"/>
                </p:cNvSpPr>
                <p:nvPr/>
              </p:nvSpPr>
              <p:spPr bwMode="auto">
                <a:xfrm>
                  <a:off x="315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Au</a:t>
                  </a:r>
                </a:p>
              </p:txBody>
            </p:sp>
            <p:sp>
              <p:nvSpPr>
                <p:cNvPr id="214" name="Rectangle 53">
                  <a:extLst>
                    <a:ext uri="{FF2B5EF4-FFF2-40B4-BE49-F238E27FC236}">
                      <a16:creationId xmlns:a16="http://schemas.microsoft.com/office/drawing/2014/main" id="{C641C2E3-60B7-4970-8FFD-0FFFB0D2B3EC}"/>
                    </a:ext>
                  </a:extLst>
                </p:cNvPr>
                <p:cNvSpPr>
                  <a:spLocks noChangeArrowheads="1"/>
                </p:cNvSpPr>
                <p:nvPr/>
              </p:nvSpPr>
              <p:spPr bwMode="auto">
                <a:xfrm>
                  <a:off x="344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Hg</a:t>
                  </a:r>
                </a:p>
              </p:txBody>
            </p:sp>
            <p:sp>
              <p:nvSpPr>
                <p:cNvPr id="215" name="Rectangle 54">
                  <a:extLst>
                    <a:ext uri="{FF2B5EF4-FFF2-40B4-BE49-F238E27FC236}">
                      <a16:creationId xmlns:a16="http://schemas.microsoft.com/office/drawing/2014/main" id="{2F9754B0-FFF9-4635-9197-B4F3E9F78F74}"/>
                    </a:ext>
                  </a:extLst>
                </p:cNvPr>
                <p:cNvSpPr>
                  <a:spLocks noChangeArrowheads="1"/>
                </p:cNvSpPr>
                <p:nvPr/>
              </p:nvSpPr>
              <p:spPr bwMode="auto">
                <a:xfrm>
                  <a:off x="373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Tl</a:t>
                  </a:r>
                </a:p>
              </p:txBody>
            </p:sp>
            <p:sp>
              <p:nvSpPr>
                <p:cNvPr id="216" name="Rectangle 55">
                  <a:extLst>
                    <a:ext uri="{FF2B5EF4-FFF2-40B4-BE49-F238E27FC236}">
                      <a16:creationId xmlns:a16="http://schemas.microsoft.com/office/drawing/2014/main" id="{D6D20911-A333-4709-9609-5124F788046E}"/>
                    </a:ext>
                  </a:extLst>
                </p:cNvPr>
                <p:cNvSpPr>
                  <a:spLocks noChangeArrowheads="1"/>
                </p:cNvSpPr>
                <p:nvPr/>
              </p:nvSpPr>
              <p:spPr bwMode="auto">
                <a:xfrm>
                  <a:off x="402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Pb</a:t>
                  </a:r>
                  <a:endParaRPr lang="en-GB" sz="1400" dirty="0"/>
                </a:p>
              </p:txBody>
            </p:sp>
            <p:sp>
              <p:nvSpPr>
                <p:cNvPr id="217" name="Rectangle 56">
                  <a:extLst>
                    <a:ext uri="{FF2B5EF4-FFF2-40B4-BE49-F238E27FC236}">
                      <a16:creationId xmlns:a16="http://schemas.microsoft.com/office/drawing/2014/main" id="{6E613557-6823-4B11-853A-874D65CE9B89}"/>
                    </a:ext>
                  </a:extLst>
                </p:cNvPr>
                <p:cNvSpPr>
                  <a:spLocks noChangeArrowheads="1"/>
                </p:cNvSpPr>
                <p:nvPr/>
              </p:nvSpPr>
              <p:spPr bwMode="auto">
                <a:xfrm>
                  <a:off x="431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Bi</a:t>
                  </a:r>
                </a:p>
              </p:txBody>
            </p:sp>
            <p:sp>
              <p:nvSpPr>
                <p:cNvPr id="218" name="Rectangle 57">
                  <a:extLst>
                    <a:ext uri="{FF2B5EF4-FFF2-40B4-BE49-F238E27FC236}">
                      <a16:creationId xmlns:a16="http://schemas.microsoft.com/office/drawing/2014/main" id="{07F03B6B-0929-4399-92ED-2D5FF15D1C0E}"/>
                    </a:ext>
                  </a:extLst>
                </p:cNvPr>
                <p:cNvSpPr>
                  <a:spLocks noChangeArrowheads="1"/>
                </p:cNvSpPr>
                <p:nvPr/>
              </p:nvSpPr>
              <p:spPr bwMode="auto">
                <a:xfrm>
                  <a:off x="459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Po</a:t>
                  </a:r>
                </a:p>
              </p:txBody>
            </p:sp>
            <p:sp>
              <p:nvSpPr>
                <p:cNvPr id="219" name="Rectangle 58">
                  <a:extLst>
                    <a:ext uri="{FF2B5EF4-FFF2-40B4-BE49-F238E27FC236}">
                      <a16:creationId xmlns:a16="http://schemas.microsoft.com/office/drawing/2014/main" id="{73932BC6-E12F-4F20-9F45-84C711BB9D16}"/>
                    </a:ext>
                  </a:extLst>
                </p:cNvPr>
                <p:cNvSpPr>
                  <a:spLocks noChangeArrowheads="1"/>
                </p:cNvSpPr>
                <p:nvPr/>
              </p:nvSpPr>
              <p:spPr bwMode="auto">
                <a:xfrm>
                  <a:off x="85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La</a:t>
                  </a:r>
                </a:p>
              </p:txBody>
            </p:sp>
            <p:sp>
              <p:nvSpPr>
                <p:cNvPr id="220" name="Rectangle 59">
                  <a:extLst>
                    <a:ext uri="{FF2B5EF4-FFF2-40B4-BE49-F238E27FC236}">
                      <a16:creationId xmlns:a16="http://schemas.microsoft.com/office/drawing/2014/main" id="{728F05A0-B819-416E-8394-B8C4325AFE83}"/>
                    </a:ext>
                  </a:extLst>
                </p:cNvPr>
                <p:cNvSpPr>
                  <a:spLocks noChangeArrowheads="1"/>
                </p:cNvSpPr>
                <p:nvPr/>
              </p:nvSpPr>
              <p:spPr bwMode="auto">
                <a:xfrm>
                  <a:off x="488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a:t>
                  </a:r>
                </a:p>
              </p:txBody>
            </p:sp>
            <p:sp>
              <p:nvSpPr>
                <p:cNvPr id="221" name="Rectangle 60">
                  <a:extLst>
                    <a:ext uri="{FF2B5EF4-FFF2-40B4-BE49-F238E27FC236}">
                      <a16:creationId xmlns:a16="http://schemas.microsoft.com/office/drawing/2014/main" id="{55FC7EF9-4929-4C9D-AA2F-429E322767CA}"/>
                    </a:ext>
                  </a:extLst>
                </p:cNvPr>
                <p:cNvSpPr>
                  <a:spLocks noChangeArrowheads="1"/>
                </p:cNvSpPr>
                <p:nvPr/>
              </p:nvSpPr>
              <p:spPr bwMode="auto">
                <a:xfrm>
                  <a:off x="287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Pt</a:t>
                  </a:r>
                </a:p>
              </p:txBody>
            </p:sp>
            <p:sp>
              <p:nvSpPr>
                <p:cNvPr id="222" name="Rectangle 61">
                  <a:extLst>
                    <a:ext uri="{FF2B5EF4-FFF2-40B4-BE49-F238E27FC236}">
                      <a16:creationId xmlns:a16="http://schemas.microsoft.com/office/drawing/2014/main" id="{82049523-625F-4A6F-A84B-3E115C4ADB98}"/>
                    </a:ext>
                  </a:extLst>
                </p:cNvPr>
                <p:cNvSpPr>
                  <a:spLocks noChangeArrowheads="1"/>
                </p:cNvSpPr>
                <p:nvPr/>
              </p:nvSpPr>
              <p:spPr bwMode="auto">
                <a:xfrm>
                  <a:off x="567" y="3236"/>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Ra</a:t>
                  </a:r>
                </a:p>
              </p:txBody>
            </p:sp>
            <p:sp>
              <p:nvSpPr>
                <p:cNvPr id="223" name="Rectangle 62">
                  <a:extLst>
                    <a:ext uri="{FF2B5EF4-FFF2-40B4-BE49-F238E27FC236}">
                      <a16:creationId xmlns:a16="http://schemas.microsoft.com/office/drawing/2014/main" id="{EA964EE8-AD6D-4A1B-9DF5-CBDD529C4605}"/>
                    </a:ext>
                  </a:extLst>
                </p:cNvPr>
                <p:cNvSpPr>
                  <a:spLocks noChangeArrowheads="1"/>
                </p:cNvSpPr>
                <p:nvPr/>
              </p:nvSpPr>
              <p:spPr bwMode="auto">
                <a:xfrm>
                  <a:off x="1143"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Rf</a:t>
                  </a:r>
                </a:p>
              </p:txBody>
            </p:sp>
            <p:sp>
              <p:nvSpPr>
                <p:cNvPr id="224" name="Rectangle 63">
                  <a:extLst>
                    <a:ext uri="{FF2B5EF4-FFF2-40B4-BE49-F238E27FC236}">
                      <a16:creationId xmlns:a16="http://schemas.microsoft.com/office/drawing/2014/main" id="{EFEF01BA-9078-495D-A380-7D0892EDB229}"/>
                    </a:ext>
                  </a:extLst>
                </p:cNvPr>
                <p:cNvSpPr>
                  <a:spLocks noChangeArrowheads="1"/>
                </p:cNvSpPr>
                <p:nvPr/>
              </p:nvSpPr>
              <p:spPr bwMode="auto">
                <a:xfrm>
                  <a:off x="1431"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Db</a:t>
                  </a:r>
                </a:p>
              </p:txBody>
            </p:sp>
            <p:sp>
              <p:nvSpPr>
                <p:cNvPr id="225" name="Rectangle 64">
                  <a:extLst>
                    <a:ext uri="{FF2B5EF4-FFF2-40B4-BE49-F238E27FC236}">
                      <a16:creationId xmlns:a16="http://schemas.microsoft.com/office/drawing/2014/main" id="{CE033C09-4605-45BF-870A-D05CCFE8FE85}"/>
                    </a:ext>
                  </a:extLst>
                </p:cNvPr>
                <p:cNvSpPr>
                  <a:spLocks noChangeArrowheads="1"/>
                </p:cNvSpPr>
                <p:nvPr/>
              </p:nvSpPr>
              <p:spPr bwMode="auto">
                <a:xfrm>
                  <a:off x="171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Sg</a:t>
                  </a:r>
                </a:p>
              </p:txBody>
            </p:sp>
            <p:sp>
              <p:nvSpPr>
                <p:cNvPr id="226" name="Rectangle 65">
                  <a:extLst>
                    <a:ext uri="{FF2B5EF4-FFF2-40B4-BE49-F238E27FC236}">
                      <a16:creationId xmlns:a16="http://schemas.microsoft.com/office/drawing/2014/main" id="{594BB123-AF01-4F98-93E3-A5989CC7E01E}"/>
                    </a:ext>
                  </a:extLst>
                </p:cNvPr>
                <p:cNvSpPr>
                  <a:spLocks noChangeArrowheads="1"/>
                </p:cNvSpPr>
                <p:nvPr/>
              </p:nvSpPr>
              <p:spPr bwMode="auto">
                <a:xfrm>
                  <a:off x="2007"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Bh</a:t>
                  </a:r>
                </a:p>
              </p:txBody>
            </p:sp>
            <p:sp>
              <p:nvSpPr>
                <p:cNvPr id="227" name="Rectangle 66">
                  <a:extLst>
                    <a:ext uri="{FF2B5EF4-FFF2-40B4-BE49-F238E27FC236}">
                      <a16:creationId xmlns:a16="http://schemas.microsoft.com/office/drawing/2014/main" id="{A631339F-E08C-413B-B7DB-646B072C1F1E}"/>
                    </a:ext>
                  </a:extLst>
                </p:cNvPr>
                <p:cNvSpPr>
                  <a:spLocks noChangeArrowheads="1"/>
                </p:cNvSpPr>
                <p:nvPr/>
              </p:nvSpPr>
              <p:spPr bwMode="auto">
                <a:xfrm>
                  <a:off x="2295"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Hs</a:t>
                  </a:r>
                </a:p>
              </p:txBody>
            </p:sp>
            <p:sp>
              <p:nvSpPr>
                <p:cNvPr id="228" name="Rectangle 67">
                  <a:extLst>
                    <a:ext uri="{FF2B5EF4-FFF2-40B4-BE49-F238E27FC236}">
                      <a16:creationId xmlns:a16="http://schemas.microsoft.com/office/drawing/2014/main" id="{73E9D29D-5EE2-4C74-B3BE-A7E80EB163CE}"/>
                    </a:ext>
                  </a:extLst>
                </p:cNvPr>
                <p:cNvSpPr>
                  <a:spLocks noChangeArrowheads="1"/>
                </p:cNvSpPr>
                <p:nvPr/>
              </p:nvSpPr>
              <p:spPr bwMode="auto">
                <a:xfrm>
                  <a:off x="2583"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Mt</a:t>
                  </a:r>
                </a:p>
              </p:txBody>
            </p:sp>
            <p:sp>
              <p:nvSpPr>
                <p:cNvPr id="229" name="Rectangle 68">
                  <a:extLst>
                    <a:ext uri="{FF2B5EF4-FFF2-40B4-BE49-F238E27FC236}">
                      <a16:creationId xmlns:a16="http://schemas.microsoft.com/office/drawing/2014/main" id="{23E678BC-A94E-4E62-B6D4-55D6813A7A14}"/>
                    </a:ext>
                  </a:extLst>
                </p:cNvPr>
                <p:cNvSpPr>
                  <a:spLocks noChangeArrowheads="1"/>
                </p:cNvSpPr>
                <p:nvPr/>
              </p:nvSpPr>
              <p:spPr bwMode="auto">
                <a:xfrm>
                  <a:off x="315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230" name="Rectangle 69">
                  <a:extLst>
                    <a:ext uri="{FF2B5EF4-FFF2-40B4-BE49-F238E27FC236}">
                      <a16:creationId xmlns:a16="http://schemas.microsoft.com/office/drawing/2014/main" id="{8CB0124C-3DFD-4307-9C8B-604AE2A1462D}"/>
                    </a:ext>
                  </a:extLst>
                </p:cNvPr>
                <p:cNvSpPr>
                  <a:spLocks noChangeArrowheads="1"/>
                </p:cNvSpPr>
                <p:nvPr/>
              </p:nvSpPr>
              <p:spPr bwMode="auto">
                <a:xfrm>
                  <a:off x="3447"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231" name="Rectangle 70">
                  <a:extLst>
                    <a:ext uri="{FF2B5EF4-FFF2-40B4-BE49-F238E27FC236}">
                      <a16:creationId xmlns:a16="http://schemas.microsoft.com/office/drawing/2014/main" id="{B9D1EE2C-ED9A-4950-ADC3-9E1784EB50E3}"/>
                    </a:ext>
                  </a:extLst>
                </p:cNvPr>
                <p:cNvSpPr>
                  <a:spLocks noChangeArrowheads="1"/>
                </p:cNvSpPr>
                <p:nvPr/>
              </p:nvSpPr>
              <p:spPr bwMode="auto">
                <a:xfrm>
                  <a:off x="855"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Ac</a:t>
                  </a:r>
                </a:p>
              </p:txBody>
            </p:sp>
            <p:sp>
              <p:nvSpPr>
                <p:cNvPr id="232" name="Rectangle 71">
                  <a:extLst>
                    <a:ext uri="{FF2B5EF4-FFF2-40B4-BE49-F238E27FC236}">
                      <a16:creationId xmlns:a16="http://schemas.microsoft.com/office/drawing/2014/main" id="{F34F023A-9D01-4B71-BAA3-8EDEC2FBA8D0}"/>
                    </a:ext>
                  </a:extLst>
                </p:cNvPr>
                <p:cNvSpPr>
                  <a:spLocks noChangeArrowheads="1"/>
                </p:cNvSpPr>
                <p:nvPr/>
              </p:nvSpPr>
              <p:spPr bwMode="auto">
                <a:xfrm>
                  <a:off x="2871"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233" name="Rectangle 72">
                  <a:extLst>
                    <a:ext uri="{FF2B5EF4-FFF2-40B4-BE49-F238E27FC236}">
                      <a16:creationId xmlns:a16="http://schemas.microsoft.com/office/drawing/2014/main" id="{6D5CD598-6EC3-4B8B-8325-8A405E657A4F}"/>
                    </a:ext>
                  </a:extLst>
                </p:cNvPr>
                <p:cNvSpPr>
                  <a:spLocks noChangeArrowheads="1"/>
                </p:cNvSpPr>
                <p:nvPr/>
              </p:nvSpPr>
              <p:spPr bwMode="auto">
                <a:xfrm>
                  <a:off x="3735"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Al</a:t>
                  </a:r>
                </a:p>
              </p:txBody>
            </p:sp>
            <p:sp>
              <p:nvSpPr>
                <p:cNvPr id="234" name="Rectangle 73">
                  <a:extLst>
                    <a:ext uri="{FF2B5EF4-FFF2-40B4-BE49-F238E27FC236}">
                      <a16:creationId xmlns:a16="http://schemas.microsoft.com/office/drawing/2014/main" id="{FDC46D31-00FB-442D-B620-B074D78FC309}"/>
                    </a:ext>
                  </a:extLst>
                </p:cNvPr>
                <p:cNvSpPr>
                  <a:spLocks noChangeArrowheads="1"/>
                </p:cNvSpPr>
                <p:nvPr/>
              </p:nvSpPr>
              <p:spPr bwMode="auto">
                <a:xfrm>
                  <a:off x="4311"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a:t>
                  </a:r>
                </a:p>
              </p:txBody>
            </p:sp>
            <p:sp>
              <p:nvSpPr>
                <p:cNvPr id="235" name="Rectangle 74">
                  <a:extLst>
                    <a:ext uri="{FF2B5EF4-FFF2-40B4-BE49-F238E27FC236}">
                      <a16:creationId xmlns:a16="http://schemas.microsoft.com/office/drawing/2014/main" id="{7294A9AC-9E06-4B0E-AC37-B2F0B3BCB591}"/>
                    </a:ext>
                  </a:extLst>
                </p:cNvPr>
                <p:cNvSpPr>
                  <a:spLocks noChangeArrowheads="1"/>
                </p:cNvSpPr>
                <p:nvPr/>
              </p:nvSpPr>
              <p:spPr bwMode="auto">
                <a:xfrm>
                  <a:off x="4311"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a:t>
                  </a:r>
                </a:p>
              </p:txBody>
            </p:sp>
            <p:sp>
              <p:nvSpPr>
                <p:cNvPr id="236" name="Rectangle 75">
                  <a:extLst>
                    <a:ext uri="{FF2B5EF4-FFF2-40B4-BE49-F238E27FC236}">
                      <a16:creationId xmlns:a16="http://schemas.microsoft.com/office/drawing/2014/main" id="{CAB1E2EA-9778-4255-BF76-8C4C121F22CF}"/>
                    </a:ext>
                  </a:extLst>
                </p:cNvPr>
                <p:cNvSpPr>
                  <a:spLocks noChangeArrowheads="1"/>
                </p:cNvSpPr>
                <p:nvPr/>
              </p:nvSpPr>
              <p:spPr bwMode="auto">
                <a:xfrm>
                  <a:off x="4599"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O</a:t>
                  </a:r>
                </a:p>
              </p:txBody>
            </p:sp>
            <p:sp>
              <p:nvSpPr>
                <p:cNvPr id="237" name="Rectangle 76">
                  <a:extLst>
                    <a:ext uri="{FF2B5EF4-FFF2-40B4-BE49-F238E27FC236}">
                      <a16:creationId xmlns:a16="http://schemas.microsoft.com/office/drawing/2014/main" id="{0C144717-922B-417F-A17D-69C462C3FF8C}"/>
                    </a:ext>
                  </a:extLst>
                </p:cNvPr>
                <p:cNvSpPr>
                  <a:spLocks noChangeArrowheads="1"/>
                </p:cNvSpPr>
                <p:nvPr/>
              </p:nvSpPr>
              <p:spPr bwMode="auto">
                <a:xfrm>
                  <a:off x="4599"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a:t>
                  </a:r>
                </a:p>
              </p:txBody>
            </p:sp>
            <p:sp>
              <p:nvSpPr>
                <p:cNvPr id="238" name="Rectangle 77">
                  <a:extLst>
                    <a:ext uri="{FF2B5EF4-FFF2-40B4-BE49-F238E27FC236}">
                      <a16:creationId xmlns:a16="http://schemas.microsoft.com/office/drawing/2014/main" id="{594003BD-0FDA-4594-A380-DAB9AF9720B6}"/>
                    </a:ext>
                  </a:extLst>
                </p:cNvPr>
                <p:cNvSpPr>
                  <a:spLocks noChangeArrowheads="1"/>
                </p:cNvSpPr>
                <p:nvPr/>
              </p:nvSpPr>
              <p:spPr bwMode="auto">
                <a:xfrm>
                  <a:off x="4887"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Cl</a:t>
                  </a:r>
                </a:p>
              </p:txBody>
            </p:sp>
            <p:sp>
              <p:nvSpPr>
                <p:cNvPr id="239" name="Rectangle 78">
                  <a:extLst>
                    <a:ext uri="{FF2B5EF4-FFF2-40B4-BE49-F238E27FC236}">
                      <a16:creationId xmlns:a16="http://schemas.microsoft.com/office/drawing/2014/main" id="{DCAFA5FE-46A2-42DD-A124-AD2CF174A560}"/>
                    </a:ext>
                  </a:extLst>
                </p:cNvPr>
                <p:cNvSpPr>
                  <a:spLocks noChangeArrowheads="1"/>
                </p:cNvSpPr>
                <p:nvPr/>
              </p:nvSpPr>
              <p:spPr bwMode="auto">
                <a:xfrm>
                  <a:off x="4887"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F</a:t>
                  </a:r>
                </a:p>
              </p:txBody>
            </p:sp>
            <p:sp>
              <p:nvSpPr>
                <p:cNvPr id="240" name="Rectangle 79">
                  <a:extLst>
                    <a:ext uri="{FF2B5EF4-FFF2-40B4-BE49-F238E27FC236}">
                      <a16:creationId xmlns:a16="http://schemas.microsoft.com/office/drawing/2014/main" id="{A54330CB-16D0-425C-B91A-D2BB01C5E5D5}"/>
                    </a:ext>
                  </a:extLst>
                </p:cNvPr>
                <p:cNvSpPr>
                  <a:spLocks noChangeArrowheads="1"/>
                </p:cNvSpPr>
                <p:nvPr/>
              </p:nvSpPr>
              <p:spPr bwMode="auto">
                <a:xfrm>
                  <a:off x="5175"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Ne</a:t>
                  </a:r>
                </a:p>
              </p:txBody>
            </p:sp>
            <p:sp>
              <p:nvSpPr>
                <p:cNvPr id="241" name="Rectangle 80">
                  <a:extLst>
                    <a:ext uri="{FF2B5EF4-FFF2-40B4-BE49-F238E27FC236}">
                      <a16:creationId xmlns:a16="http://schemas.microsoft.com/office/drawing/2014/main" id="{2AB33B00-357A-4A5F-BC61-45AE6BEC121B}"/>
                    </a:ext>
                  </a:extLst>
                </p:cNvPr>
                <p:cNvSpPr>
                  <a:spLocks noChangeArrowheads="1"/>
                </p:cNvSpPr>
                <p:nvPr/>
              </p:nvSpPr>
              <p:spPr bwMode="auto">
                <a:xfrm>
                  <a:off x="5175"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Ar</a:t>
                  </a:r>
                </a:p>
              </p:txBody>
            </p:sp>
            <p:sp>
              <p:nvSpPr>
                <p:cNvPr id="242" name="Rectangle 81">
                  <a:extLst>
                    <a:ext uri="{FF2B5EF4-FFF2-40B4-BE49-F238E27FC236}">
                      <a16:creationId xmlns:a16="http://schemas.microsoft.com/office/drawing/2014/main" id="{3A318481-76A2-454F-AFA0-888A554DE7E0}"/>
                    </a:ext>
                  </a:extLst>
                </p:cNvPr>
                <p:cNvSpPr>
                  <a:spLocks noChangeArrowheads="1"/>
                </p:cNvSpPr>
                <p:nvPr/>
              </p:nvSpPr>
              <p:spPr bwMode="auto">
                <a:xfrm>
                  <a:off x="517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Rn</a:t>
                  </a:r>
                </a:p>
              </p:txBody>
            </p:sp>
            <p:sp>
              <p:nvSpPr>
                <p:cNvPr id="243" name="Rectangle 82">
                  <a:extLst>
                    <a:ext uri="{FF2B5EF4-FFF2-40B4-BE49-F238E27FC236}">
                      <a16:creationId xmlns:a16="http://schemas.microsoft.com/office/drawing/2014/main" id="{80311247-5961-484B-8A0D-671AA1688CA2}"/>
                    </a:ext>
                  </a:extLst>
                </p:cNvPr>
                <p:cNvSpPr>
                  <a:spLocks noChangeArrowheads="1"/>
                </p:cNvSpPr>
                <p:nvPr/>
              </p:nvSpPr>
              <p:spPr bwMode="auto">
                <a:xfrm>
                  <a:off x="488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a:t>
                  </a:r>
                </a:p>
              </p:txBody>
            </p:sp>
            <p:sp>
              <p:nvSpPr>
                <p:cNvPr id="244" name="Rectangle 83">
                  <a:extLst>
                    <a:ext uri="{FF2B5EF4-FFF2-40B4-BE49-F238E27FC236}">
                      <a16:creationId xmlns:a16="http://schemas.microsoft.com/office/drawing/2014/main" id="{CEA5B51C-8BF7-4FDE-8714-9EAD3FBE5C71}"/>
                    </a:ext>
                  </a:extLst>
                </p:cNvPr>
                <p:cNvSpPr>
                  <a:spLocks noChangeArrowheads="1"/>
                </p:cNvSpPr>
                <p:nvPr/>
              </p:nvSpPr>
              <p:spPr bwMode="auto">
                <a:xfrm>
                  <a:off x="4023"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Si</a:t>
                  </a:r>
                </a:p>
              </p:txBody>
            </p:sp>
            <p:sp>
              <p:nvSpPr>
                <p:cNvPr id="245" name="Rectangle 84">
                  <a:extLst>
                    <a:ext uri="{FF2B5EF4-FFF2-40B4-BE49-F238E27FC236}">
                      <a16:creationId xmlns:a16="http://schemas.microsoft.com/office/drawing/2014/main" id="{DBED7BC8-6B6B-4B03-8F7A-E6B2951E6E3F}"/>
                    </a:ext>
                  </a:extLst>
                </p:cNvPr>
                <p:cNvSpPr>
                  <a:spLocks noChangeArrowheads="1"/>
                </p:cNvSpPr>
                <p:nvPr/>
              </p:nvSpPr>
              <p:spPr bwMode="auto">
                <a:xfrm>
                  <a:off x="517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Xe</a:t>
                  </a:r>
                </a:p>
              </p:txBody>
            </p:sp>
            <p:sp>
              <p:nvSpPr>
                <p:cNvPr id="246" name="Rectangle 85">
                  <a:extLst>
                    <a:ext uri="{FF2B5EF4-FFF2-40B4-BE49-F238E27FC236}">
                      <a16:creationId xmlns:a16="http://schemas.microsoft.com/office/drawing/2014/main" id="{1EEA893F-F455-43C7-A6A4-968DE299AB0C}"/>
                    </a:ext>
                  </a:extLst>
                </p:cNvPr>
                <p:cNvSpPr>
                  <a:spLocks noChangeArrowheads="1"/>
                </p:cNvSpPr>
                <p:nvPr/>
              </p:nvSpPr>
              <p:spPr bwMode="auto">
                <a:xfrm>
                  <a:off x="5175" y="150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He</a:t>
                  </a:r>
                </a:p>
              </p:txBody>
            </p:sp>
            <p:sp>
              <p:nvSpPr>
                <p:cNvPr id="247" name="Rectangle 86">
                  <a:extLst>
                    <a:ext uri="{FF2B5EF4-FFF2-40B4-BE49-F238E27FC236}">
                      <a16:creationId xmlns:a16="http://schemas.microsoft.com/office/drawing/2014/main" id="{13A3DC11-91E3-411C-8936-D7DCBB1EE411}"/>
                    </a:ext>
                  </a:extLst>
                </p:cNvPr>
                <p:cNvSpPr>
                  <a:spLocks noChangeArrowheads="1"/>
                </p:cNvSpPr>
                <p:nvPr/>
              </p:nvSpPr>
              <p:spPr bwMode="auto">
                <a:xfrm>
                  <a:off x="3735"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a:t>
                  </a:r>
                </a:p>
              </p:txBody>
            </p:sp>
            <p:sp>
              <p:nvSpPr>
                <p:cNvPr id="248" name="Rectangle 87">
                  <a:extLst>
                    <a:ext uri="{FF2B5EF4-FFF2-40B4-BE49-F238E27FC236}">
                      <a16:creationId xmlns:a16="http://schemas.microsoft.com/office/drawing/2014/main" id="{CAEE8EF6-07FA-40D5-8C78-2A48F2638D54}"/>
                    </a:ext>
                  </a:extLst>
                </p:cNvPr>
                <p:cNvSpPr>
                  <a:spLocks noChangeArrowheads="1"/>
                </p:cNvSpPr>
                <p:nvPr/>
              </p:nvSpPr>
              <p:spPr bwMode="auto">
                <a:xfrm>
                  <a:off x="4023"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a:t>
                  </a:r>
                </a:p>
              </p:txBody>
            </p:sp>
            <p:sp>
              <p:nvSpPr>
                <p:cNvPr id="249" name="Rectangle 88">
                  <a:extLst>
                    <a:ext uri="{FF2B5EF4-FFF2-40B4-BE49-F238E27FC236}">
                      <a16:creationId xmlns:a16="http://schemas.microsoft.com/office/drawing/2014/main" id="{73E7617E-3867-4E49-BC11-D7666E6B3807}"/>
                    </a:ext>
                  </a:extLst>
                </p:cNvPr>
                <p:cNvSpPr>
                  <a:spLocks noChangeArrowheads="1"/>
                </p:cNvSpPr>
                <p:nvPr/>
              </p:nvSpPr>
              <p:spPr bwMode="auto">
                <a:xfrm>
                  <a:off x="4311"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As</a:t>
                  </a:r>
                </a:p>
              </p:txBody>
            </p:sp>
            <p:sp>
              <p:nvSpPr>
                <p:cNvPr id="250" name="Line 89">
                  <a:extLst>
                    <a:ext uri="{FF2B5EF4-FFF2-40B4-BE49-F238E27FC236}">
                      <a16:creationId xmlns:a16="http://schemas.microsoft.com/office/drawing/2014/main" id="{0D7092BC-E7BC-4744-9314-A504328A80CB}"/>
                    </a:ext>
                  </a:extLst>
                </p:cNvPr>
                <p:cNvSpPr>
                  <a:spLocks noChangeShapeType="1"/>
                </p:cNvSpPr>
                <p:nvPr/>
              </p:nvSpPr>
              <p:spPr bwMode="auto">
                <a:xfrm>
                  <a:off x="3735" y="1796"/>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1" name="Line 90">
                  <a:extLst>
                    <a:ext uri="{FF2B5EF4-FFF2-40B4-BE49-F238E27FC236}">
                      <a16:creationId xmlns:a16="http://schemas.microsoft.com/office/drawing/2014/main" id="{0D57BA3F-6ED3-4BFD-9D79-408C153F89A4}"/>
                    </a:ext>
                  </a:extLst>
                </p:cNvPr>
                <p:cNvSpPr>
                  <a:spLocks noChangeShapeType="1"/>
                </p:cNvSpPr>
                <p:nvPr/>
              </p:nvSpPr>
              <p:spPr bwMode="auto">
                <a:xfrm>
                  <a:off x="3735" y="2084"/>
                  <a:ext cx="288"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2" name="Line 91">
                  <a:extLst>
                    <a:ext uri="{FF2B5EF4-FFF2-40B4-BE49-F238E27FC236}">
                      <a16:creationId xmlns:a16="http://schemas.microsoft.com/office/drawing/2014/main" id="{71F4882E-1746-4C8C-B15F-37ACDA0F37CC}"/>
                    </a:ext>
                  </a:extLst>
                </p:cNvPr>
                <p:cNvSpPr>
                  <a:spLocks noChangeShapeType="1"/>
                </p:cNvSpPr>
                <p:nvPr/>
              </p:nvSpPr>
              <p:spPr bwMode="auto">
                <a:xfrm>
                  <a:off x="4023" y="2084"/>
                  <a:ext cx="0" cy="288"/>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3" name="Line 92">
                  <a:extLst>
                    <a:ext uri="{FF2B5EF4-FFF2-40B4-BE49-F238E27FC236}">
                      <a16:creationId xmlns:a16="http://schemas.microsoft.com/office/drawing/2014/main" id="{2CED2A84-5467-46A3-89C9-BD21D934B5C2}"/>
                    </a:ext>
                  </a:extLst>
                </p:cNvPr>
                <p:cNvSpPr>
                  <a:spLocks noChangeShapeType="1"/>
                </p:cNvSpPr>
                <p:nvPr/>
              </p:nvSpPr>
              <p:spPr bwMode="auto">
                <a:xfrm>
                  <a:off x="4311" y="2372"/>
                  <a:ext cx="0" cy="288"/>
                </a:xfrm>
                <a:prstGeom prst="lin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4" name="Line 93">
                  <a:extLst>
                    <a:ext uri="{FF2B5EF4-FFF2-40B4-BE49-F238E27FC236}">
                      <a16:creationId xmlns:a16="http://schemas.microsoft.com/office/drawing/2014/main" id="{7BCA0461-B842-448C-8FFC-F69E2F49E4B2}"/>
                    </a:ext>
                  </a:extLst>
                </p:cNvPr>
                <p:cNvSpPr>
                  <a:spLocks noChangeShapeType="1"/>
                </p:cNvSpPr>
                <p:nvPr/>
              </p:nvSpPr>
              <p:spPr bwMode="auto">
                <a:xfrm>
                  <a:off x="4599" y="266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5" name="Line 94">
                  <a:extLst>
                    <a:ext uri="{FF2B5EF4-FFF2-40B4-BE49-F238E27FC236}">
                      <a16:creationId xmlns:a16="http://schemas.microsoft.com/office/drawing/2014/main" id="{1F6396AD-93CB-4323-9E7E-69157B5BC286}"/>
                    </a:ext>
                  </a:extLst>
                </p:cNvPr>
                <p:cNvSpPr>
                  <a:spLocks noChangeShapeType="1"/>
                </p:cNvSpPr>
                <p:nvPr/>
              </p:nvSpPr>
              <p:spPr bwMode="auto">
                <a:xfrm>
                  <a:off x="4887" y="2948"/>
                  <a:ext cx="0" cy="288"/>
                </a:xfrm>
                <a:prstGeom prst="lin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6" name="Line 95">
                  <a:extLst>
                    <a:ext uri="{FF2B5EF4-FFF2-40B4-BE49-F238E27FC236}">
                      <a16:creationId xmlns:a16="http://schemas.microsoft.com/office/drawing/2014/main" id="{C2071074-DFB2-4CCE-ADDA-D0EF39B93C4E}"/>
                    </a:ext>
                  </a:extLst>
                </p:cNvPr>
                <p:cNvSpPr>
                  <a:spLocks noChangeShapeType="1"/>
                </p:cNvSpPr>
                <p:nvPr/>
              </p:nvSpPr>
              <p:spPr bwMode="auto">
                <a:xfrm>
                  <a:off x="4023" y="2372"/>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7" name="Line 96">
                  <a:extLst>
                    <a:ext uri="{FF2B5EF4-FFF2-40B4-BE49-F238E27FC236}">
                      <a16:creationId xmlns:a16="http://schemas.microsoft.com/office/drawing/2014/main" id="{26795DE5-2502-4605-BD72-BCF508B62546}"/>
                    </a:ext>
                  </a:extLst>
                </p:cNvPr>
                <p:cNvSpPr>
                  <a:spLocks noChangeShapeType="1"/>
                </p:cNvSpPr>
                <p:nvPr/>
              </p:nvSpPr>
              <p:spPr bwMode="auto">
                <a:xfrm>
                  <a:off x="4311" y="2660"/>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8" name="Line 97">
                  <a:extLst>
                    <a:ext uri="{FF2B5EF4-FFF2-40B4-BE49-F238E27FC236}">
                      <a16:creationId xmlns:a16="http://schemas.microsoft.com/office/drawing/2014/main" id="{63DEDE05-CEDC-47C0-B819-EA2E27BD22FE}"/>
                    </a:ext>
                  </a:extLst>
                </p:cNvPr>
                <p:cNvSpPr>
                  <a:spLocks noChangeShapeType="1"/>
                </p:cNvSpPr>
                <p:nvPr/>
              </p:nvSpPr>
              <p:spPr bwMode="auto">
                <a:xfrm>
                  <a:off x="4599" y="2948"/>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9" name="Line 98">
                  <a:extLst>
                    <a:ext uri="{FF2B5EF4-FFF2-40B4-BE49-F238E27FC236}">
                      <a16:creationId xmlns:a16="http://schemas.microsoft.com/office/drawing/2014/main" id="{2383C46B-6F9C-4CAA-BF25-6E46812E37BD}"/>
                    </a:ext>
                  </a:extLst>
                </p:cNvPr>
                <p:cNvSpPr>
                  <a:spLocks noChangeShapeType="1"/>
                </p:cNvSpPr>
                <p:nvPr/>
              </p:nvSpPr>
              <p:spPr bwMode="auto">
                <a:xfrm>
                  <a:off x="5175" y="1508"/>
                  <a:ext cx="0" cy="1728"/>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grpSp>
          <p:sp>
            <p:nvSpPr>
              <p:cNvPr id="158" name="TextBox 157">
                <a:extLst>
                  <a:ext uri="{FF2B5EF4-FFF2-40B4-BE49-F238E27FC236}">
                    <a16:creationId xmlns:a16="http://schemas.microsoft.com/office/drawing/2014/main" id="{7AA0293A-2BA6-4595-8377-7FC5CC89FDCC}"/>
                  </a:ext>
                </a:extLst>
              </p:cNvPr>
              <p:cNvSpPr txBox="1"/>
              <p:nvPr/>
            </p:nvSpPr>
            <p:spPr>
              <a:xfrm>
                <a:off x="446601" y="2411009"/>
                <a:ext cx="552075" cy="615553"/>
              </a:xfrm>
              <a:prstGeom prst="rect">
                <a:avLst/>
              </a:prstGeom>
              <a:noFill/>
            </p:spPr>
            <p:txBody>
              <a:bodyPr wrap="none" rtlCol="0">
                <a:spAutoFit/>
              </a:bodyPr>
              <a:lstStyle/>
              <a:p>
                <a:r>
                  <a:rPr lang="en-GB" sz="1400" dirty="0"/>
                  <a:t>1</a:t>
                </a:r>
              </a:p>
            </p:txBody>
          </p:sp>
          <p:sp>
            <p:nvSpPr>
              <p:cNvPr id="159" name="TextBox 158">
                <a:extLst>
                  <a:ext uri="{FF2B5EF4-FFF2-40B4-BE49-F238E27FC236}">
                    <a16:creationId xmlns:a16="http://schemas.microsoft.com/office/drawing/2014/main" id="{FFE08ED3-E070-4798-A2E2-F189D27BA619}"/>
                  </a:ext>
                </a:extLst>
              </p:cNvPr>
              <p:cNvSpPr txBox="1"/>
              <p:nvPr/>
            </p:nvSpPr>
            <p:spPr>
              <a:xfrm>
                <a:off x="882960" y="2411007"/>
                <a:ext cx="552075" cy="615553"/>
              </a:xfrm>
              <a:prstGeom prst="rect">
                <a:avLst/>
              </a:prstGeom>
              <a:noFill/>
            </p:spPr>
            <p:txBody>
              <a:bodyPr wrap="none" rtlCol="0">
                <a:spAutoFit/>
              </a:bodyPr>
              <a:lstStyle/>
              <a:p>
                <a:r>
                  <a:rPr lang="en-GB" sz="1400" dirty="0"/>
                  <a:t>2</a:t>
                </a:r>
              </a:p>
            </p:txBody>
          </p:sp>
          <p:sp>
            <p:nvSpPr>
              <p:cNvPr id="160" name="TextBox 159">
                <a:extLst>
                  <a:ext uri="{FF2B5EF4-FFF2-40B4-BE49-F238E27FC236}">
                    <a16:creationId xmlns:a16="http://schemas.microsoft.com/office/drawing/2014/main" id="{0CF3E031-49D0-4B73-B27A-07F4BFB123F4}"/>
                  </a:ext>
                </a:extLst>
              </p:cNvPr>
              <p:cNvSpPr txBox="1"/>
              <p:nvPr/>
            </p:nvSpPr>
            <p:spPr>
              <a:xfrm>
                <a:off x="5912161" y="2411010"/>
                <a:ext cx="552075" cy="615553"/>
              </a:xfrm>
              <a:prstGeom prst="rect">
                <a:avLst/>
              </a:prstGeom>
              <a:noFill/>
            </p:spPr>
            <p:txBody>
              <a:bodyPr wrap="none" rtlCol="0">
                <a:spAutoFit/>
              </a:bodyPr>
              <a:lstStyle/>
              <a:p>
                <a:r>
                  <a:rPr lang="en-GB" sz="1400" dirty="0"/>
                  <a:t>3</a:t>
                </a:r>
              </a:p>
            </p:txBody>
          </p:sp>
          <p:sp>
            <p:nvSpPr>
              <p:cNvPr id="161" name="TextBox 160">
                <a:extLst>
                  <a:ext uri="{FF2B5EF4-FFF2-40B4-BE49-F238E27FC236}">
                    <a16:creationId xmlns:a16="http://schemas.microsoft.com/office/drawing/2014/main" id="{6B52B478-526B-41F9-90D7-64ECF78E5E2B}"/>
                  </a:ext>
                </a:extLst>
              </p:cNvPr>
              <p:cNvSpPr txBox="1"/>
              <p:nvPr/>
            </p:nvSpPr>
            <p:spPr>
              <a:xfrm>
                <a:off x="6369362" y="2411015"/>
                <a:ext cx="552075" cy="615553"/>
              </a:xfrm>
              <a:prstGeom prst="rect">
                <a:avLst/>
              </a:prstGeom>
              <a:noFill/>
            </p:spPr>
            <p:txBody>
              <a:bodyPr wrap="none" rtlCol="0">
                <a:spAutoFit/>
              </a:bodyPr>
              <a:lstStyle/>
              <a:p>
                <a:r>
                  <a:rPr lang="en-GB" sz="1400" dirty="0"/>
                  <a:t>4</a:t>
                </a:r>
              </a:p>
            </p:txBody>
          </p:sp>
          <p:sp>
            <p:nvSpPr>
              <p:cNvPr id="162" name="TextBox 161">
                <a:extLst>
                  <a:ext uri="{FF2B5EF4-FFF2-40B4-BE49-F238E27FC236}">
                    <a16:creationId xmlns:a16="http://schemas.microsoft.com/office/drawing/2014/main" id="{036A6264-76A3-4112-879B-FC899849E02B}"/>
                  </a:ext>
                </a:extLst>
              </p:cNvPr>
              <p:cNvSpPr txBox="1"/>
              <p:nvPr/>
            </p:nvSpPr>
            <p:spPr>
              <a:xfrm>
                <a:off x="6826562" y="2411015"/>
                <a:ext cx="552075" cy="615553"/>
              </a:xfrm>
              <a:prstGeom prst="rect">
                <a:avLst/>
              </a:prstGeom>
              <a:noFill/>
            </p:spPr>
            <p:txBody>
              <a:bodyPr wrap="none" rtlCol="0">
                <a:spAutoFit/>
              </a:bodyPr>
              <a:lstStyle/>
              <a:p>
                <a:r>
                  <a:rPr lang="en-GB" sz="1400" dirty="0"/>
                  <a:t>5</a:t>
                </a:r>
              </a:p>
            </p:txBody>
          </p:sp>
          <p:sp>
            <p:nvSpPr>
              <p:cNvPr id="163" name="TextBox 162">
                <a:extLst>
                  <a:ext uri="{FF2B5EF4-FFF2-40B4-BE49-F238E27FC236}">
                    <a16:creationId xmlns:a16="http://schemas.microsoft.com/office/drawing/2014/main" id="{4756CC2C-D8E1-4DCB-90D0-53E9D7C21450}"/>
                  </a:ext>
                </a:extLst>
              </p:cNvPr>
              <p:cNvSpPr txBox="1"/>
              <p:nvPr/>
            </p:nvSpPr>
            <p:spPr>
              <a:xfrm>
                <a:off x="7283760" y="2411015"/>
                <a:ext cx="552075" cy="615553"/>
              </a:xfrm>
              <a:prstGeom prst="rect">
                <a:avLst/>
              </a:prstGeom>
              <a:noFill/>
            </p:spPr>
            <p:txBody>
              <a:bodyPr wrap="none" rtlCol="0">
                <a:spAutoFit/>
              </a:bodyPr>
              <a:lstStyle/>
              <a:p>
                <a:r>
                  <a:rPr lang="en-GB" sz="1400" dirty="0"/>
                  <a:t>6</a:t>
                </a:r>
              </a:p>
            </p:txBody>
          </p:sp>
          <p:sp>
            <p:nvSpPr>
              <p:cNvPr id="164" name="TextBox 163">
                <a:extLst>
                  <a:ext uri="{FF2B5EF4-FFF2-40B4-BE49-F238E27FC236}">
                    <a16:creationId xmlns:a16="http://schemas.microsoft.com/office/drawing/2014/main" id="{1AB0B0C6-23E5-45C4-8C11-C738A6CD2E5C}"/>
                  </a:ext>
                </a:extLst>
              </p:cNvPr>
              <p:cNvSpPr txBox="1"/>
              <p:nvPr/>
            </p:nvSpPr>
            <p:spPr>
              <a:xfrm>
                <a:off x="7756914" y="2411015"/>
                <a:ext cx="552075" cy="615553"/>
              </a:xfrm>
              <a:prstGeom prst="rect">
                <a:avLst/>
              </a:prstGeom>
              <a:noFill/>
            </p:spPr>
            <p:txBody>
              <a:bodyPr wrap="none" rtlCol="0">
                <a:spAutoFit/>
              </a:bodyPr>
              <a:lstStyle/>
              <a:p>
                <a:r>
                  <a:rPr lang="en-GB" sz="1400" dirty="0"/>
                  <a:t>7</a:t>
                </a:r>
              </a:p>
            </p:txBody>
          </p:sp>
          <p:sp>
            <p:nvSpPr>
              <p:cNvPr id="165" name="TextBox 164">
                <a:extLst>
                  <a:ext uri="{FF2B5EF4-FFF2-40B4-BE49-F238E27FC236}">
                    <a16:creationId xmlns:a16="http://schemas.microsoft.com/office/drawing/2014/main" id="{58FAA7CD-1A66-454A-BD2B-6D39CB433796}"/>
                  </a:ext>
                </a:extLst>
              </p:cNvPr>
              <p:cNvSpPr txBox="1"/>
              <p:nvPr/>
            </p:nvSpPr>
            <p:spPr>
              <a:xfrm>
                <a:off x="8198161" y="2411012"/>
                <a:ext cx="456898" cy="535600"/>
              </a:xfrm>
              <a:prstGeom prst="rect">
                <a:avLst/>
              </a:prstGeom>
              <a:noFill/>
            </p:spPr>
            <p:txBody>
              <a:bodyPr wrap="none" rtlCol="0">
                <a:spAutoFit/>
              </a:bodyPr>
              <a:lstStyle/>
              <a:p>
                <a:r>
                  <a:rPr lang="en-GB" sz="1400" dirty="0"/>
                  <a:t>0</a:t>
                </a:r>
              </a:p>
            </p:txBody>
          </p:sp>
        </p:grpSp>
        <p:cxnSp>
          <p:nvCxnSpPr>
            <p:cNvPr id="148" name="Straight Connector 147">
              <a:extLst>
                <a:ext uri="{FF2B5EF4-FFF2-40B4-BE49-F238E27FC236}">
                  <a16:creationId xmlns:a16="http://schemas.microsoft.com/office/drawing/2014/main" id="{1BCEF7C3-FB1A-4E3E-8AA6-D292A5D22A3B}"/>
                </a:ext>
              </a:extLst>
            </p:cNvPr>
            <p:cNvCxnSpPr>
              <a:endCxn id="252" idx="0"/>
            </p:cNvCxnSpPr>
            <p:nvPr/>
          </p:nvCxnSpPr>
          <p:spPr>
            <a:xfrm>
              <a:off x="6403975" y="327808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19F9D6D0-A8BE-4FBC-B3FA-992E9842D7C0}"/>
                </a:ext>
              </a:extLst>
            </p:cNvPr>
            <p:cNvCxnSpPr/>
            <p:nvPr/>
          </p:nvCxnSpPr>
          <p:spPr>
            <a:xfrm>
              <a:off x="6867460" y="37554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E263CAC4-B036-42DC-93DD-D00C54B0727D}"/>
                </a:ext>
              </a:extLst>
            </p:cNvPr>
            <p:cNvCxnSpPr/>
            <p:nvPr/>
          </p:nvCxnSpPr>
          <p:spPr>
            <a:xfrm>
              <a:off x="7318375" y="419248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8597D85C-50C3-4D58-91F9-BA1B8E7F2308}"/>
                </a:ext>
              </a:extLst>
            </p:cNvPr>
            <p:cNvCxnSpPr/>
            <p:nvPr/>
          </p:nvCxnSpPr>
          <p:spPr>
            <a:xfrm>
              <a:off x="7775575" y="46698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4B9B3CB0-5E55-4E56-B529-598CAD618724}"/>
                </a:ext>
              </a:extLst>
            </p:cNvPr>
            <p:cNvCxnSpPr/>
            <p:nvPr/>
          </p:nvCxnSpPr>
          <p:spPr>
            <a:xfrm>
              <a:off x="8220399" y="51270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0772533-3E5A-4055-A0CB-3C4D1E90C3F2}"/>
                </a:ext>
              </a:extLst>
            </p:cNvPr>
            <p:cNvCxnSpPr/>
            <p:nvPr/>
          </p:nvCxnSpPr>
          <p:spPr>
            <a:xfrm flipH="1">
              <a:off x="6403976" y="375543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CD5DF52E-F06D-4E86-B22A-46C6B2388582}"/>
                </a:ext>
              </a:extLst>
            </p:cNvPr>
            <p:cNvCxnSpPr/>
            <p:nvPr/>
          </p:nvCxnSpPr>
          <p:spPr>
            <a:xfrm flipH="1">
              <a:off x="6867460" y="41924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1E540BAF-14F7-4C26-B4C5-376F5B67B11D}"/>
                </a:ext>
              </a:extLst>
            </p:cNvPr>
            <p:cNvCxnSpPr/>
            <p:nvPr/>
          </p:nvCxnSpPr>
          <p:spPr>
            <a:xfrm flipH="1">
              <a:off x="7312091" y="46496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AEEDE4E2-B658-42EF-B76E-EF2E065AC112}"/>
                </a:ext>
              </a:extLst>
            </p:cNvPr>
            <p:cNvCxnSpPr/>
            <p:nvPr/>
          </p:nvCxnSpPr>
          <p:spPr>
            <a:xfrm flipH="1">
              <a:off x="7756915" y="51068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9" name="Rectangle 118">
            <a:extLst>
              <a:ext uri="{FF2B5EF4-FFF2-40B4-BE49-F238E27FC236}">
                <a16:creationId xmlns:a16="http://schemas.microsoft.com/office/drawing/2014/main" id="{5586F595-8425-4292-81E9-C70DE61741D8}"/>
              </a:ext>
            </a:extLst>
          </p:cNvPr>
          <p:cNvSpPr/>
          <p:nvPr/>
        </p:nvSpPr>
        <p:spPr>
          <a:xfrm>
            <a:off x="5617456" y="918918"/>
            <a:ext cx="3408099" cy="5403344"/>
          </a:xfrm>
          <a:prstGeom prst="rect">
            <a:avLst/>
          </a:prstGeom>
          <a:solidFill>
            <a:schemeClr val="accent6">
              <a:lumMod val="20000"/>
              <a:lumOff val="80000"/>
            </a:schemeClr>
          </a:solid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400" b="1" dirty="0">
                <a:solidFill>
                  <a:schemeClr val="tx1"/>
                </a:solidFill>
              </a:rPr>
              <a:t>Most metals are transition metals.</a:t>
            </a:r>
          </a:p>
          <a:p>
            <a:pPr algn="ctr"/>
            <a:endParaRPr lang="en-GB" sz="2400" b="1" dirty="0">
              <a:solidFill>
                <a:schemeClr val="tx1"/>
              </a:solidFill>
            </a:endParaRPr>
          </a:p>
          <a:p>
            <a:r>
              <a:rPr lang="en-GB" sz="2400" dirty="0">
                <a:solidFill>
                  <a:schemeClr val="tx1"/>
                </a:solidFill>
              </a:rPr>
              <a:t>The transition metals are located</a:t>
            </a:r>
            <a:r>
              <a:rPr lang="en-GB" sz="2400" b="1" dirty="0">
                <a:solidFill>
                  <a:schemeClr val="tx1"/>
                </a:solidFill>
              </a:rPr>
              <a:t> between Group 2 </a:t>
            </a:r>
            <a:r>
              <a:rPr lang="en-GB" sz="2400" dirty="0">
                <a:solidFill>
                  <a:schemeClr val="tx1"/>
                </a:solidFill>
              </a:rPr>
              <a:t>and </a:t>
            </a:r>
            <a:r>
              <a:rPr lang="en-GB" sz="2400" b="1" dirty="0">
                <a:solidFill>
                  <a:schemeClr val="tx1"/>
                </a:solidFill>
              </a:rPr>
              <a:t>Group 3</a:t>
            </a:r>
            <a:r>
              <a:rPr lang="en-GB" sz="2400" dirty="0">
                <a:solidFill>
                  <a:schemeClr val="tx1"/>
                </a:solidFill>
              </a:rPr>
              <a:t>.  </a:t>
            </a:r>
          </a:p>
          <a:p>
            <a:pPr algn="ctr"/>
            <a:endParaRPr lang="en-GB" sz="2400" dirty="0">
              <a:solidFill>
                <a:schemeClr val="tx1"/>
              </a:solidFill>
            </a:endParaRPr>
          </a:p>
          <a:p>
            <a:r>
              <a:rPr lang="en-GB" sz="2400" dirty="0">
                <a:solidFill>
                  <a:schemeClr val="tx1"/>
                </a:solidFill>
              </a:rPr>
              <a:t>The transition metals have:</a:t>
            </a:r>
          </a:p>
          <a:p>
            <a:pPr marL="342900" indent="-342900">
              <a:buFont typeface="Arial" panose="020B0604020202020204" pitchFamily="34" charset="0"/>
              <a:buChar char="•"/>
            </a:pPr>
            <a:r>
              <a:rPr lang="en-GB" sz="2400" b="1" dirty="0">
                <a:solidFill>
                  <a:schemeClr val="tx1"/>
                </a:solidFill>
              </a:rPr>
              <a:t>High melting points</a:t>
            </a:r>
          </a:p>
          <a:p>
            <a:pPr marL="342900" indent="-342900">
              <a:buFont typeface="Arial" panose="020B0604020202020204" pitchFamily="34" charset="0"/>
              <a:buChar char="•"/>
            </a:pPr>
            <a:r>
              <a:rPr lang="en-GB" sz="2400" b="1" dirty="0">
                <a:solidFill>
                  <a:schemeClr val="tx1"/>
                </a:solidFill>
              </a:rPr>
              <a:t>High</a:t>
            </a:r>
            <a:r>
              <a:rPr lang="en-GB" sz="2400" dirty="0">
                <a:solidFill>
                  <a:schemeClr val="tx1"/>
                </a:solidFill>
              </a:rPr>
              <a:t> </a:t>
            </a:r>
            <a:r>
              <a:rPr lang="en-GB" sz="2400" b="1" dirty="0">
                <a:solidFill>
                  <a:schemeClr val="tx1"/>
                </a:solidFill>
              </a:rPr>
              <a:t>densities</a:t>
            </a:r>
          </a:p>
          <a:p>
            <a:pPr marL="342900" indent="-342900">
              <a:buFont typeface="Arial" panose="020B0604020202020204" pitchFamily="34" charset="0"/>
              <a:buChar char="•"/>
            </a:pPr>
            <a:r>
              <a:rPr lang="en-GB" sz="2400" b="1" dirty="0">
                <a:solidFill>
                  <a:schemeClr val="tx1"/>
                </a:solidFill>
              </a:rPr>
              <a:t>Coloured compounds</a:t>
            </a:r>
          </a:p>
          <a:p>
            <a:pPr marL="342900" indent="-342900">
              <a:buFont typeface="Arial" panose="020B0604020202020204" pitchFamily="34" charset="0"/>
              <a:buChar char="•"/>
            </a:pPr>
            <a:r>
              <a:rPr lang="en-GB" sz="2400" b="1" dirty="0">
                <a:solidFill>
                  <a:schemeClr val="tx1"/>
                </a:solidFill>
              </a:rPr>
              <a:t>Catalytic activity</a:t>
            </a:r>
          </a:p>
          <a:p>
            <a:pPr marL="342900" indent="-342900">
              <a:buFont typeface="Arial" panose="020B0604020202020204" pitchFamily="34" charset="0"/>
              <a:buChar char="•"/>
            </a:pPr>
            <a:endParaRPr lang="en-GB" sz="2000" b="1" dirty="0">
              <a:solidFill>
                <a:schemeClr val="tx1"/>
              </a:solidFill>
            </a:endParaRPr>
          </a:p>
          <a:p>
            <a:endParaRPr lang="en-GB" sz="2000" dirty="0">
              <a:solidFill>
                <a:schemeClr val="tx1"/>
              </a:solidFill>
            </a:endParaRPr>
          </a:p>
        </p:txBody>
      </p:sp>
      <p:sp>
        <p:nvSpPr>
          <p:cNvPr id="2" name="Title 1"/>
          <p:cNvSpPr>
            <a:spLocks noGrp="1"/>
          </p:cNvSpPr>
          <p:nvPr>
            <p:ph type="ctrTitle"/>
          </p:nvPr>
        </p:nvSpPr>
        <p:spPr>
          <a:xfrm>
            <a:off x="611560" y="35655"/>
            <a:ext cx="8497271" cy="889826"/>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Transition metals</a:t>
            </a:r>
            <a:endParaRPr lang="en-GB" sz="2400" b="1" dirty="0">
              <a:solidFill>
                <a:schemeClr val="accent6"/>
              </a:solidFill>
            </a:endParaRPr>
          </a:p>
        </p:txBody>
      </p:sp>
      <p:sp>
        <p:nvSpPr>
          <p:cNvPr id="123" name="Rectangle 122">
            <a:extLst>
              <a:ext uri="{FF2B5EF4-FFF2-40B4-BE49-F238E27FC236}">
                <a16:creationId xmlns:a16="http://schemas.microsoft.com/office/drawing/2014/main" id="{05F73A03-3FE2-4A26-8736-14F52A35F7F7}"/>
              </a:ext>
            </a:extLst>
          </p:cNvPr>
          <p:cNvSpPr/>
          <p:nvPr/>
        </p:nvSpPr>
        <p:spPr>
          <a:xfrm>
            <a:off x="854899" y="869724"/>
            <a:ext cx="2782093" cy="847156"/>
          </a:xfrm>
          <a:prstGeom prst="rect">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accent6">
                    <a:lumMod val="75000"/>
                  </a:schemeClr>
                </a:solidFill>
              </a:rPr>
              <a:t>THE TRANSITION METALS</a:t>
            </a:r>
          </a:p>
        </p:txBody>
      </p:sp>
      <p:cxnSp>
        <p:nvCxnSpPr>
          <p:cNvPr id="126" name="Straight Arrow Connector 125">
            <a:extLst>
              <a:ext uri="{FF2B5EF4-FFF2-40B4-BE49-F238E27FC236}">
                <a16:creationId xmlns:a16="http://schemas.microsoft.com/office/drawing/2014/main" id="{4042ED77-1356-4F17-A8E1-0FE16CA3AD76}"/>
              </a:ext>
            </a:extLst>
          </p:cNvPr>
          <p:cNvCxnSpPr>
            <a:cxnSpLocks/>
          </p:cNvCxnSpPr>
          <p:nvPr/>
        </p:nvCxnSpPr>
        <p:spPr>
          <a:xfrm>
            <a:off x="3168368" y="1715415"/>
            <a:ext cx="21837" cy="107332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DD9FAB0-ABD7-4AE9-881C-F4AED9786127}"/>
              </a:ext>
            </a:extLst>
          </p:cNvPr>
          <p:cNvSpPr/>
          <p:nvPr/>
        </p:nvSpPr>
        <p:spPr>
          <a:xfrm>
            <a:off x="799160" y="2749342"/>
            <a:ext cx="2927830" cy="1101198"/>
          </a:xfrm>
          <a:prstGeom prst="rect">
            <a:avLst/>
          </a:prstGeom>
          <a:noFill/>
          <a:ln w="38100">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1" name="Rectangle 120">
            <a:extLst>
              <a:ext uri="{FF2B5EF4-FFF2-40B4-BE49-F238E27FC236}">
                <a16:creationId xmlns:a16="http://schemas.microsoft.com/office/drawing/2014/main" id="{C6F797FD-12F4-4306-825B-69957807A5A9}"/>
              </a:ext>
            </a:extLst>
          </p:cNvPr>
          <p:cNvSpPr/>
          <p:nvPr/>
        </p:nvSpPr>
        <p:spPr>
          <a:xfrm>
            <a:off x="345685" y="4102206"/>
            <a:ext cx="5311522" cy="2246769"/>
          </a:xfrm>
          <a:prstGeom prst="rect">
            <a:avLst/>
          </a:prstGeom>
          <a:ln>
            <a:noFill/>
          </a:ln>
        </p:spPr>
        <p:txBody>
          <a:bodyPr wrap="square">
            <a:spAutoFit/>
          </a:bodyPr>
          <a:lstStyle/>
          <a:p>
            <a:r>
              <a:rPr lang="en-GB" sz="2000" dirty="0"/>
              <a:t>E.g. </a:t>
            </a:r>
            <a:r>
              <a:rPr lang="en-GB" sz="2000" dirty="0">
                <a:solidFill>
                  <a:schemeClr val="accent6">
                    <a:lumMod val="75000"/>
                  </a:schemeClr>
                </a:solidFill>
              </a:rPr>
              <a:t>Iron</a:t>
            </a:r>
          </a:p>
          <a:p>
            <a:pPr marL="285750" indent="-285750">
              <a:buFont typeface="Arial" panose="020B0604020202020204" pitchFamily="34" charset="0"/>
              <a:buChar char="•"/>
            </a:pPr>
            <a:r>
              <a:rPr lang="en-GB" sz="2000" dirty="0">
                <a:solidFill>
                  <a:schemeClr val="accent6">
                    <a:lumMod val="75000"/>
                  </a:schemeClr>
                </a:solidFill>
              </a:rPr>
              <a:t>Melting point</a:t>
            </a:r>
            <a:r>
              <a:rPr lang="en-GB" sz="2000" dirty="0"/>
              <a:t>: 1,538 </a:t>
            </a:r>
            <a:r>
              <a:rPr lang="en-GB" sz="2000" baseline="30000" dirty="0" err="1"/>
              <a:t>o</a:t>
            </a:r>
            <a:r>
              <a:rPr lang="en-GB" sz="2000" dirty="0" err="1"/>
              <a:t>C</a:t>
            </a:r>
            <a:endParaRPr lang="en-GB" sz="2000" dirty="0"/>
          </a:p>
          <a:p>
            <a:pPr marL="285750" indent="-285750">
              <a:buFont typeface="Arial" panose="020B0604020202020204" pitchFamily="34" charset="0"/>
              <a:buChar char="•"/>
            </a:pPr>
            <a:r>
              <a:rPr lang="en-GB" sz="2000" dirty="0">
                <a:solidFill>
                  <a:schemeClr val="accent6">
                    <a:lumMod val="75000"/>
                  </a:schemeClr>
                </a:solidFill>
              </a:rPr>
              <a:t>Density</a:t>
            </a:r>
            <a:r>
              <a:rPr lang="en-GB" sz="2000" dirty="0"/>
              <a:t>: 7.874 g/cm</a:t>
            </a:r>
            <a:r>
              <a:rPr lang="en-GB" sz="2000" baseline="30000" dirty="0"/>
              <a:t>3</a:t>
            </a:r>
          </a:p>
          <a:p>
            <a:pPr marL="285750" indent="-285750">
              <a:buFont typeface="Arial" panose="020B0604020202020204" pitchFamily="34" charset="0"/>
              <a:buChar char="•"/>
            </a:pPr>
            <a:r>
              <a:rPr lang="en-GB" sz="2000" dirty="0">
                <a:solidFill>
                  <a:schemeClr val="accent6">
                    <a:lumMod val="75000"/>
                  </a:schemeClr>
                </a:solidFill>
              </a:rPr>
              <a:t>Coloured compounds</a:t>
            </a:r>
            <a:r>
              <a:rPr lang="en-GB" sz="2000" dirty="0"/>
              <a:t>: Iron (II) compounds are green; iron (III) compounds are orange/ brown</a:t>
            </a:r>
          </a:p>
          <a:p>
            <a:pPr marL="285750" indent="-285750">
              <a:buFont typeface="Arial" panose="020B0604020202020204" pitchFamily="34" charset="0"/>
              <a:buChar char="•"/>
            </a:pPr>
            <a:r>
              <a:rPr lang="en-GB" sz="2000" dirty="0">
                <a:solidFill>
                  <a:schemeClr val="accent6">
                    <a:lumMod val="75000"/>
                  </a:schemeClr>
                </a:solidFill>
              </a:rPr>
              <a:t>Catalyst</a:t>
            </a:r>
            <a:r>
              <a:rPr lang="en-GB" sz="2000" dirty="0"/>
              <a:t>: Making ammonia in the Haber process</a:t>
            </a:r>
          </a:p>
        </p:txBody>
      </p:sp>
    </p:spTree>
    <p:extLst>
      <p:ext uri="{BB962C8B-B14F-4D97-AF65-F5344CB8AC3E}">
        <p14:creationId xmlns:p14="http://schemas.microsoft.com/office/powerpoint/2010/main" val="3320979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544" y="35655"/>
            <a:ext cx="8676456" cy="657041"/>
          </a:xfrm>
        </p:spPr>
        <p:txBody>
          <a:bodyPr>
            <a:noAutofit/>
          </a:bodyPr>
          <a:lstStyle/>
          <a:p>
            <a:pPr marL="342900" lvl="1" algn="r"/>
            <a:r>
              <a:rPr lang="en-US" sz="2400" dirty="0">
                <a:solidFill>
                  <a:schemeClr val="accent6"/>
                </a:solidFill>
              </a:rPr>
              <a:t>Corrosion and its prevention</a:t>
            </a:r>
          </a:p>
        </p:txBody>
      </p:sp>
      <p:sp>
        <p:nvSpPr>
          <p:cNvPr id="4" name="TextBox 3"/>
          <p:cNvSpPr txBox="1"/>
          <p:nvPr/>
        </p:nvSpPr>
        <p:spPr>
          <a:xfrm>
            <a:off x="179512" y="836712"/>
            <a:ext cx="8784976" cy="1631216"/>
          </a:xfrm>
          <a:prstGeom prst="rect">
            <a:avLst/>
          </a:prstGeom>
          <a:noFill/>
        </p:spPr>
        <p:txBody>
          <a:bodyPr wrap="square" rtlCol="0">
            <a:spAutoFit/>
          </a:bodyPr>
          <a:lstStyle/>
          <a:p>
            <a:r>
              <a:rPr lang="en-GB" sz="2000" b="1" dirty="0">
                <a:solidFill>
                  <a:schemeClr val="accent6">
                    <a:lumMod val="75000"/>
                  </a:schemeClr>
                </a:solidFill>
              </a:rPr>
              <a:t>Oxidation of metals </a:t>
            </a:r>
            <a:r>
              <a:rPr lang="en-GB" sz="2000" dirty="0"/>
              <a:t>(addition of oxygen) results in </a:t>
            </a:r>
            <a:r>
              <a:rPr lang="en-GB" sz="2000" b="1" dirty="0">
                <a:solidFill>
                  <a:schemeClr val="accent6">
                    <a:lumMod val="75000"/>
                  </a:schemeClr>
                </a:solidFill>
              </a:rPr>
              <a:t>corrosion</a:t>
            </a:r>
            <a:r>
              <a:rPr lang="en-GB" sz="2000" dirty="0"/>
              <a:t>. </a:t>
            </a:r>
          </a:p>
          <a:p>
            <a:endParaRPr lang="en-GB" sz="2000" dirty="0"/>
          </a:p>
          <a:p>
            <a:r>
              <a:rPr lang="en-GB" sz="2000" b="1" dirty="0">
                <a:solidFill>
                  <a:schemeClr val="accent6">
                    <a:lumMod val="75000"/>
                  </a:schemeClr>
                </a:solidFill>
              </a:rPr>
              <a:t>Rusting</a:t>
            </a:r>
            <a:r>
              <a:rPr lang="en-GB" sz="2000" dirty="0"/>
              <a:t> is an example of corrosion. Both </a:t>
            </a:r>
            <a:r>
              <a:rPr lang="en-GB" sz="2000" b="1" dirty="0">
                <a:solidFill>
                  <a:schemeClr val="accent6">
                    <a:lumMod val="75000"/>
                  </a:schemeClr>
                </a:solidFill>
              </a:rPr>
              <a:t>oxygen and water </a:t>
            </a:r>
            <a:r>
              <a:rPr lang="en-GB" sz="2000" dirty="0"/>
              <a:t>are necessary for iron to rust. Excluding oxygen and/or water can prevent corrosion.</a:t>
            </a:r>
          </a:p>
          <a:p>
            <a:pPr algn="ctr"/>
            <a:r>
              <a:rPr lang="en-GB" sz="2000" dirty="0"/>
              <a:t>iron + water + oxygen </a:t>
            </a:r>
            <a:r>
              <a:rPr lang="en-GB" sz="2000" dirty="0">
                <a:cs typeface="Arial" pitchFamily="34" charset="0"/>
                <a:sym typeface="Wingdings" panose="05000000000000000000" pitchFamily="2" charset="2"/>
              </a:rPr>
              <a:t></a:t>
            </a:r>
            <a:r>
              <a:rPr lang="en-GB" sz="2000" dirty="0"/>
              <a:t> hydrated iron (III) oxide</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7544" y="3140968"/>
            <a:ext cx="4032448" cy="2688299"/>
          </a:xfrm>
          <a:prstGeom prst="rect">
            <a:avLst/>
          </a:prstGeom>
        </p:spPr>
      </p:pic>
      <p:pic>
        <p:nvPicPr>
          <p:cNvPr id="6" name="Picture 5"/>
          <p:cNvPicPr>
            <a:picLocks noChangeAspect="1"/>
          </p:cNvPicPr>
          <p:nvPr/>
        </p:nvPicPr>
        <p:blipFill rotWithShape="1">
          <a:blip r:embed="rId4">
            <a:duotone>
              <a:schemeClr val="accent6">
                <a:shade val="45000"/>
                <a:satMod val="135000"/>
              </a:schemeClr>
              <a:prstClr val="white"/>
            </a:duotone>
          </a:blip>
          <a:srcRect r="26147"/>
          <a:stretch/>
        </p:blipFill>
        <p:spPr>
          <a:xfrm>
            <a:off x="5061593" y="3471966"/>
            <a:ext cx="2750768" cy="1389535"/>
          </a:xfrm>
          <a:prstGeom prst="rect">
            <a:avLst/>
          </a:prstGeom>
        </p:spPr>
      </p:pic>
      <p:sp>
        <p:nvSpPr>
          <p:cNvPr id="9" name="Line Callout 1 8"/>
          <p:cNvSpPr/>
          <p:nvPr/>
        </p:nvSpPr>
        <p:spPr>
          <a:xfrm>
            <a:off x="4638420" y="5247199"/>
            <a:ext cx="1517756" cy="918105"/>
          </a:xfrm>
          <a:prstGeom prst="borderCallout1">
            <a:avLst>
              <a:gd name="adj1" fmla="val -7433"/>
              <a:gd name="adj2" fmla="val 30514"/>
              <a:gd name="adj3" fmla="val -52337"/>
              <a:gd name="adj4" fmla="val 39379"/>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GB" sz="2000" b="1" dirty="0"/>
              <a:t>No oxygen</a:t>
            </a:r>
          </a:p>
          <a:p>
            <a:pPr algn="ctr"/>
            <a:r>
              <a:rPr lang="en-GB" sz="2000" dirty="0"/>
              <a:t>Boiled water and oil </a:t>
            </a:r>
          </a:p>
        </p:txBody>
      </p:sp>
      <p:sp>
        <p:nvSpPr>
          <p:cNvPr id="10" name="Line Callout 1 9"/>
          <p:cNvSpPr/>
          <p:nvPr/>
        </p:nvSpPr>
        <p:spPr>
          <a:xfrm>
            <a:off x="6424752" y="2467928"/>
            <a:ext cx="1891663" cy="850249"/>
          </a:xfrm>
          <a:prstGeom prst="borderCallout1">
            <a:avLst>
              <a:gd name="adj1" fmla="val 107282"/>
              <a:gd name="adj2" fmla="val 26983"/>
              <a:gd name="adj3" fmla="val 152408"/>
              <a:gd name="adj4" fmla="val 6790"/>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GB" sz="2000" b="1" dirty="0"/>
              <a:t>No water</a:t>
            </a:r>
          </a:p>
          <a:p>
            <a:pPr algn="ctr"/>
            <a:r>
              <a:rPr lang="en-GB" sz="2000" dirty="0"/>
              <a:t>Anhydrous CaCl</a:t>
            </a:r>
            <a:r>
              <a:rPr lang="en-GB" sz="2000" baseline="-25000" dirty="0"/>
              <a:t>2</a:t>
            </a:r>
          </a:p>
        </p:txBody>
      </p:sp>
      <p:sp>
        <p:nvSpPr>
          <p:cNvPr id="11" name="Line Callout 1 10"/>
          <p:cNvSpPr/>
          <p:nvPr/>
        </p:nvSpPr>
        <p:spPr>
          <a:xfrm>
            <a:off x="6660232" y="5247199"/>
            <a:ext cx="1944216" cy="918106"/>
          </a:xfrm>
          <a:prstGeom prst="borderCallout1">
            <a:avLst>
              <a:gd name="adj1" fmla="val -7433"/>
              <a:gd name="adj2" fmla="val 30514"/>
              <a:gd name="adj3" fmla="val -46053"/>
              <a:gd name="adj4" fmla="val 40264"/>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GB" sz="2000" b="1" dirty="0"/>
              <a:t>AIR and WATER</a:t>
            </a:r>
          </a:p>
          <a:p>
            <a:pPr algn="ctr"/>
            <a:r>
              <a:rPr lang="en-GB" sz="2000" dirty="0"/>
              <a:t>Normal water</a:t>
            </a:r>
          </a:p>
        </p:txBody>
      </p:sp>
    </p:spTree>
    <p:extLst>
      <p:ext uri="{BB962C8B-B14F-4D97-AF65-F5344CB8AC3E}">
        <p14:creationId xmlns:p14="http://schemas.microsoft.com/office/powerpoint/2010/main" val="3711303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544" y="35655"/>
            <a:ext cx="8676456" cy="657041"/>
          </a:xfrm>
        </p:spPr>
        <p:txBody>
          <a:bodyPr>
            <a:noAutofit/>
          </a:bodyPr>
          <a:lstStyle/>
          <a:p>
            <a:pPr marL="342900" lvl="1" algn="r"/>
            <a:r>
              <a:rPr lang="en-US" sz="2400" dirty="0">
                <a:solidFill>
                  <a:schemeClr val="accent6"/>
                </a:solidFill>
              </a:rPr>
              <a:t>Corrosion and its prevention</a:t>
            </a:r>
          </a:p>
        </p:txBody>
      </p:sp>
      <p:sp>
        <p:nvSpPr>
          <p:cNvPr id="4" name="TextBox 3"/>
          <p:cNvSpPr txBox="1"/>
          <p:nvPr/>
        </p:nvSpPr>
        <p:spPr>
          <a:xfrm>
            <a:off x="179512" y="836712"/>
            <a:ext cx="8784976" cy="3170099"/>
          </a:xfrm>
          <a:prstGeom prst="rect">
            <a:avLst/>
          </a:prstGeom>
          <a:noFill/>
        </p:spPr>
        <p:txBody>
          <a:bodyPr wrap="square" rtlCol="0">
            <a:spAutoFit/>
          </a:bodyPr>
          <a:lstStyle/>
          <a:p>
            <a:r>
              <a:rPr lang="en-GB" sz="2000" b="1" dirty="0">
                <a:solidFill>
                  <a:schemeClr val="accent6">
                    <a:lumMod val="75000"/>
                  </a:schemeClr>
                </a:solidFill>
              </a:rPr>
              <a:t>Corrosion</a:t>
            </a:r>
            <a:r>
              <a:rPr lang="en-GB" sz="2000" dirty="0"/>
              <a:t> can be prevented by applying a </a:t>
            </a:r>
            <a:r>
              <a:rPr lang="en-GB" sz="2000" b="1" dirty="0">
                <a:solidFill>
                  <a:schemeClr val="accent6">
                    <a:lumMod val="75000"/>
                  </a:schemeClr>
                </a:solidFill>
              </a:rPr>
              <a:t>coating that acts as a barrier</a:t>
            </a:r>
            <a:r>
              <a:rPr lang="en-GB" sz="2000" dirty="0"/>
              <a:t>, such as </a:t>
            </a:r>
            <a:r>
              <a:rPr lang="en-GB" sz="2000" b="1" dirty="0">
                <a:solidFill>
                  <a:schemeClr val="accent6">
                    <a:lumMod val="75000"/>
                  </a:schemeClr>
                </a:solidFill>
              </a:rPr>
              <a:t>electroplating </a:t>
            </a:r>
            <a:r>
              <a:rPr lang="en-GB" sz="2000" dirty="0"/>
              <a:t>or </a:t>
            </a:r>
            <a:r>
              <a:rPr lang="en-GB" sz="2000" b="1" dirty="0">
                <a:solidFill>
                  <a:schemeClr val="accent6">
                    <a:lumMod val="75000"/>
                  </a:schemeClr>
                </a:solidFill>
              </a:rPr>
              <a:t>sacrificial protection</a:t>
            </a:r>
            <a:r>
              <a:rPr lang="en-GB" sz="2000" dirty="0"/>
              <a:t>.</a:t>
            </a:r>
          </a:p>
          <a:p>
            <a:endParaRPr lang="en-GB" sz="2000" dirty="0"/>
          </a:p>
          <a:p>
            <a:endParaRPr lang="en-GB" sz="2000" dirty="0"/>
          </a:p>
          <a:p>
            <a:endParaRPr lang="en-GB" sz="2000" dirty="0"/>
          </a:p>
          <a:p>
            <a:endParaRPr lang="en-GB" sz="2000" dirty="0"/>
          </a:p>
          <a:p>
            <a:endParaRPr lang="en-GB" sz="2000" dirty="0"/>
          </a:p>
          <a:p>
            <a:endParaRPr lang="en-GB" sz="2000" dirty="0"/>
          </a:p>
          <a:p>
            <a:endParaRPr lang="en-GB" sz="2000" dirty="0"/>
          </a:p>
          <a:p>
            <a:endParaRPr lang="en-GB" sz="2000" b="1" dirty="0">
              <a:solidFill>
                <a:schemeClr val="accent6">
                  <a:lumMod val="75000"/>
                </a:schemeClr>
              </a:solidFill>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266" y="1831594"/>
            <a:ext cx="2949611" cy="2011098"/>
          </a:xfrm>
          <a:prstGeom prst="rect">
            <a:avLst/>
          </a:prstGeom>
        </p:spPr>
      </p:pic>
      <p:sp>
        <p:nvSpPr>
          <p:cNvPr id="7" name="TextBox 6"/>
          <p:cNvSpPr txBox="1"/>
          <p:nvPr/>
        </p:nvSpPr>
        <p:spPr>
          <a:xfrm>
            <a:off x="3448631" y="1837673"/>
            <a:ext cx="5441199" cy="1938992"/>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GB" sz="2000" dirty="0"/>
              <a:t>In this factory the metal is being coated in zinc to provide </a:t>
            </a:r>
            <a:r>
              <a:rPr lang="en-GB" sz="2000" b="1" dirty="0">
                <a:solidFill>
                  <a:schemeClr val="accent6">
                    <a:lumMod val="75000"/>
                  </a:schemeClr>
                </a:solidFill>
              </a:rPr>
              <a:t>sacrificial protection</a:t>
            </a:r>
            <a:r>
              <a:rPr lang="en-GB" sz="2000" dirty="0"/>
              <a:t>.</a:t>
            </a:r>
          </a:p>
          <a:p>
            <a:endParaRPr lang="en-GB" sz="2000" dirty="0"/>
          </a:p>
          <a:p>
            <a:r>
              <a:rPr lang="en-GB" sz="2000" dirty="0"/>
              <a:t>The </a:t>
            </a:r>
            <a:r>
              <a:rPr lang="en-GB" sz="2000" b="1" dirty="0">
                <a:solidFill>
                  <a:schemeClr val="accent6">
                    <a:lumMod val="75000"/>
                  </a:schemeClr>
                </a:solidFill>
              </a:rPr>
              <a:t>zinc is more reactive than the iron</a:t>
            </a:r>
            <a:r>
              <a:rPr lang="en-GB" sz="2000" dirty="0"/>
              <a:t>, so </a:t>
            </a:r>
            <a:r>
              <a:rPr lang="en-GB" sz="2000" b="1" dirty="0">
                <a:solidFill>
                  <a:schemeClr val="accent6">
                    <a:lumMod val="75000"/>
                  </a:schemeClr>
                </a:solidFill>
              </a:rPr>
              <a:t>zinc oxide</a:t>
            </a:r>
            <a:r>
              <a:rPr lang="en-GB" sz="2000" dirty="0"/>
              <a:t> will be produced in preference to iron oxide, thus </a:t>
            </a:r>
            <a:r>
              <a:rPr lang="en-GB" sz="2000" b="1" dirty="0">
                <a:solidFill>
                  <a:schemeClr val="accent6">
                    <a:lumMod val="75000"/>
                  </a:schemeClr>
                </a:solidFill>
              </a:rPr>
              <a:t>protecting the iron from corrosion</a:t>
            </a:r>
            <a:r>
              <a:rPr lang="en-GB" sz="2000" dirty="0"/>
              <a:t>.</a:t>
            </a:r>
          </a:p>
        </p:txBody>
      </p:sp>
      <p:sp>
        <p:nvSpPr>
          <p:cNvPr id="10" name="TextBox 9"/>
          <p:cNvSpPr txBox="1"/>
          <p:nvPr/>
        </p:nvSpPr>
        <p:spPr>
          <a:xfrm>
            <a:off x="373078" y="4006811"/>
            <a:ext cx="8784976" cy="707886"/>
          </a:xfrm>
          <a:prstGeom prst="rect">
            <a:avLst/>
          </a:prstGeom>
          <a:noFill/>
        </p:spPr>
        <p:txBody>
          <a:bodyPr wrap="square" rtlCol="0">
            <a:spAutoFit/>
          </a:bodyPr>
          <a:lstStyle/>
          <a:p>
            <a:r>
              <a:rPr lang="en-GB" sz="2000" b="1" dirty="0">
                <a:solidFill>
                  <a:schemeClr val="accent6">
                    <a:lumMod val="75000"/>
                  </a:schemeClr>
                </a:solidFill>
              </a:rPr>
              <a:t>Electroplating </a:t>
            </a:r>
            <a:r>
              <a:rPr lang="en-GB" sz="2000" dirty="0"/>
              <a:t>can also be used to improve the </a:t>
            </a:r>
            <a:r>
              <a:rPr lang="en-GB" sz="2000" b="1" dirty="0">
                <a:solidFill>
                  <a:schemeClr val="accent6">
                    <a:lumMod val="75000"/>
                  </a:schemeClr>
                </a:solidFill>
              </a:rPr>
              <a:t>appearance of an object, </a:t>
            </a:r>
            <a:r>
              <a:rPr lang="en-GB" sz="2000" dirty="0"/>
              <a:t>e.g. electroplating a spoon with silver.</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13046" y="4509120"/>
            <a:ext cx="3312368" cy="1821802"/>
          </a:xfrm>
          <a:prstGeom prst="rect">
            <a:avLst/>
          </a:prstGeom>
        </p:spPr>
      </p:pic>
    </p:spTree>
    <p:extLst>
      <p:ext uri="{BB962C8B-B14F-4D97-AF65-F5344CB8AC3E}">
        <p14:creationId xmlns:p14="http://schemas.microsoft.com/office/powerpoint/2010/main" val="1025622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E43E42FA-F7BE-47A8-8CDE-5CE6742BEB3F}"/>
              </a:ext>
            </a:extLst>
          </p:cNvPr>
          <p:cNvSpPr txBox="1">
            <a:spLocks/>
          </p:cNvSpPr>
          <p:nvPr/>
        </p:nvSpPr>
        <p:spPr>
          <a:xfrm>
            <a:off x="179512" y="829053"/>
            <a:ext cx="4240088" cy="5632311"/>
          </a:xfrm>
          <a:prstGeom prst="rect">
            <a:avLst/>
          </a:prstGeom>
          <a:noFill/>
          <a:ln>
            <a:solidFill>
              <a:schemeClr val="accent6">
                <a:lumMod val="75000"/>
              </a:schemeClr>
            </a:solidFill>
          </a:ln>
          <a:effectLst/>
        </p:spPr>
        <p:style>
          <a:lnRef idx="1">
            <a:schemeClr val="accent6"/>
          </a:lnRef>
          <a:fillRef idx="2">
            <a:schemeClr val="accent6"/>
          </a:fillRef>
          <a:effectRef idx="1">
            <a:schemeClr val="accent6"/>
          </a:effectRef>
          <a:fontRef idx="minor">
            <a:schemeClr val="dk1"/>
          </a:fontRef>
        </p:style>
        <p:txBody>
          <a:bodyPr vert="horz" lIns="91440" tIns="45720" rIns="91440" bIns="45720" rtlCol="0">
            <a:normAutofit/>
          </a:bodyPr>
          <a:lstStyle>
            <a:lvl1pPr marL="0" indent="0" algn="ctr" defTabSz="342900" rtl="0" eaLnBrk="1" latinLnBrk="0" hangingPunct="1">
              <a:spcBef>
                <a:spcPct val="20000"/>
              </a:spcBef>
              <a:buFont typeface="Arial"/>
              <a:buNone/>
              <a:defRPr sz="2400" kern="1200">
                <a:solidFill>
                  <a:schemeClr val="tx1">
                    <a:tint val="75000"/>
                  </a:schemeClr>
                </a:solidFill>
                <a:latin typeface="News Gothic MT"/>
                <a:ea typeface="+mn-ea"/>
                <a:cs typeface="News Gothic MT"/>
              </a:defRPr>
            </a:lvl1pPr>
            <a:lvl2pPr marL="342900" indent="0" algn="ctr" defTabSz="342900" rtl="0" eaLnBrk="1" latinLnBrk="0" hangingPunct="1">
              <a:spcBef>
                <a:spcPct val="20000"/>
              </a:spcBef>
              <a:buFont typeface="Arial"/>
              <a:buNone/>
              <a:defRPr sz="2100" kern="1200">
                <a:solidFill>
                  <a:schemeClr val="tx1">
                    <a:tint val="75000"/>
                  </a:schemeClr>
                </a:solidFill>
                <a:latin typeface="+mn-lt"/>
                <a:ea typeface="+mn-ea"/>
                <a:cs typeface="+mn-cs"/>
              </a:defRPr>
            </a:lvl2pPr>
            <a:lvl3pPr marL="685800" indent="0" algn="ctr" defTabSz="342900" rtl="0" eaLnBrk="1" latinLnBrk="0" hangingPunct="1">
              <a:spcBef>
                <a:spcPct val="20000"/>
              </a:spcBef>
              <a:buFont typeface="Arial"/>
              <a:buNone/>
              <a:defRPr sz="1800" kern="1200">
                <a:solidFill>
                  <a:schemeClr val="tx1">
                    <a:tint val="75000"/>
                  </a:schemeClr>
                </a:solidFill>
                <a:latin typeface="+mn-lt"/>
                <a:ea typeface="+mn-ea"/>
                <a:cs typeface="+mn-cs"/>
              </a:defRPr>
            </a:lvl3pPr>
            <a:lvl4pPr marL="10287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4pPr>
            <a:lvl5pPr marL="13716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5pPr>
            <a:lvl6pPr marL="17145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6pPr>
            <a:lvl7pPr marL="20574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7pPr>
            <a:lvl8pPr marL="24003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8pPr>
            <a:lvl9pPr marL="27432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9pPr>
          </a:lstStyle>
          <a:p>
            <a:pPr algn="l"/>
            <a:r>
              <a:rPr lang="en-GB" sz="2000" dirty="0">
                <a:solidFill>
                  <a:schemeClr val="tx1"/>
                </a:solidFill>
                <a:latin typeface="+mn-lt"/>
              </a:rPr>
              <a:t>The giant structure of atoms with strong metallic bonding gives most metals a</a:t>
            </a:r>
            <a:r>
              <a:rPr lang="en-GB" sz="2000" b="1" dirty="0">
                <a:solidFill>
                  <a:schemeClr val="tx1"/>
                </a:solidFill>
                <a:latin typeface="+mn-lt"/>
              </a:rPr>
              <a:t> high melting </a:t>
            </a:r>
            <a:r>
              <a:rPr lang="en-GB" sz="2000" dirty="0">
                <a:solidFill>
                  <a:schemeClr val="tx1"/>
                </a:solidFill>
                <a:latin typeface="+mn-lt"/>
              </a:rPr>
              <a:t>and </a:t>
            </a:r>
            <a:r>
              <a:rPr lang="en-GB" sz="2000" b="1" dirty="0">
                <a:solidFill>
                  <a:schemeClr val="tx1"/>
                </a:solidFill>
                <a:latin typeface="+mn-lt"/>
              </a:rPr>
              <a:t>boiling point</a:t>
            </a:r>
            <a:r>
              <a:rPr lang="en-GB" sz="2000" dirty="0">
                <a:solidFill>
                  <a:schemeClr val="tx1"/>
                </a:solidFill>
                <a:latin typeface="+mn-lt"/>
              </a:rPr>
              <a:t>.</a:t>
            </a:r>
          </a:p>
          <a:p>
            <a:pPr algn="l"/>
            <a:r>
              <a:rPr lang="en-GB" sz="2000" dirty="0">
                <a:solidFill>
                  <a:schemeClr val="tx1"/>
                </a:solidFill>
                <a:latin typeface="+mn-lt"/>
              </a:rPr>
              <a:t>Metals are</a:t>
            </a:r>
            <a:r>
              <a:rPr lang="en-GB" sz="2000" b="1" dirty="0">
                <a:solidFill>
                  <a:schemeClr val="tx1"/>
                </a:solidFill>
                <a:latin typeface="+mn-lt"/>
              </a:rPr>
              <a:t> malleable </a:t>
            </a:r>
            <a:r>
              <a:rPr lang="en-GB" sz="2000" dirty="0">
                <a:solidFill>
                  <a:schemeClr val="tx1"/>
                </a:solidFill>
                <a:latin typeface="+mn-lt"/>
              </a:rPr>
              <a:t>(can be hammered into shape) and </a:t>
            </a:r>
            <a:r>
              <a:rPr lang="en-GB" sz="2000" b="1" dirty="0">
                <a:solidFill>
                  <a:schemeClr val="tx1"/>
                </a:solidFill>
                <a:latin typeface="+mn-lt"/>
              </a:rPr>
              <a:t>ductile</a:t>
            </a:r>
            <a:r>
              <a:rPr lang="en-GB" sz="2000" dirty="0">
                <a:solidFill>
                  <a:schemeClr val="tx1"/>
                </a:solidFill>
                <a:latin typeface="+mn-lt"/>
              </a:rPr>
              <a:t> (can be drawn out into a wire) because the </a:t>
            </a:r>
            <a:r>
              <a:rPr lang="en-GB" sz="2000" b="1" dirty="0">
                <a:solidFill>
                  <a:schemeClr val="tx1"/>
                </a:solidFill>
                <a:latin typeface="+mn-lt"/>
              </a:rPr>
              <a:t>layers</a:t>
            </a:r>
            <a:r>
              <a:rPr lang="en-GB" sz="2000" dirty="0">
                <a:solidFill>
                  <a:schemeClr val="tx1"/>
                </a:solidFill>
                <a:latin typeface="+mn-lt"/>
              </a:rPr>
              <a:t> of atoms (or ions) in a giant metallic structure can </a:t>
            </a:r>
            <a:r>
              <a:rPr lang="en-GB" sz="2000" b="1" dirty="0">
                <a:solidFill>
                  <a:schemeClr val="tx1"/>
                </a:solidFill>
                <a:latin typeface="+mn-lt"/>
              </a:rPr>
              <a:t>slide </a:t>
            </a:r>
            <a:r>
              <a:rPr lang="en-GB" sz="2000" dirty="0">
                <a:solidFill>
                  <a:schemeClr val="tx1"/>
                </a:solidFill>
                <a:latin typeface="+mn-lt"/>
              </a:rPr>
              <a:t>over each other.</a:t>
            </a:r>
          </a:p>
          <a:p>
            <a:pPr algn="l"/>
            <a:r>
              <a:rPr lang="en-GB" sz="2000" b="1" dirty="0">
                <a:solidFill>
                  <a:schemeClr val="tx1"/>
                </a:solidFill>
                <a:latin typeface="+mn-lt"/>
              </a:rPr>
              <a:t>Delocalised</a:t>
            </a:r>
            <a:r>
              <a:rPr lang="en-GB" sz="2000" dirty="0">
                <a:solidFill>
                  <a:schemeClr val="tx1"/>
                </a:solidFill>
                <a:latin typeface="+mn-lt"/>
              </a:rPr>
              <a:t> electrons in metals enable </a:t>
            </a:r>
            <a:r>
              <a:rPr lang="en-GB" sz="2000" b="1" dirty="0">
                <a:solidFill>
                  <a:schemeClr val="tx1"/>
                </a:solidFill>
                <a:latin typeface="+mn-lt"/>
              </a:rPr>
              <a:t>electricity</a:t>
            </a:r>
            <a:r>
              <a:rPr lang="en-GB" sz="2000" dirty="0">
                <a:solidFill>
                  <a:schemeClr val="tx1"/>
                </a:solidFill>
                <a:latin typeface="+mn-lt"/>
              </a:rPr>
              <a:t> and </a:t>
            </a:r>
            <a:r>
              <a:rPr lang="en-GB" sz="2000" b="1" dirty="0">
                <a:solidFill>
                  <a:schemeClr val="tx1"/>
                </a:solidFill>
                <a:latin typeface="+mn-lt"/>
              </a:rPr>
              <a:t>heat</a:t>
            </a:r>
            <a:r>
              <a:rPr lang="en-GB" sz="2000" dirty="0">
                <a:solidFill>
                  <a:schemeClr val="tx1"/>
                </a:solidFill>
                <a:latin typeface="+mn-lt"/>
              </a:rPr>
              <a:t> to pass through the metal easily.</a:t>
            </a:r>
          </a:p>
          <a:p>
            <a:endParaRPr lang="en-GB" sz="1800" dirty="0">
              <a:solidFill>
                <a:schemeClr val="tx1"/>
              </a:solidFill>
              <a:latin typeface="+mn-lt"/>
            </a:endParaRPr>
          </a:p>
        </p:txBody>
      </p:sp>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Alloys</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4" descr="Image result for rutherford atomic model">
            <a:extLst>
              <a:ext uri="{FF2B5EF4-FFF2-40B4-BE49-F238E27FC236}">
                <a16:creationId xmlns:a16="http://schemas.microsoft.com/office/drawing/2014/main" id="{3D0290F6-848B-4CDF-AD5A-CBB9FE0901B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8" name="Picture 4" descr="http://www.bbc.co.uk/schools/gcsebitesize/science/images/gcsechem_60.gif">
            <a:hlinkClick r:id="rId3"/>
            <a:extLst>
              <a:ext uri="{FF2B5EF4-FFF2-40B4-BE49-F238E27FC236}">
                <a16:creationId xmlns:a16="http://schemas.microsoft.com/office/drawing/2014/main" id="{4960798F-C41B-4D23-BF49-CD7098E3413C}"/>
              </a:ext>
            </a:extLst>
          </p:cNvPr>
          <p:cNvPicPr>
            <a:picLocks noChangeAspect="1" noChangeArrowheads="1"/>
          </p:cNvPicPr>
          <p:nvPr/>
        </p:nvPicPr>
        <p:blipFill>
          <a:blip r:embed="rId4" cstate="print">
            <a:duotone>
              <a:schemeClr val="accent6">
                <a:shade val="45000"/>
                <a:satMod val="135000"/>
              </a:schemeClr>
              <a:prstClr val="white"/>
            </a:duotone>
          </a:blip>
          <a:srcRect/>
          <a:stretch>
            <a:fillRect/>
          </a:stretch>
        </p:blipFill>
        <p:spPr bwMode="auto">
          <a:xfrm>
            <a:off x="2627784" y="4679165"/>
            <a:ext cx="1584176" cy="1782199"/>
          </a:xfrm>
          <a:prstGeom prst="rect">
            <a:avLst/>
          </a:prstGeom>
          <a:noFill/>
        </p:spPr>
      </p:pic>
      <p:sp>
        <p:nvSpPr>
          <p:cNvPr id="9" name="Rectangle 8">
            <a:extLst>
              <a:ext uri="{FF2B5EF4-FFF2-40B4-BE49-F238E27FC236}">
                <a16:creationId xmlns:a16="http://schemas.microsoft.com/office/drawing/2014/main" id="{0837D64E-58C8-4D6B-B4D9-C4E576A5E25F}"/>
              </a:ext>
            </a:extLst>
          </p:cNvPr>
          <p:cNvSpPr/>
          <p:nvPr/>
        </p:nvSpPr>
        <p:spPr>
          <a:xfrm>
            <a:off x="4507194" y="829054"/>
            <a:ext cx="4457294" cy="5724644"/>
          </a:xfrm>
          <a:prstGeom prst="rect">
            <a:avLst/>
          </a:prstGeom>
          <a:no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r>
              <a:rPr lang="en-GB" sz="2000" dirty="0"/>
              <a:t>A </a:t>
            </a:r>
            <a:r>
              <a:rPr lang="en-GB" sz="2000" b="1" dirty="0"/>
              <a:t>metal</a:t>
            </a:r>
            <a:r>
              <a:rPr lang="en-GB" sz="2000" dirty="0"/>
              <a:t> </a:t>
            </a:r>
            <a:r>
              <a:rPr lang="en-GB" sz="2000" b="1" dirty="0"/>
              <a:t>mixed</a:t>
            </a:r>
            <a:r>
              <a:rPr lang="en-GB" sz="2000" dirty="0"/>
              <a:t> with other </a:t>
            </a:r>
            <a:r>
              <a:rPr lang="en-GB" sz="2000" b="1" dirty="0"/>
              <a:t>elements</a:t>
            </a:r>
            <a:r>
              <a:rPr lang="en-GB" sz="2000" dirty="0"/>
              <a:t> is called an </a:t>
            </a:r>
            <a:r>
              <a:rPr lang="en-GB" sz="2000" b="1" dirty="0"/>
              <a:t>alloy. </a:t>
            </a:r>
            <a:r>
              <a:rPr lang="en-GB" sz="2000" dirty="0"/>
              <a:t>Alloys are </a:t>
            </a:r>
            <a:r>
              <a:rPr lang="en-GB" sz="2000" b="1" dirty="0"/>
              <a:t>harder</a:t>
            </a:r>
            <a:r>
              <a:rPr lang="en-GB" sz="2000" dirty="0"/>
              <a:t> than pure metals. Alloys are made from </a:t>
            </a:r>
            <a:r>
              <a:rPr lang="en-GB" sz="2000" b="1" dirty="0"/>
              <a:t>two or more </a:t>
            </a:r>
            <a:r>
              <a:rPr lang="en-GB" sz="2000" dirty="0"/>
              <a:t>different metals.  </a:t>
            </a:r>
          </a:p>
          <a:p>
            <a:pPr algn="ctr"/>
            <a:endParaRPr lang="en-GB" dirty="0"/>
          </a:p>
          <a:p>
            <a:r>
              <a:rPr lang="en-GB" dirty="0"/>
              <a:t>       </a:t>
            </a:r>
            <a:r>
              <a:rPr lang="en-GB" b="1" dirty="0"/>
              <a:t>Pure metal                                Alloy</a:t>
            </a:r>
          </a:p>
          <a:p>
            <a:endParaRPr lang="en-GB" dirty="0"/>
          </a:p>
          <a:p>
            <a:pPr algn="ctr"/>
            <a:endParaRPr lang="en-GB" dirty="0"/>
          </a:p>
          <a:p>
            <a:pPr algn="ctr"/>
            <a:endParaRPr lang="en-GB" dirty="0"/>
          </a:p>
          <a:p>
            <a:pPr algn="ctr"/>
            <a:endParaRPr lang="en-GB" dirty="0"/>
          </a:p>
          <a:p>
            <a:pPr algn="ctr"/>
            <a:endParaRPr lang="en-GB" dirty="0"/>
          </a:p>
          <a:p>
            <a:r>
              <a:rPr lang="en-GB" sz="2000" dirty="0"/>
              <a:t>The </a:t>
            </a:r>
            <a:r>
              <a:rPr lang="en-GB" sz="2000" b="1" dirty="0"/>
              <a:t>different sized </a:t>
            </a:r>
            <a:r>
              <a:rPr lang="en-GB" sz="2000" dirty="0"/>
              <a:t>atoms of the metals </a:t>
            </a:r>
            <a:r>
              <a:rPr lang="en-GB" sz="2000" b="1" dirty="0"/>
              <a:t>distort</a:t>
            </a:r>
            <a:r>
              <a:rPr lang="en-GB" sz="2000" dirty="0"/>
              <a:t> the</a:t>
            </a:r>
            <a:r>
              <a:rPr lang="en-GB" sz="2000" b="1" dirty="0"/>
              <a:t> layers </a:t>
            </a:r>
            <a:r>
              <a:rPr lang="en-GB" sz="2000" dirty="0"/>
              <a:t>in the structure, making it more </a:t>
            </a:r>
            <a:r>
              <a:rPr lang="en-GB" sz="2000" b="1" dirty="0"/>
              <a:t>difficult</a:t>
            </a:r>
            <a:r>
              <a:rPr lang="en-GB" sz="2000" dirty="0"/>
              <a:t> for them to</a:t>
            </a:r>
            <a:r>
              <a:rPr lang="en-GB" sz="2000" b="1" dirty="0"/>
              <a:t> slide </a:t>
            </a:r>
            <a:r>
              <a:rPr lang="en-GB" sz="2000" dirty="0"/>
              <a:t>over each other, and so make the </a:t>
            </a:r>
            <a:r>
              <a:rPr lang="en-GB" sz="2000" b="1" dirty="0"/>
              <a:t>alloys harder </a:t>
            </a:r>
            <a:r>
              <a:rPr lang="en-GB" sz="2000" dirty="0"/>
              <a:t>than pure metals.</a:t>
            </a:r>
          </a:p>
          <a:p>
            <a:pPr>
              <a:defRPr/>
            </a:pPr>
            <a:r>
              <a:rPr lang="en-GB" sz="2000" dirty="0"/>
              <a:t>For example, </a:t>
            </a:r>
            <a:r>
              <a:rPr lang="en-GB" sz="2000" b="1" dirty="0">
                <a:solidFill>
                  <a:schemeClr val="tx1"/>
                </a:solidFill>
              </a:rPr>
              <a:t>gold</a:t>
            </a:r>
            <a:r>
              <a:rPr lang="en-GB" sz="2000" dirty="0">
                <a:solidFill>
                  <a:schemeClr val="tx1"/>
                </a:solidFill>
              </a:rPr>
              <a:t> is naturally</a:t>
            </a:r>
            <a:r>
              <a:rPr lang="en-GB" sz="2000" b="1" dirty="0">
                <a:solidFill>
                  <a:schemeClr val="tx1"/>
                </a:solidFill>
              </a:rPr>
              <a:t> soft</a:t>
            </a:r>
            <a:r>
              <a:rPr lang="en-GB" sz="2000" dirty="0">
                <a:solidFill>
                  <a:schemeClr val="tx1"/>
                </a:solidFill>
              </a:rPr>
              <a:t> but adding </a:t>
            </a:r>
            <a:r>
              <a:rPr lang="en-GB" sz="2000" b="1" dirty="0">
                <a:solidFill>
                  <a:schemeClr val="tx1"/>
                </a:solidFill>
              </a:rPr>
              <a:t>copper</a:t>
            </a:r>
            <a:r>
              <a:rPr lang="en-GB" sz="2000" dirty="0">
                <a:solidFill>
                  <a:schemeClr val="tx1"/>
                </a:solidFill>
              </a:rPr>
              <a:t> makes jewellery </a:t>
            </a:r>
            <a:r>
              <a:rPr lang="en-GB" sz="2000" b="1" dirty="0">
                <a:solidFill>
                  <a:schemeClr val="tx1"/>
                </a:solidFill>
              </a:rPr>
              <a:t>stronger</a:t>
            </a:r>
            <a:r>
              <a:rPr lang="en-GB" sz="2000" dirty="0">
                <a:solidFill>
                  <a:schemeClr val="tx1"/>
                </a:solidFill>
              </a:rPr>
              <a:t> and last longer.</a:t>
            </a:r>
          </a:p>
        </p:txBody>
      </p:sp>
      <p:pic>
        <p:nvPicPr>
          <p:cNvPr id="10" name="Picture 5">
            <a:extLst>
              <a:ext uri="{FF2B5EF4-FFF2-40B4-BE49-F238E27FC236}">
                <a16:creationId xmlns:a16="http://schemas.microsoft.com/office/drawing/2014/main" id="{F036E65E-B749-40CB-89A0-FA52D365DBAB}"/>
              </a:ext>
            </a:extLst>
          </p:cNvPr>
          <p:cNvPicPr>
            <a:picLocks noChangeAspect="1" noChangeArrowheads="1"/>
          </p:cNvPicPr>
          <p:nvPr/>
        </p:nvPicPr>
        <p:blipFill>
          <a:blip r:embed="rId5" cstate="print">
            <a:duotone>
              <a:schemeClr val="accent6">
                <a:shade val="45000"/>
                <a:satMod val="135000"/>
              </a:schemeClr>
              <a:prstClr val="white"/>
            </a:duotone>
          </a:blip>
          <a:srcRect/>
          <a:stretch>
            <a:fillRect/>
          </a:stretch>
        </p:blipFill>
        <p:spPr bwMode="auto">
          <a:xfrm>
            <a:off x="4724400" y="2649283"/>
            <a:ext cx="1480603" cy="948105"/>
          </a:xfrm>
          <a:prstGeom prst="rect">
            <a:avLst/>
          </a:prstGeom>
          <a:noFill/>
          <a:ln w="9525">
            <a:noFill/>
            <a:miter lim="800000"/>
            <a:headEnd/>
            <a:tailEnd/>
          </a:ln>
        </p:spPr>
      </p:pic>
      <p:pic>
        <p:nvPicPr>
          <p:cNvPr id="11" name="Picture 6">
            <a:extLst>
              <a:ext uri="{FF2B5EF4-FFF2-40B4-BE49-F238E27FC236}">
                <a16:creationId xmlns:a16="http://schemas.microsoft.com/office/drawing/2014/main" id="{E016CB3F-7872-49E7-9301-2984FEC0321F}"/>
              </a:ext>
            </a:extLst>
          </p:cNvPr>
          <p:cNvPicPr>
            <a:picLocks noChangeAspect="1" noChangeArrowheads="1"/>
          </p:cNvPicPr>
          <p:nvPr/>
        </p:nvPicPr>
        <p:blipFill>
          <a:blip r:embed="rId6" cstate="print">
            <a:duotone>
              <a:schemeClr val="accent6">
                <a:shade val="45000"/>
                <a:satMod val="135000"/>
              </a:schemeClr>
              <a:prstClr val="white"/>
            </a:duotone>
          </a:blip>
          <a:srcRect/>
          <a:stretch>
            <a:fillRect/>
          </a:stretch>
        </p:blipFill>
        <p:spPr bwMode="auto">
          <a:xfrm>
            <a:off x="7162432" y="2666080"/>
            <a:ext cx="1440160" cy="980535"/>
          </a:xfrm>
          <a:prstGeom prst="rect">
            <a:avLst/>
          </a:prstGeom>
          <a:noFill/>
          <a:ln w="9525">
            <a:noFill/>
            <a:miter lim="800000"/>
            <a:headEnd/>
            <a:tailEnd/>
          </a:ln>
        </p:spPr>
      </p:pic>
    </p:spTree>
    <p:extLst>
      <p:ext uri="{BB962C8B-B14F-4D97-AF65-F5344CB8AC3E}">
        <p14:creationId xmlns:p14="http://schemas.microsoft.com/office/powerpoint/2010/main" val="2056931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4110" y="3495239"/>
            <a:ext cx="2476500" cy="1847850"/>
          </a:xfrm>
          <a:prstGeom prst="rect">
            <a:avLst/>
          </a:prstGeom>
        </p:spPr>
      </p:pic>
      <p:sp>
        <p:nvSpPr>
          <p:cNvPr id="2" name="Title 1"/>
          <p:cNvSpPr>
            <a:spLocks noGrp="1"/>
          </p:cNvSpPr>
          <p:nvPr>
            <p:ph type="ctrTitle"/>
          </p:nvPr>
        </p:nvSpPr>
        <p:spPr>
          <a:xfrm>
            <a:off x="467544" y="35655"/>
            <a:ext cx="8676456" cy="657041"/>
          </a:xfrm>
        </p:spPr>
        <p:txBody>
          <a:bodyPr>
            <a:noAutofit/>
          </a:bodyPr>
          <a:lstStyle/>
          <a:p>
            <a:pPr marL="342900" lvl="1" algn="r"/>
            <a:r>
              <a:rPr lang="en-US" sz="2400" dirty="0">
                <a:solidFill>
                  <a:schemeClr val="accent6"/>
                </a:solidFill>
              </a:rPr>
              <a:t>Alloys as useful materials</a:t>
            </a:r>
          </a:p>
        </p:txBody>
      </p:sp>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9512" y="1556792"/>
            <a:ext cx="3707904" cy="2471936"/>
          </a:xfrm>
          <a:prstGeom prst="rect">
            <a:avLst/>
          </a:prstGeom>
        </p:spPr>
      </p:pic>
      <p:sp>
        <p:nvSpPr>
          <p:cNvPr id="14" name="TextBox 13"/>
          <p:cNvSpPr txBox="1"/>
          <p:nvPr/>
        </p:nvSpPr>
        <p:spPr>
          <a:xfrm>
            <a:off x="4139952" y="1474183"/>
            <a:ext cx="4680520" cy="255454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GB" sz="2000" b="1" dirty="0">
                <a:solidFill>
                  <a:schemeClr val="accent6">
                    <a:lumMod val="75000"/>
                  </a:schemeClr>
                </a:solidFill>
              </a:rPr>
              <a:t>Steels </a:t>
            </a:r>
            <a:r>
              <a:rPr lang="en-GB" sz="2000" dirty="0">
                <a:solidFill>
                  <a:schemeClr val="tx1"/>
                </a:solidFill>
              </a:rPr>
              <a:t>are alloys of iron that contain specific amounts of carbon and other metals.</a:t>
            </a:r>
          </a:p>
          <a:p>
            <a:r>
              <a:rPr lang="en-GB" sz="2000" b="1" dirty="0">
                <a:solidFill>
                  <a:schemeClr val="accent6">
                    <a:lumMod val="75000"/>
                  </a:schemeClr>
                </a:solidFill>
              </a:rPr>
              <a:t>High carbon steel </a:t>
            </a:r>
            <a:r>
              <a:rPr lang="en-GB" sz="2000" dirty="0">
                <a:solidFill>
                  <a:schemeClr val="tx1"/>
                </a:solidFill>
              </a:rPr>
              <a:t>is </a:t>
            </a:r>
            <a:r>
              <a:rPr lang="en-GB" sz="2000" b="1" dirty="0">
                <a:solidFill>
                  <a:schemeClr val="accent6">
                    <a:lumMod val="75000"/>
                  </a:schemeClr>
                </a:solidFill>
              </a:rPr>
              <a:t>strong</a:t>
            </a:r>
            <a:r>
              <a:rPr lang="en-GB" sz="2000" dirty="0">
                <a:solidFill>
                  <a:schemeClr val="tx1"/>
                </a:solidFill>
              </a:rPr>
              <a:t> but </a:t>
            </a:r>
            <a:r>
              <a:rPr lang="en-GB" sz="2000" b="1" dirty="0">
                <a:solidFill>
                  <a:schemeClr val="accent6">
                    <a:lumMod val="75000"/>
                  </a:schemeClr>
                </a:solidFill>
              </a:rPr>
              <a:t>brittle</a:t>
            </a:r>
            <a:r>
              <a:rPr lang="en-GB" sz="2000" dirty="0">
                <a:solidFill>
                  <a:schemeClr val="tx1"/>
                </a:solidFill>
              </a:rPr>
              <a:t>.</a:t>
            </a:r>
          </a:p>
          <a:p>
            <a:r>
              <a:rPr lang="en-GB" sz="2000" b="1" dirty="0">
                <a:solidFill>
                  <a:schemeClr val="accent6">
                    <a:lumMod val="75000"/>
                  </a:schemeClr>
                </a:solidFill>
              </a:rPr>
              <a:t>Low carbon steel </a:t>
            </a:r>
            <a:r>
              <a:rPr lang="en-GB" sz="2000" dirty="0">
                <a:solidFill>
                  <a:schemeClr val="tx1"/>
                </a:solidFill>
              </a:rPr>
              <a:t>is </a:t>
            </a:r>
            <a:r>
              <a:rPr lang="en-GB" sz="2000" b="1" dirty="0">
                <a:solidFill>
                  <a:schemeClr val="accent6">
                    <a:lumMod val="75000"/>
                  </a:schemeClr>
                </a:solidFill>
              </a:rPr>
              <a:t>softer</a:t>
            </a:r>
            <a:r>
              <a:rPr lang="en-GB" sz="2000" dirty="0">
                <a:solidFill>
                  <a:schemeClr val="tx1"/>
                </a:solidFill>
              </a:rPr>
              <a:t> and more </a:t>
            </a:r>
            <a:r>
              <a:rPr lang="en-GB" sz="2000" b="1" dirty="0">
                <a:solidFill>
                  <a:schemeClr val="accent6">
                    <a:lumMod val="75000"/>
                  </a:schemeClr>
                </a:solidFill>
              </a:rPr>
              <a:t>easily shaped</a:t>
            </a:r>
            <a:r>
              <a:rPr lang="en-GB" sz="2000" dirty="0">
                <a:solidFill>
                  <a:schemeClr val="tx1"/>
                </a:solidFill>
              </a:rPr>
              <a:t>.</a:t>
            </a:r>
          </a:p>
          <a:p>
            <a:r>
              <a:rPr lang="en-GB" sz="2000" b="1" dirty="0">
                <a:solidFill>
                  <a:schemeClr val="accent6">
                    <a:lumMod val="75000"/>
                  </a:schemeClr>
                </a:solidFill>
              </a:rPr>
              <a:t>Stainless steels </a:t>
            </a:r>
            <a:r>
              <a:rPr lang="en-GB" sz="2000" dirty="0">
                <a:solidFill>
                  <a:schemeClr val="tx1"/>
                </a:solidFill>
              </a:rPr>
              <a:t>containing </a:t>
            </a:r>
            <a:r>
              <a:rPr lang="en-GB" sz="2000" b="1" dirty="0">
                <a:solidFill>
                  <a:schemeClr val="accent6">
                    <a:lumMod val="75000"/>
                  </a:schemeClr>
                </a:solidFill>
              </a:rPr>
              <a:t>chromium</a:t>
            </a:r>
            <a:r>
              <a:rPr lang="en-GB" sz="2000" dirty="0">
                <a:solidFill>
                  <a:schemeClr val="tx1"/>
                </a:solidFill>
              </a:rPr>
              <a:t> and </a:t>
            </a:r>
            <a:r>
              <a:rPr lang="en-GB" sz="2000" b="1" dirty="0">
                <a:solidFill>
                  <a:schemeClr val="accent6">
                    <a:lumMod val="75000"/>
                  </a:schemeClr>
                </a:solidFill>
              </a:rPr>
              <a:t>nickel</a:t>
            </a:r>
            <a:r>
              <a:rPr lang="en-GB" sz="2000" dirty="0">
                <a:solidFill>
                  <a:schemeClr val="tx1"/>
                </a:solidFill>
              </a:rPr>
              <a:t> are </a:t>
            </a:r>
            <a:r>
              <a:rPr lang="en-GB" sz="2000" b="1" dirty="0">
                <a:solidFill>
                  <a:schemeClr val="accent6">
                    <a:lumMod val="75000"/>
                  </a:schemeClr>
                </a:solidFill>
              </a:rPr>
              <a:t>hard</a:t>
            </a:r>
            <a:r>
              <a:rPr lang="en-GB" sz="2000" dirty="0">
                <a:solidFill>
                  <a:schemeClr val="tx1"/>
                </a:solidFill>
              </a:rPr>
              <a:t> and </a:t>
            </a:r>
            <a:r>
              <a:rPr lang="en-GB" sz="2000" b="1" dirty="0">
                <a:solidFill>
                  <a:schemeClr val="accent6">
                    <a:lumMod val="75000"/>
                  </a:schemeClr>
                </a:solidFill>
              </a:rPr>
              <a:t>resistant to corrosion</a:t>
            </a:r>
            <a:r>
              <a:rPr lang="en-GB" sz="2000" dirty="0">
                <a:solidFill>
                  <a:schemeClr val="tx1"/>
                </a:solidFill>
              </a:rPr>
              <a:t>.</a:t>
            </a:r>
            <a:endParaRPr lang="en-GB" sz="2000" dirty="0"/>
          </a:p>
        </p:txBody>
      </p:sp>
    </p:spTree>
    <p:extLst>
      <p:ext uri="{BB962C8B-B14F-4D97-AF65-F5344CB8AC3E}">
        <p14:creationId xmlns:p14="http://schemas.microsoft.com/office/powerpoint/2010/main" val="2696093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544" y="35655"/>
            <a:ext cx="8676456" cy="657041"/>
          </a:xfrm>
        </p:spPr>
        <p:txBody>
          <a:bodyPr>
            <a:noAutofit/>
          </a:bodyPr>
          <a:lstStyle/>
          <a:p>
            <a:pPr marL="342900" lvl="1" algn="r"/>
            <a:r>
              <a:rPr lang="en-US" sz="2400" dirty="0">
                <a:solidFill>
                  <a:schemeClr val="accent6"/>
                </a:solidFill>
              </a:rPr>
              <a:t>Metals as useful materials</a:t>
            </a:r>
          </a:p>
        </p:txBody>
      </p:sp>
      <p:pic>
        <p:nvPicPr>
          <p:cNvPr id="12" name="Picture 11"/>
          <p:cNvPicPr>
            <a:picLocks noChangeAspect="1"/>
          </p:cNvPicPr>
          <p:nvPr/>
        </p:nvPicPr>
        <p:blipFill>
          <a:blip r:embed="rId3">
            <a:clrChange>
              <a:clrFrom>
                <a:srgbClr val="F4F5F7"/>
              </a:clrFrom>
              <a:clrTo>
                <a:srgbClr val="F4F5F7">
                  <a:alpha val="0"/>
                </a:srgbClr>
              </a:clrTo>
            </a:clrChange>
            <a:extLst>
              <a:ext uri="{28A0092B-C50C-407E-A947-70E740481C1C}">
                <a14:useLocalDpi xmlns:a14="http://schemas.microsoft.com/office/drawing/2010/main" val="0"/>
              </a:ext>
            </a:extLst>
          </a:blip>
          <a:stretch>
            <a:fillRect/>
          </a:stretch>
        </p:blipFill>
        <p:spPr>
          <a:xfrm>
            <a:off x="5940152" y="1528563"/>
            <a:ext cx="2619375" cy="1743075"/>
          </a:xfrm>
          <a:prstGeom prst="rect">
            <a:avLst/>
          </a:prstGeom>
        </p:spPr>
      </p:pic>
      <p:graphicFrame>
        <p:nvGraphicFramePr>
          <p:cNvPr id="13" name="Table 12"/>
          <p:cNvGraphicFramePr>
            <a:graphicFrameLocks noGrp="1"/>
          </p:cNvGraphicFramePr>
          <p:nvPr>
            <p:extLst>
              <p:ext uri="{D42A27DB-BD31-4B8C-83A1-F6EECF244321}">
                <p14:modId xmlns:p14="http://schemas.microsoft.com/office/powerpoint/2010/main" val="2281872502"/>
              </p:ext>
            </p:extLst>
          </p:nvPr>
        </p:nvGraphicFramePr>
        <p:xfrm>
          <a:off x="273980" y="3750141"/>
          <a:ext cx="8452023" cy="2072640"/>
        </p:xfrm>
        <a:graphic>
          <a:graphicData uri="http://schemas.openxmlformats.org/drawingml/2006/table">
            <a:tbl>
              <a:tblPr firstRow="1" bandRow="1">
                <a:tableStyleId>{912C8C85-51F0-491E-9774-3900AFEF0FD7}</a:tableStyleId>
              </a:tblPr>
              <a:tblGrid>
                <a:gridCol w="2817341">
                  <a:extLst>
                    <a:ext uri="{9D8B030D-6E8A-4147-A177-3AD203B41FA5}">
                      <a16:colId xmlns:a16="http://schemas.microsoft.com/office/drawing/2014/main" val="20000"/>
                    </a:ext>
                  </a:extLst>
                </a:gridCol>
                <a:gridCol w="2817341">
                  <a:extLst>
                    <a:ext uri="{9D8B030D-6E8A-4147-A177-3AD203B41FA5}">
                      <a16:colId xmlns:a16="http://schemas.microsoft.com/office/drawing/2014/main" val="20001"/>
                    </a:ext>
                  </a:extLst>
                </a:gridCol>
                <a:gridCol w="2817341">
                  <a:extLst>
                    <a:ext uri="{9D8B030D-6E8A-4147-A177-3AD203B41FA5}">
                      <a16:colId xmlns:a16="http://schemas.microsoft.com/office/drawing/2014/main" val="20002"/>
                    </a:ext>
                  </a:extLst>
                </a:gridCol>
              </a:tblGrid>
              <a:tr h="370840">
                <a:tc>
                  <a:txBody>
                    <a:bodyPr/>
                    <a:lstStyle/>
                    <a:p>
                      <a:pPr algn="ctr"/>
                      <a:r>
                        <a:rPr lang="en-GB" sz="2400" dirty="0"/>
                        <a:t>Aluminium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400" dirty="0"/>
                        <a:t>Copper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400" dirty="0"/>
                        <a:t>Gold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342900" indent="-342900">
                        <a:buFont typeface="Arial" panose="020B0604020202020204" pitchFamily="34" charset="0"/>
                        <a:buChar char="•"/>
                      </a:pPr>
                      <a:r>
                        <a:rPr lang="en-GB" sz="2000" dirty="0"/>
                        <a:t>Low density</a:t>
                      </a:r>
                      <a:r>
                        <a:rPr lang="en-GB" sz="2000" baseline="0" dirty="0"/>
                        <a:t> and low levels of corrosion so used in the production of aircraft and cars.</a:t>
                      </a:r>
                      <a:endParaRPr lang="en-GB"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Arial" panose="020B0604020202020204" pitchFamily="34" charset="0"/>
                        <a:buChar char="•"/>
                      </a:pPr>
                      <a:r>
                        <a:rPr lang="en-GB" sz="2000" dirty="0"/>
                        <a:t>High</a:t>
                      </a:r>
                      <a:r>
                        <a:rPr lang="en-GB" sz="2000" baseline="0" dirty="0"/>
                        <a:t> electrical conductivity so used in electrical wiring.</a:t>
                      </a:r>
                      <a:endParaRPr lang="en-GB"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Arial" panose="020B0604020202020204" pitchFamily="34" charset="0"/>
                        <a:buChar char="•"/>
                      </a:pPr>
                      <a:r>
                        <a:rPr lang="en-GB" sz="2000" dirty="0"/>
                        <a:t>Malleable and shiny appearance make it perfect for jewellery.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3" name="Picture 2"/>
          <p:cNvPicPr>
            <a:picLocks noChangeAspect="1"/>
          </p:cNvPicPr>
          <p:nvPr/>
        </p:nvPicPr>
        <p:blipFill>
          <a:blip r:embed="rId4" cstate="print">
            <a:clrChange>
              <a:clrFrom>
                <a:srgbClr val="E1E5F0"/>
              </a:clrFrom>
              <a:clrTo>
                <a:srgbClr val="E1E5F0">
                  <a:alpha val="0"/>
                </a:srgbClr>
              </a:clrTo>
            </a:clrChange>
            <a:extLst>
              <a:ext uri="{28A0092B-C50C-407E-A947-70E740481C1C}">
                <a14:useLocalDpi xmlns:a14="http://schemas.microsoft.com/office/drawing/2010/main" val="0"/>
              </a:ext>
            </a:extLst>
          </a:blip>
          <a:stretch>
            <a:fillRect/>
          </a:stretch>
        </p:blipFill>
        <p:spPr>
          <a:xfrm>
            <a:off x="467544" y="1171199"/>
            <a:ext cx="2362869" cy="2362869"/>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03848" y="591136"/>
            <a:ext cx="4414398" cy="2942932"/>
          </a:xfrm>
          <a:prstGeom prst="rect">
            <a:avLst/>
          </a:prstGeom>
        </p:spPr>
      </p:pic>
    </p:spTree>
    <p:extLst>
      <p:ext uri="{BB962C8B-B14F-4D97-AF65-F5344CB8AC3E}">
        <p14:creationId xmlns:p14="http://schemas.microsoft.com/office/powerpoint/2010/main" val="1010882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544" y="35655"/>
            <a:ext cx="8676456" cy="657041"/>
          </a:xfrm>
        </p:spPr>
        <p:txBody>
          <a:bodyPr>
            <a:noAutofit/>
          </a:bodyPr>
          <a:lstStyle/>
          <a:p>
            <a:pPr marL="342900" lvl="1" algn="r"/>
            <a:r>
              <a:rPr lang="en-US" sz="2400" dirty="0">
                <a:solidFill>
                  <a:schemeClr val="accent6"/>
                </a:solidFill>
              </a:rPr>
              <a:t>Alloys as useful materials</a:t>
            </a: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394705"/>
            <a:ext cx="2592288" cy="2118555"/>
          </a:xfrm>
          <a:prstGeom prst="rect">
            <a:avLst/>
          </a:prstGeom>
        </p:spPr>
      </p:pic>
      <p:graphicFrame>
        <p:nvGraphicFramePr>
          <p:cNvPr id="13" name="Table 12"/>
          <p:cNvGraphicFramePr>
            <a:graphicFrameLocks noGrp="1"/>
          </p:cNvGraphicFramePr>
          <p:nvPr>
            <p:extLst>
              <p:ext uri="{D42A27DB-BD31-4B8C-83A1-F6EECF244321}">
                <p14:modId xmlns:p14="http://schemas.microsoft.com/office/powerpoint/2010/main" val="667186433"/>
              </p:ext>
            </p:extLst>
          </p:nvPr>
        </p:nvGraphicFramePr>
        <p:xfrm>
          <a:off x="251520" y="2513260"/>
          <a:ext cx="8258460" cy="3291840"/>
        </p:xfrm>
        <a:graphic>
          <a:graphicData uri="http://schemas.openxmlformats.org/drawingml/2006/table">
            <a:tbl>
              <a:tblPr firstRow="1" bandRow="1">
                <a:tableStyleId>{912C8C85-51F0-491E-9774-3900AFEF0FD7}</a:tableStyleId>
              </a:tblPr>
              <a:tblGrid>
                <a:gridCol w="4752528">
                  <a:extLst>
                    <a:ext uri="{9D8B030D-6E8A-4147-A177-3AD203B41FA5}">
                      <a16:colId xmlns:a16="http://schemas.microsoft.com/office/drawing/2014/main" val="20000"/>
                    </a:ext>
                  </a:extLst>
                </a:gridCol>
                <a:gridCol w="3505932">
                  <a:extLst>
                    <a:ext uri="{9D8B030D-6E8A-4147-A177-3AD203B41FA5}">
                      <a16:colId xmlns:a16="http://schemas.microsoft.com/office/drawing/2014/main" val="20001"/>
                    </a:ext>
                  </a:extLst>
                </a:gridCol>
              </a:tblGrid>
              <a:tr h="370840">
                <a:tc>
                  <a:txBody>
                    <a:bodyPr/>
                    <a:lstStyle/>
                    <a:p>
                      <a:pPr algn="ctr"/>
                      <a:r>
                        <a:rPr lang="en-GB" sz="2400" dirty="0" err="1"/>
                        <a:t>Magnalium</a:t>
                      </a:r>
                      <a:endParaRPr lang="en-GB"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400" dirty="0"/>
                        <a:t>Brass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342900" indent="-342900">
                        <a:buFont typeface="Arial" panose="020B0604020202020204" pitchFamily="34" charset="0"/>
                        <a:buChar char="•"/>
                      </a:pPr>
                      <a:r>
                        <a:rPr lang="en-GB" sz="2000" dirty="0"/>
                        <a:t>Alloy of aluminium with magnesium;</a:t>
                      </a:r>
                      <a:r>
                        <a:rPr lang="en-GB" sz="2000" baseline="0" dirty="0"/>
                        <a:t> and small amounts of </a:t>
                      </a:r>
                      <a:r>
                        <a:rPr lang="en-GB" sz="2000" dirty="0"/>
                        <a:t>nickel</a:t>
                      </a:r>
                      <a:r>
                        <a:rPr lang="en-GB" sz="2000" baseline="0" dirty="0"/>
                        <a:t> and tin.</a:t>
                      </a:r>
                    </a:p>
                    <a:p>
                      <a:pPr marL="342900" indent="-342900">
                        <a:buFont typeface="Arial" panose="020B0604020202020204" pitchFamily="34" charset="0"/>
                        <a:buChar char="•"/>
                      </a:pPr>
                      <a:r>
                        <a:rPr lang="en-GB" sz="2000" baseline="0" dirty="0"/>
                        <a:t>With smaller amounts of magnesium – increased strength, corrosion resistance and lower density than pure aluminium. Used in aircraft and car parts.</a:t>
                      </a:r>
                    </a:p>
                    <a:p>
                      <a:pPr marL="342900" indent="-342900">
                        <a:buFont typeface="Arial" panose="020B0604020202020204" pitchFamily="34" charset="0"/>
                        <a:buChar char="•"/>
                      </a:pPr>
                      <a:r>
                        <a:rPr lang="en-GB" sz="2000" baseline="0" dirty="0"/>
                        <a:t>With larger amounts of magnesium – brittle and more susceptible to corrosion – used in pyrotechnics.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Arial" panose="020B0604020202020204" pitchFamily="34" charset="0"/>
                        <a:buChar char="•"/>
                      </a:pPr>
                      <a:r>
                        <a:rPr lang="en-GB" sz="2000" dirty="0"/>
                        <a:t>Alloys of copper and zinc.</a:t>
                      </a:r>
                    </a:p>
                    <a:p>
                      <a:pPr marL="342900" indent="-342900">
                        <a:buFont typeface="Arial" panose="020B0604020202020204" pitchFamily="34" charset="0"/>
                        <a:buChar char="•"/>
                      </a:pPr>
                      <a:r>
                        <a:rPr lang="en-GB" sz="2000" dirty="0"/>
                        <a:t>Used in decoration as a gold substitute.</a:t>
                      </a:r>
                    </a:p>
                    <a:p>
                      <a:pPr marL="342900" indent="-342900">
                        <a:buFont typeface="Arial" panose="020B0604020202020204" pitchFamily="34" charset="0"/>
                        <a:buChar char="•"/>
                      </a:pPr>
                      <a:r>
                        <a:rPr lang="en-GB" sz="2000" dirty="0"/>
                        <a:t>For</a:t>
                      </a:r>
                      <a:r>
                        <a:rPr lang="en-GB" sz="2000" baseline="0" dirty="0"/>
                        <a:t> low friction jobs such as gears, locks and doorknobs.</a:t>
                      </a:r>
                      <a:endParaRPr lang="en-GB"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3608" y="840001"/>
            <a:ext cx="1944216" cy="1380393"/>
          </a:xfrm>
          <a:prstGeom prst="rect">
            <a:avLst/>
          </a:prstGeom>
        </p:spPr>
      </p:pic>
    </p:spTree>
    <p:extLst>
      <p:ext uri="{BB962C8B-B14F-4D97-AF65-F5344CB8AC3E}">
        <p14:creationId xmlns:p14="http://schemas.microsoft.com/office/powerpoint/2010/main" val="153329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955203"/>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Transition metals, alloys and corrosion</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Transition metals</a:t>
            </a:r>
          </a:p>
          <a:p>
            <a:pPr marL="685800" lvl="1" indent="-342900">
              <a:buFont typeface="Arial" charset="0"/>
              <a:buChar char="•"/>
            </a:pPr>
            <a:r>
              <a:rPr lang="en-US" sz="2400" b="1" dirty="0">
                <a:solidFill>
                  <a:schemeClr val="bg1">
                    <a:lumMod val="50000"/>
                  </a:schemeClr>
                </a:solidFill>
              </a:rPr>
              <a:t>Corrosion</a:t>
            </a:r>
          </a:p>
          <a:p>
            <a:pPr marL="685800" lvl="1" indent="-342900">
              <a:buFont typeface="Arial" charset="0"/>
              <a:buChar char="•"/>
            </a:pPr>
            <a:r>
              <a:rPr lang="en-US" sz="2400" b="1" dirty="0">
                <a:solidFill>
                  <a:schemeClr val="bg1">
                    <a:lumMod val="50000"/>
                  </a:schemeClr>
                </a:solidFill>
              </a:rPr>
              <a:t>Alloys</a:t>
            </a:r>
          </a:p>
          <a:p>
            <a:endParaRPr lang="en-GB" dirty="0"/>
          </a:p>
        </p:txBody>
      </p:sp>
    </p:spTree>
    <p:extLst>
      <p:ext uri="{BB962C8B-B14F-4D97-AF65-F5344CB8AC3E}">
        <p14:creationId xmlns:p14="http://schemas.microsoft.com/office/powerpoint/2010/main" val="4263445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Transition metals, alloys and corrosion–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154984"/>
          </a:xfrm>
          <a:prstGeom prst="rect">
            <a:avLst/>
          </a:prstGeom>
          <a:noFill/>
        </p:spPr>
        <p:txBody>
          <a:bodyPr wrap="square" rtlCol="0">
            <a:spAutoFit/>
          </a:bodyPr>
          <a:lstStyle/>
          <a:p>
            <a:pPr marL="457200" indent="-457200">
              <a:buAutoNum type="arabicPeriod"/>
            </a:pPr>
            <a:r>
              <a:rPr lang="en-GB" sz="2400" dirty="0"/>
              <a:t>Where are most metals found in the periodic table?</a:t>
            </a:r>
          </a:p>
          <a:p>
            <a:pPr marL="457200" indent="-457200">
              <a:buAutoNum type="arabicPeriod"/>
            </a:pPr>
            <a:endParaRPr lang="en-GB" sz="2400" dirty="0"/>
          </a:p>
          <a:p>
            <a:pPr marL="457200" indent="-457200">
              <a:buAutoNum type="arabicPeriod"/>
            </a:pPr>
            <a:r>
              <a:rPr lang="en-GB" sz="2400" dirty="0"/>
              <a:t>Name four properties of transition metals.</a:t>
            </a:r>
          </a:p>
          <a:p>
            <a:pPr marL="457200" indent="-457200">
              <a:buAutoNum type="arabicPeriod"/>
            </a:pPr>
            <a:endParaRPr lang="en-GB" sz="2400" dirty="0"/>
          </a:p>
          <a:p>
            <a:pPr marL="457200" indent="-457200">
              <a:buAutoNum type="arabicPeriod"/>
            </a:pPr>
            <a:r>
              <a:rPr lang="en-GB" sz="2400" dirty="0"/>
              <a:t>What is corrosion?</a:t>
            </a:r>
          </a:p>
          <a:p>
            <a:pPr marL="457200" indent="-457200">
              <a:buAutoNum type="arabicPeriod"/>
            </a:pPr>
            <a:endParaRPr lang="en-GB" sz="2400" dirty="0"/>
          </a:p>
          <a:p>
            <a:pPr marL="457200" indent="-457200">
              <a:buAutoNum type="arabicPeriod"/>
            </a:pPr>
            <a:r>
              <a:rPr lang="en-GB" sz="2400" dirty="0"/>
              <a:t>Name three ways to prevent the rusting of iron.</a:t>
            </a:r>
          </a:p>
          <a:p>
            <a:pPr marL="457200" indent="-457200">
              <a:buAutoNum type="arabicPeriod"/>
            </a:pPr>
            <a:endParaRPr lang="en-GB" sz="2400" dirty="0"/>
          </a:p>
          <a:p>
            <a:pPr marL="457200" indent="-457200">
              <a:buAutoNum type="arabicPeriod"/>
            </a:pPr>
            <a:r>
              <a:rPr lang="en-GB" sz="2400" dirty="0"/>
              <a:t>What is electroplating? What is it used for?</a:t>
            </a:r>
          </a:p>
          <a:p>
            <a:pPr marL="457200" indent="-457200">
              <a:buAutoNum type="arabicPeriod"/>
            </a:pPr>
            <a:endParaRPr lang="en-GB" sz="2400" dirty="0"/>
          </a:p>
          <a:p>
            <a:pPr marL="457200" indent="-457200">
              <a:buFontTx/>
              <a:buAutoNum type="arabicPeriod"/>
            </a:pPr>
            <a:endParaRPr lang="en-GB" sz="2400" dirty="0"/>
          </a:p>
        </p:txBody>
      </p:sp>
    </p:spTree>
    <p:extLst>
      <p:ext uri="{BB962C8B-B14F-4D97-AF65-F5344CB8AC3E}">
        <p14:creationId xmlns:p14="http://schemas.microsoft.com/office/powerpoint/2010/main" val="1450869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Transition metals, alloys and corrosion–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785652"/>
          </a:xfrm>
          <a:prstGeom prst="rect">
            <a:avLst/>
          </a:prstGeom>
          <a:noFill/>
        </p:spPr>
        <p:txBody>
          <a:bodyPr wrap="square" rtlCol="0">
            <a:spAutoFit/>
          </a:bodyPr>
          <a:lstStyle/>
          <a:p>
            <a:pPr marL="457200" indent="-457200">
              <a:buFont typeface="+mj-lt"/>
              <a:buAutoNum type="arabicPeriod" startAt="6"/>
            </a:pPr>
            <a:r>
              <a:rPr lang="en-GB" sz="2400" dirty="0"/>
              <a:t>What is an alloy?</a:t>
            </a:r>
          </a:p>
          <a:p>
            <a:pPr marL="457200" indent="-457200">
              <a:buFont typeface="+mj-lt"/>
              <a:buAutoNum type="arabicPeriod" startAt="6"/>
            </a:pPr>
            <a:endParaRPr lang="en-GB" sz="2400" dirty="0"/>
          </a:p>
          <a:p>
            <a:pPr marL="457200" indent="-457200">
              <a:buAutoNum type="arabicPeriod" startAt="6"/>
            </a:pPr>
            <a:r>
              <a:rPr lang="en-GB" sz="2400" dirty="0"/>
              <a:t>How does converting a metal to an alloy improve the strength?</a:t>
            </a:r>
          </a:p>
          <a:p>
            <a:pPr marL="457200" indent="-457200">
              <a:buAutoNum type="arabicPeriod" startAt="6"/>
            </a:pPr>
            <a:endParaRPr lang="en-GB" sz="2400" dirty="0"/>
          </a:p>
          <a:p>
            <a:pPr marL="457200" indent="-457200">
              <a:buAutoNum type="arabicPeriod" startAt="6"/>
            </a:pPr>
            <a:r>
              <a:rPr lang="en-GB" sz="2400" dirty="0"/>
              <a:t>What is </a:t>
            </a:r>
            <a:r>
              <a:rPr lang="en-GB" sz="2400" dirty="0" err="1"/>
              <a:t>magnalium</a:t>
            </a:r>
            <a:r>
              <a:rPr lang="en-GB" sz="2400" dirty="0"/>
              <a:t>?</a:t>
            </a:r>
          </a:p>
          <a:p>
            <a:pPr marL="457200" indent="-457200">
              <a:buAutoNum type="arabicPeriod" startAt="6"/>
            </a:pPr>
            <a:endParaRPr lang="en-GB" sz="2400" dirty="0"/>
          </a:p>
          <a:p>
            <a:pPr marL="457200" indent="-457200">
              <a:buAutoNum type="arabicPeriod" startAt="6"/>
            </a:pPr>
            <a:r>
              <a:rPr lang="en-GB" sz="2400" dirty="0"/>
              <a:t>Name two uses of </a:t>
            </a:r>
            <a:r>
              <a:rPr lang="en-GB" sz="2400" dirty="0" err="1"/>
              <a:t>magnalium</a:t>
            </a:r>
            <a:r>
              <a:rPr lang="en-GB" sz="2400" dirty="0"/>
              <a:t>.</a:t>
            </a:r>
          </a:p>
          <a:p>
            <a:pPr marL="457200" indent="-457200">
              <a:buAutoNum type="arabicPeriod" startAt="6"/>
            </a:pPr>
            <a:endParaRPr lang="en-GB" sz="2400" dirty="0"/>
          </a:p>
          <a:p>
            <a:pPr marL="457200" indent="-457200">
              <a:buAutoNum type="arabicPeriod" startAt="6"/>
            </a:pPr>
            <a:r>
              <a:rPr lang="en-GB" sz="2400" dirty="0"/>
              <a:t>How is iron turned into steel?</a:t>
            </a:r>
          </a:p>
          <a:p>
            <a:pPr marL="457200" indent="-457200">
              <a:buFontTx/>
              <a:buAutoNum type="arabicPeriod" startAt="6"/>
            </a:pPr>
            <a:endParaRPr lang="en-GB" sz="2400" dirty="0"/>
          </a:p>
        </p:txBody>
      </p:sp>
    </p:spTree>
    <p:extLst>
      <p:ext uri="{BB962C8B-B14F-4D97-AF65-F5344CB8AC3E}">
        <p14:creationId xmlns:p14="http://schemas.microsoft.com/office/powerpoint/2010/main" val="2268385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9464" y="620688"/>
            <a:ext cx="4824536" cy="5257800"/>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940152" cy="4678204"/>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Transition metals, alloys and corrosion</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Transition metals</a:t>
            </a:r>
          </a:p>
          <a:p>
            <a:pPr marL="685800" lvl="1" indent="-342900">
              <a:buFont typeface="Arial" charset="0"/>
              <a:buChar char="•"/>
            </a:pPr>
            <a:r>
              <a:rPr lang="en-US" sz="2400" b="1" dirty="0">
                <a:solidFill>
                  <a:schemeClr val="bg1">
                    <a:lumMod val="50000"/>
                  </a:schemeClr>
                </a:solidFill>
              </a:rPr>
              <a:t>Corrosion</a:t>
            </a:r>
          </a:p>
          <a:p>
            <a:pPr marL="685800" lvl="1" indent="-342900">
              <a:buFont typeface="Arial" charset="0"/>
              <a:buChar char="•"/>
            </a:pPr>
            <a:r>
              <a:rPr lang="en-US" sz="2400" b="1" dirty="0">
                <a:solidFill>
                  <a:schemeClr val="bg1">
                    <a:lumMod val="50000"/>
                  </a:schemeClr>
                </a:solidFill>
              </a:rPr>
              <a:t>Alloys</a:t>
            </a:r>
          </a:p>
        </p:txBody>
      </p:sp>
    </p:spTree>
    <p:extLst>
      <p:ext uri="{BB962C8B-B14F-4D97-AF65-F5344CB8AC3E}">
        <p14:creationId xmlns:p14="http://schemas.microsoft.com/office/powerpoint/2010/main" val="1535306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Transition metals, alloys and corrosion–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524315"/>
          </a:xfrm>
          <a:prstGeom prst="rect">
            <a:avLst/>
          </a:prstGeom>
          <a:noFill/>
        </p:spPr>
        <p:txBody>
          <a:bodyPr wrap="square" rtlCol="0">
            <a:spAutoFit/>
          </a:bodyPr>
          <a:lstStyle/>
          <a:p>
            <a:pPr marL="457200" indent="-457200">
              <a:buAutoNum type="arabicPeriod"/>
            </a:pPr>
            <a:r>
              <a:rPr lang="en-GB" sz="2400" dirty="0"/>
              <a:t>Where are most metals found in the periodic table?</a:t>
            </a:r>
          </a:p>
          <a:p>
            <a:pPr lvl="1"/>
            <a:r>
              <a:rPr lang="en-GB" sz="2400" dirty="0">
                <a:solidFill>
                  <a:srgbClr val="00B050"/>
                </a:solidFill>
              </a:rPr>
              <a:t>Transition metals between Groups 2 and 3</a:t>
            </a:r>
          </a:p>
          <a:p>
            <a:pPr marL="457200" indent="-457200">
              <a:buAutoNum type="arabicPeriod"/>
            </a:pPr>
            <a:r>
              <a:rPr lang="en-GB" sz="2400" dirty="0"/>
              <a:t>Name four properties of transition metals.</a:t>
            </a:r>
          </a:p>
          <a:p>
            <a:pPr lvl="1"/>
            <a:r>
              <a:rPr lang="en-GB" sz="2400" dirty="0">
                <a:solidFill>
                  <a:srgbClr val="00B050"/>
                </a:solidFill>
              </a:rPr>
              <a:t>High melting point, high density, form coloured compounds, act as catalysts.</a:t>
            </a:r>
          </a:p>
          <a:p>
            <a:pPr marL="457200" indent="-457200">
              <a:buAutoNum type="arabicPeriod"/>
            </a:pPr>
            <a:r>
              <a:rPr lang="en-GB" sz="2400" dirty="0"/>
              <a:t>What is corrosion?</a:t>
            </a:r>
          </a:p>
          <a:p>
            <a:pPr lvl="1"/>
            <a:r>
              <a:rPr lang="en-GB" sz="2400" dirty="0">
                <a:solidFill>
                  <a:srgbClr val="00B050"/>
                </a:solidFill>
              </a:rPr>
              <a:t>Oxidation of metals.</a:t>
            </a:r>
          </a:p>
          <a:p>
            <a:pPr marL="457200" indent="-457200">
              <a:buAutoNum type="arabicPeriod"/>
            </a:pPr>
            <a:r>
              <a:rPr lang="en-GB" sz="2400" dirty="0"/>
              <a:t>Name three ways to prevent the rusting of iron.</a:t>
            </a:r>
          </a:p>
          <a:p>
            <a:pPr lvl="1"/>
            <a:r>
              <a:rPr lang="en-GB" sz="2400" dirty="0">
                <a:solidFill>
                  <a:srgbClr val="00B050"/>
                </a:solidFill>
              </a:rPr>
              <a:t>Exclusion of oxygen, exclusion of water, sacrificial protection.</a:t>
            </a:r>
          </a:p>
          <a:p>
            <a:pPr marL="457200" indent="-457200">
              <a:buAutoNum type="arabicPeriod"/>
            </a:pPr>
            <a:r>
              <a:rPr lang="en-GB" sz="2400" dirty="0"/>
              <a:t>What is electroplating? What is it used for?</a:t>
            </a:r>
          </a:p>
          <a:p>
            <a:pPr lvl="1"/>
            <a:r>
              <a:rPr lang="en-GB" sz="2400" dirty="0">
                <a:solidFill>
                  <a:srgbClr val="00B050"/>
                </a:solidFill>
              </a:rPr>
              <a:t>Using electricity to oat a metal with a thin layer of another metal.</a:t>
            </a:r>
          </a:p>
          <a:p>
            <a:pPr marL="457200" indent="-457200">
              <a:buFontTx/>
              <a:buAutoNum type="arabicPeriod"/>
            </a:pPr>
            <a:endParaRPr lang="en-GB" sz="2400" dirty="0"/>
          </a:p>
        </p:txBody>
      </p:sp>
    </p:spTree>
    <p:extLst>
      <p:ext uri="{BB962C8B-B14F-4D97-AF65-F5344CB8AC3E}">
        <p14:creationId xmlns:p14="http://schemas.microsoft.com/office/powerpoint/2010/main" val="9191266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Transition metals, alloys and corrosion–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154984"/>
          </a:xfrm>
          <a:prstGeom prst="rect">
            <a:avLst/>
          </a:prstGeom>
          <a:noFill/>
        </p:spPr>
        <p:txBody>
          <a:bodyPr wrap="square" rtlCol="0">
            <a:spAutoFit/>
          </a:bodyPr>
          <a:lstStyle/>
          <a:p>
            <a:pPr marL="457200" indent="-457200">
              <a:buFont typeface="+mj-lt"/>
              <a:buAutoNum type="arabicPeriod" startAt="6"/>
            </a:pPr>
            <a:r>
              <a:rPr lang="en-GB" sz="2400" dirty="0"/>
              <a:t>What is an alloy?</a:t>
            </a:r>
          </a:p>
          <a:p>
            <a:pPr lvl="1"/>
            <a:r>
              <a:rPr lang="en-GB" sz="2400" dirty="0">
                <a:solidFill>
                  <a:srgbClr val="00B050"/>
                </a:solidFill>
              </a:rPr>
              <a:t>Metal mixed with other elements.</a:t>
            </a:r>
          </a:p>
          <a:p>
            <a:pPr marL="457200" indent="-457200">
              <a:buAutoNum type="arabicPeriod" startAt="6"/>
            </a:pPr>
            <a:r>
              <a:rPr lang="en-GB" sz="2400" dirty="0"/>
              <a:t>How does converting a metal to an alloy improve the strength?</a:t>
            </a:r>
          </a:p>
          <a:p>
            <a:pPr lvl="1"/>
            <a:r>
              <a:rPr lang="en-GB" sz="2400" dirty="0">
                <a:solidFill>
                  <a:srgbClr val="00B050"/>
                </a:solidFill>
              </a:rPr>
              <a:t>Distorts the layers in the structure making it difficult for them to slide over each other. </a:t>
            </a:r>
          </a:p>
          <a:p>
            <a:pPr marL="457200" indent="-457200">
              <a:buAutoNum type="arabicPeriod" startAt="6"/>
            </a:pPr>
            <a:r>
              <a:rPr lang="en-GB" sz="2400" dirty="0"/>
              <a:t>What is </a:t>
            </a:r>
            <a:r>
              <a:rPr lang="en-GB" sz="2400" dirty="0" err="1"/>
              <a:t>magnalium</a:t>
            </a:r>
            <a:r>
              <a:rPr lang="en-GB" sz="2400" dirty="0"/>
              <a:t>?</a:t>
            </a:r>
          </a:p>
          <a:p>
            <a:pPr lvl="1"/>
            <a:r>
              <a:rPr lang="en-GB" sz="2400" dirty="0">
                <a:solidFill>
                  <a:srgbClr val="00B050"/>
                </a:solidFill>
              </a:rPr>
              <a:t>Alloy of aluminium and magnesium.</a:t>
            </a:r>
          </a:p>
          <a:p>
            <a:pPr marL="457200" indent="-457200">
              <a:buAutoNum type="arabicPeriod" startAt="6"/>
            </a:pPr>
            <a:r>
              <a:rPr lang="en-GB" sz="2400" dirty="0"/>
              <a:t>Name two uses of </a:t>
            </a:r>
            <a:r>
              <a:rPr lang="en-GB" sz="2400" dirty="0" err="1"/>
              <a:t>magnalium</a:t>
            </a:r>
            <a:r>
              <a:rPr lang="en-GB" sz="2400" dirty="0"/>
              <a:t>.</a:t>
            </a:r>
          </a:p>
          <a:p>
            <a:pPr lvl="1"/>
            <a:r>
              <a:rPr lang="en-GB" sz="2400" dirty="0">
                <a:solidFill>
                  <a:srgbClr val="00B050"/>
                </a:solidFill>
              </a:rPr>
              <a:t>Aircraft/ car parts, pyrotechnics.</a:t>
            </a:r>
          </a:p>
          <a:p>
            <a:pPr marL="457200" indent="-457200">
              <a:buAutoNum type="arabicPeriod" startAt="6"/>
            </a:pPr>
            <a:r>
              <a:rPr lang="en-GB" sz="2400" dirty="0"/>
              <a:t>How is iron turned into steel?</a:t>
            </a:r>
          </a:p>
          <a:p>
            <a:pPr lvl="1"/>
            <a:r>
              <a:rPr lang="en-GB" sz="2400" dirty="0">
                <a:solidFill>
                  <a:srgbClr val="00B050"/>
                </a:solidFill>
              </a:rPr>
              <a:t>Addition of carbon and other substances e.g. chromium.</a:t>
            </a:r>
          </a:p>
        </p:txBody>
      </p:sp>
    </p:spTree>
    <p:extLst>
      <p:ext uri="{BB962C8B-B14F-4D97-AF65-F5344CB8AC3E}">
        <p14:creationId xmlns:p14="http://schemas.microsoft.com/office/powerpoint/2010/main" val="285491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652120" cy="5139869"/>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Quantitative </a:t>
            </a:r>
          </a:p>
          <a:p>
            <a:r>
              <a:rPr lang="en-GB" sz="3600" b="1" dirty="0">
                <a:solidFill>
                  <a:schemeClr val="tx1">
                    <a:lumMod val="50000"/>
                    <a:lumOff val="50000"/>
                  </a:schemeClr>
                </a:solidFill>
              </a:rPr>
              <a:t>Analysis – 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Titrations and unknown concentrations (HT)</a:t>
            </a:r>
          </a:p>
          <a:p>
            <a:endParaRPr lang="en-GB" dirty="0"/>
          </a:p>
        </p:txBody>
      </p:sp>
    </p:spTree>
    <p:extLst>
      <p:ext uri="{BB962C8B-B14F-4D97-AF65-F5344CB8AC3E}">
        <p14:creationId xmlns:p14="http://schemas.microsoft.com/office/powerpoint/2010/main" val="1353611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Calculating concentration</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id="{069D24D6-BF3E-48D1-A1E3-FB8C618604DE}"/>
              </a:ext>
            </a:extLst>
          </p:cNvPr>
          <p:cNvSpPr txBox="1"/>
          <p:nvPr/>
        </p:nvSpPr>
        <p:spPr>
          <a:xfrm>
            <a:off x="3275856" y="692696"/>
            <a:ext cx="5688632" cy="283154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GB" sz="2000" dirty="0"/>
              <a:t>Chemists quote the amount of substance (solute) dissolved in a certain volume of the solution. The units used to express the concentration can be grams per decimetre cubed </a:t>
            </a:r>
            <a:r>
              <a:rPr lang="en-GB" sz="2000" b="1" dirty="0"/>
              <a:t>(g/dm</a:t>
            </a:r>
            <a:r>
              <a:rPr lang="en-GB" sz="2000" b="1" baseline="30000" dirty="0"/>
              <a:t>3</a:t>
            </a:r>
            <a:r>
              <a:rPr lang="en-GB" sz="2000" b="1" dirty="0"/>
              <a:t>)</a:t>
            </a:r>
            <a:r>
              <a:rPr lang="en-GB" sz="2000" dirty="0"/>
              <a:t>.  </a:t>
            </a:r>
            <a:r>
              <a:rPr lang="en-GB" sz="2000" b="1" dirty="0"/>
              <a:t>A decimetre (1dm</a:t>
            </a:r>
            <a:r>
              <a:rPr lang="en-GB" sz="2000" b="1" baseline="30000" dirty="0"/>
              <a:t> 3</a:t>
            </a:r>
            <a:r>
              <a:rPr lang="en-GB" sz="2000" b="1" dirty="0"/>
              <a:t>) cubed is equal to 1000cm</a:t>
            </a:r>
            <a:r>
              <a:rPr lang="en-GB" sz="2000" b="1" baseline="30000" dirty="0"/>
              <a:t>3</a:t>
            </a:r>
            <a:r>
              <a:rPr lang="en-GB" sz="2000" b="1" dirty="0"/>
              <a:t>.</a:t>
            </a:r>
          </a:p>
          <a:p>
            <a:pPr algn="ctr"/>
            <a:endParaRPr lang="en-GB" dirty="0"/>
          </a:p>
          <a:p>
            <a:pPr algn="ctr"/>
            <a:r>
              <a:rPr lang="en-GB" sz="2000" b="1" dirty="0">
                <a:solidFill>
                  <a:schemeClr val="accent6">
                    <a:lumMod val="75000"/>
                  </a:schemeClr>
                </a:solidFill>
              </a:rPr>
              <a:t>The blackcurrant juice is getting more concentrated – the darker colour indicates more squash is in the same volume of its solution</a:t>
            </a:r>
          </a:p>
        </p:txBody>
      </p:sp>
      <p:pic>
        <p:nvPicPr>
          <p:cNvPr id="6" name="Picture 5">
            <a:extLst>
              <a:ext uri="{FF2B5EF4-FFF2-40B4-BE49-F238E27FC236}">
                <a16:creationId xmlns:a16="http://schemas.microsoft.com/office/drawing/2014/main" id="{59B8E1B0-B341-4BC0-B649-A7D7796FA71C}"/>
              </a:ext>
            </a:extLst>
          </p:cNvPr>
          <p:cNvPicPr>
            <a:picLocks noChangeAspect="1"/>
          </p:cNvPicPr>
          <p:nvPr/>
        </p:nvPicPr>
        <p:blipFill>
          <a:blip r:embed="rId3"/>
          <a:stretch>
            <a:fillRect/>
          </a:stretch>
        </p:blipFill>
        <p:spPr>
          <a:xfrm>
            <a:off x="147700" y="721296"/>
            <a:ext cx="2880320" cy="2073830"/>
          </a:xfrm>
          <a:prstGeom prst="rect">
            <a:avLst/>
          </a:prstGeom>
        </p:spPr>
      </p:pic>
      <p:cxnSp>
        <p:nvCxnSpPr>
          <p:cNvPr id="8" name="Straight Arrow Connector 7">
            <a:extLst>
              <a:ext uri="{FF2B5EF4-FFF2-40B4-BE49-F238E27FC236}">
                <a16:creationId xmlns:a16="http://schemas.microsoft.com/office/drawing/2014/main" id="{BAA0E9F7-1BF6-4921-A584-0D420C65AE9C}"/>
              </a:ext>
            </a:extLst>
          </p:cNvPr>
          <p:cNvCxnSpPr/>
          <p:nvPr/>
        </p:nvCxnSpPr>
        <p:spPr>
          <a:xfrm flipV="1">
            <a:off x="611560" y="2430574"/>
            <a:ext cx="2376264" cy="720080"/>
          </a:xfrm>
          <a:prstGeom prst="straightConnector1">
            <a:avLst/>
          </a:prstGeom>
          <a:ln w="76200">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992B8055-183C-4C17-A133-25E31136688B}"/>
              </a:ext>
            </a:extLst>
          </p:cNvPr>
          <p:cNvSpPr txBox="1"/>
          <p:nvPr/>
        </p:nvSpPr>
        <p:spPr>
          <a:xfrm>
            <a:off x="147700" y="3758512"/>
            <a:ext cx="4240088" cy="2708434"/>
          </a:xfrm>
          <a:prstGeom prst="rect">
            <a:avLst/>
          </a:prstGeom>
          <a:noFill/>
          <a:ln>
            <a:solidFill>
              <a:schemeClr val="bg1"/>
            </a:solidFill>
          </a:ln>
        </p:spPr>
        <p:txBody>
          <a:bodyPr wrap="square" rtlCol="0">
            <a:spAutoFit/>
          </a:bodyPr>
          <a:lstStyle/>
          <a:p>
            <a:pPr algn="ctr"/>
            <a:r>
              <a:rPr lang="en-GB" dirty="0"/>
              <a:t>If you know the mass of the solute dissolved in a certain volume of solution, you can work out the concentration using:</a:t>
            </a:r>
          </a:p>
          <a:p>
            <a:pPr algn="ctr"/>
            <a:endParaRPr lang="en-GB" sz="800" dirty="0"/>
          </a:p>
          <a:p>
            <a:r>
              <a:rPr lang="en-GB" b="1" dirty="0"/>
              <a:t>Concentration =     amount of solute (g)          </a:t>
            </a:r>
          </a:p>
          <a:p>
            <a:r>
              <a:rPr lang="en-GB" b="1" dirty="0"/>
              <a:t>      (g/dm</a:t>
            </a:r>
            <a:r>
              <a:rPr lang="en-GB" b="1" baseline="30000" dirty="0"/>
              <a:t>3 </a:t>
            </a:r>
            <a:r>
              <a:rPr lang="en-GB" b="1" dirty="0"/>
              <a:t>)        Volume of solution (dm</a:t>
            </a:r>
            <a:r>
              <a:rPr lang="en-GB" b="1" baseline="30000" dirty="0"/>
              <a:t>3</a:t>
            </a:r>
            <a:r>
              <a:rPr lang="en-GB" b="1" dirty="0"/>
              <a:t>)</a:t>
            </a:r>
          </a:p>
          <a:p>
            <a:endParaRPr lang="en-GB" b="1" dirty="0"/>
          </a:p>
          <a:p>
            <a:pPr algn="ctr"/>
            <a:r>
              <a:rPr lang="en-GB" b="1" dirty="0">
                <a:solidFill>
                  <a:schemeClr val="accent6">
                    <a:lumMod val="75000"/>
                  </a:schemeClr>
                </a:solidFill>
              </a:rPr>
              <a:t>Remember if you are using cm</a:t>
            </a:r>
            <a:r>
              <a:rPr lang="en-GB" b="1" baseline="30000" dirty="0">
                <a:solidFill>
                  <a:schemeClr val="accent6">
                    <a:lumMod val="75000"/>
                  </a:schemeClr>
                </a:solidFill>
              </a:rPr>
              <a:t>3</a:t>
            </a:r>
            <a:r>
              <a:rPr lang="en-GB" b="1" dirty="0">
                <a:solidFill>
                  <a:schemeClr val="accent6">
                    <a:lumMod val="75000"/>
                  </a:schemeClr>
                </a:solidFill>
              </a:rPr>
              <a:t> , to multiply the volume by 1000 to covert to dm</a:t>
            </a:r>
            <a:r>
              <a:rPr lang="en-GB" b="1" baseline="30000" dirty="0">
                <a:solidFill>
                  <a:schemeClr val="accent6">
                    <a:lumMod val="75000"/>
                  </a:schemeClr>
                </a:solidFill>
              </a:rPr>
              <a:t>3</a:t>
            </a:r>
            <a:endParaRPr lang="en-GB" b="1" dirty="0">
              <a:solidFill>
                <a:schemeClr val="accent6">
                  <a:lumMod val="75000"/>
                </a:schemeClr>
              </a:solidFill>
            </a:endParaRPr>
          </a:p>
        </p:txBody>
      </p:sp>
      <p:cxnSp>
        <p:nvCxnSpPr>
          <p:cNvPr id="11" name="Straight Connector 10">
            <a:extLst>
              <a:ext uri="{FF2B5EF4-FFF2-40B4-BE49-F238E27FC236}">
                <a16:creationId xmlns:a16="http://schemas.microsoft.com/office/drawing/2014/main" id="{B94E27F1-F568-4864-95F5-E36E50756C7C}"/>
              </a:ext>
            </a:extLst>
          </p:cNvPr>
          <p:cNvCxnSpPr/>
          <p:nvPr/>
        </p:nvCxnSpPr>
        <p:spPr>
          <a:xfrm>
            <a:off x="1814355" y="4974229"/>
            <a:ext cx="2376264" cy="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6A06E9BF-3AD7-4CBD-B1B1-5F5D92C19D57}"/>
              </a:ext>
            </a:extLst>
          </p:cNvPr>
          <p:cNvSpPr txBox="1"/>
          <p:nvPr/>
        </p:nvSpPr>
        <p:spPr>
          <a:xfrm>
            <a:off x="4527503" y="4147239"/>
            <a:ext cx="4436985" cy="2246769"/>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pPr algn="ctr"/>
            <a:r>
              <a:rPr lang="en-GB" sz="2000" dirty="0"/>
              <a:t>50g of sodium hydroxide is dissolved in water to make up 200cm</a:t>
            </a:r>
            <a:r>
              <a:rPr lang="en-GB" sz="2000" baseline="30000" dirty="0"/>
              <a:t>3 </a:t>
            </a:r>
            <a:r>
              <a:rPr lang="en-GB" sz="2000" dirty="0"/>
              <a:t>. </a:t>
            </a:r>
          </a:p>
          <a:p>
            <a:pPr algn="ctr"/>
            <a:endParaRPr lang="en-GB" sz="2000" dirty="0"/>
          </a:p>
          <a:p>
            <a:pPr algn="ctr"/>
            <a:r>
              <a:rPr lang="en-GB" sz="2000" i="1" dirty="0"/>
              <a:t>What is the concentration in dm</a:t>
            </a:r>
            <a:r>
              <a:rPr lang="en-GB" sz="2000" i="1" baseline="30000" dirty="0"/>
              <a:t>3</a:t>
            </a:r>
            <a:r>
              <a:rPr lang="en-GB" sz="2000" i="1" dirty="0"/>
              <a:t>?</a:t>
            </a:r>
          </a:p>
          <a:p>
            <a:endParaRPr lang="en-GB" sz="2000" b="1" dirty="0"/>
          </a:p>
          <a:p>
            <a:r>
              <a:rPr lang="en-GB" sz="2000" b="1" dirty="0">
                <a:solidFill>
                  <a:schemeClr val="accent6">
                    <a:lumMod val="75000"/>
                  </a:schemeClr>
                </a:solidFill>
              </a:rPr>
              <a:t>50g/200cm</a:t>
            </a:r>
            <a:r>
              <a:rPr lang="en-GB" sz="2000" b="1" baseline="30000" dirty="0">
                <a:solidFill>
                  <a:schemeClr val="accent6">
                    <a:lumMod val="75000"/>
                  </a:schemeClr>
                </a:solidFill>
              </a:rPr>
              <a:t>3</a:t>
            </a:r>
            <a:r>
              <a:rPr lang="en-GB" sz="2000" b="1" dirty="0">
                <a:solidFill>
                  <a:schemeClr val="accent6">
                    <a:lumMod val="75000"/>
                  </a:schemeClr>
                </a:solidFill>
              </a:rPr>
              <a:t>= 0.25g/cm</a:t>
            </a:r>
            <a:r>
              <a:rPr lang="en-GB" sz="2000" b="1" baseline="30000" dirty="0">
                <a:solidFill>
                  <a:schemeClr val="accent6">
                    <a:lumMod val="75000"/>
                  </a:schemeClr>
                </a:solidFill>
              </a:rPr>
              <a:t>3</a:t>
            </a:r>
          </a:p>
          <a:p>
            <a:r>
              <a:rPr lang="en-GB" sz="2000" b="1" dirty="0">
                <a:solidFill>
                  <a:schemeClr val="accent6">
                    <a:lumMod val="75000"/>
                  </a:schemeClr>
                </a:solidFill>
              </a:rPr>
              <a:t>0.25g/cm</a:t>
            </a:r>
            <a:r>
              <a:rPr lang="en-GB" sz="2000" b="1" baseline="30000" dirty="0">
                <a:solidFill>
                  <a:schemeClr val="accent6">
                    <a:lumMod val="75000"/>
                  </a:schemeClr>
                </a:solidFill>
              </a:rPr>
              <a:t>3</a:t>
            </a:r>
            <a:r>
              <a:rPr lang="en-GB" sz="2000" b="1" dirty="0">
                <a:solidFill>
                  <a:schemeClr val="accent6">
                    <a:lumMod val="75000"/>
                  </a:schemeClr>
                </a:solidFill>
              </a:rPr>
              <a:t> x 1000 = 250g/dm</a:t>
            </a:r>
            <a:r>
              <a:rPr lang="en-GB" sz="2000" b="1" baseline="30000" dirty="0">
                <a:solidFill>
                  <a:schemeClr val="accent6">
                    <a:lumMod val="75000"/>
                  </a:schemeClr>
                </a:solidFill>
              </a:rPr>
              <a:t>3</a:t>
            </a:r>
            <a:endParaRPr lang="en-GB" sz="2000" b="1" dirty="0">
              <a:solidFill>
                <a:schemeClr val="accent6">
                  <a:lumMod val="75000"/>
                </a:schemeClr>
              </a:solidFill>
            </a:endParaRPr>
          </a:p>
        </p:txBody>
      </p:sp>
      <p:sp>
        <p:nvSpPr>
          <p:cNvPr id="13" name="TextBox 12">
            <a:extLst>
              <a:ext uri="{FF2B5EF4-FFF2-40B4-BE49-F238E27FC236}">
                <a16:creationId xmlns:a16="http://schemas.microsoft.com/office/drawing/2014/main" id="{711FF2EB-448C-4985-9C05-BAF8595C3C33}"/>
              </a:ext>
            </a:extLst>
          </p:cNvPr>
          <p:cNvSpPr txBox="1"/>
          <p:nvPr/>
        </p:nvSpPr>
        <p:spPr>
          <a:xfrm>
            <a:off x="4547937" y="3704071"/>
            <a:ext cx="1129027" cy="400110"/>
          </a:xfrm>
          <a:prstGeom prst="rect">
            <a:avLst/>
          </a:prstGeom>
          <a:noFill/>
        </p:spPr>
        <p:txBody>
          <a:bodyPr wrap="none" rtlCol="0">
            <a:spAutoFit/>
          </a:bodyPr>
          <a:lstStyle/>
          <a:p>
            <a:r>
              <a:rPr lang="en-GB" sz="2000" dirty="0"/>
              <a:t>Example</a:t>
            </a:r>
            <a:r>
              <a:rPr lang="en-GB" dirty="0"/>
              <a:t>:</a:t>
            </a:r>
          </a:p>
        </p:txBody>
      </p:sp>
    </p:spTree>
    <p:extLst>
      <p:ext uri="{BB962C8B-B14F-4D97-AF65-F5344CB8AC3E}">
        <p14:creationId xmlns:p14="http://schemas.microsoft.com/office/powerpoint/2010/main" val="1605154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4864"/>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Calculating concentration</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id="{069D24D6-BF3E-48D1-A1E3-FB8C618604DE}"/>
              </a:ext>
            </a:extLst>
          </p:cNvPr>
          <p:cNvSpPr txBox="1"/>
          <p:nvPr/>
        </p:nvSpPr>
        <p:spPr>
          <a:xfrm>
            <a:off x="230179" y="895808"/>
            <a:ext cx="8590293" cy="677108"/>
          </a:xfrm>
          <a:prstGeom prst="rect">
            <a:avLst/>
          </a:prstGeom>
          <a:noFill/>
          <a:ln>
            <a:solidFill>
              <a:schemeClr val="bg1"/>
            </a:solidFill>
          </a:ln>
        </p:spPr>
        <p:txBody>
          <a:bodyPr wrap="square" rtlCol="0">
            <a:spAutoFit/>
          </a:bodyPr>
          <a:lstStyle/>
          <a:p>
            <a:pPr algn="ctr"/>
            <a:r>
              <a:rPr lang="en-GB" sz="2000" dirty="0"/>
              <a:t>Chemists can measure concentration in moles per cubic decimetre </a:t>
            </a:r>
            <a:r>
              <a:rPr lang="en-GB" sz="2000" b="1" dirty="0"/>
              <a:t>(</a:t>
            </a:r>
            <a:r>
              <a:rPr lang="en-GB" sz="2000" b="1" dirty="0" err="1"/>
              <a:t>mol</a:t>
            </a:r>
            <a:r>
              <a:rPr lang="en-GB" sz="2000" b="1" dirty="0"/>
              <a:t>/dm</a:t>
            </a:r>
            <a:r>
              <a:rPr lang="en-GB" sz="2000" b="1" baseline="30000" dirty="0"/>
              <a:t>3</a:t>
            </a:r>
            <a:r>
              <a:rPr lang="en-GB" sz="2000" b="1" dirty="0"/>
              <a:t>)</a:t>
            </a:r>
            <a:r>
              <a:rPr lang="en-GB" sz="2000" dirty="0"/>
              <a:t>. </a:t>
            </a:r>
          </a:p>
          <a:p>
            <a:pPr algn="ctr"/>
            <a:endParaRPr lang="en-GB" dirty="0"/>
          </a:p>
        </p:txBody>
      </p:sp>
      <p:sp>
        <p:nvSpPr>
          <p:cNvPr id="10" name="TextBox 9">
            <a:extLst>
              <a:ext uri="{FF2B5EF4-FFF2-40B4-BE49-F238E27FC236}">
                <a16:creationId xmlns:a16="http://schemas.microsoft.com/office/drawing/2014/main" id="{D46563E1-D945-4EFC-A168-957652768574}"/>
              </a:ext>
            </a:extLst>
          </p:cNvPr>
          <p:cNvSpPr txBox="1"/>
          <p:nvPr/>
        </p:nvSpPr>
        <p:spPr>
          <a:xfrm>
            <a:off x="230179" y="2460992"/>
            <a:ext cx="3117685" cy="1631216"/>
          </a:xfrm>
          <a:prstGeom prst="rect">
            <a:avLst/>
          </a:prstGeom>
          <a:solidFill>
            <a:schemeClr val="accent6">
              <a:lumMod val="40000"/>
              <a:lumOff val="60000"/>
            </a:schemeClr>
          </a:solidFill>
          <a:ln>
            <a:solidFill>
              <a:schemeClr val="accent6">
                <a:lumMod val="75000"/>
              </a:schemeClr>
            </a:solidFill>
          </a:ln>
        </p:spPr>
        <p:txBody>
          <a:bodyPr wrap="square" rtlCol="0">
            <a:spAutoFit/>
          </a:bodyPr>
          <a:lstStyle/>
          <a:p>
            <a:pPr algn="ctr"/>
            <a:r>
              <a:rPr lang="en-GB" sz="2000" i="1" dirty="0"/>
              <a:t>What is the concentration of a solution that has 35.0g of solute in 0.5dm</a:t>
            </a:r>
            <a:r>
              <a:rPr lang="en-GB" sz="2000" i="1" baseline="30000" dirty="0"/>
              <a:t>3</a:t>
            </a:r>
            <a:r>
              <a:rPr lang="en-GB" sz="2000" i="1" dirty="0"/>
              <a:t>of solution?</a:t>
            </a:r>
          </a:p>
          <a:p>
            <a:pPr algn="ctr"/>
            <a:endParaRPr lang="en-GB" sz="2000" dirty="0"/>
          </a:p>
          <a:p>
            <a:pPr algn="ctr"/>
            <a:r>
              <a:rPr lang="en-GB" sz="2000" b="1" dirty="0">
                <a:solidFill>
                  <a:schemeClr val="accent6">
                    <a:lumMod val="75000"/>
                  </a:schemeClr>
                </a:solidFill>
              </a:rPr>
              <a:t>35/0.5 = 70 g/dm</a:t>
            </a:r>
            <a:r>
              <a:rPr lang="en-GB" sz="2000" b="1" baseline="30000" dirty="0">
                <a:solidFill>
                  <a:schemeClr val="accent6">
                    <a:lumMod val="75000"/>
                  </a:schemeClr>
                </a:solidFill>
              </a:rPr>
              <a:t>3 </a:t>
            </a:r>
            <a:endParaRPr lang="en-GB" sz="2000" b="1" dirty="0">
              <a:solidFill>
                <a:schemeClr val="accent6">
                  <a:lumMod val="75000"/>
                </a:schemeClr>
              </a:solidFill>
            </a:endParaRPr>
          </a:p>
        </p:txBody>
      </p:sp>
      <p:sp>
        <p:nvSpPr>
          <p:cNvPr id="11" name="TextBox 10">
            <a:extLst>
              <a:ext uri="{FF2B5EF4-FFF2-40B4-BE49-F238E27FC236}">
                <a16:creationId xmlns:a16="http://schemas.microsoft.com/office/drawing/2014/main" id="{FDE15821-BDB3-49DD-8ADF-D5DD71B27D62}"/>
              </a:ext>
            </a:extLst>
          </p:cNvPr>
          <p:cNvSpPr txBox="1"/>
          <p:nvPr/>
        </p:nvSpPr>
        <p:spPr>
          <a:xfrm>
            <a:off x="208935" y="2064389"/>
            <a:ext cx="1209627" cy="369332"/>
          </a:xfrm>
          <a:prstGeom prst="rect">
            <a:avLst/>
          </a:prstGeom>
          <a:noFill/>
        </p:spPr>
        <p:txBody>
          <a:bodyPr wrap="none" rtlCol="0">
            <a:spAutoFit/>
          </a:bodyPr>
          <a:lstStyle/>
          <a:p>
            <a:r>
              <a:rPr lang="en-GB" dirty="0"/>
              <a:t>Example 1:</a:t>
            </a:r>
          </a:p>
        </p:txBody>
      </p:sp>
      <p:sp>
        <p:nvSpPr>
          <p:cNvPr id="12" name="TextBox 11">
            <a:extLst>
              <a:ext uri="{FF2B5EF4-FFF2-40B4-BE49-F238E27FC236}">
                <a16:creationId xmlns:a16="http://schemas.microsoft.com/office/drawing/2014/main" id="{4AF038DA-1ECC-42C5-ACB6-B82D8A97C58E}"/>
              </a:ext>
            </a:extLst>
          </p:cNvPr>
          <p:cNvSpPr txBox="1"/>
          <p:nvPr/>
        </p:nvSpPr>
        <p:spPr>
          <a:xfrm>
            <a:off x="4272966" y="2064389"/>
            <a:ext cx="1209627" cy="369332"/>
          </a:xfrm>
          <a:prstGeom prst="rect">
            <a:avLst/>
          </a:prstGeom>
          <a:noFill/>
        </p:spPr>
        <p:txBody>
          <a:bodyPr wrap="none" rtlCol="0">
            <a:spAutoFit/>
          </a:bodyPr>
          <a:lstStyle/>
          <a:p>
            <a:r>
              <a:rPr lang="en-GB" dirty="0"/>
              <a:t>Example 2:</a:t>
            </a:r>
          </a:p>
        </p:txBody>
      </p:sp>
      <p:sp>
        <p:nvSpPr>
          <p:cNvPr id="14" name="TextBox 13">
            <a:extLst>
              <a:ext uri="{FF2B5EF4-FFF2-40B4-BE49-F238E27FC236}">
                <a16:creationId xmlns:a16="http://schemas.microsoft.com/office/drawing/2014/main" id="{33750981-3F90-4F18-AE4B-7E8179069FD4}"/>
              </a:ext>
            </a:extLst>
          </p:cNvPr>
          <p:cNvSpPr txBox="1"/>
          <p:nvPr/>
        </p:nvSpPr>
        <p:spPr>
          <a:xfrm>
            <a:off x="3491880" y="2460992"/>
            <a:ext cx="5328592" cy="2246769"/>
          </a:xfrm>
          <a:prstGeom prst="rect">
            <a:avLst/>
          </a:prstGeom>
          <a:solidFill>
            <a:schemeClr val="accent6">
              <a:lumMod val="40000"/>
              <a:lumOff val="60000"/>
            </a:schemeClr>
          </a:solidFill>
          <a:ln>
            <a:solidFill>
              <a:schemeClr val="accent6">
                <a:lumMod val="75000"/>
              </a:schemeClr>
            </a:solidFill>
          </a:ln>
        </p:spPr>
        <p:txBody>
          <a:bodyPr wrap="square" rtlCol="0">
            <a:spAutoFit/>
          </a:bodyPr>
          <a:lstStyle/>
          <a:p>
            <a:pPr algn="ctr"/>
            <a:r>
              <a:rPr lang="en-GB" sz="2000" i="1" dirty="0"/>
              <a:t>Calculate the mass of magnesium chloride (MgCl</a:t>
            </a:r>
            <a:r>
              <a:rPr lang="en-GB" sz="2000" i="1" baseline="-25000" dirty="0"/>
              <a:t>2</a:t>
            </a:r>
            <a:r>
              <a:rPr lang="en-GB" sz="2000" i="1" dirty="0"/>
              <a:t>) if there is 1 dm</a:t>
            </a:r>
            <a:r>
              <a:rPr lang="en-GB" sz="2000" i="1" baseline="30000" dirty="0"/>
              <a:t>3 </a:t>
            </a:r>
            <a:r>
              <a:rPr lang="en-GB" sz="2000" i="1" dirty="0"/>
              <a:t>of a 1mol/ dm</a:t>
            </a:r>
            <a:r>
              <a:rPr lang="en-GB" sz="2000" i="1" baseline="30000" dirty="0"/>
              <a:t>3 </a:t>
            </a:r>
            <a:r>
              <a:rPr lang="en-GB" sz="2000" i="1" dirty="0"/>
              <a:t>solution.  </a:t>
            </a:r>
          </a:p>
          <a:p>
            <a:pPr algn="ctr"/>
            <a:endParaRPr lang="en-GB" sz="2000" b="1" i="1" dirty="0">
              <a:solidFill>
                <a:schemeClr val="accent6">
                  <a:lumMod val="75000"/>
                </a:schemeClr>
              </a:solidFill>
            </a:endParaRPr>
          </a:p>
          <a:p>
            <a:pPr algn="ctr"/>
            <a:r>
              <a:rPr lang="en-GB" sz="2000" b="1" dirty="0">
                <a:solidFill>
                  <a:schemeClr val="accent6">
                    <a:lumMod val="75000"/>
                  </a:schemeClr>
                </a:solidFill>
              </a:rPr>
              <a:t>Mass of 1 mole of magnesium chloride </a:t>
            </a:r>
          </a:p>
          <a:p>
            <a:pPr algn="ctr"/>
            <a:r>
              <a:rPr lang="en-GB" sz="2000" b="1" dirty="0">
                <a:solidFill>
                  <a:schemeClr val="accent6">
                    <a:lumMod val="75000"/>
                  </a:schemeClr>
                </a:solidFill>
              </a:rPr>
              <a:t>= 24 + (35.5 × 2) = 95 g </a:t>
            </a:r>
            <a:br>
              <a:rPr lang="en-GB" sz="2000" b="1" dirty="0">
                <a:solidFill>
                  <a:schemeClr val="accent6">
                    <a:lumMod val="75000"/>
                  </a:schemeClr>
                </a:solidFill>
              </a:rPr>
            </a:br>
            <a:r>
              <a:rPr lang="en-GB" sz="2000" b="1" dirty="0">
                <a:solidFill>
                  <a:schemeClr val="accent6">
                    <a:lumMod val="75000"/>
                  </a:schemeClr>
                </a:solidFill>
              </a:rPr>
              <a:t>So there are 95 g of magnesium chloride in </a:t>
            </a:r>
          </a:p>
          <a:p>
            <a:pPr algn="ctr"/>
            <a:r>
              <a:rPr lang="en-GB" sz="2000" b="1" dirty="0">
                <a:solidFill>
                  <a:schemeClr val="accent6">
                    <a:lumMod val="75000"/>
                  </a:schemeClr>
                </a:solidFill>
              </a:rPr>
              <a:t>1 dm</a:t>
            </a:r>
            <a:r>
              <a:rPr lang="en-GB" sz="2000" b="1" baseline="30000" dirty="0">
                <a:solidFill>
                  <a:schemeClr val="accent6">
                    <a:lumMod val="75000"/>
                  </a:schemeClr>
                </a:solidFill>
              </a:rPr>
              <a:t>3</a:t>
            </a:r>
            <a:r>
              <a:rPr lang="en-GB" sz="2000" b="1" dirty="0">
                <a:solidFill>
                  <a:schemeClr val="accent6">
                    <a:lumMod val="75000"/>
                  </a:schemeClr>
                </a:solidFill>
              </a:rPr>
              <a:t> of a 1 </a:t>
            </a:r>
            <a:r>
              <a:rPr lang="en-GB" sz="2000" b="1" dirty="0" err="1">
                <a:solidFill>
                  <a:schemeClr val="accent6">
                    <a:lumMod val="75000"/>
                  </a:schemeClr>
                </a:solidFill>
              </a:rPr>
              <a:t>mol</a:t>
            </a:r>
            <a:r>
              <a:rPr lang="en-GB" sz="2000" b="1" dirty="0">
                <a:solidFill>
                  <a:schemeClr val="accent6">
                    <a:lumMod val="75000"/>
                  </a:schemeClr>
                </a:solidFill>
              </a:rPr>
              <a:t>/dm</a:t>
            </a:r>
            <a:r>
              <a:rPr lang="en-GB" sz="2000" b="1" baseline="30000" dirty="0">
                <a:solidFill>
                  <a:schemeClr val="accent6">
                    <a:lumMod val="75000"/>
                  </a:schemeClr>
                </a:solidFill>
              </a:rPr>
              <a:t>3</a:t>
            </a:r>
            <a:r>
              <a:rPr lang="en-GB" sz="2000" b="1" dirty="0">
                <a:solidFill>
                  <a:schemeClr val="accent6">
                    <a:lumMod val="75000"/>
                  </a:schemeClr>
                </a:solidFill>
              </a:rPr>
              <a:t> solution.</a:t>
            </a:r>
            <a:endParaRPr lang="en-GB" sz="2000" b="1" i="1" dirty="0">
              <a:solidFill>
                <a:schemeClr val="accent6">
                  <a:lumMod val="75000"/>
                </a:schemeClr>
              </a:solidFill>
            </a:endParaRPr>
          </a:p>
        </p:txBody>
      </p:sp>
      <p:sp>
        <p:nvSpPr>
          <p:cNvPr id="8" name="Rectangle 7">
            <a:extLst>
              <a:ext uri="{FF2B5EF4-FFF2-40B4-BE49-F238E27FC236}">
                <a16:creationId xmlns:a16="http://schemas.microsoft.com/office/drawing/2014/main" id="{C7EA2B19-555C-4C31-A8CA-CCC79189846D}"/>
              </a:ext>
            </a:extLst>
          </p:cNvPr>
          <p:cNvSpPr/>
          <p:nvPr/>
        </p:nvSpPr>
        <p:spPr>
          <a:xfrm>
            <a:off x="2644405" y="1370710"/>
            <a:ext cx="3855190" cy="707886"/>
          </a:xfrm>
          <a:prstGeom prst="rect">
            <a:avLst/>
          </a:prstGeom>
          <a:solidFill>
            <a:schemeClr val="accent6">
              <a:lumMod val="20000"/>
              <a:lumOff val="80000"/>
            </a:schemeClr>
          </a:solidFill>
          <a:ln>
            <a:solidFill>
              <a:schemeClr val="accent6">
                <a:lumMod val="75000"/>
              </a:schemeClr>
            </a:solidFill>
          </a:ln>
        </p:spPr>
        <p:txBody>
          <a:bodyPr wrap="square">
            <a:spAutoFit/>
          </a:bodyPr>
          <a:lstStyle/>
          <a:p>
            <a:r>
              <a:rPr lang="en-GB" sz="2000" b="1" dirty="0">
                <a:solidFill>
                  <a:srgbClr val="000000"/>
                </a:solidFill>
              </a:rPr>
              <a:t>Concentration  =     </a:t>
            </a:r>
            <a:r>
              <a:rPr lang="en-GB" sz="2000" b="1" u="sng" dirty="0">
                <a:solidFill>
                  <a:srgbClr val="000000"/>
                </a:solidFill>
              </a:rPr>
              <a:t>amount (</a:t>
            </a:r>
            <a:r>
              <a:rPr lang="en-GB" sz="2000" b="1" u="sng" dirty="0" err="1">
                <a:solidFill>
                  <a:srgbClr val="000000"/>
                </a:solidFill>
              </a:rPr>
              <a:t>mol</a:t>
            </a:r>
            <a:r>
              <a:rPr lang="en-GB" sz="2000" b="1" u="sng" dirty="0">
                <a:solidFill>
                  <a:srgbClr val="000000"/>
                </a:solidFill>
              </a:rPr>
              <a:t>) </a:t>
            </a:r>
          </a:p>
          <a:p>
            <a:r>
              <a:rPr lang="en-GB" sz="2000" b="1" dirty="0">
                <a:solidFill>
                  <a:srgbClr val="000000"/>
                </a:solidFill>
              </a:rPr>
              <a:t>    (</a:t>
            </a:r>
            <a:r>
              <a:rPr lang="en-GB" sz="2000" b="1" dirty="0" err="1">
                <a:solidFill>
                  <a:srgbClr val="000000"/>
                </a:solidFill>
              </a:rPr>
              <a:t>mol</a:t>
            </a:r>
            <a:r>
              <a:rPr lang="en-GB" sz="2000" b="1" dirty="0">
                <a:solidFill>
                  <a:srgbClr val="000000"/>
                </a:solidFill>
              </a:rPr>
              <a:t>/dm</a:t>
            </a:r>
            <a:r>
              <a:rPr lang="en-GB" sz="2000" b="1" baseline="30000" dirty="0">
                <a:solidFill>
                  <a:srgbClr val="000000"/>
                </a:solidFill>
              </a:rPr>
              <a:t>3</a:t>
            </a:r>
            <a:r>
              <a:rPr lang="en-GB" sz="2000" b="1" dirty="0">
                <a:solidFill>
                  <a:srgbClr val="000000"/>
                </a:solidFill>
              </a:rPr>
              <a:t>)            volume (dm</a:t>
            </a:r>
            <a:r>
              <a:rPr lang="en-GB" sz="2000" b="1" baseline="30000" dirty="0">
                <a:solidFill>
                  <a:srgbClr val="000000"/>
                </a:solidFill>
              </a:rPr>
              <a:t>3</a:t>
            </a:r>
            <a:r>
              <a:rPr lang="en-GB" sz="2000" b="1" dirty="0">
                <a:solidFill>
                  <a:srgbClr val="000000"/>
                </a:solidFill>
              </a:rPr>
              <a:t>)</a:t>
            </a:r>
            <a:endParaRPr lang="en-GB" sz="2000" b="1" dirty="0"/>
          </a:p>
        </p:txBody>
      </p:sp>
      <p:sp>
        <p:nvSpPr>
          <p:cNvPr id="6" name="TextBox 5"/>
          <p:cNvSpPr txBox="1"/>
          <p:nvPr/>
        </p:nvSpPr>
        <p:spPr>
          <a:xfrm>
            <a:off x="230179" y="5085184"/>
            <a:ext cx="8590293" cy="830997"/>
          </a:xfrm>
          <a:prstGeom prst="rect">
            <a:avLst/>
          </a:prstGeom>
          <a:noFill/>
        </p:spPr>
        <p:txBody>
          <a:bodyPr wrap="square" rtlCol="0">
            <a:spAutoFit/>
          </a:bodyPr>
          <a:lstStyle/>
          <a:p>
            <a:pPr algn="ctr"/>
            <a:r>
              <a:rPr lang="en-GB" sz="2400" dirty="0"/>
              <a:t>To convert between the two units for concentration:</a:t>
            </a:r>
          </a:p>
          <a:p>
            <a:pPr algn="ctr"/>
            <a:r>
              <a:rPr lang="en-GB" sz="2400" dirty="0" err="1">
                <a:solidFill>
                  <a:schemeClr val="accent6">
                    <a:lumMod val="75000"/>
                  </a:schemeClr>
                </a:solidFill>
              </a:rPr>
              <a:t>mol</a:t>
            </a:r>
            <a:r>
              <a:rPr lang="en-GB" sz="2400" dirty="0">
                <a:solidFill>
                  <a:schemeClr val="accent6">
                    <a:lumMod val="75000"/>
                  </a:schemeClr>
                </a:solidFill>
              </a:rPr>
              <a:t>/dm</a:t>
            </a:r>
            <a:r>
              <a:rPr lang="en-GB" sz="2400" baseline="30000" dirty="0">
                <a:solidFill>
                  <a:schemeClr val="accent6">
                    <a:lumMod val="75000"/>
                  </a:schemeClr>
                </a:solidFill>
              </a:rPr>
              <a:t>3</a:t>
            </a:r>
            <a:r>
              <a:rPr lang="en-GB" sz="2400" dirty="0">
                <a:solidFill>
                  <a:schemeClr val="accent6">
                    <a:lumMod val="75000"/>
                  </a:schemeClr>
                </a:solidFill>
              </a:rPr>
              <a:t> x relative molecular mass = g/dm</a:t>
            </a:r>
            <a:r>
              <a:rPr lang="en-GB" sz="2400" baseline="30000" dirty="0">
                <a:solidFill>
                  <a:schemeClr val="accent6">
                    <a:lumMod val="75000"/>
                  </a:schemeClr>
                </a:solidFill>
              </a:rPr>
              <a:t>3</a:t>
            </a:r>
          </a:p>
        </p:txBody>
      </p:sp>
    </p:spTree>
    <p:extLst>
      <p:ext uri="{BB962C8B-B14F-4D97-AF65-F5344CB8AC3E}">
        <p14:creationId xmlns:p14="http://schemas.microsoft.com/office/powerpoint/2010/main" val="83810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96561F1-16B3-4AEF-94E9-5F446F00168C}"/>
              </a:ext>
            </a:extLst>
          </p:cNvPr>
          <p:cNvPicPr>
            <a:picLocks noChangeAspect="1"/>
          </p:cNvPicPr>
          <p:nvPr/>
        </p:nvPicPr>
        <p:blipFill>
          <a:blip r:embed="rId3"/>
          <a:stretch>
            <a:fillRect/>
          </a:stretch>
        </p:blipFill>
        <p:spPr>
          <a:xfrm>
            <a:off x="7426157" y="1635425"/>
            <a:ext cx="1743990" cy="1945926"/>
          </a:xfrm>
          <a:prstGeom prst="rect">
            <a:avLst/>
          </a:prstGeom>
        </p:spPr>
      </p:pic>
      <p:sp>
        <p:nvSpPr>
          <p:cNvPr id="2" name="Title 1"/>
          <p:cNvSpPr>
            <a:spLocks noGrp="1"/>
          </p:cNvSpPr>
          <p:nvPr>
            <p:ph type="ctrTitle"/>
          </p:nvPr>
        </p:nvSpPr>
        <p:spPr>
          <a:xfrm>
            <a:off x="611560" y="196163"/>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Titration calculations</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id="{069D24D6-BF3E-48D1-A1E3-FB8C618604DE}"/>
              </a:ext>
            </a:extLst>
          </p:cNvPr>
          <p:cNvSpPr txBox="1"/>
          <p:nvPr/>
        </p:nvSpPr>
        <p:spPr>
          <a:xfrm>
            <a:off x="251520" y="640105"/>
            <a:ext cx="7786454" cy="1015663"/>
          </a:xfrm>
          <a:prstGeom prst="rect">
            <a:avLst/>
          </a:prstGeom>
          <a:noFill/>
          <a:ln>
            <a:solidFill>
              <a:schemeClr val="bg1"/>
            </a:solidFill>
          </a:ln>
        </p:spPr>
        <p:txBody>
          <a:bodyPr wrap="square" rtlCol="0">
            <a:spAutoFit/>
          </a:bodyPr>
          <a:lstStyle/>
          <a:p>
            <a:pPr algn="ctr"/>
            <a:r>
              <a:rPr lang="en-GB" sz="2000" dirty="0"/>
              <a:t>If the volumes of two solutions that react completely are known and the concentration of one solution is known, the concentration of the other solution can be calculated.</a:t>
            </a:r>
            <a:endParaRPr lang="en-GB" sz="2000" b="1" dirty="0">
              <a:solidFill>
                <a:schemeClr val="accent6">
                  <a:lumMod val="75000"/>
                </a:schemeClr>
              </a:solidFill>
            </a:endParaRPr>
          </a:p>
        </p:txBody>
      </p:sp>
      <p:sp>
        <p:nvSpPr>
          <p:cNvPr id="5" name="Rectangle 4">
            <a:extLst>
              <a:ext uri="{FF2B5EF4-FFF2-40B4-BE49-F238E27FC236}">
                <a16:creationId xmlns:a16="http://schemas.microsoft.com/office/drawing/2014/main" id="{44BB4903-CB3E-425C-9E8D-8AC8820396EB}"/>
              </a:ext>
            </a:extLst>
          </p:cNvPr>
          <p:cNvSpPr/>
          <p:nvPr/>
        </p:nvSpPr>
        <p:spPr>
          <a:xfrm>
            <a:off x="91706" y="1635425"/>
            <a:ext cx="7334451" cy="2246769"/>
          </a:xfrm>
          <a:prstGeom prst="rect">
            <a:avLst/>
          </a:prstGeom>
          <a:solidFill>
            <a:schemeClr val="accent6">
              <a:lumMod val="20000"/>
              <a:lumOff val="80000"/>
            </a:schemeClr>
          </a:solidFill>
          <a:ln>
            <a:solidFill>
              <a:schemeClr val="accent6">
                <a:lumMod val="75000"/>
              </a:schemeClr>
            </a:solidFill>
          </a:ln>
        </p:spPr>
        <p:txBody>
          <a:bodyPr wrap="square">
            <a:spAutoFit/>
          </a:bodyPr>
          <a:lstStyle/>
          <a:p>
            <a:pPr algn="ctr"/>
            <a:r>
              <a:rPr lang="en-GB" sz="2000" b="1" dirty="0">
                <a:solidFill>
                  <a:schemeClr val="accent6">
                    <a:lumMod val="75000"/>
                  </a:schemeClr>
                </a:solidFill>
              </a:rPr>
              <a:t>2</a:t>
            </a:r>
            <a:r>
              <a:rPr lang="en-GB" sz="2000" b="1" dirty="0"/>
              <a:t>NaOH(</a:t>
            </a:r>
            <a:r>
              <a:rPr lang="en-GB" sz="2000" b="1" dirty="0" err="1"/>
              <a:t>aq</a:t>
            </a:r>
            <a:r>
              <a:rPr lang="en-GB" sz="2000" b="1" dirty="0"/>
              <a:t>) + H</a:t>
            </a:r>
            <a:r>
              <a:rPr lang="en-GB" sz="2000" b="1" baseline="-25000" dirty="0"/>
              <a:t>2</a:t>
            </a:r>
            <a:r>
              <a:rPr lang="en-GB" sz="2000" b="1" dirty="0"/>
              <a:t>SO</a:t>
            </a:r>
            <a:r>
              <a:rPr lang="en-GB" sz="2000" b="1" baseline="-25000" dirty="0"/>
              <a:t>4</a:t>
            </a:r>
            <a:r>
              <a:rPr lang="en-GB" sz="2000" b="1" dirty="0"/>
              <a:t>(</a:t>
            </a:r>
            <a:r>
              <a:rPr lang="en-GB" sz="2000" b="1" dirty="0" err="1"/>
              <a:t>aq</a:t>
            </a:r>
            <a:r>
              <a:rPr lang="en-GB" sz="2000" b="1" dirty="0"/>
              <a:t>)→ Na</a:t>
            </a:r>
            <a:r>
              <a:rPr lang="en-GB" sz="2000" b="1" baseline="-25000" dirty="0"/>
              <a:t>2</a:t>
            </a:r>
            <a:r>
              <a:rPr lang="en-GB" sz="2000" b="1" dirty="0"/>
              <a:t>S0</a:t>
            </a:r>
            <a:r>
              <a:rPr lang="en-GB" sz="2000" b="1" baseline="-25000" dirty="0"/>
              <a:t>4</a:t>
            </a:r>
            <a:r>
              <a:rPr lang="en-GB" sz="2000" b="1" dirty="0"/>
              <a:t>(</a:t>
            </a:r>
            <a:r>
              <a:rPr lang="en-GB" sz="2000" b="1" dirty="0" err="1"/>
              <a:t>aq</a:t>
            </a:r>
            <a:r>
              <a:rPr lang="en-GB" sz="2000" b="1" dirty="0"/>
              <a:t>) + </a:t>
            </a:r>
            <a:r>
              <a:rPr lang="en-GB" sz="2000" b="1" dirty="0">
                <a:solidFill>
                  <a:schemeClr val="accent6">
                    <a:lumMod val="75000"/>
                  </a:schemeClr>
                </a:solidFill>
              </a:rPr>
              <a:t>2</a:t>
            </a:r>
            <a:r>
              <a:rPr lang="en-GB" sz="2000" b="1" dirty="0"/>
              <a:t>H</a:t>
            </a:r>
            <a:r>
              <a:rPr lang="en-GB" sz="2000" b="1" baseline="-25000" dirty="0"/>
              <a:t>2</a:t>
            </a:r>
            <a:r>
              <a:rPr lang="en-GB" sz="2000" b="1" dirty="0"/>
              <a:t>O(l)</a:t>
            </a:r>
            <a:endParaRPr lang="en-GB" sz="2000" dirty="0">
              <a:solidFill>
                <a:srgbClr val="333333"/>
              </a:solidFill>
            </a:endParaRPr>
          </a:p>
          <a:p>
            <a:pPr algn="ctr"/>
            <a:endParaRPr lang="en-GB" sz="2000" dirty="0">
              <a:solidFill>
                <a:srgbClr val="333333"/>
              </a:solidFill>
            </a:endParaRPr>
          </a:p>
          <a:p>
            <a:pPr algn="ctr"/>
            <a:r>
              <a:rPr lang="en-GB" sz="2000" dirty="0">
                <a:solidFill>
                  <a:srgbClr val="333333"/>
                </a:solidFill>
              </a:rPr>
              <a:t>It takes 12.20cm</a:t>
            </a:r>
            <a:r>
              <a:rPr lang="en-GB" sz="2000" baseline="30000" dirty="0">
                <a:solidFill>
                  <a:srgbClr val="333333"/>
                </a:solidFill>
              </a:rPr>
              <a:t>3</a:t>
            </a:r>
            <a:r>
              <a:rPr lang="en-GB" sz="2000" dirty="0">
                <a:solidFill>
                  <a:srgbClr val="333333"/>
                </a:solidFill>
              </a:rPr>
              <a:t> of sulfuric acid to neutralise 24.00cm</a:t>
            </a:r>
            <a:r>
              <a:rPr lang="en-GB" sz="2000" baseline="30000" dirty="0">
                <a:solidFill>
                  <a:srgbClr val="333333"/>
                </a:solidFill>
              </a:rPr>
              <a:t>3 </a:t>
            </a:r>
            <a:r>
              <a:rPr lang="en-GB" sz="2000" dirty="0">
                <a:solidFill>
                  <a:srgbClr val="333333"/>
                </a:solidFill>
              </a:rPr>
              <a:t>of sodium hydroxide solution, which has a concentration of 0.50mol/dm</a:t>
            </a:r>
            <a:r>
              <a:rPr lang="en-GB" sz="2000" baseline="30000" dirty="0">
                <a:solidFill>
                  <a:srgbClr val="333333"/>
                </a:solidFill>
              </a:rPr>
              <a:t>3</a:t>
            </a:r>
            <a:r>
              <a:rPr lang="en-GB" sz="2000" dirty="0">
                <a:solidFill>
                  <a:srgbClr val="333333"/>
                </a:solidFill>
              </a:rPr>
              <a:t>.</a:t>
            </a:r>
          </a:p>
          <a:p>
            <a:pPr algn="ctr"/>
            <a:endParaRPr lang="en-GB" sz="2000" dirty="0">
              <a:solidFill>
                <a:srgbClr val="333333"/>
              </a:solidFill>
            </a:endParaRPr>
          </a:p>
          <a:p>
            <a:pPr algn="ctr"/>
            <a:r>
              <a:rPr lang="en-GB" sz="2000" i="1" dirty="0">
                <a:solidFill>
                  <a:srgbClr val="333333"/>
                </a:solidFill>
              </a:rPr>
              <a:t>Calculate the concentration of the sulfuric acid in g/dm</a:t>
            </a:r>
            <a:r>
              <a:rPr lang="en-GB" sz="2000" i="1" baseline="30000" dirty="0">
                <a:solidFill>
                  <a:srgbClr val="333333"/>
                </a:solidFill>
              </a:rPr>
              <a:t>3</a:t>
            </a:r>
            <a:endParaRPr lang="en-GB" sz="2000" i="1" dirty="0">
              <a:solidFill>
                <a:srgbClr val="333333"/>
              </a:solidFill>
            </a:endParaRPr>
          </a:p>
          <a:p>
            <a:pPr algn="ctr"/>
            <a:r>
              <a:rPr lang="en-GB" sz="2000" b="1" dirty="0">
                <a:solidFill>
                  <a:schemeClr val="accent6">
                    <a:lumMod val="75000"/>
                  </a:schemeClr>
                </a:solidFill>
              </a:rPr>
              <a:t>0.5 </a:t>
            </a:r>
            <a:r>
              <a:rPr lang="en-GB" sz="2000" b="1" dirty="0" err="1">
                <a:solidFill>
                  <a:schemeClr val="accent6">
                    <a:lumMod val="75000"/>
                  </a:schemeClr>
                </a:solidFill>
              </a:rPr>
              <a:t>mol</a:t>
            </a:r>
            <a:r>
              <a:rPr lang="en-GB" sz="2000" b="1" dirty="0">
                <a:solidFill>
                  <a:schemeClr val="accent6">
                    <a:lumMod val="75000"/>
                  </a:schemeClr>
                </a:solidFill>
              </a:rPr>
              <a:t>/dm</a:t>
            </a:r>
            <a:r>
              <a:rPr lang="en-GB" sz="2000" baseline="30000" dirty="0">
                <a:solidFill>
                  <a:schemeClr val="accent6">
                    <a:lumMod val="75000"/>
                  </a:schemeClr>
                </a:solidFill>
              </a:rPr>
              <a:t>3</a:t>
            </a:r>
            <a:r>
              <a:rPr lang="en-GB" sz="2000" b="1" dirty="0">
                <a:solidFill>
                  <a:schemeClr val="accent6">
                    <a:lumMod val="75000"/>
                  </a:schemeClr>
                </a:solidFill>
              </a:rPr>
              <a:t> x (24/1000) dm</a:t>
            </a:r>
            <a:r>
              <a:rPr lang="en-GB" sz="2000" baseline="30000" dirty="0">
                <a:solidFill>
                  <a:schemeClr val="accent6">
                    <a:lumMod val="75000"/>
                  </a:schemeClr>
                </a:solidFill>
              </a:rPr>
              <a:t>3</a:t>
            </a:r>
            <a:r>
              <a:rPr lang="en-GB" sz="2000" b="1" dirty="0">
                <a:solidFill>
                  <a:schemeClr val="accent6">
                    <a:lumMod val="75000"/>
                  </a:schemeClr>
                </a:solidFill>
              </a:rPr>
              <a:t> = 0.012 </a:t>
            </a:r>
            <a:r>
              <a:rPr lang="en-GB" sz="2000" b="1" dirty="0" err="1">
                <a:solidFill>
                  <a:schemeClr val="accent6">
                    <a:lumMod val="75000"/>
                  </a:schemeClr>
                </a:solidFill>
              </a:rPr>
              <a:t>mol</a:t>
            </a:r>
            <a:r>
              <a:rPr lang="en-GB" sz="2000" b="1" dirty="0">
                <a:solidFill>
                  <a:schemeClr val="accent6">
                    <a:lumMod val="75000"/>
                  </a:schemeClr>
                </a:solidFill>
              </a:rPr>
              <a:t> of </a:t>
            </a:r>
            <a:r>
              <a:rPr lang="en-GB" sz="2000" b="1" dirty="0" err="1">
                <a:solidFill>
                  <a:schemeClr val="accent6">
                    <a:lumMod val="75000"/>
                  </a:schemeClr>
                </a:solidFill>
              </a:rPr>
              <a:t>NaOH</a:t>
            </a:r>
            <a:endParaRPr lang="en-GB" sz="2000" b="1" dirty="0">
              <a:solidFill>
                <a:schemeClr val="accent6">
                  <a:lumMod val="75000"/>
                </a:schemeClr>
              </a:solidFill>
            </a:endParaRPr>
          </a:p>
        </p:txBody>
      </p:sp>
      <p:sp>
        <p:nvSpPr>
          <p:cNvPr id="10" name="TextBox 9">
            <a:extLst>
              <a:ext uri="{FF2B5EF4-FFF2-40B4-BE49-F238E27FC236}">
                <a16:creationId xmlns:a16="http://schemas.microsoft.com/office/drawing/2014/main" id="{A2CD2D53-E950-45C6-9E7A-E150B8622C35}"/>
              </a:ext>
            </a:extLst>
          </p:cNvPr>
          <p:cNvSpPr txBox="1"/>
          <p:nvPr/>
        </p:nvSpPr>
        <p:spPr>
          <a:xfrm>
            <a:off x="91706" y="3992670"/>
            <a:ext cx="8960588" cy="2759730"/>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pPr algn="ctr"/>
            <a:r>
              <a:rPr lang="en-GB" sz="2000" dirty="0"/>
              <a:t>The equation shows that 2 </a:t>
            </a:r>
            <a:r>
              <a:rPr lang="en-GB" sz="2000" dirty="0" err="1"/>
              <a:t>mol</a:t>
            </a:r>
            <a:r>
              <a:rPr lang="en-GB" sz="2000" dirty="0"/>
              <a:t> of </a:t>
            </a:r>
            <a:r>
              <a:rPr lang="en-GB" sz="2000" dirty="0" err="1"/>
              <a:t>NaOH</a:t>
            </a:r>
            <a:r>
              <a:rPr lang="en-GB" sz="2000" dirty="0"/>
              <a:t> reacts with 1 </a:t>
            </a:r>
            <a:r>
              <a:rPr lang="en-GB" sz="2000" dirty="0" err="1"/>
              <a:t>mol</a:t>
            </a:r>
            <a:r>
              <a:rPr lang="en-GB" sz="2000" dirty="0"/>
              <a:t> of H</a:t>
            </a:r>
            <a:r>
              <a:rPr lang="en-GB" sz="2000" baseline="-25000" dirty="0"/>
              <a:t>2</a:t>
            </a:r>
            <a:r>
              <a:rPr lang="en-GB" sz="2000" dirty="0"/>
              <a:t>SO</a:t>
            </a:r>
            <a:r>
              <a:rPr lang="en-GB" sz="2000" baseline="-25000" dirty="0"/>
              <a:t>4</a:t>
            </a:r>
            <a:r>
              <a:rPr lang="en-GB" sz="2000" dirty="0"/>
              <a:t>, so the number of moles in 12.20cm</a:t>
            </a:r>
            <a:r>
              <a:rPr lang="en-GB" sz="2000" baseline="30000" dirty="0"/>
              <a:t>3</a:t>
            </a:r>
            <a:r>
              <a:rPr lang="en-GB" sz="2000" dirty="0"/>
              <a:t> of sulfuric acid  is </a:t>
            </a:r>
            <a:r>
              <a:rPr lang="en-GB" sz="2000" b="1" dirty="0">
                <a:solidFill>
                  <a:schemeClr val="accent6">
                    <a:lumMod val="75000"/>
                  </a:schemeClr>
                </a:solidFill>
              </a:rPr>
              <a:t>(0.012/2) = 0.006 </a:t>
            </a:r>
            <a:r>
              <a:rPr lang="en-GB" sz="2000" b="1" dirty="0" err="1">
                <a:solidFill>
                  <a:schemeClr val="accent6">
                    <a:lumMod val="75000"/>
                  </a:schemeClr>
                </a:solidFill>
              </a:rPr>
              <a:t>mol</a:t>
            </a:r>
            <a:r>
              <a:rPr lang="en-GB" sz="2000" b="1" dirty="0">
                <a:solidFill>
                  <a:schemeClr val="accent6">
                    <a:lumMod val="75000"/>
                  </a:schemeClr>
                </a:solidFill>
              </a:rPr>
              <a:t> of sulfuric acid</a:t>
            </a:r>
          </a:p>
          <a:p>
            <a:pPr algn="ctr"/>
            <a:endParaRPr lang="en-GB" sz="2000" b="1" dirty="0">
              <a:solidFill>
                <a:schemeClr val="accent6">
                  <a:lumMod val="75000"/>
                </a:schemeClr>
              </a:solidFill>
            </a:endParaRPr>
          </a:p>
          <a:p>
            <a:pPr algn="ctr"/>
            <a:r>
              <a:rPr lang="en-GB" sz="2000" i="1" dirty="0"/>
              <a:t>Calculate the concentration of sulfuric acid in </a:t>
            </a:r>
            <a:r>
              <a:rPr lang="en-GB" sz="2000" i="1" dirty="0" err="1"/>
              <a:t>mol</a:t>
            </a:r>
            <a:r>
              <a:rPr lang="en-GB" sz="2000" i="1" dirty="0"/>
              <a:t>/ dm</a:t>
            </a:r>
            <a:r>
              <a:rPr lang="en-GB" sz="2000" i="1" baseline="30000" dirty="0"/>
              <a:t>3</a:t>
            </a:r>
            <a:endParaRPr lang="en-GB" sz="2000" i="1" dirty="0"/>
          </a:p>
          <a:p>
            <a:pPr algn="ctr"/>
            <a:r>
              <a:rPr lang="en-GB" sz="2000" b="1" dirty="0">
                <a:solidFill>
                  <a:schemeClr val="accent6">
                    <a:lumMod val="75000"/>
                  </a:schemeClr>
                </a:solidFill>
              </a:rPr>
              <a:t>0.006 </a:t>
            </a:r>
            <a:r>
              <a:rPr lang="en-GB" sz="2000" b="1" dirty="0" err="1">
                <a:solidFill>
                  <a:schemeClr val="accent6">
                    <a:lumMod val="75000"/>
                  </a:schemeClr>
                </a:solidFill>
              </a:rPr>
              <a:t>mol</a:t>
            </a:r>
            <a:r>
              <a:rPr lang="en-GB" sz="2000" b="1" dirty="0">
                <a:solidFill>
                  <a:schemeClr val="accent6">
                    <a:lumMod val="75000"/>
                  </a:schemeClr>
                </a:solidFill>
              </a:rPr>
              <a:t> x (1000/12.2) dm</a:t>
            </a:r>
            <a:r>
              <a:rPr lang="en-GB" sz="2000" baseline="30000" dirty="0">
                <a:solidFill>
                  <a:schemeClr val="accent6">
                    <a:lumMod val="75000"/>
                  </a:schemeClr>
                </a:solidFill>
              </a:rPr>
              <a:t>3 </a:t>
            </a:r>
            <a:r>
              <a:rPr lang="en-GB" sz="2000" b="1" dirty="0">
                <a:solidFill>
                  <a:schemeClr val="accent6">
                    <a:lumMod val="75000"/>
                  </a:schemeClr>
                </a:solidFill>
              </a:rPr>
              <a:t>=0.49mol/dm</a:t>
            </a:r>
            <a:r>
              <a:rPr lang="en-GB" sz="2000" baseline="30000" dirty="0">
                <a:solidFill>
                  <a:schemeClr val="accent6">
                    <a:lumMod val="75000"/>
                  </a:schemeClr>
                </a:solidFill>
              </a:rPr>
              <a:t>3</a:t>
            </a:r>
          </a:p>
          <a:p>
            <a:pPr algn="ctr"/>
            <a:endParaRPr lang="en-GB" sz="2000" b="1" baseline="30000" dirty="0">
              <a:solidFill>
                <a:schemeClr val="accent6">
                  <a:lumMod val="75000"/>
                </a:schemeClr>
              </a:solidFill>
            </a:endParaRPr>
          </a:p>
          <a:p>
            <a:pPr algn="ctr"/>
            <a:r>
              <a:rPr lang="en-GB" sz="2000" i="1" dirty="0"/>
              <a:t>Calculate the concentration of sulfuric acid in g/ dm</a:t>
            </a:r>
            <a:r>
              <a:rPr lang="en-GB" sz="2000" i="1" baseline="30000" dirty="0"/>
              <a:t>3</a:t>
            </a:r>
            <a:endParaRPr lang="en-GB" sz="2000" i="1" dirty="0"/>
          </a:p>
          <a:p>
            <a:pPr algn="ctr"/>
            <a:r>
              <a:rPr lang="en-GB" sz="2000" b="1" dirty="0">
                <a:solidFill>
                  <a:schemeClr val="accent6">
                    <a:lumMod val="75000"/>
                  </a:schemeClr>
                </a:solidFill>
              </a:rPr>
              <a:t>H</a:t>
            </a:r>
            <a:r>
              <a:rPr lang="en-GB" sz="2000" b="1" baseline="-25000" dirty="0">
                <a:solidFill>
                  <a:schemeClr val="accent6">
                    <a:lumMod val="75000"/>
                  </a:schemeClr>
                </a:solidFill>
              </a:rPr>
              <a:t>2</a:t>
            </a:r>
            <a:r>
              <a:rPr lang="en-GB" sz="2000" b="1" dirty="0">
                <a:solidFill>
                  <a:schemeClr val="accent6">
                    <a:lumMod val="75000"/>
                  </a:schemeClr>
                </a:solidFill>
              </a:rPr>
              <a:t>SO</a:t>
            </a:r>
            <a:r>
              <a:rPr lang="en-GB" sz="2000" b="1" baseline="-25000" dirty="0">
                <a:solidFill>
                  <a:schemeClr val="accent6">
                    <a:lumMod val="75000"/>
                  </a:schemeClr>
                </a:solidFill>
              </a:rPr>
              <a:t>4 </a:t>
            </a:r>
            <a:r>
              <a:rPr lang="en-GB" sz="2000" b="1" dirty="0">
                <a:solidFill>
                  <a:schemeClr val="accent6">
                    <a:lumMod val="75000"/>
                  </a:schemeClr>
                </a:solidFill>
              </a:rPr>
              <a:t>= (2x1) + 32 + (4x16) = 98g</a:t>
            </a:r>
          </a:p>
          <a:p>
            <a:pPr algn="ctr"/>
            <a:r>
              <a:rPr lang="en-GB" sz="2000" b="1" dirty="0">
                <a:solidFill>
                  <a:schemeClr val="accent6">
                    <a:lumMod val="75000"/>
                  </a:schemeClr>
                </a:solidFill>
              </a:rPr>
              <a:t>0.49 x 98g = 48.2g/dm</a:t>
            </a:r>
            <a:r>
              <a:rPr lang="en-GB" sz="2000" baseline="30000" dirty="0">
                <a:solidFill>
                  <a:schemeClr val="accent6">
                    <a:lumMod val="75000"/>
                  </a:schemeClr>
                </a:solidFill>
              </a:rPr>
              <a:t>3</a:t>
            </a:r>
          </a:p>
        </p:txBody>
      </p:sp>
    </p:spTree>
    <p:extLst>
      <p:ext uri="{BB962C8B-B14F-4D97-AF65-F5344CB8AC3E}">
        <p14:creationId xmlns:p14="http://schemas.microsoft.com/office/powerpoint/2010/main" val="639243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585871"/>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Quantitative </a:t>
            </a:r>
          </a:p>
          <a:p>
            <a:r>
              <a:rPr lang="en-GB" sz="3600" b="1" dirty="0">
                <a:solidFill>
                  <a:schemeClr val="tx1">
                    <a:lumMod val="50000"/>
                    <a:lumOff val="50000"/>
                  </a:schemeClr>
                </a:solidFill>
              </a:rPr>
              <a:t>Analysis – 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Titrations and unknown concentrations (HT)</a:t>
            </a:r>
          </a:p>
          <a:p>
            <a:endParaRPr lang="en-GB" dirty="0"/>
          </a:p>
        </p:txBody>
      </p:sp>
    </p:spTree>
    <p:extLst>
      <p:ext uri="{BB962C8B-B14F-4D97-AF65-F5344CB8AC3E}">
        <p14:creationId xmlns:p14="http://schemas.microsoft.com/office/powerpoint/2010/main" val="21023187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Quantitative analysis part 1 (HT)–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915400" cy="5509200"/>
          </a:xfrm>
          <a:prstGeom prst="rect">
            <a:avLst/>
          </a:prstGeom>
          <a:noFill/>
        </p:spPr>
        <p:txBody>
          <a:bodyPr wrap="square" rtlCol="0">
            <a:spAutoFit/>
          </a:bodyPr>
          <a:lstStyle/>
          <a:p>
            <a:pPr marL="457200" indent="-457200">
              <a:buFont typeface="+mj-lt"/>
              <a:buAutoNum type="arabicPeriod"/>
            </a:pPr>
            <a:r>
              <a:rPr kumimoji="0" lang="en-GB" sz="2400" b="0" i="0" u="none" strike="noStrike" kern="1200" cap="none" spc="0" normalizeH="0" baseline="0" noProof="0" dirty="0">
                <a:ln>
                  <a:noFill/>
                </a:ln>
                <a:solidFill>
                  <a:prstClr val="black"/>
                </a:solidFill>
                <a:effectLst/>
                <a:uLnTx/>
                <a:uFillTx/>
                <a:latin typeface="Calibri"/>
                <a:ea typeface="+mn-ea"/>
                <a:cs typeface="+mn-cs"/>
              </a:rPr>
              <a:t>What</a:t>
            </a:r>
            <a:r>
              <a:rPr kumimoji="0" lang="en-GB" sz="2400" b="0" i="0" u="none" strike="noStrike" kern="1200" cap="none" spc="0" normalizeH="0" noProof="0" dirty="0">
                <a:ln>
                  <a:noFill/>
                </a:ln>
                <a:solidFill>
                  <a:prstClr val="black"/>
                </a:solidFill>
                <a:effectLst/>
                <a:uLnTx/>
                <a:uFillTx/>
                <a:latin typeface="Calibri"/>
                <a:ea typeface="+mn-ea"/>
                <a:cs typeface="+mn-cs"/>
              </a:rPr>
              <a:t> units can be used for the concentration of a solution?</a:t>
            </a:r>
          </a:p>
          <a:p>
            <a:pPr marL="457200" indent="-457200">
              <a:buFont typeface="+mj-lt"/>
              <a:buAutoNum type="arabicPeriod"/>
            </a:pPr>
            <a:endParaRPr kumimoji="0" lang="en-GB" sz="2400" b="0" i="0" u="none" strike="noStrike" kern="1200" cap="none" spc="0" normalizeH="0" noProof="0" dirty="0">
              <a:ln>
                <a:noFill/>
              </a:ln>
              <a:solidFill>
                <a:prstClr val="black"/>
              </a:solidFill>
              <a:effectLst/>
              <a:uLnTx/>
              <a:uFillTx/>
              <a:latin typeface="Calibri"/>
              <a:ea typeface="+mn-ea"/>
              <a:cs typeface="+mn-cs"/>
            </a:endParaRPr>
          </a:p>
          <a:p>
            <a:pPr marL="457200" indent="-457200">
              <a:buFont typeface="+mj-lt"/>
              <a:buAutoNum type="arabicPeriod"/>
            </a:pPr>
            <a:r>
              <a:rPr lang="en-GB" sz="2400" baseline="0" dirty="0">
                <a:solidFill>
                  <a:prstClr val="black"/>
                </a:solidFill>
                <a:latin typeface="Calibri"/>
              </a:rPr>
              <a:t>What does dm</a:t>
            </a:r>
            <a:r>
              <a:rPr lang="en-GB" sz="2400" baseline="30000" dirty="0">
                <a:solidFill>
                  <a:prstClr val="black"/>
                </a:solidFill>
                <a:latin typeface="Calibri"/>
              </a:rPr>
              <a:t>3</a:t>
            </a:r>
            <a:r>
              <a:rPr lang="en-GB" sz="2400" baseline="0" dirty="0">
                <a:solidFill>
                  <a:prstClr val="black"/>
                </a:solidFill>
                <a:latin typeface="Calibri"/>
              </a:rPr>
              <a:t> mean?</a:t>
            </a:r>
          </a:p>
          <a:p>
            <a:pPr marL="457200" indent="-457200">
              <a:buFont typeface="+mj-lt"/>
              <a:buAutoNum type="arabicPeriod"/>
            </a:pPr>
            <a:endParaRPr lang="en-GB" sz="2400" baseline="0" dirty="0">
              <a:solidFill>
                <a:prstClr val="black"/>
              </a:solidFill>
              <a:latin typeface="Calibri"/>
            </a:endParaRPr>
          </a:p>
          <a:p>
            <a:pPr marL="457200" lvl="0" indent="-457200">
              <a:buFont typeface="+mj-lt"/>
              <a:buAutoNum type="arabicPeriod"/>
              <a:defRPr/>
            </a:pPr>
            <a:r>
              <a:rPr lang="en-GB" sz="2400" dirty="0">
                <a:solidFill>
                  <a:prstClr val="black"/>
                </a:solidFill>
                <a:latin typeface="Calibri"/>
              </a:rPr>
              <a:t>Give the equation for calculating concentration from the mass of substance and volume of solution.</a:t>
            </a:r>
            <a:r>
              <a:rPr lang="en-GB" sz="2400" dirty="0">
                <a:solidFill>
                  <a:prstClr val="black"/>
                </a:solidFill>
              </a:rPr>
              <a:t> </a:t>
            </a:r>
          </a:p>
          <a:p>
            <a:pPr marL="457200" lvl="0" indent="-457200">
              <a:buFont typeface="+mj-lt"/>
              <a:buAutoNum type="arabicPeriod"/>
              <a:defRPr/>
            </a:pPr>
            <a:endParaRPr lang="en-GB" sz="2400" dirty="0">
              <a:solidFill>
                <a:prstClr val="black"/>
              </a:solidFill>
            </a:endParaRPr>
          </a:p>
          <a:p>
            <a:pPr marL="457200" indent="-457200">
              <a:buFont typeface="+mj-lt"/>
              <a:buAutoNum type="arabicPeriod"/>
              <a:defRPr/>
            </a:pPr>
            <a:r>
              <a:rPr lang="en-GB" sz="2400" dirty="0"/>
              <a:t>What is the equation for the calculation of concentration from the moles and volume of solution?</a:t>
            </a:r>
          </a:p>
          <a:p>
            <a:pPr marL="457200" indent="-457200">
              <a:buFont typeface="+mj-lt"/>
              <a:buAutoNum type="arabicPeriod"/>
              <a:defRPr/>
            </a:pPr>
            <a:endParaRPr lang="en-GB" sz="2400" dirty="0">
              <a:solidFill>
                <a:prstClr val="black"/>
              </a:solidFill>
            </a:endParaRPr>
          </a:p>
          <a:p>
            <a:pPr marL="457200" indent="-457200">
              <a:buFont typeface="+mj-lt"/>
              <a:buAutoNum type="arabicPeriod" startAt="7"/>
            </a:pPr>
            <a:endParaRPr lang="en-GB" sz="2400" dirty="0"/>
          </a:p>
          <a:p>
            <a:pPr marL="457200" indent="-457200">
              <a:buFont typeface="+mj-lt"/>
              <a:buAutoNum type="arabicPeriod"/>
            </a:pPr>
            <a:endParaRPr lang="en-GB" sz="2400" dirty="0">
              <a:solidFill>
                <a:prstClr val="black"/>
              </a:solidFill>
              <a:latin typeface="Calibri"/>
            </a:endParaRPr>
          </a:p>
          <a:p>
            <a:pPr marL="457200" indent="-457200">
              <a:buFont typeface="+mj-lt"/>
              <a:buAutoNum type="arabicPeriod"/>
            </a:pPr>
            <a:endParaRPr lang="en-GB" sz="2400" dirty="0">
              <a:solidFill>
                <a:prstClr val="black"/>
              </a:solidFill>
              <a:latin typeface="Calibri"/>
            </a:endParaRPr>
          </a:p>
          <a:p>
            <a:pPr marL="457200" indent="-457200">
              <a:buFont typeface="+mj-lt"/>
              <a:buAutoNum type="arabicPeriod"/>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68035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Quantitative analysis 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915400" cy="3785652"/>
          </a:xfrm>
          <a:prstGeom prst="rect">
            <a:avLst/>
          </a:prstGeom>
          <a:noFill/>
        </p:spPr>
        <p:txBody>
          <a:bodyPr wrap="square" rtlCol="0">
            <a:spAutoFit/>
          </a:bodyPr>
          <a:lstStyle/>
          <a:p>
            <a:pPr marL="457200" lvl="0" indent="-457200">
              <a:buFont typeface="+mj-lt"/>
              <a:buAutoNum type="arabicPeriod" startAt="5"/>
              <a:defRPr/>
            </a:pPr>
            <a:r>
              <a:rPr lang="en-GB" sz="2400" dirty="0">
                <a:solidFill>
                  <a:prstClr val="black"/>
                </a:solidFill>
              </a:rPr>
              <a:t>Calculate the concentration in g/dm</a:t>
            </a:r>
            <a:r>
              <a:rPr lang="en-GB" sz="2400" baseline="30000" dirty="0">
                <a:solidFill>
                  <a:prstClr val="black"/>
                </a:solidFill>
              </a:rPr>
              <a:t>3</a:t>
            </a:r>
            <a:r>
              <a:rPr lang="en-GB" sz="2400" dirty="0">
                <a:solidFill>
                  <a:prstClr val="black"/>
                </a:solidFill>
              </a:rPr>
              <a:t> for 50g of sodium chloride in 2.5 dm</a:t>
            </a:r>
            <a:r>
              <a:rPr lang="en-GB" sz="2400" baseline="30000" dirty="0">
                <a:solidFill>
                  <a:prstClr val="black"/>
                </a:solidFill>
              </a:rPr>
              <a:t>3</a:t>
            </a:r>
            <a:r>
              <a:rPr lang="en-GB" sz="2400" dirty="0">
                <a:solidFill>
                  <a:prstClr val="black"/>
                </a:solidFill>
              </a:rPr>
              <a:t> of water.</a:t>
            </a:r>
          </a:p>
          <a:p>
            <a:pPr marL="457200" lvl="0" indent="-457200">
              <a:buFont typeface="+mj-lt"/>
              <a:buAutoNum type="arabicPeriod" startAt="5"/>
              <a:defRPr/>
            </a:pPr>
            <a:endParaRPr lang="en-GB" sz="2400" b="1" dirty="0">
              <a:solidFill>
                <a:srgbClr val="00B050"/>
              </a:solidFill>
            </a:endParaRPr>
          </a:p>
          <a:p>
            <a:pPr marL="457200" indent="-457200">
              <a:buFont typeface="+mj-lt"/>
              <a:buAutoNum type="arabicPeriod" startAt="5"/>
              <a:defRPr/>
            </a:pPr>
            <a:r>
              <a:rPr lang="en-GB" sz="2400" dirty="0">
                <a:solidFill>
                  <a:prstClr val="black"/>
                </a:solidFill>
              </a:rPr>
              <a:t>Calculate the concentration in g/dm</a:t>
            </a:r>
            <a:r>
              <a:rPr lang="en-GB" sz="2400" baseline="30000" dirty="0">
                <a:solidFill>
                  <a:prstClr val="black"/>
                </a:solidFill>
              </a:rPr>
              <a:t>3</a:t>
            </a:r>
            <a:r>
              <a:rPr lang="en-GB" sz="2400" dirty="0">
                <a:solidFill>
                  <a:prstClr val="black"/>
                </a:solidFill>
              </a:rPr>
              <a:t> of 1.4g of potassium carbonate in 855cm</a:t>
            </a:r>
            <a:r>
              <a:rPr lang="en-GB" sz="2400" baseline="30000" dirty="0">
                <a:solidFill>
                  <a:prstClr val="black"/>
                </a:solidFill>
              </a:rPr>
              <a:t>3</a:t>
            </a:r>
            <a:r>
              <a:rPr lang="en-GB" sz="2400" dirty="0">
                <a:solidFill>
                  <a:prstClr val="black"/>
                </a:solidFill>
              </a:rPr>
              <a:t> of water.</a:t>
            </a:r>
          </a:p>
          <a:p>
            <a:pPr marL="457200" indent="-457200">
              <a:buFont typeface="+mj-lt"/>
              <a:buAutoNum type="arabicPeriod" startAt="5"/>
              <a:defRPr/>
            </a:pPr>
            <a:endParaRPr lang="en-GB" sz="2400" b="1" dirty="0">
              <a:solidFill>
                <a:srgbClr val="00B050"/>
              </a:solidFill>
            </a:endParaRPr>
          </a:p>
          <a:p>
            <a:pPr marL="457200" indent="-457200">
              <a:buFont typeface="+mj-lt"/>
              <a:buAutoNum type="arabicPeriod" startAt="5"/>
            </a:pPr>
            <a:r>
              <a:rPr lang="en-GB" sz="2400" dirty="0"/>
              <a:t>A teacher has a solution of lithium fluoride with a concentration of 72.6g/dm</a:t>
            </a:r>
            <a:r>
              <a:rPr lang="en-GB" sz="2400" baseline="30000" dirty="0"/>
              <a:t>3</a:t>
            </a:r>
            <a:r>
              <a:rPr lang="en-GB" sz="2400" dirty="0"/>
              <a:t>. Calculate the mass of lithium fluoride dissolved in 25.0cm</a:t>
            </a:r>
            <a:r>
              <a:rPr lang="en-GB" sz="2400" baseline="30000" dirty="0"/>
              <a:t>3 </a:t>
            </a:r>
            <a:r>
              <a:rPr lang="en-GB" sz="2400" dirty="0"/>
              <a:t>of solution.</a:t>
            </a:r>
          </a:p>
          <a:p>
            <a:pPr marL="457200" indent="-457200">
              <a:buFont typeface="+mj-lt"/>
              <a:buAutoNum type="arabicPeriod" startAt="5"/>
            </a:pPr>
            <a:endParaRPr lang="en-GB" sz="2400" dirty="0"/>
          </a:p>
        </p:txBody>
      </p:sp>
    </p:spTree>
    <p:extLst>
      <p:ext uri="{BB962C8B-B14F-4D97-AF65-F5344CB8AC3E}">
        <p14:creationId xmlns:p14="http://schemas.microsoft.com/office/powerpoint/2010/main" val="39056642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Quantitative analysis part 1–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915400" cy="3785652"/>
          </a:xfrm>
          <a:prstGeom prst="rect">
            <a:avLst/>
          </a:prstGeom>
          <a:noFill/>
        </p:spPr>
        <p:txBody>
          <a:bodyPr wrap="square" rtlCol="0">
            <a:spAutoFit/>
          </a:bodyPr>
          <a:lstStyle/>
          <a:p>
            <a:pPr marL="457200" indent="-457200">
              <a:buFont typeface="+mj-lt"/>
              <a:buAutoNum type="arabicPeriod" startAt="8"/>
            </a:pPr>
            <a:r>
              <a:rPr lang="en-GB" sz="2400" dirty="0"/>
              <a:t>What is the concentration, in g/ dm</a:t>
            </a:r>
            <a:r>
              <a:rPr lang="en-GB" sz="2400" baseline="30000" dirty="0"/>
              <a:t>3</a:t>
            </a:r>
            <a:r>
              <a:rPr lang="en-GB" sz="2400" dirty="0"/>
              <a:t>, of a solution that has 40g of solute in 2dm</a:t>
            </a:r>
            <a:r>
              <a:rPr lang="en-GB" sz="2400" baseline="30000" dirty="0"/>
              <a:t>3</a:t>
            </a:r>
            <a:r>
              <a:rPr lang="en-GB" sz="2400" dirty="0"/>
              <a:t> of solution?</a:t>
            </a:r>
          </a:p>
          <a:p>
            <a:pPr marL="457200" indent="-457200">
              <a:buFont typeface="+mj-lt"/>
              <a:buAutoNum type="arabicPeriod" startAt="8"/>
            </a:pPr>
            <a:endParaRPr lang="en-GB" sz="2400" dirty="0"/>
          </a:p>
          <a:p>
            <a:pPr marL="457200" indent="-457200">
              <a:buFont typeface="+mj-lt"/>
              <a:buAutoNum type="arabicPeriod" startAt="8"/>
            </a:pPr>
            <a:r>
              <a:rPr lang="en-GB" sz="2400" dirty="0"/>
              <a:t>Calculate the concentration in </a:t>
            </a:r>
            <a:r>
              <a:rPr lang="en-GB" sz="2400" dirty="0" err="1"/>
              <a:t>mol</a:t>
            </a:r>
            <a:r>
              <a:rPr lang="en-GB" sz="2400" dirty="0"/>
              <a:t>/dm</a:t>
            </a:r>
            <a:r>
              <a:rPr lang="en-GB" sz="2400" baseline="30000" dirty="0"/>
              <a:t>3  </a:t>
            </a:r>
            <a:r>
              <a:rPr lang="en-GB" sz="2400" dirty="0"/>
              <a:t>of a solution that has  </a:t>
            </a:r>
          </a:p>
          <a:p>
            <a:pPr lvl="1"/>
            <a:r>
              <a:rPr lang="en-GB" sz="2400" dirty="0"/>
              <a:t>0.75 </a:t>
            </a:r>
            <a:r>
              <a:rPr lang="en-GB" sz="2400" dirty="0" err="1"/>
              <a:t>mol</a:t>
            </a:r>
            <a:r>
              <a:rPr lang="en-GB" sz="2400" dirty="0"/>
              <a:t> of an acid in 3dm</a:t>
            </a:r>
            <a:r>
              <a:rPr lang="en-GB" sz="2400" baseline="30000" dirty="0"/>
              <a:t>3</a:t>
            </a:r>
            <a:r>
              <a:rPr lang="en-GB" sz="2400" dirty="0"/>
              <a:t> of solution.</a:t>
            </a:r>
          </a:p>
          <a:p>
            <a:pPr marL="457200" indent="-457200">
              <a:buFont typeface="+mj-lt"/>
              <a:buAutoNum type="arabicPeriod" startAt="8"/>
            </a:pPr>
            <a:endParaRPr lang="en-GB" sz="2400" dirty="0"/>
          </a:p>
          <a:p>
            <a:pPr marL="457200" lvl="0" indent="-457200">
              <a:buFont typeface="+mj-lt"/>
              <a:buAutoNum type="arabicPeriod" startAt="8"/>
            </a:pPr>
            <a:r>
              <a:rPr lang="en-GB" sz="2400" dirty="0"/>
              <a:t>It takes 28.0cm</a:t>
            </a:r>
            <a:r>
              <a:rPr lang="en-GB" sz="2400" baseline="30000" dirty="0"/>
              <a:t>3</a:t>
            </a:r>
            <a:r>
              <a:rPr lang="en-GB" sz="2400" dirty="0"/>
              <a:t> of potassium hydroxide to neutralise 25.00cm</a:t>
            </a:r>
            <a:r>
              <a:rPr lang="en-GB" sz="2400" baseline="30000" dirty="0"/>
              <a:t>3</a:t>
            </a:r>
            <a:r>
              <a:rPr lang="en-GB" sz="2400" dirty="0"/>
              <a:t> of nitric acid at a concentration of 0.50 </a:t>
            </a:r>
            <a:r>
              <a:rPr lang="en-GB" sz="2400" dirty="0" err="1"/>
              <a:t>mol</a:t>
            </a:r>
            <a:r>
              <a:rPr lang="en-GB" sz="2400" dirty="0"/>
              <a:t>/dm</a:t>
            </a:r>
            <a:r>
              <a:rPr lang="en-GB" sz="2400" baseline="30000" dirty="0"/>
              <a:t>3</a:t>
            </a:r>
            <a:r>
              <a:rPr lang="en-GB" sz="2400" dirty="0"/>
              <a:t>.  </a:t>
            </a:r>
          </a:p>
          <a:p>
            <a:pPr marL="457200" lvl="0" indent="-457200" algn="ctr">
              <a:buFont typeface="+mj-lt"/>
              <a:buAutoNum type="arabicPeriod" startAt="8"/>
            </a:pPr>
            <a:r>
              <a:rPr lang="en-GB" sz="2400" b="1" dirty="0"/>
              <a:t>HNO</a:t>
            </a:r>
            <a:r>
              <a:rPr lang="en-GB" sz="2400" b="1" baseline="-25000" dirty="0"/>
              <a:t>3 </a:t>
            </a:r>
            <a:r>
              <a:rPr lang="en-GB" sz="2400" b="1" dirty="0"/>
              <a:t> + KOH → KNO</a:t>
            </a:r>
            <a:r>
              <a:rPr lang="en-GB" sz="2400" b="1" baseline="-25000" dirty="0"/>
              <a:t>3</a:t>
            </a:r>
            <a:r>
              <a:rPr lang="en-GB" sz="2400" b="1" dirty="0"/>
              <a:t> + H</a:t>
            </a:r>
            <a:r>
              <a:rPr lang="en-GB" sz="2400" b="1" baseline="-25000" dirty="0"/>
              <a:t>2</a:t>
            </a:r>
            <a:r>
              <a:rPr lang="en-GB" sz="2400" b="1" dirty="0"/>
              <a:t>O</a:t>
            </a:r>
          </a:p>
          <a:p>
            <a:pPr lvl="1"/>
            <a:r>
              <a:rPr lang="en-GB" sz="2400" dirty="0"/>
              <a:t>Calculate the concentration of the potassium hydroxide. </a:t>
            </a:r>
          </a:p>
        </p:txBody>
      </p:sp>
    </p:spTree>
    <p:extLst>
      <p:ext uri="{BB962C8B-B14F-4D97-AF65-F5344CB8AC3E}">
        <p14:creationId xmlns:p14="http://schemas.microsoft.com/office/powerpoint/2010/main" val="33043181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9464" y="620688"/>
            <a:ext cx="4824536" cy="5257800"/>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940152" cy="4308872"/>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Quantitative </a:t>
            </a:r>
          </a:p>
          <a:p>
            <a:r>
              <a:rPr lang="en-GB" sz="3600" b="1" dirty="0">
                <a:solidFill>
                  <a:schemeClr val="tx1">
                    <a:lumMod val="50000"/>
                    <a:lumOff val="50000"/>
                  </a:schemeClr>
                </a:solidFill>
              </a:rPr>
              <a:t>Analysis – 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Titrations and unknown </a:t>
            </a:r>
          </a:p>
          <a:p>
            <a:pPr marL="800100" lvl="2"/>
            <a:r>
              <a:rPr lang="en-US" sz="2400" b="1" dirty="0">
                <a:solidFill>
                  <a:schemeClr val="bg1">
                    <a:lumMod val="50000"/>
                  </a:schemeClr>
                </a:solidFill>
              </a:rPr>
              <a:t>Concentrations (HT)</a:t>
            </a:r>
          </a:p>
        </p:txBody>
      </p:sp>
    </p:spTree>
    <p:extLst>
      <p:ext uri="{BB962C8B-B14F-4D97-AF65-F5344CB8AC3E}">
        <p14:creationId xmlns:p14="http://schemas.microsoft.com/office/powerpoint/2010/main" val="13838320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Quantitative analysis part 1–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915400" cy="5878532"/>
          </a:xfrm>
          <a:prstGeom prst="rect">
            <a:avLst/>
          </a:prstGeom>
          <a:noFill/>
        </p:spPr>
        <p:txBody>
          <a:bodyPr wrap="square" rtlCol="0">
            <a:spAutoFit/>
          </a:bodyPr>
          <a:lstStyle/>
          <a:p>
            <a:pPr marL="457200" indent="-457200">
              <a:buFont typeface="+mj-lt"/>
              <a:buAutoNum type="arabicPeriod"/>
            </a:pPr>
            <a:r>
              <a:rPr kumimoji="0" lang="en-GB" sz="2400" b="0" i="0" u="none" strike="noStrike" kern="1200" cap="none" spc="0" normalizeH="0" baseline="0" noProof="0" dirty="0">
                <a:ln>
                  <a:noFill/>
                </a:ln>
                <a:solidFill>
                  <a:prstClr val="black"/>
                </a:solidFill>
                <a:effectLst/>
                <a:uLnTx/>
                <a:uFillTx/>
                <a:latin typeface="Calibri"/>
                <a:ea typeface="+mn-ea"/>
                <a:cs typeface="+mn-cs"/>
              </a:rPr>
              <a:t>What</a:t>
            </a:r>
            <a:r>
              <a:rPr kumimoji="0" lang="en-GB" sz="2400" b="0" i="0" u="none" strike="noStrike" kern="1200" cap="none" spc="0" normalizeH="0" noProof="0" dirty="0">
                <a:ln>
                  <a:noFill/>
                </a:ln>
                <a:solidFill>
                  <a:prstClr val="black"/>
                </a:solidFill>
                <a:effectLst/>
                <a:uLnTx/>
                <a:uFillTx/>
                <a:latin typeface="Calibri"/>
                <a:ea typeface="+mn-ea"/>
                <a:cs typeface="+mn-cs"/>
              </a:rPr>
              <a:t> units can be used for the concentration of a solution?</a:t>
            </a:r>
          </a:p>
          <a:p>
            <a:pPr lvl="1"/>
            <a:r>
              <a:rPr kumimoji="0" lang="en-GB" sz="2400" b="0" i="0" u="none" strike="noStrike" kern="1200" cap="none" spc="0" normalizeH="0" noProof="0" dirty="0">
                <a:ln>
                  <a:noFill/>
                </a:ln>
                <a:solidFill>
                  <a:srgbClr val="00B050"/>
                </a:solidFill>
                <a:effectLst/>
                <a:uLnTx/>
                <a:uFillTx/>
                <a:latin typeface="Calibri"/>
                <a:ea typeface="+mn-ea"/>
                <a:cs typeface="+mn-cs"/>
              </a:rPr>
              <a:t>g/dm</a:t>
            </a:r>
            <a:r>
              <a:rPr kumimoji="0" lang="en-GB" sz="2400" b="0" i="0" u="none" strike="noStrike" kern="1200" cap="none" spc="0" normalizeH="0" baseline="30000" noProof="0" dirty="0">
                <a:ln>
                  <a:noFill/>
                </a:ln>
                <a:solidFill>
                  <a:srgbClr val="00B050"/>
                </a:solidFill>
                <a:effectLst/>
                <a:uLnTx/>
                <a:uFillTx/>
                <a:latin typeface="Calibri"/>
                <a:ea typeface="+mn-ea"/>
                <a:cs typeface="+mn-cs"/>
              </a:rPr>
              <a:t>3</a:t>
            </a:r>
            <a:r>
              <a:rPr kumimoji="0" lang="en-GB" sz="2400" b="0" i="0" u="none" strike="noStrike" kern="1200" cap="none" spc="0" normalizeH="0" noProof="0" dirty="0">
                <a:ln>
                  <a:noFill/>
                </a:ln>
                <a:solidFill>
                  <a:srgbClr val="00B050"/>
                </a:solidFill>
                <a:effectLst/>
                <a:uLnTx/>
                <a:uFillTx/>
                <a:latin typeface="Calibri"/>
                <a:ea typeface="+mn-ea"/>
                <a:cs typeface="+mn-cs"/>
              </a:rPr>
              <a:t>   </a:t>
            </a:r>
            <a:r>
              <a:rPr kumimoji="0" lang="en-GB" sz="2400" b="0" i="0" u="none" strike="noStrike" kern="1200" cap="none" spc="0" normalizeH="0" noProof="0" dirty="0" err="1">
                <a:ln>
                  <a:noFill/>
                </a:ln>
                <a:solidFill>
                  <a:srgbClr val="00B050"/>
                </a:solidFill>
                <a:effectLst/>
                <a:uLnTx/>
                <a:uFillTx/>
                <a:latin typeface="Calibri"/>
                <a:ea typeface="+mn-ea"/>
                <a:cs typeface="+mn-cs"/>
              </a:rPr>
              <a:t>mol</a:t>
            </a:r>
            <a:r>
              <a:rPr kumimoji="0" lang="en-GB" sz="2400" b="0" i="0" u="none" strike="noStrike" kern="1200" cap="none" spc="0" normalizeH="0" noProof="0" dirty="0">
                <a:ln>
                  <a:noFill/>
                </a:ln>
                <a:solidFill>
                  <a:srgbClr val="00B050"/>
                </a:solidFill>
                <a:effectLst/>
                <a:uLnTx/>
                <a:uFillTx/>
                <a:latin typeface="Calibri"/>
                <a:ea typeface="+mn-ea"/>
                <a:cs typeface="+mn-cs"/>
              </a:rPr>
              <a:t>/dm</a:t>
            </a:r>
            <a:r>
              <a:rPr kumimoji="0" lang="en-GB" sz="2400" b="0" i="0" u="none" strike="noStrike" kern="1200" cap="none" spc="0" normalizeH="0" baseline="30000" noProof="0" dirty="0">
                <a:ln>
                  <a:noFill/>
                </a:ln>
                <a:solidFill>
                  <a:srgbClr val="00B050"/>
                </a:solidFill>
                <a:effectLst/>
                <a:uLnTx/>
                <a:uFillTx/>
                <a:latin typeface="Calibri"/>
                <a:ea typeface="+mn-ea"/>
                <a:cs typeface="+mn-cs"/>
              </a:rPr>
              <a:t>3</a:t>
            </a:r>
          </a:p>
          <a:p>
            <a:pPr marL="457200" indent="-457200">
              <a:buFont typeface="+mj-lt"/>
              <a:buAutoNum type="arabicPeriod"/>
            </a:pPr>
            <a:r>
              <a:rPr lang="en-GB" sz="2400" baseline="0" dirty="0">
                <a:solidFill>
                  <a:prstClr val="black"/>
                </a:solidFill>
                <a:latin typeface="Calibri"/>
              </a:rPr>
              <a:t>What does dm</a:t>
            </a:r>
            <a:r>
              <a:rPr lang="en-GB" sz="2400" baseline="30000" dirty="0">
                <a:solidFill>
                  <a:prstClr val="black"/>
                </a:solidFill>
                <a:latin typeface="Calibri"/>
              </a:rPr>
              <a:t>3</a:t>
            </a:r>
            <a:r>
              <a:rPr lang="en-GB" sz="2400" baseline="0" dirty="0">
                <a:solidFill>
                  <a:prstClr val="black"/>
                </a:solidFill>
                <a:latin typeface="Calibri"/>
              </a:rPr>
              <a:t> mean?</a:t>
            </a:r>
          </a:p>
          <a:p>
            <a:pPr lvl="1"/>
            <a:r>
              <a:rPr lang="en-GB" sz="2400" baseline="0" dirty="0">
                <a:solidFill>
                  <a:srgbClr val="00B050"/>
                </a:solidFill>
                <a:latin typeface="Calibri"/>
              </a:rPr>
              <a:t>1000cm</a:t>
            </a:r>
            <a:r>
              <a:rPr lang="en-GB" sz="2400" baseline="30000" dirty="0">
                <a:solidFill>
                  <a:srgbClr val="00B050"/>
                </a:solidFill>
                <a:latin typeface="Calibri"/>
              </a:rPr>
              <a:t>3</a:t>
            </a:r>
          </a:p>
          <a:p>
            <a:pPr marL="457200" lvl="0" indent="-457200">
              <a:buFont typeface="+mj-lt"/>
              <a:buAutoNum type="arabicPeriod"/>
              <a:defRPr/>
            </a:pPr>
            <a:r>
              <a:rPr lang="en-GB" sz="2400" dirty="0">
                <a:solidFill>
                  <a:prstClr val="black"/>
                </a:solidFill>
                <a:latin typeface="Calibri"/>
              </a:rPr>
              <a:t>Give the equation for calculating concentration from the mass of substance and volume of solution.</a:t>
            </a:r>
            <a:r>
              <a:rPr lang="en-GB" sz="2400" dirty="0">
                <a:solidFill>
                  <a:prstClr val="black"/>
                </a:solidFill>
              </a:rPr>
              <a:t> </a:t>
            </a:r>
          </a:p>
          <a:p>
            <a:pPr lvl="1">
              <a:defRPr/>
            </a:pPr>
            <a:r>
              <a:rPr lang="en-GB" sz="2400" dirty="0">
                <a:solidFill>
                  <a:srgbClr val="00B050"/>
                </a:solidFill>
              </a:rPr>
              <a:t>Concentration = mass ÷ volume</a:t>
            </a:r>
          </a:p>
          <a:p>
            <a:pPr marL="457200" indent="-457200">
              <a:buFont typeface="+mj-lt"/>
              <a:buAutoNum type="arabicPeriod"/>
              <a:defRPr/>
            </a:pPr>
            <a:r>
              <a:rPr lang="en-GB" sz="2400" dirty="0"/>
              <a:t>What is the equation for the calculation of concentration from the moles and volume of solution?</a:t>
            </a:r>
          </a:p>
          <a:p>
            <a:pPr lvl="1">
              <a:defRPr/>
            </a:pPr>
            <a:r>
              <a:rPr lang="en-GB" sz="2400" dirty="0">
                <a:solidFill>
                  <a:srgbClr val="00B050"/>
                </a:solidFill>
              </a:rPr>
              <a:t>Concentration = moles ÷ volume</a:t>
            </a:r>
          </a:p>
          <a:p>
            <a:pPr lvl="1">
              <a:defRPr/>
            </a:pPr>
            <a:endParaRPr lang="en-GB" sz="2400" dirty="0">
              <a:solidFill>
                <a:prstClr val="black"/>
              </a:solidFill>
            </a:endParaRPr>
          </a:p>
          <a:p>
            <a:pPr marL="457200" indent="-457200">
              <a:buFont typeface="+mj-lt"/>
              <a:buAutoNum type="arabicPeriod" startAt="7"/>
            </a:pPr>
            <a:endParaRPr lang="en-GB" sz="2400" dirty="0"/>
          </a:p>
          <a:p>
            <a:pPr marL="457200" indent="-457200">
              <a:buFont typeface="+mj-lt"/>
              <a:buAutoNum type="arabicPeriod"/>
            </a:pPr>
            <a:endParaRPr lang="en-GB" sz="2400" dirty="0">
              <a:solidFill>
                <a:prstClr val="black"/>
              </a:solidFill>
              <a:latin typeface="Calibri"/>
            </a:endParaRPr>
          </a:p>
          <a:p>
            <a:pPr marL="457200" indent="-457200">
              <a:buFont typeface="+mj-lt"/>
              <a:buAutoNum type="arabicPeriod"/>
            </a:pPr>
            <a:endParaRPr lang="en-GB" sz="2400" dirty="0">
              <a:solidFill>
                <a:prstClr val="black"/>
              </a:solidFill>
              <a:latin typeface="Calibri"/>
            </a:endParaRPr>
          </a:p>
          <a:p>
            <a:pPr marL="457200" indent="-457200">
              <a:buFont typeface="+mj-lt"/>
              <a:buAutoNum type="arabicPeriod"/>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110231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Quantitative analysis part 1–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915400" cy="4893647"/>
          </a:xfrm>
          <a:prstGeom prst="rect">
            <a:avLst/>
          </a:prstGeom>
          <a:noFill/>
        </p:spPr>
        <p:txBody>
          <a:bodyPr wrap="square" rtlCol="0">
            <a:spAutoFit/>
          </a:bodyPr>
          <a:lstStyle/>
          <a:p>
            <a:pPr marL="457200" lvl="0" indent="-457200">
              <a:buFont typeface="+mj-lt"/>
              <a:buAutoNum type="arabicPeriod" startAt="5"/>
              <a:defRPr/>
            </a:pPr>
            <a:r>
              <a:rPr lang="en-GB" sz="2400" dirty="0">
                <a:solidFill>
                  <a:prstClr val="black"/>
                </a:solidFill>
              </a:rPr>
              <a:t>Calculate the concentration in g/dm</a:t>
            </a:r>
            <a:r>
              <a:rPr lang="en-GB" sz="2400" baseline="30000" dirty="0">
                <a:solidFill>
                  <a:prstClr val="black"/>
                </a:solidFill>
              </a:rPr>
              <a:t>3</a:t>
            </a:r>
            <a:r>
              <a:rPr lang="en-GB" sz="2400" dirty="0">
                <a:solidFill>
                  <a:prstClr val="black"/>
                </a:solidFill>
              </a:rPr>
              <a:t> for 50g of sodium chloride in 2.5 dm</a:t>
            </a:r>
            <a:r>
              <a:rPr lang="en-GB" sz="2400" baseline="30000" dirty="0">
                <a:solidFill>
                  <a:prstClr val="black"/>
                </a:solidFill>
              </a:rPr>
              <a:t>3</a:t>
            </a:r>
            <a:r>
              <a:rPr lang="en-GB" sz="2400" dirty="0">
                <a:solidFill>
                  <a:prstClr val="black"/>
                </a:solidFill>
              </a:rPr>
              <a:t> of water.</a:t>
            </a:r>
          </a:p>
          <a:p>
            <a:pPr lvl="1">
              <a:defRPr/>
            </a:pPr>
            <a:r>
              <a:rPr lang="en-GB" sz="2400" dirty="0">
                <a:solidFill>
                  <a:srgbClr val="00B050"/>
                </a:solidFill>
              </a:rPr>
              <a:t>50/2.5 = 20 g/dm</a:t>
            </a:r>
            <a:r>
              <a:rPr lang="en-GB" sz="2400" baseline="30000" dirty="0">
                <a:solidFill>
                  <a:srgbClr val="00B050"/>
                </a:solidFill>
              </a:rPr>
              <a:t>3</a:t>
            </a:r>
            <a:r>
              <a:rPr lang="en-GB" sz="2400" dirty="0">
                <a:solidFill>
                  <a:srgbClr val="00B050"/>
                </a:solidFill>
              </a:rPr>
              <a:t> </a:t>
            </a:r>
          </a:p>
          <a:p>
            <a:pPr marL="457200" indent="-457200">
              <a:buFont typeface="+mj-lt"/>
              <a:buAutoNum type="arabicPeriod" startAt="5"/>
              <a:defRPr/>
            </a:pPr>
            <a:r>
              <a:rPr lang="en-GB" sz="2400" dirty="0">
                <a:solidFill>
                  <a:prstClr val="black"/>
                </a:solidFill>
              </a:rPr>
              <a:t>Calculate the concentration in g/dm</a:t>
            </a:r>
            <a:r>
              <a:rPr lang="en-GB" sz="2400" baseline="30000" dirty="0">
                <a:solidFill>
                  <a:prstClr val="black"/>
                </a:solidFill>
              </a:rPr>
              <a:t>3</a:t>
            </a:r>
            <a:r>
              <a:rPr lang="en-GB" sz="2400" dirty="0">
                <a:solidFill>
                  <a:prstClr val="black"/>
                </a:solidFill>
              </a:rPr>
              <a:t> of 1.4g of potassium carbonate in 855cm</a:t>
            </a:r>
            <a:r>
              <a:rPr lang="en-GB" sz="2400" baseline="30000" dirty="0">
                <a:solidFill>
                  <a:prstClr val="black"/>
                </a:solidFill>
              </a:rPr>
              <a:t>3</a:t>
            </a:r>
            <a:r>
              <a:rPr lang="en-GB" sz="2400" dirty="0">
                <a:solidFill>
                  <a:prstClr val="black"/>
                </a:solidFill>
              </a:rPr>
              <a:t> of water.</a:t>
            </a:r>
          </a:p>
          <a:p>
            <a:pPr lvl="1">
              <a:defRPr/>
            </a:pPr>
            <a:r>
              <a:rPr lang="en-GB" sz="2400" dirty="0">
                <a:solidFill>
                  <a:srgbClr val="00B050"/>
                </a:solidFill>
              </a:rPr>
              <a:t>(1.4/855) x 1000 = 1.64 g/dm</a:t>
            </a:r>
            <a:r>
              <a:rPr lang="en-GB" sz="2400" baseline="30000" dirty="0">
                <a:solidFill>
                  <a:srgbClr val="00B050"/>
                </a:solidFill>
              </a:rPr>
              <a:t>3</a:t>
            </a:r>
            <a:r>
              <a:rPr lang="en-GB" sz="2400" dirty="0">
                <a:solidFill>
                  <a:srgbClr val="00B050"/>
                </a:solidFill>
              </a:rPr>
              <a:t> </a:t>
            </a:r>
          </a:p>
          <a:p>
            <a:pPr lvl="1">
              <a:defRPr/>
            </a:pPr>
            <a:endParaRPr lang="en-GB" sz="2400" dirty="0">
              <a:solidFill>
                <a:srgbClr val="00B050"/>
              </a:solidFill>
            </a:endParaRPr>
          </a:p>
          <a:p>
            <a:pPr marL="457200" indent="-457200">
              <a:buFont typeface="+mj-lt"/>
              <a:buAutoNum type="arabicPeriod" startAt="5"/>
            </a:pPr>
            <a:r>
              <a:rPr lang="en-GB" sz="2400" dirty="0"/>
              <a:t>A teacher has a solution of lithium fluoride with a concentration of 72.6g/dm</a:t>
            </a:r>
            <a:r>
              <a:rPr lang="en-GB" sz="2400" baseline="30000" dirty="0"/>
              <a:t>3</a:t>
            </a:r>
            <a:r>
              <a:rPr lang="en-GB" sz="2400" dirty="0"/>
              <a:t>. Calculate the mass of lithium fluoride dissolved in 25.0cm</a:t>
            </a:r>
            <a:r>
              <a:rPr lang="en-GB" sz="2400" baseline="30000" dirty="0"/>
              <a:t>3 </a:t>
            </a:r>
            <a:r>
              <a:rPr lang="en-GB" sz="2400" dirty="0"/>
              <a:t>of solution.</a:t>
            </a:r>
          </a:p>
          <a:p>
            <a:pPr lvl="1"/>
            <a:r>
              <a:rPr lang="en-GB" sz="2400" dirty="0">
                <a:solidFill>
                  <a:srgbClr val="00B050"/>
                </a:solidFill>
              </a:rPr>
              <a:t>25cm</a:t>
            </a:r>
            <a:r>
              <a:rPr lang="en-GB" sz="2400" baseline="30000" dirty="0">
                <a:solidFill>
                  <a:srgbClr val="00B050"/>
                </a:solidFill>
              </a:rPr>
              <a:t>3</a:t>
            </a:r>
            <a:r>
              <a:rPr lang="en-GB" sz="2400" dirty="0">
                <a:solidFill>
                  <a:srgbClr val="00B050"/>
                </a:solidFill>
              </a:rPr>
              <a:t> = 0.025dm</a:t>
            </a:r>
            <a:r>
              <a:rPr lang="en-GB" sz="2400" baseline="30000" dirty="0">
                <a:solidFill>
                  <a:srgbClr val="00B050"/>
                </a:solidFill>
              </a:rPr>
              <a:t>3</a:t>
            </a:r>
            <a:r>
              <a:rPr lang="en-GB" sz="2400" dirty="0">
                <a:solidFill>
                  <a:srgbClr val="00B050"/>
                </a:solidFill>
              </a:rPr>
              <a:t> </a:t>
            </a:r>
          </a:p>
          <a:p>
            <a:r>
              <a:rPr lang="en-GB" sz="2400" dirty="0">
                <a:solidFill>
                  <a:srgbClr val="00B050"/>
                </a:solidFill>
              </a:rPr>
              <a:t>       72.6 x 0.025 = 1.8g</a:t>
            </a:r>
          </a:p>
          <a:p>
            <a:pPr lvl="1"/>
            <a:endParaRPr lang="en-GB" sz="2400" dirty="0"/>
          </a:p>
        </p:txBody>
      </p:sp>
    </p:spTree>
    <p:extLst>
      <p:ext uri="{BB962C8B-B14F-4D97-AF65-F5344CB8AC3E}">
        <p14:creationId xmlns:p14="http://schemas.microsoft.com/office/powerpoint/2010/main" val="14463223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Use of amount of substance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915400" cy="2308324"/>
          </a:xfrm>
          <a:prstGeom prst="rect">
            <a:avLst/>
          </a:prstGeom>
          <a:noFill/>
        </p:spPr>
        <p:txBody>
          <a:bodyPr wrap="square" rtlCol="0">
            <a:spAutoFit/>
          </a:bodyPr>
          <a:lstStyle/>
          <a:p>
            <a:pPr marL="457200" indent="-457200">
              <a:buFont typeface="+mj-lt"/>
              <a:buAutoNum type="arabicPeriod" startAt="8"/>
            </a:pPr>
            <a:r>
              <a:rPr lang="en-GB" sz="2400" dirty="0"/>
              <a:t>What is the concentration, in g/ dm</a:t>
            </a:r>
            <a:r>
              <a:rPr lang="en-GB" sz="2400" baseline="30000" dirty="0"/>
              <a:t>3</a:t>
            </a:r>
            <a:r>
              <a:rPr lang="en-GB" sz="2400" dirty="0"/>
              <a:t>, of a solution that has 40g of solute in 2dm</a:t>
            </a:r>
            <a:r>
              <a:rPr lang="en-GB" sz="2400" baseline="30000" dirty="0"/>
              <a:t>3</a:t>
            </a:r>
            <a:r>
              <a:rPr lang="en-GB" sz="2400" dirty="0"/>
              <a:t> of solution?</a:t>
            </a:r>
          </a:p>
          <a:p>
            <a:pPr lvl="1"/>
            <a:r>
              <a:rPr lang="en-GB" sz="2400" dirty="0"/>
              <a:t> </a:t>
            </a:r>
            <a:r>
              <a:rPr lang="en-GB" sz="2400" b="1" dirty="0">
                <a:solidFill>
                  <a:srgbClr val="00B050"/>
                </a:solidFill>
              </a:rPr>
              <a:t>Concentration = mass ÷ volume = 40 g ÷ 2 dm</a:t>
            </a:r>
            <a:r>
              <a:rPr lang="en-GB" sz="2400" b="1" baseline="30000" dirty="0">
                <a:solidFill>
                  <a:srgbClr val="00B050"/>
                </a:solidFill>
              </a:rPr>
              <a:t>3</a:t>
            </a:r>
            <a:r>
              <a:rPr lang="en-GB" sz="2400" b="1" dirty="0">
                <a:solidFill>
                  <a:srgbClr val="00B050"/>
                </a:solidFill>
              </a:rPr>
              <a:t> = 20 g/dm</a:t>
            </a:r>
            <a:r>
              <a:rPr lang="en-GB" sz="2400" b="1" baseline="30000" dirty="0">
                <a:solidFill>
                  <a:srgbClr val="00B050"/>
                </a:solidFill>
              </a:rPr>
              <a:t>3</a:t>
            </a:r>
            <a:endParaRPr lang="en-GB" sz="2400" dirty="0"/>
          </a:p>
          <a:p>
            <a:pPr marL="457200" indent="-457200">
              <a:buFont typeface="+mj-lt"/>
              <a:buAutoNum type="arabicPeriod" startAt="8"/>
            </a:pPr>
            <a:r>
              <a:rPr lang="en-GB" sz="2400" dirty="0"/>
              <a:t>Calculate the concentration in </a:t>
            </a:r>
            <a:r>
              <a:rPr lang="en-GB" sz="2400" dirty="0" err="1"/>
              <a:t>mol</a:t>
            </a:r>
            <a:r>
              <a:rPr lang="en-GB" sz="2400" dirty="0"/>
              <a:t>/dm</a:t>
            </a:r>
            <a:r>
              <a:rPr lang="en-GB" sz="2400" baseline="30000" dirty="0"/>
              <a:t>3  </a:t>
            </a:r>
            <a:r>
              <a:rPr lang="en-GB" sz="2400" dirty="0"/>
              <a:t>of a solution that has  </a:t>
            </a:r>
          </a:p>
          <a:p>
            <a:pPr lvl="1"/>
            <a:r>
              <a:rPr lang="en-GB" sz="2400" dirty="0"/>
              <a:t>0.75 </a:t>
            </a:r>
            <a:r>
              <a:rPr lang="en-GB" sz="2400" dirty="0" err="1"/>
              <a:t>mol</a:t>
            </a:r>
            <a:r>
              <a:rPr lang="en-GB" sz="2400" dirty="0"/>
              <a:t> of an acid in 3dm</a:t>
            </a:r>
            <a:r>
              <a:rPr lang="en-GB" sz="2400" baseline="30000" dirty="0"/>
              <a:t>3</a:t>
            </a:r>
            <a:r>
              <a:rPr lang="en-GB" sz="2400" dirty="0"/>
              <a:t> of solution.</a:t>
            </a:r>
          </a:p>
          <a:p>
            <a:pPr lvl="1"/>
            <a:r>
              <a:rPr lang="en-GB" sz="2400" b="1" dirty="0">
                <a:solidFill>
                  <a:srgbClr val="00B050"/>
                </a:solidFill>
              </a:rPr>
              <a:t>0.75 </a:t>
            </a:r>
            <a:r>
              <a:rPr lang="en-GB" sz="2400" b="1" dirty="0" err="1">
                <a:solidFill>
                  <a:srgbClr val="00B050"/>
                </a:solidFill>
              </a:rPr>
              <a:t>mol</a:t>
            </a:r>
            <a:r>
              <a:rPr lang="en-GB" sz="2400" b="1" dirty="0">
                <a:solidFill>
                  <a:srgbClr val="00B050"/>
                </a:solidFill>
              </a:rPr>
              <a:t>/3 dm</a:t>
            </a:r>
            <a:r>
              <a:rPr lang="en-GB" sz="2400" b="1" baseline="30000" dirty="0">
                <a:solidFill>
                  <a:srgbClr val="00B050"/>
                </a:solidFill>
              </a:rPr>
              <a:t>3</a:t>
            </a:r>
            <a:r>
              <a:rPr lang="en-GB" sz="2400" b="1" dirty="0">
                <a:solidFill>
                  <a:srgbClr val="00B050"/>
                </a:solidFill>
              </a:rPr>
              <a:t> = 0.25 </a:t>
            </a:r>
            <a:r>
              <a:rPr lang="en-GB" sz="2400" b="1" dirty="0" err="1">
                <a:solidFill>
                  <a:srgbClr val="00B050"/>
                </a:solidFill>
              </a:rPr>
              <a:t>mol</a:t>
            </a:r>
            <a:r>
              <a:rPr lang="en-GB" sz="2400" b="1" dirty="0">
                <a:solidFill>
                  <a:srgbClr val="00B050"/>
                </a:solidFill>
              </a:rPr>
              <a:t>/dm</a:t>
            </a:r>
            <a:r>
              <a:rPr lang="en-GB" sz="2400" b="1" baseline="30000" dirty="0">
                <a:solidFill>
                  <a:srgbClr val="00B050"/>
                </a:solidFill>
              </a:rPr>
              <a:t>3</a:t>
            </a:r>
            <a:r>
              <a:rPr lang="en-GB" sz="2400" b="1" dirty="0">
                <a:solidFill>
                  <a:srgbClr val="00B050"/>
                </a:solidFill>
              </a:rPr>
              <a:t> </a:t>
            </a:r>
            <a:endParaRPr lang="en-GB" sz="2400" dirty="0"/>
          </a:p>
        </p:txBody>
      </p:sp>
    </p:spTree>
    <p:extLst>
      <p:ext uri="{BB962C8B-B14F-4D97-AF65-F5344CB8AC3E}">
        <p14:creationId xmlns:p14="http://schemas.microsoft.com/office/powerpoint/2010/main" val="34412640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Quantitative analysis part 1–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743393" cy="4770537"/>
          </a:xfrm>
          <a:prstGeom prst="rect">
            <a:avLst/>
          </a:prstGeom>
          <a:noFill/>
        </p:spPr>
        <p:txBody>
          <a:bodyPr wrap="square" rtlCol="0">
            <a:spAutoFit/>
          </a:bodyPr>
          <a:lstStyle/>
          <a:p>
            <a:pPr marL="457200" lvl="0" indent="-457200">
              <a:buFont typeface="+mj-lt"/>
              <a:buAutoNum type="arabicPeriod" startAt="10"/>
            </a:pPr>
            <a:r>
              <a:rPr lang="en-GB" sz="2400" dirty="0"/>
              <a:t>It takes 28.0cm</a:t>
            </a:r>
            <a:r>
              <a:rPr lang="en-GB" sz="2400" baseline="30000" dirty="0"/>
              <a:t>3</a:t>
            </a:r>
            <a:r>
              <a:rPr lang="en-GB" sz="2400" dirty="0"/>
              <a:t> of potassium hydroxide to neutralise 25.00cm</a:t>
            </a:r>
            <a:r>
              <a:rPr lang="en-GB" sz="2400" baseline="30000" dirty="0"/>
              <a:t>3</a:t>
            </a:r>
            <a:r>
              <a:rPr lang="en-GB" sz="2400" dirty="0"/>
              <a:t> of nitric acid at a concentration of 0.50 </a:t>
            </a:r>
            <a:r>
              <a:rPr lang="en-GB" sz="2400" dirty="0" err="1"/>
              <a:t>mol</a:t>
            </a:r>
            <a:r>
              <a:rPr lang="en-GB" sz="2400" dirty="0"/>
              <a:t>/dm</a:t>
            </a:r>
            <a:r>
              <a:rPr lang="en-GB" sz="2400" baseline="30000" dirty="0"/>
              <a:t>3</a:t>
            </a:r>
            <a:r>
              <a:rPr lang="en-GB" sz="2400" dirty="0"/>
              <a:t>.  </a:t>
            </a:r>
          </a:p>
          <a:p>
            <a:pPr lvl="0" algn="ctr"/>
            <a:r>
              <a:rPr lang="en-GB" sz="2400" b="1" dirty="0"/>
              <a:t>HNO</a:t>
            </a:r>
            <a:r>
              <a:rPr lang="en-GB" sz="2400" b="1" baseline="-25000" dirty="0"/>
              <a:t>3 </a:t>
            </a:r>
            <a:r>
              <a:rPr lang="en-GB" sz="2400" b="1" dirty="0"/>
              <a:t> + KOH → KNO</a:t>
            </a:r>
            <a:r>
              <a:rPr lang="en-GB" sz="2400" b="1" baseline="-25000" dirty="0"/>
              <a:t>3</a:t>
            </a:r>
            <a:r>
              <a:rPr lang="en-GB" sz="2400" b="1" dirty="0"/>
              <a:t> + H</a:t>
            </a:r>
            <a:r>
              <a:rPr lang="en-GB" sz="2400" b="1" baseline="-25000" dirty="0"/>
              <a:t>2</a:t>
            </a:r>
            <a:r>
              <a:rPr lang="en-GB" sz="2400" b="1" dirty="0"/>
              <a:t>O</a:t>
            </a:r>
            <a:endParaRPr lang="en-GB" sz="2400" dirty="0"/>
          </a:p>
          <a:p>
            <a:pPr lvl="0"/>
            <a:r>
              <a:rPr lang="en-GB" sz="2400" dirty="0"/>
              <a:t>       Calculate the concentration of the potassium hydroxide.</a:t>
            </a:r>
          </a:p>
          <a:p>
            <a:r>
              <a:rPr lang="en-GB" sz="2400" b="1" dirty="0">
                <a:solidFill>
                  <a:srgbClr val="00B050"/>
                </a:solidFill>
                <a:latin typeface="Calibri"/>
              </a:rPr>
              <a:t>       </a:t>
            </a:r>
            <a:r>
              <a:rPr lang="en-GB" sz="2400" b="1" dirty="0">
                <a:solidFill>
                  <a:srgbClr val="00B050"/>
                </a:solidFill>
              </a:rPr>
              <a:t>Number of moles of nitric acid = concentration × volume </a:t>
            </a:r>
          </a:p>
          <a:p>
            <a:r>
              <a:rPr lang="en-GB" sz="2400" b="1" dirty="0">
                <a:solidFill>
                  <a:srgbClr val="00B050"/>
                </a:solidFill>
              </a:rPr>
              <a:t>       = 0.5 </a:t>
            </a:r>
            <a:r>
              <a:rPr lang="en-GB" sz="2400" b="1" dirty="0" err="1">
                <a:solidFill>
                  <a:srgbClr val="00B050"/>
                </a:solidFill>
              </a:rPr>
              <a:t>mol</a:t>
            </a:r>
            <a:r>
              <a:rPr lang="en-GB" sz="2400" b="1" dirty="0">
                <a:solidFill>
                  <a:srgbClr val="00B050"/>
                </a:solidFill>
              </a:rPr>
              <a:t>/dm</a:t>
            </a:r>
            <a:r>
              <a:rPr lang="en-GB" sz="2400" b="1" baseline="30000" dirty="0">
                <a:solidFill>
                  <a:srgbClr val="00B050"/>
                </a:solidFill>
              </a:rPr>
              <a:t>3 </a:t>
            </a:r>
            <a:r>
              <a:rPr lang="en-GB" sz="2400" b="1" dirty="0">
                <a:solidFill>
                  <a:srgbClr val="00B050"/>
                </a:solidFill>
              </a:rPr>
              <a:t>× (25 ÷ 1000) dm</a:t>
            </a:r>
            <a:r>
              <a:rPr lang="en-GB" sz="2400" b="1" baseline="30000" dirty="0">
                <a:solidFill>
                  <a:srgbClr val="00B050"/>
                </a:solidFill>
              </a:rPr>
              <a:t>3</a:t>
            </a:r>
            <a:r>
              <a:rPr lang="en-GB" sz="2400" b="1" dirty="0">
                <a:solidFill>
                  <a:srgbClr val="00B050"/>
                </a:solidFill>
              </a:rPr>
              <a:t> = 0.0125 </a:t>
            </a:r>
            <a:r>
              <a:rPr lang="en-GB" sz="2400" b="1" dirty="0" err="1">
                <a:solidFill>
                  <a:srgbClr val="00B050"/>
                </a:solidFill>
              </a:rPr>
              <a:t>mol</a:t>
            </a:r>
            <a:br>
              <a:rPr lang="en-GB" sz="2400" b="1" dirty="0">
                <a:solidFill>
                  <a:srgbClr val="00B050"/>
                </a:solidFill>
              </a:rPr>
            </a:br>
            <a:r>
              <a:rPr lang="en-GB" sz="2400" b="1" dirty="0">
                <a:solidFill>
                  <a:srgbClr val="00B050"/>
                </a:solidFill>
              </a:rPr>
              <a:t>       The equation for the reaction shows that 1 mole of potassium    </a:t>
            </a:r>
          </a:p>
          <a:p>
            <a:r>
              <a:rPr lang="en-GB" sz="2400" b="1" dirty="0">
                <a:solidFill>
                  <a:srgbClr val="00B050"/>
                </a:solidFill>
              </a:rPr>
              <a:t>       hydroxide reacts with 1 mole of nitric acid. So there is 0.0125  </a:t>
            </a:r>
          </a:p>
          <a:p>
            <a:r>
              <a:rPr lang="en-GB" sz="2400" b="1" dirty="0">
                <a:solidFill>
                  <a:srgbClr val="00B050"/>
                </a:solidFill>
              </a:rPr>
              <a:t>       </a:t>
            </a:r>
            <a:r>
              <a:rPr lang="en-GB" sz="2400" b="1" dirty="0" err="1">
                <a:solidFill>
                  <a:srgbClr val="00B050"/>
                </a:solidFill>
              </a:rPr>
              <a:t>mol</a:t>
            </a:r>
            <a:r>
              <a:rPr lang="en-GB" sz="2400" b="1" dirty="0">
                <a:solidFill>
                  <a:srgbClr val="00B050"/>
                </a:solidFill>
              </a:rPr>
              <a:t> of KOH in 28 cm</a:t>
            </a:r>
            <a:r>
              <a:rPr lang="en-GB" sz="2400" b="1" baseline="30000" dirty="0">
                <a:solidFill>
                  <a:srgbClr val="00B050"/>
                </a:solidFill>
              </a:rPr>
              <a:t>3</a:t>
            </a:r>
            <a:r>
              <a:rPr lang="en-GB" sz="2400" b="1" dirty="0">
                <a:solidFill>
                  <a:srgbClr val="00B050"/>
                </a:solidFill>
              </a:rPr>
              <a:t> of solution.</a:t>
            </a:r>
            <a:br>
              <a:rPr lang="en-GB" sz="2400" b="1" dirty="0">
                <a:solidFill>
                  <a:srgbClr val="00B050"/>
                </a:solidFill>
              </a:rPr>
            </a:br>
            <a:r>
              <a:rPr lang="en-GB" sz="2400" b="1" dirty="0">
                <a:solidFill>
                  <a:srgbClr val="00B050"/>
                </a:solidFill>
              </a:rPr>
              <a:t>       So the concentration of KOH in </a:t>
            </a:r>
            <a:r>
              <a:rPr lang="en-GB" sz="2400" b="1" dirty="0" err="1">
                <a:solidFill>
                  <a:srgbClr val="00B050"/>
                </a:solidFill>
              </a:rPr>
              <a:t>mol</a:t>
            </a:r>
            <a:r>
              <a:rPr lang="en-GB" sz="2400" b="1" dirty="0">
                <a:solidFill>
                  <a:srgbClr val="00B050"/>
                </a:solidFill>
              </a:rPr>
              <a:t>/dm</a:t>
            </a:r>
            <a:r>
              <a:rPr lang="en-GB" sz="2400" b="1" baseline="30000" dirty="0">
                <a:solidFill>
                  <a:srgbClr val="00B050"/>
                </a:solidFill>
              </a:rPr>
              <a:t>3</a:t>
            </a:r>
            <a:r>
              <a:rPr lang="en-GB" sz="2400" b="1" dirty="0">
                <a:solidFill>
                  <a:srgbClr val="00B050"/>
                </a:solidFill>
              </a:rPr>
              <a:t> = number of moles ÷   </a:t>
            </a:r>
          </a:p>
          <a:p>
            <a:r>
              <a:rPr lang="en-GB" sz="2400" b="1" dirty="0">
                <a:solidFill>
                  <a:srgbClr val="00B050"/>
                </a:solidFill>
              </a:rPr>
              <a:t>       volume = 0.0125 </a:t>
            </a:r>
            <a:r>
              <a:rPr lang="en-GB" sz="2400" b="1" dirty="0" err="1">
                <a:solidFill>
                  <a:srgbClr val="00B050"/>
                </a:solidFill>
              </a:rPr>
              <a:t>mol</a:t>
            </a:r>
            <a:r>
              <a:rPr lang="en-GB" sz="2400" b="1" dirty="0">
                <a:solidFill>
                  <a:srgbClr val="00B050"/>
                </a:solidFill>
              </a:rPr>
              <a:t> ÷ (28 ÷ 1000) dm</a:t>
            </a:r>
            <a:r>
              <a:rPr lang="en-GB" sz="2400" b="1" baseline="30000" dirty="0">
                <a:solidFill>
                  <a:srgbClr val="00B050"/>
                </a:solidFill>
              </a:rPr>
              <a:t>3</a:t>
            </a:r>
            <a:r>
              <a:rPr lang="en-GB" sz="2400" b="1" dirty="0">
                <a:solidFill>
                  <a:srgbClr val="00B050"/>
                </a:solidFill>
              </a:rPr>
              <a:t> = 0.45 </a:t>
            </a:r>
            <a:r>
              <a:rPr lang="en-GB" sz="2400" b="1" dirty="0" err="1">
                <a:solidFill>
                  <a:srgbClr val="00B050"/>
                </a:solidFill>
              </a:rPr>
              <a:t>mol</a:t>
            </a:r>
            <a:r>
              <a:rPr lang="en-GB" sz="2400" b="1" dirty="0">
                <a:solidFill>
                  <a:srgbClr val="00B050"/>
                </a:solidFill>
              </a:rPr>
              <a:t>/dm</a:t>
            </a:r>
            <a:r>
              <a:rPr lang="en-GB" sz="2400" b="1" baseline="30000" dirty="0">
                <a:solidFill>
                  <a:srgbClr val="00B050"/>
                </a:solidFill>
              </a:rPr>
              <a:t>3</a:t>
            </a:r>
            <a:endParaRPr lang="en-GB" sz="2400" b="1" dirty="0">
              <a:solidFill>
                <a:srgbClr val="00B050"/>
              </a:solidFill>
            </a:endParaRPr>
          </a:p>
          <a:p>
            <a:pPr marL="457200" indent="-457200">
              <a:buAutoNum type="arabicPeriod" startAt="3"/>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974364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10453" y="476672"/>
            <a:ext cx="5364088" cy="5509200"/>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Quantitative </a:t>
            </a:r>
          </a:p>
          <a:p>
            <a:r>
              <a:rPr lang="en-GB" sz="3600" b="1" dirty="0">
                <a:solidFill>
                  <a:schemeClr val="tx1">
                    <a:lumMod val="50000"/>
                    <a:lumOff val="50000"/>
                  </a:schemeClr>
                </a:solidFill>
              </a:rPr>
              <a:t>Analysis – 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Percentage yield</a:t>
            </a:r>
          </a:p>
          <a:p>
            <a:pPr marL="685800" lvl="1" indent="-342900">
              <a:buFont typeface="Arial" charset="0"/>
              <a:buChar char="•"/>
            </a:pPr>
            <a:r>
              <a:rPr lang="en-US" sz="2400" b="1" dirty="0">
                <a:solidFill>
                  <a:schemeClr val="bg1">
                    <a:lumMod val="50000"/>
                  </a:schemeClr>
                </a:solidFill>
              </a:rPr>
              <a:t>Atomy economy</a:t>
            </a:r>
          </a:p>
          <a:p>
            <a:pPr marL="685800" lvl="1" indent="-342900">
              <a:buFont typeface="Arial" charset="0"/>
              <a:buChar char="•"/>
            </a:pPr>
            <a:endParaRPr lang="en-US" sz="2400" b="1" dirty="0">
              <a:solidFill>
                <a:schemeClr val="bg1">
                  <a:lumMod val="50000"/>
                </a:schemeClr>
              </a:solidFill>
            </a:endParaRPr>
          </a:p>
          <a:p>
            <a:endParaRPr lang="en-GB" dirty="0"/>
          </a:p>
        </p:txBody>
      </p:sp>
    </p:spTree>
    <p:extLst>
      <p:ext uri="{BB962C8B-B14F-4D97-AF65-F5344CB8AC3E}">
        <p14:creationId xmlns:p14="http://schemas.microsoft.com/office/powerpoint/2010/main" val="16705761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Yield and atom economy</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id="{069D24D6-BF3E-48D1-A1E3-FB8C618604DE}"/>
              </a:ext>
            </a:extLst>
          </p:cNvPr>
          <p:cNvSpPr txBox="1"/>
          <p:nvPr/>
        </p:nvSpPr>
        <p:spPr>
          <a:xfrm>
            <a:off x="0" y="1119118"/>
            <a:ext cx="4655790" cy="4708981"/>
          </a:xfrm>
          <a:prstGeom prst="rect">
            <a:avLst/>
          </a:prstGeom>
          <a:noFill/>
          <a:ln>
            <a:solidFill>
              <a:schemeClr val="bg1"/>
            </a:solidFill>
          </a:ln>
        </p:spPr>
        <p:txBody>
          <a:bodyPr wrap="square" rtlCol="0">
            <a:spAutoFit/>
          </a:bodyPr>
          <a:lstStyle/>
          <a:p>
            <a:r>
              <a:rPr lang="en-GB" sz="2000" dirty="0"/>
              <a:t>Even though </a:t>
            </a:r>
            <a:r>
              <a:rPr lang="en-GB" sz="2000" b="1" dirty="0"/>
              <a:t>no atoms </a:t>
            </a:r>
            <a:r>
              <a:rPr lang="en-GB" sz="2000" dirty="0"/>
              <a:t>are </a:t>
            </a:r>
            <a:r>
              <a:rPr lang="en-GB" sz="2000" b="1" dirty="0"/>
              <a:t>gained</a:t>
            </a:r>
            <a:r>
              <a:rPr lang="en-GB" sz="2000" dirty="0"/>
              <a:t> or </a:t>
            </a:r>
            <a:r>
              <a:rPr lang="en-GB" sz="2000" b="1" dirty="0"/>
              <a:t>lost</a:t>
            </a:r>
            <a:r>
              <a:rPr lang="en-GB" sz="2000" dirty="0"/>
              <a:t> in a chemical reaction, it is not always possible to obtain the calculated </a:t>
            </a:r>
            <a:r>
              <a:rPr lang="en-GB" sz="2000" b="1" dirty="0"/>
              <a:t>amount</a:t>
            </a:r>
            <a:r>
              <a:rPr lang="en-GB" sz="2000" dirty="0"/>
              <a:t> of </a:t>
            </a:r>
            <a:r>
              <a:rPr lang="en-GB" sz="2000" b="1" dirty="0"/>
              <a:t>product</a:t>
            </a:r>
            <a:r>
              <a:rPr lang="en-GB" sz="2000" dirty="0"/>
              <a:t> because:</a:t>
            </a:r>
          </a:p>
          <a:p>
            <a:endParaRPr lang="en-GB" sz="2000" dirty="0"/>
          </a:p>
          <a:p>
            <a:pPr marL="285750" indent="-285750">
              <a:buFont typeface="Arial" panose="020B0604020202020204" pitchFamily="34" charset="0"/>
              <a:buChar char="•"/>
            </a:pPr>
            <a:r>
              <a:rPr lang="en-GB" sz="2000" dirty="0"/>
              <a:t>Incomplete reactions because they are </a:t>
            </a:r>
            <a:r>
              <a:rPr lang="en-GB" sz="2000" b="1" dirty="0">
                <a:solidFill>
                  <a:schemeClr val="accent6">
                    <a:lumMod val="75000"/>
                  </a:schemeClr>
                </a:solidFill>
              </a:rPr>
              <a:t>reversible</a:t>
            </a:r>
          </a:p>
          <a:p>
            <a:pPr marL="285750" indent="-285750">
              <a:buFont typeface="Arial" panose="020B0604020202020204" pitchFamily="34" charset="0"/>
              <a:buChar char="•"/>
            </a:pPr>
            <a:r>
              <a:rPr lang="en-GB" sz="2000" dirty="0"/>
              <a:t>Some of the </a:t>
            </a:r>
            <a:r>
              <a:rPr lang="en-GB" sz="2000" b="1" dirty="0">
                <a:solidFill>
                  <a:schemeClr val="accent6">
                    <a:lumMod val="75000"/>
                  </a:schemeClr>
                </a:solidFill>
              </a:rPr>
              <a:t>product may be lost </a:t>
            </a:r>
            <a:r>
              <a:rPr lang="en-GB" sz="2000" dirty="0"/>
              <a:t>when it is separated from the reaction mixture</a:t>
            </a:r>
          </a:p>
          <a:p>
            <a:pPr marL="285750" indent="-285750">
              <a:buFont typeface="Arial" panose="020B0604020202020204" pitchFamily="34" charset="0"/>
              <a:buChar char="•"/>
            </a:pPr>
            <a:r>
              <a:rPr lang="en-GB" sz="2000" dirty="0"/>
              <a:t>Some of the </a:t>
            </a:r>
            <a:r>
              <a:rPr lang="en-GB" sz="2000" b="1" dirty="0">
                <a:solidFill>
                  <a:schemeClr val="accent6">
                    <a:lumMod val="75000"/>
                  </a:schemeClr>
                </a:solidFill>
              </a:rPr>
              <a:t>reactants may react</a:t>
            </a:r>
            <a:r>
              <a:rPr lang="en-GB" sz="2000" dirty="0">
                <a:solidFill>
                  <a:schemeClr val="accent6">
                    <a:lumMod val="75000"/>
                  </a:schemeClr>
                </a:solidFill>
              </a:rPr>
              <a:t> </a:t>
            </a:r>
            <a:r>
              <a:rPr lang="en-GB" sz="2000" b="1" dirty="0">
                <a:solidFill>
                  <a:schemeClr val="accent6">
                    <a:lumMod val="75000"/>
                  </a:schemeClr>
                </a:solidFill>
              </a:rPr>
              <a:t>in ways different to the expected </a:t>
            </a:r>
            <a:r>
              <a:rPr lang="en-GB" sz="2000" dirty="0"/>
              <a:t>reactions</a:t>
            </a:r>
          </a:p>
          <a:p>
            <a:pPr marL="285750" indent="-285750">
              <a:buFont typeface="Arial" panose="020B0604020202020204" pitchFamily="34" charset="0"/>
              <a:buChar char="•"/>
            </a:pPr>
            <a:endParaRPr lang="en-GB" sz="2000" b="1" dirty="0"/>
          </a:p>
          <a:p>
            <a:r>
              <a:rPr lang="en-GB" sz="2000" dirty="0"/>
              <a:t>The amount of </a:t>
            </a:r>
            <a:r>
              <a:rPr lang="en-GB" sz="2000" b="1" dirty="0"/>
              <a:t>product</a:t>
            </a:r>
            <a:r>
              <a:rPr lang="en-GB" sz="2000" dirty="0"/>
              <a:t> obtained is known as the </a:t>
            </a:r>
            <a:r>
              <a:rPr lang="en-GB" sz="2000" b="1" dirty="0">
                <a:solidFill>
                  <a:schemeClr val="accent6">
                    <a:lumMod val="75000"/>
                  </a:schemeClr>
                </a:solidFill>
              </a:rPr>
              <a:t>yield</a:t>
            </a:r>
            <a:r>
              <a:rPr lang="en-GB" sz="2000" dirty="0"/>
              <a:t>.  </a:t>
            </a:r>
          </a:p>
        </p:txBody>
      </p:sp>
      <p:pic>
        <p:nvPicPr>
          <p:cNvPr id="6" name="Picture 5">
            <a:extLst>
              <a:ext uri="{FF2B5EF4-FFF2-40B4-BE49-F238E27FC236}">
                <a16:creationId xmlns:a16="http://schemas.microsoft.com/office/drawing/2014/main" id="{8F7327C4-4B49-48F2-8B84-7B0C5E6A2B9A}"/>
              </a:ext>
            </a:extLst>
          </p:cNvPr>
          <p:cNvPicPr>
            <a:picLocks noChangeAspect="1"/>
          </p:cNvPicPr>
          <p:nvPr/>
        </p:nvPicPr>
        <p:blipFill>
          <a:blip r:embed="rId3">
            <a:duotone>
              <a:schemeClr val="accent6">
                <a:shade val="45000"/>
                <a:satMod val="135000"/>
              </a:schemeClr>
              <a:prstClr val="white"/>
            </a:duotone>
          </a:blip>
          <a:stretch>
            <a:fillRect/>
          </a:stretch>
        </p:blipFill>
        <p:spPr>
          <a:xfrm>
            <a:off x="4655790" y="1119118"/>
            <a:ext cx="4305300" cy="2124075"/>
          </a:xfrm>
          <a:prstGeom prst="rect">
            <a:avLst/>
          </a:prstGeom>
        </p:spPr>
      </p:pic>
      <p:sp>
        <p:nvSpPr>
          <p:cNvPr id="7" name="Content Placeholder 2">
            <a:extLst>
              <a:ext uri="{FF2B5EF4-FFF2-40B4-BE49-F238E27FC236}">
                <a16:creationId xmlns:a16="http://schemas.microsoft.com/office/drawing/2014/main" id="{1588D42E-5CA2-4337-9D54-7B0E421FB0EB}"/>
              </a:ext>
            </a:extLst>
          </p:cNvPr>
          <p:cNvSpPr txBox="1">
            <a:spLocks/>
          </p:cNvSpPr>
          <p:nvPr/>
        </p:nvSpPr>
        <p:spPr>
          <a:xfrm>
            <a:off x="4655790" y="3429000"/>
            <a:ext cx="4236690" cy="2588231"/>
          </a:xfrm>
          <a:prstGeom prst="rect">
            <a:avLst/>
          </a:prstGeom>
          <a:solidFill>
            <a:schemeClr val="accent6">
              <a:lumMod val="20000"/>
              <a:lumOff val="80000"/>
            </a:schemeClr>
          </a:solidFill>
          <a:ln>
            <a:solidFill>
              <a:schemeClr val="accent6">
                <a:lumMod val="75000"/>
                <a:alpha val="80000"/>
              </a:schemeClr>
            </a:solidFill>
          </a:ln>
        </p:spPr>
        <p:txBody>
          <a:bodyPr vert="horz" lIns="91440" tIns="45720" rIns="91440" bIns="45720" rtlCol="0">
            <a:noAutofit/>
          </a:bodyPr>
          <a:lstStyle>
            <a:lvl1pPr marL="0" indent="0" algn="ctr" defTabSz="342900" rtl="0" eaLnBrk="1" latinLnBrk="0" hangingPunct="1">
              <a:spcBef>
                <a:spcPct val="20000"/>
              </a:spcBef>
              <a:buFont typeface="Arial"/>
              <a:buNone/>
              <a:defRPr sz="2400" kern="1200">
                <a:solidFill>
                  <a:schemeClr val="tx1">
                    <a:tint val="75000"/>
                  </a:schemeClr>
                </a:solidFill>
                <a:latin typeface="News Gothic MT"/>
                <a:ea typeface="+mn-ea"/>
                <a:cs typeface="News Gothic MT"/>
              </a:defRPr>
            </a:lvl1pPr>
            <a:lvl2pPr marL="342900" indent="0" algn="ctr" defTabSz="342900" rtl="0" eaLnBrk="1" latinLnBrk="0" hangingPunct="1">
              <a:spcBef>
                <a:spcPct val="20000"/>
              </a:spcBef>
              <a:buFont typeface="Arial"/>
              <a:buNone/>
              <a:defRPr sz="2100" kern="1200">
                <a:solidFill>
                  <a:schemeClr val="tx1">
                    <a:tint val="75000"/>
                  </a:schemeClr>
                </a:solidFill>
                <a:latin typeface="+mn-lt"/>
                <a:ea typeface="+mn-ea"/>
                <a:cs typeface="News Gothic MT"/>
              </a:defRPr>
            </a:lvl2pPr>
            <a:lvl3pPr marL="685800" indent="0" algn="ctr" defTabSz="342900" rtl="0" eaLnBrk="1" latinLnBrk="0" hangingPunct="1">
              <a:spcBef>
                <a:spcPct val="20000"/>
              </a:spcBef>
              <a:buFont typeface="Arial"/>
              <a:buNone/>
              <a:defRPr sz="1800" kern="1200">
                <a:solidFill>
                  <a:schemeClr val="tx1">
                    <a:tint val="75000"/>
                  </a:schemeClr>
                </a:solidFill>
                <a:latin typeface="+mn-lt"/>
                <a:ea typeface="+mn-ea"/>
                <a:cs typeface="News Gothic MT"/>
              </a:defRPr>
            </a:lvl3pPr>
            <a:lvl4pPr marL="1028700" indent="0" algn="ctr" defTabSz="342900" rtl="0" eaLnBrk="1" latinLnBrk="0" hangingPunct="1">
              <a:spcBef>
                <a:spcPct val="20000"/>
              </a:spcBef>
              <a:buFont typeface="Arial"/>
              <a:buNone/>
              <a:defRPr sz="1500" kern="1200">
                <a:solidFill>
                  <a:schemeClr val="tx1">
                    <a:tint val="75000"/>
                  </a:schemeClr>
                </a:solidFill>
                <a:latin typeface="+mn-lt"/>
                <a:ea typeface="+mn-ea"/>
                <a:cs typeface="News Gothic MT"/>
              </a:defRPr>
            </a:lvl4pPr>
            <a:lvl5pPr marL="1371600" indent="0" algn="ctr" defTabSz="342900" rtl="0" eaLnBrk="1" latinLnBrk="0" hangingPunct="1">
              <a:spcBef>
                <a:spcPct val="20000"/>
              </a:spcBef>
              <a:buFont typeface="Arial"/>
              <a:buNone/>
              <a:defRPr sz="1500" kern="1200">
                <a:solidFill>
                  <a:schemeClr val="tx1">
                    <a:tint val="75000"/>
                  </a:schemeClr>
                </a:solidFill>
                <a:latin typeface="+mn-lt"/>
                <a:ea typeface="+mn-ea"/>
                <a:cs typeface="News Gothic MT"/>
              </a:defRPr>
            </a:lvl5pPr>
            <a:lvl6pPr marL="17145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6pPr>
            <a:lvl7pPr marL="20574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7pPr>
            <a:lvl8pPr marL="24003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8pPr>
            <a:lvl9pPr marL="27432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9pPr>
          </a:lstStyle>
          <a:p>
            <a:r>
              <a:rPr lang="en-GB" sz="2000" dirty="0">
                <a:solidFill>
                  <a:schemeClr val="tx1"/>
                </a:solidFill>
                <a:latin typeface="+mn-lt"/>
              </a:rPr>
              <a:t>The </a:t>
            </a:r>
            <a:r>
              <a:rPr lang="en-GB" sz="2000" b="1" dirty="0">
                <a:solidFill>
                  <a:schemeClr val="tx1"/>
                </a:solidFill>
                <a:latin typeface="+mn-lt"/>
              </a:rPr>
              <a:t>theoretical yield </a:t>
            </a:r>
            <a:r>
              <a:rPr lang="en-GB" sz="2000" dirty="0">
                <a:solidFill>
                  <a:schemeClr val="tx1"/>
                </a:solidFill>
                <a:latin typeface="+mn-lt"/>
              </a:rPr>
              <a:t>is the </a:t>
            </a:r>
            <a:r>
              <a:rPr lang="en-GB" sz="2000" b="1" dirty="0">
                <a:solidFill>
                  <a:schemeClr val="tx1"/>
                </a:solidFill>
                <a:latin typeface="+mn-lt"/>
              </a:rPr>
              <a:t>maximum </a:t>
            </a:r>
            <a:r>
              <a:rPr lang="en-GB" sz="2000" dirty="0">
                <a:solidFill>
                  <a:schemeClr val="tx1"/>
                </a:solidFill>
                <a:latin typeface="+mn-lt"/>
              </a:rPr>
              <a:t>calculated amount of a </a:t>
            </a:r>
            <a:r>
              <a:rPr lang="en-GB" sz="2000" b="1" dirty="0">
                <a:solidFill>
                  <a:schemeClr val="tx1"/>
                </a:solidFill>
                <a:latin typeface="+mn-lt"/>
              </a:rPr>
              <a:t>product</a:t>
            </a:r>
            <a:r>
              <a:rPr lang="en-GB" sz="2000" dirty="0">
                <a:solidFill>
                  <a:schemeClr val="tx1"/>
                </a:solidFill>
                <a:latin typeface="+mn-lt"/>
              </a:rPr>
              <a:t> that could be formed from a </a:t>
            </a:r>
            <a:r>
              <a:rPr lang="en-GB" sz="2000" b="1" dirty="0">
                <a:solidFill>
                  <a:schemeClr val="tx1"/>
                </a:solidFill>
                <a:latin typeface="+mn-lt"/>
              </a:rPr>
              <a:t>given amount</a:t>
            </a:r>
            <a:r>
              <a:rPr lang="en-GB" sz="2000" dirty="0">
                <a:solidFill>
                  <a:schemeClr val="tx1"/>
                </a:solidFill>
                <a:latin typeface="+mn-lt"/>
              </a:rPr>
              <a:t> of </a:t>
            </a:r>
            <a:r>
              <a:rPr lang="en-GB" sz="2000" b="1" dirty="0">
                <a:solidFill>
                  <a:schemeClr val="tx1"/>
                </a:solidFill>
                <a:latin typeface="+mn-lt"/>
              </a:rPr>
              <a:t>reactants</a:t>
            </a:r>
            <a:r>
              <a:rPr lang="en-GB" sz="2000" dirty="0">
                <a:solidFill>
                  <a:schemeClr val="tx1"/>
                </a:solidFill>
                <a:latin typeface="+mn-lt"/>
              </a:rPr>
              <a:t>.</a:t>
            </a:r>
          </a:p>
          <a:p>
            <a:endParaRPr lang="en-GB" sz="2000" dirty="0">
              <a:solidFill>
                <a:schemeClr val="tx1"/>
              </a:solidFill>
              <a:latin typeface="+mn-lt"/>
            </a:endParaRPr>
          </a:p>
          <a:p>
            <a:r>
              <a:rPr lang="en-GB" sz="2000" dirty="0">
                <a:solidFill>
                  <a:schemeClr val="tx1"/>
                </a:solidFill>
                <a:latin typeface="+mn-lt"/>
              </a:rPr>
              <a:t>The </a:t>
            </a:r>
            <a:r>
              <a:rPr lang="en-GB" sz="2000" b="1" dirty="0">
                <a:solidFill>
                  <a:schemeClr val="tx1"/>
                </a:solidFill>
                <a:latin typeface="+mn-lt"/>
              </a:rPr>
              <a:t>actual yield </a:t>
            </a:r>
            <a:r>
              <a:rPr lang="en-GB" sz="2000" dirty="0">
                <a:solidFill>
                  <a:schemeClr val="tx1"/>
                </a:solidFill>
                <a:latin typeface="+mn-lt"/>
              </a:rPr>
              <a:t>is the </a:t>
            </a:r>
            <a:r>
              <a:rPr lang="en-GB" sz="2000" b="1" dirty="0">
                <a:solidFill>
                  <a:schemeClr val="tx1"/>
                </a:solidFill>
                <a:latin typeface="+mn-lt"/>
              </a:rPr>
              <a:t>actual</a:t>
            </a:r>
            <a:r>
              <a:rPr lang="en-GB" sz="2000" dirty="0">
                <a:solidFill>
                  <a:schemeClr val="tx1"/>
                </a:solidFill>
                <a:latin typeface="+mn-lt"/>
              </a:rPr>
              <a:t> amount of </a:t>
            </a:r>
            <a:r>
              <a:rPr lang="en-GB" sz="2000" b="1" dirty="0">
                <a:solidFill>
                  <a:schemeClr val="tx1"/>
                </a:solidFill>
                <a:latin typeface="+mn-lt"/>
              </a:rPr>
              <a:t>product </a:t>
            </a:r>
            <a:r>
              <a:rPr lang="en-GB" sz="2000" dirty="0">
                <a:solidFill>
                  <a:schemeClr val="tx1"/>
                </a:solidFill>
                <a:latin typeface="+mn-lt"/>
              </a:rPr>
              <a:t>obtained from a</a:t>
            </a:r>
            <a:r>
              <a:rPr lang="en-GB" sz="2000" b="1" dirty="0">
                <a:solidFill>
                  <a:schemeClr val="tx1"/>
                </a:solidFill>
                <a:latin typeface="+mn-lt"/>
              </a:rPr>
              <a:t> chemical </a:t>
            </a:r>
            <a:r>
              <a:rPr lang="en-GB" sz="2000" dirty="0">
                <a:solidFill>
                  <a:schemeClr val="tx1"/>
                </a:solidFill>
                <a:latin typeface="+mn-lt"/>
              </a:rPr>
              <a:t>reaction</a:t>
            </a:r>
            <a:r>
              <a:rPr lang="en-GB" sz="1800" dirty="0">
                <a:solidFill>
                  <a:schemeClr val="tx1"/>
                </a:solidFill>
                <a:latin typeface="+mn-lt"/>
              </a:rPr>
              <a:t>.</a:t>
            </a:r>
          </a:p>
        </p:txBody>
      </p:sp>
    </p:spTree>
    <p:extLst>
      <p:ext uri="{BB962C8B-B14F-4D97-AF65-F5344CB8AC3E}">
        <p14:creationId xmlns:p14="http://schemas.microsoft.com/office/powerpoint/2010/main" val="17400997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Yield</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Content Placeholder 2">
            <a:extLst>
              <a:ext uri="{FF2B5EF4-FFF2-40B4-BE49-F238E27FC236}">
                <a16:creationId xmlns:a16="http://schemas.microsoft.com/office/drawing/2014/main" id="{4C12A6B0-87FC-4B65-B3B4-0F13D84A3536}"/>
              </a:ext>
            </a:extLst>
          </p:cNvPr>
          <p:cNvSpPr txBox="1">
            <a:spLocks/>
          </p:cNvSpPr>
          <p:nvPr/>
        </p:nvSpPr>
        <p:spPr>
          <a:xfrm>
            <a:off x="251520" y="732275"/>
            <a:ext cx="8640960" cy="1651900"/>
          </a:xfrm>
          <a:prstGeom prst="rect">
            <a:avLst/>
          </a:prstGeom>
          <a:solidFill>
            <a:schemeClr val="accent6">
              <a:lumMod val="20000"/>
              <a:lumOff val="80000"/>
            </a:schemeClr>
          </a:solidFill>
          <a:ln>
            <a:solidFill>
              <a:schemeClr val="accent6">
                <a:lumMod val="75000"/>
                <a:alpha val="80000"/>
              </a:schemeClr>
            </a:solidFill>
          </a:ln>
        </p:spPr>
        <p:txBody>
          <a:bodyPr vert="horz" lIns="91440" tIns="45720" rIns="91440" bIns="45720" rtlCol="0">
            <a:noAutofit/>
          </a:bodyPr>
          <a:lstStyle>
            <a:lvl1pPr marL="0" indent="0" algn="ctr" defTabSz="342900" rtl="0" eaLnBrk="1" latinLnBrk="0" hangingPunct="1">
              <a:spcBef>
                <a:spcPct val="20000"/>
              </a:spcBef>
              <a:buFont typeface="Arial"/>
              <a:buNone/>
              <a:defRPr sz="2400" kern="1200">
                <a:solidFill>
                  <a:schemeClr val="tx1">
                    <a:tint val="75000"/>
                  </a:schemeClr>
                </a:solidFill>
                <a:latin typeface="News Gothic MT"/>
                <a:ea typeface="+mn-ea"/>
                <a:cs typeface="News Gothic MT"/>
              </a:defRPr>
            </a:lvl1pPr>
            <a:lvl2pPr marL="342900" indent="0" algn="ctr" defTabSz="342900" rtl="0" eaLnBrk="1" latinLnBrk="0" hangingPunct="1">
              <a:spcBef>
                <a:spcPct val="20000"/>
              </a:spcBef>
              <a:buFont typeface="Arial"/>
              <a:buNone/>
              <a:defRPr sz="2100" kern="1200">
                <a:solidFill>
                  <a:schemeClr val="tx1">
                    <a:tint val="75000"/>
                  </a:schemeClr>
                </a:solidFill>
                <a:latin typeface="+mn-lt"/>
                <a:ea typeface="+mn-ea"/>
                <a:cs typeface="News Gothic MT"/>
              </a:defRPr>
            </a:lvl2pPr>
            <a:lvl3pPr marL="685800" indent="0" algn="ctr" defTabSz="342900" rtl="0" eaLnBrk="1" latinLnBrk="0" hangingPunct="1">
              <a:spcBef>
                <a:spcPct val="20000"/>
              </a:spcBef>
              <a:buFont typeface="Arial"/>
              <a:buNone/>
              <a:defRPr sz="1800" kern="1200">
                <a:solidFill>
                  <a:schemeClr val="tx1">
                    <a:tint val="75000"/>
                  </a:schemeClr>
                </a:solidFill>
                <a:latin typeface="+mn-lt"/>
                <a:ea typeface="+mn-ea"/>
                <a:cs typeface="News Gothic MT"/>
              </a:defRPr>
            </a:lvl3pPr>
            <a:lvl4pPr marL="1028700" indent="0" algn="ctr" defTabSz="342900" rtl="0" eaLnBrk="1" latinLnBrk="0" hangingPunct="1">
              <a:spcBef>
                <a:spcPct val="20000"/>
              </a:spcBef>
              <a:buFont typeface="Arial"/>
              <a:buNone/>
              <a:defRPr sz="1500" kern="1200">
                <a:solidFill>
                  <a:schemeClr val="tx1">
                    <a:tint val="75000"/>
                  </a:schemeClr>
                </a:solidFill>
                <a:latin typeface="+mn-lt"/>
                <a:ea typeface="+mn-ea"/>
                <a:cs typeface="News Gothic MT"/>
              </a:defRPr>
            </a:lvl4pPr>
            <a:lvl5pPr marL="1371600" indent="0" algn="ctr" defTabSz="342900" rtl="0" eaLnBrk="1" latinLnBrk="0" hangingPunct="1">
              <a:spcBef>
                <a:spcPct val="20000"/>
              </a:spcBef>
              <a:buFont typeface="Arial"/>
              <a:buNone/>
              <a:defRPr sz="1500" kern="1200">
                <a:solidFill>
                  <a:schemeClr val="tx1">
                    <a:tint val="75000"/>
                  </a:schemeClr>
                </a:solidFill>
                <a:latin typeface="+mn-lt"/>
                <a:ea typeface="+mn-ea"/>
                <a:cs typeface="News Gothic MT"/>
              </a:defRPr>
            </a:lvl5pPr>
            <a:lvl6pPr marL="17145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6pPr>
            <a:lvl7pPr marL="20574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7pPr>
            <a:lvl8pPr marL="24003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8pPr>
            <a:lvl9pPr marL="27432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9pPr>
          </a:lstStyle>
          <a:p>
            <a:pPr algn="l"/>
            <a:r>
              <a:rPr lang="en-GB" sz="2000" dirty="0">
                <a:solidFill>
                  <a:schemeClr val="tx1"/>
                </a:solidFill>
                <a:latin typeface="+mn-lt"/>
              </a:rPr>
              <a:t>When</a:t>
            </a:r>
            <a:r>
              <a:rPr lang="en-GB" sz="2000" b="1" dirty="0">
                <a:solidFill>
                  <a:schemeClr val="tx1"/>
                </a:solidFill>
                <a:latin typeface="+mn-lt"/>
              </a:rPr>
              <a:t> compared </a:t>
            </a:r>
            <a:r>
              <a:rPr lang="en-GB" sz="2000" dirty="0">
                <a:solidFill>
                  <a:schemeClr val="tx1"/>
                </a:solidFill>
                <a:latin typeface="+mn-lt"/>
              </a:rPr>
              <a:t>with the </a:t>
            </a:r>
            <a:r>
              <a:rPr lang="en-GB" sz="2000" b="1" dirty="0">
                <a:solidFill>
                  <a:schemeClr val="tx1"/>
                </a:solidFill>
                <a:latin typeface="+mn-lt"/>
              </a:rPr>
              <a:t>maximum theoretical </a:t>
            </a:r>
            <a:r>
              <a:rPr lang="en-GB" sz="2000" dirty="0">
                <a:solidFill>
                  <a:schemeClr val="tx1"/>
                </a:solidFill>
                <a:latin typeface="+mn-lt"/>
              </a:rPr>
              <a:t>amount as a </a:t>
            </a:r>
            <a:r>
              <a:rPr lang="en-GB" sz="2000" b="1" dirty="0">
                <a:solidFill>
                  <a:schemeClr val="tx1"/>
                </a:solidFill>
                <a:latin typeface="+mn-lt"/>
              </a:rPr>
              <a:t>percentage</a:t>
            </a:r>
            <a:r>
              <a:rPr lang="en-GB" sz="2000" dirty="0">
                <a:solidFill>
                  <a:schemeClr val="tx1"/>
                </a:solidFill>
                <a:latin typeface="+mn-lt"/>
              </a:rPr>
              <a:t>, it is called the </a:t>
            </a:r>
            <a:r>
              <a:rPr lang="en-GB" sz="2000" b="1" dirty="0">
                <a:solidFill>
                  <a:schemeClr val="tx1"/>
                </a:solidFill>
                <a:latin typeface="+mn-lt"/>
              </a:rPr>
              <a:t>percentage yield </a:t>
            </a:r>
            <a:r>
              <a:rPr lang="en-GB" sz="2000" dirty="0">
                <a:solidFill>
                  <a:schemeClr val="tx1"/>
                </a:solidFill>
                <a:latin typeface="+mn-lt"/>
              </a:rPr>
              <a:t>and is calculated as:                                          </a:t>
            </a:r>
          </a:p>
          <a:p>
            <a:pPr algn="l"/>
            <a:r>
              <a:rPr lang="en-GB" sz="2000" b="1" dirty="0">
                <a:solidFill>
                  <a:schemeClr val="accent6">
                    <a:lumMod val="75000"/>
                  </a:schemeClr>
                </a:solidFill>
                <a:latin typeface="+mn-lt"/>
              </a:rPr>
              <a:t>               percentage yield = </a:t>
            </a:r>
            <a:r>
              <a:rPr lang="en-GB" sz="2000" b="1" u="sng" dirty="0">
                <a:solidFill>
                  <a:schemeClr val="accent6">
                    <a:lumMod val="75000"/>
                  </a:schemeClr>
                </a:solidFill>
                <a:latin typeface="+mn-lt"/>
              </a:rPr>
              <a:t>    mass of product actually made       </a:t>
            </a:r>
            <a:r>
              <a:rPr lang="en-GB" sz="2000" b="1" dirty="0">
                <a:solidFill>
                  <a:schemeClr val="accent6">
                    <a:lumMod val="75000"/>
                  </a:schemeClr>
                </a:solidFill>
                <a:latin typeface="+mn-lt"/>
              </a:rPr>
              <a:t>   x    100</a:t>
            </a:r>
          </a:p>
          <a:p>
            <a:pPr algn="l"/>
            <a:r>
              <a:rPr lang="en-GB" sz="2000" b="1" dirty="0">
                <a:solidFill>
                  <a:schemeClr val="accent6">
                    <a:lumMod val="75000"/>
                  </a:schemeClr>
                </a:solidFill>
                <a:latin typeface="+mn-lt"/>
              </a:rPr>
              <a:t>                                               maximum theoretical mass of product</a:t>
            </a:r>
          </a:p>
        </p:txBody>
      </p:sp>
      <p:sp>
        <p:nvSpPr>
          <p:cNvPr id="7" name="Content Placeholder 2">
            <a:extLst>
              <a:ext uri="{FF2B5EF4-FFF2-40B4-BE49-F238E27FC236}">
                <a16:creationId xmlns:a16="http://schemas.microsoft.com/office/drawing/2014/main" id="{446E6FEA-7B26-4FD1-A966-4EE3DD7091BF}"/>
              </a:ext>
            </a:extLst>
          </p:cNvPr>
          <p:cNvSpPr txBox="1">
            <a:spLocks/>
          </p:cNvSpPr>
          <p:nvPr/>
        </p:nvSpPr>
        <p:spPr>
          <a:xfrm>
            <a:off x="251520" y="2423754"/>
            <a:ext cx="4032448" cy="4029582"/>
          </a:xfrm>
          <a:prstGeom prst="rect">
            <a:avLst/>
          </a:prstGeom>
          <a:solidFill>
            <a:schemeClr val="accent6">
              <a:lumMod val="20000"/>
              <a:lumOff val="80000"/>
            </a:schemeClr>
          </a:solidFill>
          <a:ln>
            <a:solidFill>
              <a:schemeClr val="accent6">
                <a:lumMod val="75000"/>
                <a:alpha val="80000"/>
              </a:schemeClr>
            </a:solidFill>
          </a:ln>
        </p:spPr>
        <p:txBody>
          <a:bodyPr vert="horz" lIns="91440" tIns="45720" rIns="91440" bIns="45720" rtlCol="0">
            <a:noAutofit/>
          </a:bodyPr>
          <a:lstStyle>
            <a:lvl1pPr marL="0" indent="0" algn="ctr" defTabSz="342900" rtl="0" eaLnBrk="1" latinLnBrk="0" hangingPunct="1">
              <a:spcBef>
                <a:spcPct val="20000"/>
              </a:spcBef>
              <a:buFont typeface="Arial"/>
              <a:buNone/>
              <a:defRPr sz="2400" kern="1200">
                <a:solidFill>
                  <a:schemeClr val="tx1">
                    <a:tint val="75000"/>
                  </a:schemeClr>
                </a:solidFill>
                <a:latin typeface="News Gothic MT"/>
                <a:ea typeface="+mn-ea"/>
                <a:cs typeface="News Gothic MT"/>
              </a:defRPr>
            </a:lvl1pPr>
            <a:lvl2pPr marL="342900" indent="0" algn="ctr" defTabSz="342900" rtl="0" eaLnBrk="1" latinLnBrk="0" hangingPunct="1">
              <a:spcBef>
                <a:spcPct val="20000"/>
              </a:spcBef>
              <a:buFont typeface="Arial"/>
              <a:buNone/>
              <a:defRPr sz="2100" kern="1200">
                <a:solidFill>
                  <a:schemeClr val="tx1">
                    <a:tint val="75000"/>
                  </a:schemeClr>
                </a:solidFill>
                <a:latin typeface="+mn-lt"/>
                <a:ea typeface="+mn-ea"/>
                <a:cs typeface="News Gothic MT"/>
              </a:defRPr>
            </a:lvl2pPr>
            <a:lvl3pPr marL="685800" indent="0" algn="ctr" defTabSz="342900" rtl="0" eaLnBrk="1" latinLnBrk="0" hangingPunct="1">
              <a:spcBef>
                <a:spcPct val="20000"/>
              </a:spcBef>
              <a:buFont typeface="Arial"/>
              <a:buNone/>
              <a:defRPr sz="1800" kern="1200">
                <a:solidFill>
                  <a:schemeClr val="tx1">
                    <a:tint val="75000"/>
                  </a:schemeClr>
                </a:solidFill>
                <a:latin typeface="+mn-lt"/>
                <a:ea typeface="+mn-ea"/>
                <a:cs typeface="News Gothic MT"/>
              </a:defRPr>
            </a:lvl3pPr>
            <a:lvl4pPr marL="1028700" indent="0" algn="ctr" defTabSz="342900" rtl="0" eaLnBrk="1" latinLnBrk="0" hangingPunct="1">
              <a:spcBef>
                <a:spcPct val="20000"/>
              </a:spcBef>
              <a:buFont typeface="Arial"/>
              <a:buNone/>
              <a:defRPr sz="1500" kern="1200">
                <a:solidFill>
                  <a:schemeClr val="tx1">
                    <a:tint val="75000"/>
                  </a:schemeClr>
                </a:solidFill>
                <a:latin typeface="+mn-lt"/>
                <a:ea typeface="+mn-ea"/>
                <a:cs typeface="News Gothic MT"/>
              </a:defRPr>
            </a:lvl4pPr>
            <a:lvl5pPr marL="1371600" indent="0" algn="ctr" defTabSz="342900" rtl="0" eaLnBrk="1" latinLnBrk="0" hangingPunct="1">
              <a:spcBef>
                <a:spcPct val="20000"/>
              </a:spcBef>
              <a:buFont typeface="Arial"/>
              <a:buNone/>
              <a:defRPr sz="1500" kern="1200">
                <a:solidFill>
                  <a:schemeClr val="tx1">
                    <a:tint val="75000"/>
                  </a:schemeClr>
                </a:solidFill>
                <a:latin typeface="+mn-lt"/>
                <a:ea typeface="+mn-ea"/>
                <a:cs typeface="News Gothic MT"/>
              </a:defRPr>
            </a:lvl5pPr>
            <a:lvl6pPr marL="17145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6pPr>
            <a:lvl7pPr marL="20574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7pPr>
            <a:lvl8pPr marL="24003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8pPr>
            <a:lvl9pPr marL="27432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9pPr>
          </a:lstStyle>
          <a:p>
            <a:r>
              <a:rPr lang="en-GB" sz="2000" dirty="0">
                <a:solidFill>
                  <a:schemeClr val="tx1"/>
                </a:solidFill>
                <a:latin typeface="+mn-lt"/>
              </a:rPr>
              <a:t>A piece of sodium metal is heated in chlorine gas. A maximum theoretical mass of 10g for sodium chloride was calculated, but the actual yield was only 8g. </a:t>
            </a:r>
          </a:p>
          <a:p>
            <a:r>
              <a:rPr lang="en-GB" sz="2000" i="1" dirty="0">
                <a:solidFill>
                  <a:schemeClr val="tx1"/>
                </a:solidFill>
                <a:latin typeface="+mn-lt"/>
              </a:rPr>
              <a:t>Calculate the percentage yield. </a:t>
            </a:r>
          </a:p>
          <a:p>
            <a:r>
              <a:rPr lang="en-GB" sz="2000" dirty="0">
                <a:solidFill>
                  <a:schemeClr val="tx1"/>
                </a:solidFill>
              </a:rPr>
              <a:t>                                         </a:t>
            </a:r>
          </a:p>
          <a:p>
            <a:pPr algn="l"/>
            <a:r>
              <a:rPr lang="en-GB" sz="2000" b="1" dirty="0">
                <a:solidFill>
                  <a:schemeClr val="accent6">
                    <a:lumMod val="75000"/>
                  </a:schemeClr>
                </a:solidFill>
                <a:latin typeface="+mn-lt"/>
              </a:rPr>
              <a:t>   percentage</a:t>
            </a:r>
            <a:r>
              <a:rPr lang="en-GB" sz="2000" b="1" dirty="0">
                <a:solidFill>
                  <a:schemeClr val="accent6">
                    <a:lumMod val="75000"/>
                  </a:schemeClr>
                </a:solidFill>
              </a:rPr>
              <a:t> </a:t>
            </a:r>
            <a:r>
              <a:rPr lang="en-GB" sz="2000" b="1" dirty="0">
                <a:solidFill>
                  <a:schemeClr val="accent6">
                    <a:lumMod val="75000"/>
                  </a:schemeClr>
                </a:solidFill>
                <a:latin typeface="+mn-lt"/>
              </a:rPr>
              <a:t>yield = 8/10 x 100</a:t>
            </a:r>
          </a:p>
          <a:p>
            <a:pPr algn="l"/>
            <a:r>
              <a:rPr lang="en-GB" sz="2000" b="1" dirty="0">
                <a:solidFill>
                  <a:schemeClr val="accent6">
                    <a:lumMod val="75000"/>
                  </a:schemeClr>
                </a:solidFill>
                <a:latin typeface="+mn-lt"/>
              </a:rPr>
              <a:t>                                   = 80%</a:t>
            </a:r>
          </a:p>
          <a:p>
            <a:r>
              <a:rPr lang="en-GB" sz="2000" dirty="0">
                <a:solidFill>
                  <a:schemeClr val="tx1"/>
                </a:solidFill>
                <a:latin typeface="+mn-lt"/>
              </a:rPr>
              <a:t>This means the percentage yield is 80%</a:t>
            </a:r>
            <a:endParaRPr lang="en-GB" sz="2000" b="1" u="sng" dirty="0">
              <a:solidFill>
                <a:schemeClr val="tx1"/>
              </a:solidFill>
              <a:latin typeface="+mn-lt"/>
            </a:endParaRPr>
          </a:p>
          <a:p>
            <a:pPr algn="l"/>
            <a:endParaRPr lang="en-GB" sz="1800" b="1" dirty="0">
              <a:solidFill>
                <a:schemeClr val="accent6">
                  <a:lumMod val="75000"/>
                </a:schemeClr>
              </a:solidFill>
              <a:latin typeface="+mn-lt"/>
            </a:endParaRPr>
          </a:p>
        </p:txBody>
      </p:sp>
      <p:sp>
        <p:nvSpPr>
          <p:cNvPr id="9" name="Content Placeholder 2">
            <a:extLst>
              <a:ext uri="{FF2B5EF4-FFF2-40B4-BE49-F238E27FC236}">
                <a16:creationId xmlns:a16="http://schemas.microsoft.com/office/drawing/2014/main" id="{E7FC654E-07B8-450F-A5CE-BA2E97E9DC20}"/>
              </a:ext>
            </a:extLst>
          </p:cNvPr>
          <p:cNvSpPr txBox="1">
            <a:spLocks/>
          </p:cNvSpPr>
          <p:nvPr/>
        </p:nvSpPr>
        <p:spPr>
          <a:xfrm>
            <a:off x="4419600" y="2423754"/>
            <a:ext cx="4472880" cy="4029582"/>
          </a:xfrm>
          <a:prstGeom prst="rect">
            <a:avLst/>
          </a:prstGeom>
          <a:solidFill>
            <a:schemeClr val="accent6">
              <a:lumMod val="20000"/>
              <a:lumOff val="80000"/>
            </a:schemeClr>
          </a:solidFill>
          <a:ln>
            <a:solidFill>
              <a:schemeClr val="accent6">
                <a:lumMod val="75000"/>
                <a:alpha val="80000"/>
              </a:schemeClr>
            </a:solidFill>
          </a:ln>
        </p:spPr>
        <p:txBody>
          <a:bodyPr vert="horz" lIns="91440" tIns="45720" rIns="91440" bIns="45720" rtlCol="0">
            <a:noAutofit/>
          </a:bodyPr>
          <a:lstStyle>
            <a:lvl1pPr marL="0" indent="0" algn="ctr" defTabSz="342900" rtl="0" eaLnBrk="1" latinLnBrk="0" hangingPunct="1">
              <a:spcBef>
                <a:spcPct val="20000"/>
              </a:spcBef>
              <a:buFont typeface="Arial"/>
              <a:buNone/>
              <a:defRPr sz="2400" kern="1200">
                <a:solidFill>
                  <a:schemeClr val="tx1">
                    <a:tint val="75000"/>
                  </a:schemeClr>
                </a:solidFill>
                <a:latin typeface="News Gothic MT"/>
                <a:ea typeface="+mn-ea"/>
                <a:cs typeface="News Gothic MT"/>
              </a:defRPr>
            </a:lvl1pPr>
            <a:lvl2pPr marL="342900" indent="0" algn="ctr" defTabSz="342900" rtl="0" eaLnBrk="1" latinLnBrk="0" hangingPunct="1">
              <a:spcBef>
                <a:spcPct val="20000"/>
              </a:spcBef>
              <a:buFont typeface="Arial"/>
              <a:buNone/>
              <a:defRPr sz="2100" kern="1200">
                <a:solidFill>
                  <a:schemeClr val="tx1">
                    <a:tint val="75000"/>
                  </a:schemeClr>
                </a:solidFill>
                <a:latin typeface="+mn-lt"/>
                <a:ea typeface="+mn-ea"/>
                <a:cs typeface="News Gothic MT"/>
              </a:defRPr>
            </a:lvl2pPr>
            <a:lvl3pPr marL="685800" indent="0" algn="ctr" defTabSz="342900" rtl="0" eaLnBrk="1" latinLnBrk="0" hangingPunct="1">
              <a:spcBef>
                <a:spcPct val="20000"/>
              </a:spcBef>
              <a:buFont typeface="Arial"/>
              <a:buNone/>
              <a:defRPr sz="1800" kern="1200">
                <a:solidFill>
                  <a:schemeClr val="tx1">
                    <a:tint val="75000"/>
                  </a:schemeClr>
                </a:solidFill>
                <a:latin typeface="+mn-lt"/>
                <a:ea typeface="+mn-ea"/>
                <a:cs typeface="News Gothic MT"/>
              </a:defRPr>
            </a:lvl3pPr>
            <a:lvl4pPr marL="1028700" indent="0" algn="ctr" defTabSz="342900" rtl="0" eaLnBrk="1" latinLnBrk="0" hangingPunct="1">
              <a:spcBef>
                <a:spcPct val="20000"/>
              </a:spcBef>
              <a:buFont typeface="Arial"/>
              <a:buNone/>
              <a:defRPr sz="1500" kern="1200">
                <a:solidFill>
                  <a:schemeClr val="tx1">
                    <a:tint val="75000"/>
                  </a:schemeClr>
                </a:solidFill>
                <a:latin typeface="+mn-lt"/>
                <a:ea typeface="+mn-ea"/>
                <a:cs typeface="News Gothic MT"/>
              </a:defRPr>
            </a:lvl4pPr>
            <a:lvl5pPr marL="1371600" indent="0" algn="ctr" defTabSz="342900" rtl="0" eaLnBrk="1" latinLnBrk="0" hangingPunct="1">
              <a:spcBef>
                <a:spcPct val="20000"/>
              </a:spcBef>
              <a:buFont typeface="Arial"/>
              <a:buNone/>
              <a:defRPr sz="1500" kern="1200">
                <a:solidFill>
                  <a:schemeClr val="tx1">
                    <a:tint val="75000"/>
                  </a:schemeClr>
                </a:solidFill>
                <a:latin typeface="+mn-lt"/>
                <a:ea typeface="+mn-ea"/>
                <a:cs typeface="News Gothic MT"/>
              </a:defRPr>
            </a:lvl5pPr>
            <a:lvl6pPr marL="17145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6pPr>
            <a:lvl7pPr marL="20574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7pPr>
            <a:lvl8pPr marL="24003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8pPr>
            <a:lvl9pPr marL="27432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9pPr>
          </a:lstStyle>
          <a:p>
            <a:pPr algn="l"/>
            <a:r>
              <a:rPr lang="en-GB" sz="2000" b="1" dirty="0">
                <a:solidFill>
                  <a:schemeClr val="tx1"/>
                </a:solidFill>
                <a:latin typeface="+mn-lt"/>
              </a:rPr>
              <a:t>HIGHER:</a:t>
            </a:r>
          </a:p>
          <a:p>
            <a:r>
              <a:rPr lang="en-GB" sz="2000" dirty="0">
                <a:solidFill>
                  <a:schemeClr val="tx1"/>
                </a:solidFill>
                <a:latin typeface="+mn-lt"/>
              </a:rPr>
              <a:t>200g of calcium carbonate is heated. It decomposes to make calcium oxide and carbon dioxide. </a:t>
            </a:r>
            <a:r>
              <a:rPr lang="en-GB" sz="2000" i="1" dirty="0">
                <a:solidFill>
                  <a:schemeClr val="tx1"/>
                </a:solidFill>
                <a:latin typeface="+mn-lt"/>
              </a:rPr>
              <a:t>Calculate the theoretical mass of calcium oxide made.</a:t>
            </a:r>
          </a:p>
          <a:p>
            <a:r>
              <a:rPr lang="en-GB" sz="2000" dirty="0">
                <a:solidFill>
                  <a:schemeClr val="tx1"/>
                </a:solidFill>
              </a:rPr>
              <a:t>                                          </a:t>
            </a:r>
          </a:p>
          <a:p>
            <a:pPr algn="l"/>
            <a:r>
              <a:rPr lang="en-GB" sz="2000" b="1" dirty="0">
                <a:solidFill>
                  <a:schemeClr val="accent6">
                    <a:lumMod val="75000"/>
                  </a:schemeClr>
                </a:solidFill>
                <a:latin typeface="+mn-lt"/>
              </a:rPr>
              <a:t>                  CaCO</a:t>
            </a:r>
            <a:r>
              <a:rPr lang="en-GB" sz="2000" b="1" baseline="-25000" dirty="0">
                <a:solidFill>
                  <a:schemeClr val="accent6">
                    <a:lumMod val="75000"/>
                  </a:schemeClr>
                </a:solidFill>
                <a:latin typeface="+mn-lt"/>
              </a:rPr>
              <a:t>3</a:t>
            </a:r>
            <a:r>
              <a:rPr lang="en-GB" sz="2000" b="1" dirty="0">
                <a:solidFill>
                  <a:schemeClr val="accent6">
                    <a:lumMod val="75000"/>
                  </a:schemeClr>
                </a:solidFill>
                <a:latin typeface="+mn-lt"/>
              </a:rPr>
              <a:t> </a:t>
            </a:r>
            <a:r>
              <a:rPr lang="en-GB" sz="2000" b="1" dirty="0">
                <a:solidFill>
                  <a:schemeClr val="accent6">
                    <a:lumMod val="75000"/>
                  </a:schemeClr>
                </a:solidFill>
                <a:latin typeface="+mn-lt"/>
                <a:sym typeface="Wingdings" panose="05000000000000000000" pitchFamily="2" charset="2"/>
              </a:rPr>
              <a:t> </a:t>
            </a:r>
            <a:r>
              <a:rPr lang="en-GB" sz="2000" b="1" dirty="0" err="1">
                <a:solidFill>
                  <a:schemeClr val="accent6">
                    <a:lumMod val="75000"/>
                  </a:schemeClr>
                </a:solidFill>
                <a:latin typeface="+mn-lt"/>
                <a:sym typeface="Wingdings" panose="05000000000000000000" pitchFamily="2" charset="2"/>
              </a:rPr>
              <a:t>CaO</a:t>
            </a:r>
            <a:r>
              <a:rPr lang="en-GB" sz="2000" b="1" dirty="0">
                <a:solidFill>
                  <a:schemeClr val="accent6">
                    <a:lumMod val="75000"/>
                  </a:schemeClr>
                </a:solidFill>
                <a:latin typeface="+mn-lt"/>
                <a:sym typeface="Wingdings" panose="05000000000000000000" pitchFamily="2" charset="2"/>
              </a:rPr>
              <a:t> + CO</a:t>
            </a:r>
            <a:r>
              <a:rPr lang="en-GB" sz="2000" b="1" baseline="-25000" dirty="0">
                <a:solidFill>
                  <a:schemeClr val="accent6">
                    <a:lumMod val="75000"/>
                  </a:schemeClr>
                </a:solidFill>
                <a:latin typeface="+mn-lt"/>
                <a:sym typeface="Wingdings" panose="05000000000000000000" pitchFamily="2" charset="2"/>
              </a:rPr>
              <a:t>2</a:t>
            </a:r>
            <a:endParaRPr lang="en-GB" sz="2000" b="1" baseline="-25000" dirty="0">
              <a:solidFill>
                <a:schemeClr val="accent6">
                  <a:lumMod val="75000"/>
                </a:schemeClr>
              </a:solidFill>
              <a:latin typeface="+mn-lt"/>
            </a:endParaRPr>
          </a:p>
          <a:p>
            <a:pPr algn="l"/>
            <a:r>
              <a:rPr lang="en-GB" sz="2000" b="1" dirty="0">
                <a:solidFill>
                  <a:schemeClr val="accent6">
                    <a:lumMod val="75000"/>
                  </a:schemeClr>
                </a:solidFill>
                <a:latin typeface="+mn-lt"/>
              </a:rPr>
              <a:t>M</a:t>
            </a:r>
            <a:r>
              <a:rPr lang="en-GB" sz="2000" b="1" baseline="-25000" dirty="0">
                <a:solidFill>
                  <a:schemeClr val="accent6">
                    <a:lumMod val="75000"/>
                  </a:schemeClr>
                </a:solidFill>
                <a:latin typeface="+mn-lt"/>
              </a:rPr>
              <a:t>r</a:t>
            </a:r>
            <a:r>
              <a:rPr lang="en-GB" sz="2000" b="1" dirty="0">
                <a:solidFill>
                  <a:schemeClr val="accent6">
                    <a:lumMod val="75000"/>
                  </a:schemeClr>
                </a:solidFill>
                <a:latin typeface="+mn-lt"/>
              </a:rPr>
              <a:t> of  CaCO</a:t>
            </a:r>
            <a:r>
              <a:rPr lang="en-GB" sz="2000" b="1" baseline="-25000" dirty="0">
                <a:solidFill>
                  <a:schemeClr val="accent6">
                    <a:lumMod val="75000"/>
                  </a:schemeClr>
                </a:solidFill>
                <a:latin typeface="+mn-lt"/>
              </a:rPr>
              <a:t>3</a:t>
            </a:r>
            <a:r>
              <a:rPr lang="en-GB" sz="2000" b="1" dirty="0">
                <a:solidFill>
                  <a:schemeClr val="accent6">
                    <a:lumMod val="75000"/>
                  </a:schemeClr>
                </a:solidFill>
                <a:latin typeface="+mn-lt"/>
              </a:rPr>
              <a:t> = 40 + 12 + (16x3) = 100</a:t>
            </a:r>
          </a:p>
          <a:p>
            <a:pPr algn="l"/>
            <a:r>
              <a:rPr lang="en-GB" sz="2000" b="1" dirty="0">
                <a:solidFill>
                  <a:schemeClr val="accent6">
                    <a:lumMod val="75000"/>
                  </a:schemeClr>
                </a:solidFill>
                <a:latin typeface="+mn-lt"/>
              </a:rPr>
              <a:t>M</a:t>
            </a:r>
            <a:r>
              <a:rPr lang="en-GB" sz="2000" b="1" baseline="-25000" dirty="0">
                <a:solidFill>
                  <a:schemeClr val="accent6">
                    <a:lumMod val="75000"/>
                  </a:schemeClr>
                </a:solidFill>
                <a:latin typeface="+mn-lt"/>
              </a:rPr>
              <a:t>r</a:t>
            </a:r>
            <a:r>
              <a:rPr lang="en-GB" sz="2000" b="1" dirty="0">
                <a:solidFill>
                  <a:schemeClr val="accent6">
                    <a:lumMod val="75000"/>
                  </a:schemeClr>
                </a:solidFill>
                <a:latin typeface="+mn-lt"/>
              </a:rPr>
              <a:t> of </a:t>
            </a:r>
            <a:r>
              <a:rPr lang="en-GB" sz="2000" b="1" dirty="0" err="1">
                <a:solidFill>
                  <a:schemeClr val="accent6">
                    <a:lumMod val="75000"/>
                  </a:schemeClr>
                </a:solidFill>
                <a:latin typeface="+mn-lt"/>
              </a:rPr>
              <a:t>CaO</a:t>
            </a:r>
            <a:r>
              <a:rPr lang="en-GB" sz="2000" b="1" dirty="0">
                <a:solidFill>
                  <a:schemeClr val="accent6">
                    <a:lumMod val="75000"/>
                  </a:schemeClr>
                </a:solidFill>
                <a:latin typeface="+mn-lt"/>
              </a:rPr>
              <a:t>      = 40 + 16 = 56</a:t>
            </a:r>
          </a:p>
          <a:p>
            <a:r>
              <a:rPr lang="en-GB" sz="2000" dirty="0">
                <a:solidFill>
                  <a:schemeClr val="tx1"/>
                </a:solidFill>
                <a:latin typeface="+mn-lt"/>
              </a:rPr>
              <a:t>100g of CaCO</a:t>
            </a:r>
            <a:r>
              <a:rPr lang="en-GB" sz="2000" baseline="-25000" dirty="0">
                <a:solidFill>
                  <a:schemeClr val="tx1"/>
                </a:solidFill>
                <a:latin typeface="+mn-lt"/>
              </a:rPr>
              <a:t>3</a:t>
            </a:r>
            <a:r>
              <a:rPr lang="en-GB" sz="2000" dirty="0">
                <a:solidFill>
                  <a:schemeClr val="tx1"/>
                </a:solidFill>
                <a:latin typeface="+mn-lt"/>
              </a:rPr>
              <a:t> would make 56 g of </a:t>
            </a:r>
            <a:r>
              <a:rPr lang="en-GB" sz="2000" dirty="0" err="1">
                <a:solidFill>
                  <a:schemeClr val="tx1"/>
                </a:solidFill>
                <a:latin typeface="+mn-lt"/>
              </a:rPr>
              <a:t>CaO</a:t>
            </a:r>
            <a:endParaRPr lang="en-GB" sz="2000" dirty="0">
              <a:solidFill>
                <a:schemeClr val="tx1"/>
              </a:solidFill>
              <a:latin typeface="+mn-lt"/>
            </a:endParaRPr>
          </a:p>
          <a:p>
            <a:r>
              <a:rPr lang="en-GB" sz="2000" dirty="0">
                <a:solidFill>
                  <a:schemeClr val="tx1"/>
                </a:solidFill>
                <a:latin typeface="+mn-lt"/>
              </a:rPr>
              <a:t>So 200g would make 112g</a:t>
            </a:r>
          </a:p>
          <a:p>
            <a:pPr algn="l"/>
            <a:endParaRPr lang="en-GB" sz="1800" dirty="0">
              <a:solidFill>
                <a:schemeClr val="accent6">
                  <a:lumMod val="75000"/>
                </a:schemeClr>
              </a:solidFill>
              <a:latin typeface="+mn-lt"/>
            </a:endParaRPr>
          </a:p>
        </p:txBody>
      </p:sp>
    </p:spTree>
    <p:extLst>
      <p:ext uri="{BB962C8B-B14F-4D97-AF65-F5344CB8AC3E}">
        <p14:creationId xmlns:p14="http://schemas.microsoft.com/office/powerpoint/2010/main" val="5970469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Atom economy </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id="{069D24D6-BF3E-48D1-A1E3-FB8C618604DE}"/>
              </a:ext>
            </a:extLst>
          </p:cNvPr>
          <p:cNvSpPr txBox="1"/>
          <p:nvPr/>
        </p:nvSpPr>
        <p:spPr>
          <a:xfrm>
            <a:off x="152400" y="702339"/>
            <a:ext cx="8884096" cy="2246769"/>
          </a:xfrm>
          <a:prstGeom prst="rect">
            <a:avLst/>
          </a:prstGeom>
          <a:noFill/>
          <a:ln>
            <a:solidFill>
              <a:schemeClr val="bg1"/>
            </a:solidFill>
          </a:ln>
        </p:spPr>
        <p:txBody>
          <a:bodyPr wrap="square" rtlCol="0">
            <a:spAutoFit/>
          </a:bodyPr>
          <a:lstStyle/>
          <a:p>
            <a:pPr algn="ctr"/>
            <a:r>
              <a:rPr lang="en-GB" sz="2000" dirty="0"/>
              <a:t>The </a:t>
            </a:r>
            <a:r>
              <a:rPr lang="en-GB" sz="2000" b="1" dirty="0"/>
              <a:t>atom economy (atom utilisation) </a:t>
            </a:r>
            <a:r>
              <a:rPr lang="en-GB" sz="2000" dirty="0"/>
              <a:t>is a measure of the </a:t>
            </a:r>
            <a:r>
              <a:rPr lang="en-GB" sz="2000" b="1" dirty="0"/>
              <a:t>amount </a:t>
            </a:r>
            <a:r>
              <a:rPr lang="en-GB" sz="2000" dirty="0"/>
              <a:t>of </a:t>
            </a:r>
            <a:r>
              <a:rPr lang="en-GB" sz="2000" b="1" dirty="0"/>
              <a:t>starting materials </a:t>
            </a:r>
            <a:r>
              <a:rPr lang="en-GB" sz="2000" dirty="0"/>
              <a:t>that end up as </a:t>
            </a:r>
            <a:r>
              <a:rPr lang="en-GB" sz="2000" b="1" dirty="0"/>
              <a:t>useful products</a:t>
            </a:r>
            <a:r>
              <a:rPr lang="en-GB" sz="2000" dirty="0"/>
              <a:t>.  It is important for </a:t>
            </a:r>
            <a:r>
              <a:rPr lang="en-GB" sz="2000" b="1" dirty="0"/>
              <a:t>sustainable development </a:t>
            </a:r>
            <a:r>
              <a:rPr lang="en-GB" sz="2000" dirty="0"/>
              <a:t>and for </a:t>
            </a:r>
            <a:r>
              <a:rPr lang="en-GB" sz="2000" b="1" dirty="0"/>
              <a:t>economic reasons </a:t>
            </a:r>
            <a:r>
              <a:rPr lang="en-GB" sz="2000" dirty="0"/>
              <a:t>to use reactions with </a:t>
            </a:r>
            <a:r>
              <a:rPr lang="en-GB" sz="2000" b="1" dirty="0"/>
              <a:t>high atom economy</a:t>
            </a:r>
            <a:r>
              <a:rPr lang="en-GB" sz="2000" dirty="0"/>
              <a:t>.  The percentage atom economy is calculated using a </a:t>
            </a:r>
            <a:r>
              <a:rPr lang="en-GB" sz="2000" b="1" dirty="0"/>
              <a:t>balanced equation </a:t>
            </a:r>
            <a:r>
              <a:rPr lang="en-GB" sz="2000" dirty="0"/>
              <a:t>for the reaction as follows:</a:t>
            </a:r>
          </a:p>
          <a:p>
            <a:r>
              <a:rPr lang="en-GB" sz="2000" b="1" dirty="0">
                <a:solidFill>
                  <a:schemeClr val="accent6">
                    <a:lumMod val="75000"/>
                  </a:schemeClr>
                </a:solidFill>
              </a:rPr>
              <a:t>                    </a:t>
            </a:r>
            <a:r>
              <a:rPr lang="en-GB" sz="2000" b="1" u="sng" dirty="0">
                <a:solidFill>
                  <a:schemeClr val="accent6">
                    <a:lumMod val="75000"/>
                  </a:schemeClr>
                </a:solidFill>
              </a:rPr>
              <a:t>   Relative formula mass of desired product from equation   </a:t>
            </a:r>
            <a:r>
              <a:rPr lang="en-GB" sz="2000" b="1" dirty="0">
                <a:solidFill>
                  <a:schemeClr val="accent6">
                    <a:lumMod val="75000"/>
                  </a:schemeClr>
                </a:solidFill>
              </a:rPr>
              <a:t>   x   100</a:t>
            </a:r>
          </a:p>
          <a:p>
            <a:r>
              <a:rPr lang="en-GB" sz="2000" b="1" dirty="0">
                <a:solidFill>
                  <a:schemeClr val="accent6">
                    <a:lumMod val="75000"/>
                  </a:schemeClr>
                </a:solidFill>
              </a:rPr>
              <a:t>                    Sum of relative formula mass of all reactants from equation</a:t>
            </a:r>
          </a:p>
        </p:txBody>
      </p:sp>
      <p:sp>
        <p:nvSpPr>
          <p:cNvPr id="5" name="Rectangle 4">
            <a:extLst>
              <a:ext uri="{FF2B5EF4-FFF2-40B4-BE49-F238E27FC236}">
                <a16:creationId xmlns:a16="http://schemas.microsoft.com/office/drawing/2014/main" id="{44BB4903-CB3E-425C-9E8D-8AC8820396EB}"/>
              </a:ext>
            </a:extLst>
          </p:cNvPr>
          <p:cNvSpPr/>
          <p:nvPr/>
        </p:nvSpPr>
        <p:spPr>
          <a:xfrm>
            <a:off x="91706" y="2958751"/>
            <a:ext cx="8944790" cy="2554545"/>
          </a:xfrm>
          <a:prstGeom prst="rect">
            <a:avLst/>
          </a:prstGeom>
          <a:solidFill>
            <a:schemeClr val="accent6">
              <a:lumMod val="20000"/>
              <a:lumOff val="80000"/>
            </a:schemeClr>
          </a:solidFill>
          <a:ln>
            <a:solidFill>
              <a:schemeClr val="accent6">
                <a:lumMod val="75000"/>
              </a:schemeClr>
            </a:solidFill>
          </a:ln>
        </p:spPr>
        <p:txBody>
          <a:bodyPr wrap="square">
            <a:spAutoFit/>
          </a:bodyPr>
          <a:lstStyle/>
          <a:p>
            <a:pPr algn="ctr"/>
            <a:r>
              <a:rPr lang="en-GB" sz="2000" dirty="0">
                <a:solidFill>
                  <a:srgbClr val="333333"/>
                </a:solidFill>
              </a:rPr>
              <a:t>Calculate the atom economy for making hydrogen by reacting zinc with hydrochloric acid: </a:t>
            </a:r>
          </a:p>
          <a:p>
            <a:pPr algn="ctr"/>
            <a:r>
              <a:rPr lang="en-GB" sz="2000" b="1" dirty="0"/>
              <a:t>Zn + </a:t>
            </a:r>
            <a:r>
              <a:rPr lang="en-GB" sz="2000" b="1" dirty="0">
                <a:solidFill>
                  <a:schemeClr val="accent6">
                    <a:lumMod val="75000"/>
                  </a:schemeClr>
                </a:solidFill>
              </a:rPr>
              <a:t>2</a:t>
            </a:r>
            <a:r>
              <a:rPr lang="en-GB" sz="2000" b="1" dirty="0"/>
              <a:t>HCl → ZnCl</a:t>
            </a:r>
            <a:r>
              <a:rPr lang="en-GB" sz="2000" b="1" baseline="-25000" dirty="0"/>
              <a:t>2</a:t>
            </a:r>
            <a:r>
              <a:rPr lang="en-GB" sz="2000" b="1" dirty="0"/>
              <a:t> + H</a:t>
            </a:r>
            <a:r>
              <a:rPr lang="en-GB" sz="2000" b="1" baseline="-25000" dirty="0"/>
              <a:t>2</a:t>
            </a:r>
            <a:endParaRPr lang="en-GB" sz="2000" b="1" dirty="0">
              <a:solidFill>
                <a:schemeClr val="accent6">
                  <a:lumMod val="75000"/>
                </a:schemeClr>
              </a:solidFill>
            </a:endParaRPr>
          </a:p>
          <a:p>
            <a:r>
              <a:rPr lang="en-GB" sz="2000" b="1" dirty="0">
                <a:solidFill>
                  <a:schemeClr val="accent6">
                    <a:lumMod val="75000"/>
                  </a:schemeClr>
                </a:solidFill>
              </a:rPr>
              <a:t>M</a:t>
            </a:r>
            <a:r>
              <a:rPr lang="en-GB" sz="2000" b="1" baseline="-25000" dirty="0">
                <a:solidFill>
                  <a:schemeClr val="accent6">
                    <a:lumMod val="75000"/>
                  </a:schemeClr>
                </a:solidFill>
              </a:rPr>
              <a:t>r</a:t>
            </a:r>
            <a:r>
              <a:rPr lang="en-GB" sz="2000" b="1" dirty="0">
                <a:solidFill>
                  <a:schemeClr val="accent6">
                    <a:lumMod val="75000"/>
                  </a:schemeClr>
                </a:solidFill>
              </a:rPr>
              <a:t> of H</a:t>
            </a:r>
            <a:r>
              <a:rPr lang="en-GB" sz="2000" b="1" baseline="-25000" dirty="0">
                <a:solidFill>
                  <a:schemeClr val="accent6">
                    <a:lumMod val="75000"/>
                  </a:schemeClr>
                </a:solidFill>
              </a:rPr>
              <a:t>2       </a:t>
            </a:r>
            <a:r>
              <a:rPr lang="en-GB" sz="2000" b="1" dirty="0">
                <a:solidFill>
                  <a:schemeClr val="accent6">
                    <a:lumMod val="75000"/>
                  </a:schemeClr>
                </a:solidFill>
              </a:rPr>
              <a:t> = 1 + 1 = 2</a:t>
            </a:r>
          </a:p>
          <a:p>
            <a:r>
              <a:rPr lang="en-GB" sz="2000" b="1" dirty="0">
                <a:solidFill>
                  <a:schemeClr val="accent6">
                    <a:lumMod val="75000"/>
                  </a:schemeClr>
                </a:solidFill>
              </a:rPr>
              <a:t>M</a:t>
            </a:r>
            <a:r>
              <a:rPr lang="en-GB" sz="2000" b="1" baseline="-25000" dirty="0">
                <a:solidFill>
                  <a:schemeClr val="accent6">
                    <a:lumMod val="75000"/>
                  </a:schemeClr>
                </a:solidFill>
              </a:rPr>
              <a:t>r</a:t>
            </a:r>
            <a:r>
              <a:rPr lang="en-GB" sz="2000" b="1" dirty="0">
                <a:solidFill>
                  <a:schemeClr val="accent6">
                    <a:lumMod val="75000"/>
                  </a:schemeClr>
                </a:solidFill>
              </a:rPr>
              <a:t> of ZnCl</a:t>
            </a:r>
            <a:r>
              <a:rPr lang="en-GB" sz="2000" b="1" baseline="-25000" dirty="0">
                <a:solidFill>
                  <a:schemeClr val="accent6">
                    <a:lumMod val="75000"/>
                  </a:schemeClr>
                </a:solidFill>
              </a:rPr>
              <a:t>2</a:t>
            </a:r>
            <a:r>
              <a:rPr lang="en-GB" sz="2000" b="1" dirty="0">
                <a:solidFill>
                  <a:schemeClr val="accent6">
                    <a:lumMod val="75000"/>
                  </a:schemeClr>
                </a:solidFill>
              </a:rPr>
              <a:t> = 65 + 35.5 + 35.5 = 136</a:t>
            </a:r>
          </a:p>
          <a:p>
            <a:r>
              <a:rPr lang="en-GB" sz="2000" b="1" dirty="0">
                <a:solidFill>
                  <a:schemeClr val="accent6">
                    <a:lumMod val="75000"/>
                  </a:schemeClr>
                </a:solidFill>
              </a:rPr>
              <a:t>Atom economy = </a:t>
            </a:r>
            <a:r>
              <a:rPr lang="en-GB" sz="2000" b="1" baseline="30000" dirty="0">
                <a:solidFill>
                  <a:schemeClr val="accent6">
                    <a:lumMod val="75000"/>
                  </a:schemeClr>
                </a:solidFill>
              </a:rPr>
              <a:t>2</a:t>
            </a:r>
            <a:r>
              <a:rPr lang="en-GB" sz="2000" b="1" dirty="0">
                <a:solidFill>
                  <a:schemeClr val="accent6">
                    <a:lumMod val="75000"/>
                  </a:schemeClr>
                </a:solidFill>
              </a:rPr>
              <a:t>∕</a:t>
            </a:r>
            <a:r>
              <a:rPr lang="en-GB" sz="2000" b="1" baseline="-25000" dirty="0">
                <a:solidFill>
                  <a:schemeClr val="accent6">
                    <a:lumMod val="75000"/>
                  </a:schemeClr>
                </a:solidFill>
              </a:rPr>
              <a:t>136 + 2</a:t>
            </a:r>
            <a:r>
              <a:rPr lang="en-GB" sz="2000" b="1" dirty="0">
                <a:solidFill>
                  <a:schemeClr val="accent6">
                    <a:lumMod val="75000"/>
                  </a:schemeClr>
                </a:solidFill>
              </a:rPr>
              <a:t> × 100 </a:t>
            </a:r>
          </a:p>
          <a:p>
            <a:r>
              <a:rPr lang="en-GB" sz="2000" b="1" dirty="0">
                <a:solidFill>
                  <a:schemeClr val="accent6">
                    <a:lumMod val="75000"/>
                  </a:schemeClr>
                </a:solidFill>
              </a:rPr>
              <a:t>                             = </a:t>
            </a:r>
            <a:r>
              <a:rPr lang="en-GB" sz="2000" b="1" baseline="30000" dirty="0">
                <a:solidFill>
                  <a:schemeClr val="accent6">
                    <a:lumMod val="75000"/>
                  </a:schemeClr>
                </a:solidFill>
              </a:rPr>
              <a:t>2</a:t>
            </a:r>
            <a:r>
              <a:rPr lang="en-GB" sz="2000" b="1" dirty="0">
                <a:solidFill>
                  <a:schemeClr val="accent6">
                    <a:lumMod val="75000"/>
                  </a:schemeClr>
                </a:solidFill>
              </a:rPr>
              <a:t>∕</a:t>
            </a:r>
            <a:r>
              <a:rPr lang="en-GB" sz="2000" b="1" baseline="-25000" dirty="0">
                <a:solidFill>
                  <a:schemeClr val="accent6">
                    <a:lumMod val="75000"/>
                  </a:schemeClr>
                </a:solidFill>
              </a:rPr>
              <a:t>138</a:t>
            </a:r>
            <a:r>
              <a:rPr lang="en-GB" sz="2000" b="1" dirty="0">
                <a:solidFill>
                  <a:schemeClr val="accent6">
                    <a:lumMod val="75000"/>
                  </a:schemeClr>
                </a:solidFill>
              </a:rPr>
              <a:t> × 100  = 1.45%</a:t>
            </a:r>
            <a:endParaRPr lang="en-GB" sz="2000" b="1" i="0" dirty="0">
              <a:solidFill>
                <a:schemeClr val="accent6">
                  <a:lumMod val="75000"/>
                </a:schemeClr>
              </a:solidFill>
              <a:effectLst/>
            </a:endParaRPr>
          </a:p>
          <a:p>
            <a:r>
              <a:rPr lang="en-GB" sz="2000" dirty="0"/>
              <a:t>This method is unlikely to be chosen as it has a low atom economy.</a:t>
            </a:r>
            <a:endParaRPr lang="en-GB" sz="2000" i="0" dirty="0">
              <a:effectLst/>
            </a:endParaRPr>
          </a:p>
        </p:txBody>
      </p:sp>
      <p:sp>
        <p:nvSpPr>
          <p:cNvPr id="6" name="TextBox 5">
            <a:extLst>
              <a:ext uri="{FF2B5EF4-FFF2-40B4-BE49-F238E27FC236}">
                <a16:creationId xmlns:a16="http://schemas.microsoft.com/office/drawing/2014/main" id="{551F2B27-7247-4B00-8A85-64D74916B329}"/>
              </a:ext>
            </a:extLst>
          </p:cNvPr>
          <p:cNvSpPr txBox="1"/>
          <p:nvPr/>
        </p:nvSpPr>
        <p:spPr>
          <a:xfrm>
            <a:off x="91706" y="2304492"/>
            <a:ext cx="1039708" cy="369332"/>
          </a:xfrm>
          <a:prstGeom prst="rect">
            <a:avLst/>
          </a:prstGeom>
          <a:noFill/>
        </p:spPr>
        <p:txBody>
          <a:bodyPr wrap="none" rtlCol="0">
            <a:spAutoFit/>
          </a:bodyPr>
          <a:lstStyle/>
          <a:p>
            <a:r>
              <a:rPr lang="en-GB" dirty="0"/>
              <a:t>Example:</a:t>
            </a:r>
          </a:p>
        </p:txBody>
      </p:sp>
      <p:sp>
        <p:nvSpPr>
          <p:cNvPr id="7" name="TextBox 6">
            <a:extLst>
              <a:ext uri="{FF2B5EF4-FFF2-40B4-BE49-F238E27FC236}">
                <a16:creationId xmlns:a16="http://schemas.microsoft.com/office/drawing/2014/main" id="{0F0AB96E-87D3-44D6-885D-7DA858083A41}"/>
              </a:ext>
            </a:extLst>
          </p:cNvPr>
          <p:cNvSpPr txBox="1"/>
          <p:nvPr/>
        </p:nvSpPr>
        <p:spPr>
          <a:xfrm>
            <a:off x="91705" y="5547292"/>
            <a:ext cx="8944791" cy="1015663"/>
          </a:xfrm>
          <a:prstGeom prst="rect">
            <a:avLst/>
          </a:prstGeom>
          <a:solidFill>
            <a:schemeClr val="bg1"/>
          </a:solidFill>
          <a:ln>
            <a:solidFill>
              <a:schemeClr val="bg1"/>
            </a:solidFill>
          </a:ln>
        </p:spPr>
        <p:txBody>
          <a:bodyPr wrap="square" rtlCol="0">
            <a:spAutoFit/>
          </a:bodyPr>
          <a:lstStyle/>
          <a:p>
            <a:pPr algn="ctr"/>
            <a:r>
              <a:rPr lang="en-GB" sz="2000" b="1" dirty="0"/>
              <a:t>The less waste there is, the higher the atom economy, the less materials are wasted, less energy used, so making the process more economic, 'greener' and sustainable.</a:t>
            </a:r>
            <a:endParaRPr lang="en-GB" sz="2000" dirty="0"/>
          </a:p>
        </p:txBody>
      </p:sp>
    </p:spTree>
    <p:extLst>
      <p:ext uri="{BB962C8B-B14F-4D97-AF65-F5344CB8AC3E}">
        <p14:creationId xmlns:p14="http://schemas.microsoft.com/office/powerpoint/2010/main" val="22617250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308872"/>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r>
              <a:rPr lang="en-GB" sz="3600" b="1" dirty="0">
                <a:solidFill>
                  <a:schemeClr val="tx1">
                    <a:lumMod val="50000"/>
                    <a:lumOff val="50000"/>
                  </a:schemeClr>
                </a:solidFill>
              </a:rPr>
              <a:t>Quantitative </a:t>
            </a:r>
          </a:p>
          <a:p>
            <a:r>
              <a:rPr lang="en-GB" sz="3600" b="1" dirty="0">
                <a:solidFill>
                  <a:schemeClr val="tx1">
                    <a:lumMod val="50000"/>
                    <a:lumOff val="50000"/>
                  </a:schemeClr>
                </a:solidFill>
              </a:rPr>
              <a:t>Analysis – 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Percentage yield</a:t>
            </a:r>
          </a:p>
          <a:p>
            <a:pPr marL="685800" lvl="1" indent="-342900">
              <a:buFont typeface="Arial" charset="0"/>
              <a:buChar char="•"/>
            </a:pPr>
            <a:r>
              <a:rPr lang="en-US" sz="2400" b="1" dirty="0">
                <a:solidFill>
                  <a:schemeClr val="bg1">
                    <a:lumMod val="50000"/>
                  </a:schemeClr>
                </a:solidFill>
              </a:rPr>
              <a:t>Atomy economy</a:t>
            </a: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35485228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Yield and atom economy (Chemistry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743393" cy="5139869"/>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a:solidFill>
                  <a:prstClr val="black"/>
                </a:solidFill>
                <a:latin typeface="Calibri"/>
              </a:rPr>
              <a:t>What is meant by the term ‘yield’?</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a:solidFill>
                  <a:prstClr val="black"/>
                </a:solidFill>
                <a:latin typeface="Calibri"/>
              </a:rPr>
              <a:t>What is the equation for calculating percentage yield?</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a:solidFill>
                  <a:prstClr val="black"/>
                </a:solidFill>
                <a:latin typeface="Calibri"/>
              </a:rPr>
              <a:t>Give 2 reasons why it is not always possible to obtain the expected amount of product from a reaction.</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What is meant by the term ‘atom economy’?</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a:solidFill>
                  <a:prstClr val="black"/>
                </a:solidFill>
                <a:latin typeface="Calibri"/>
              </a:rPr>
              <a:t>Why is it important to use reactions with high atom economy?</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What</a:t>
            </a:r>
            <a:r>
              <a:rPr kumimoji="0" lang="en-GB" sz="2400" b="0" i="0" u="none" strike="noStrike" kern="1200" cap="none" spc="0" normalizeH="0" noProof="0" dirty="0">
                <a:ln>
                  <a:noFill/>
                </a:ln>
                <a:solidFill>
                  <a:prstClr val="black"/>
                </a:solidFill>
                <a:effectLst/>
                <a:uLnTx/>
                <a:uFillTx/>
                <a:latin typeface="Calibri"/>
                <a:ea typeface="+mn-ea"/>
                <a:cs typeface="+mn-cs"/>
              </a:rPr>
              <a:t> is the equation for calculating the percentage atom economy from a balanced chemical equation?</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851149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Yield and atom economy (Chemistry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743393" cy="440120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7"/>
              <a:tabLst/>
              <a:defRPr/>
            </a:pPr>
            <a:r>
              <a:rPr lang="en-GB" sz="2400" dirty="0">
                <a:solidFill>
                  <a:prstClr val="black"/>
                </a:solidFill>
                <a:latin typeface="Calibri"/>
              </a:rPr>
              <a:t>Magnesium is heated in air to make magnesium oxide.  Suggest why the actual yield might be less than the maximum theoretical yield.</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lvl="0"/>
            <a:r>
              <a:rPr lang="en-GB" sz="2400" b="1" dirty="0">
                <a:solidFill>
                  <a:srgbClr val="00B050"/>
                </a:solidFill>
              </a:rPr>
              <a:t>       </a:t>
            </a:r>
          </a:p>
          <a:p>
            <a:pPr lvl="0"/>
            <a:endParaRPr kumimoji="0" lang="en-GB" sz="2400" b="1" i="0" u="none" strike="noStrike" kern="1200" cap="none" spc="0" normalizeH="0" baseline="0" noProof="0" dirty="0">
              <a:ln>
                <a:noFill/>
              </a:ln>
              <a:solidFill>
                <a:srgbClr val="00B050"/>
              </a:solidFill>
              <a:effectLst/>
              <a:uLnTx/>
              <a:uFillTx/>
              <a:latin typeface="Calibri"/>
              <a:ea typeface="+mn-ea"/>
              <a:cs typeface="+mn-cs"/>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lvl="0" indent="-457200">
              <a:buFont typeface="+mj-lt"/>
              <a:buAutoNum type="arabicPeriod" startAt="8"/>
              <a:defRPr/>
            </a:pPr>
            <a:r>
              <a:rPr lang="en-GB" sz="2400" dirty="0"/>
              <a:t>In the neutralisation of sulfuric acid with sodium hydroxide, the theoretical yield from 13.8g of sulfuric acid is 20g. In a synthesis, the actual yield is 17.4g. What is the percentage yield for this synthesis?</a:t>
            </a:r>
          </a:p>
          <a:p>
            <a:r>
              <a:rPr lang="en-GB" sz="2400" b="1" dirty="0">
                <a:solidFill>
                  <a:srgbClr val="00B050"/>
                </a:solidFill>
              </a:rPr>
              <a:t>       </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041803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Yield and atom economy (Chemistry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743393" cy="1446550"/>
          </a:xfrm>
          <a:prstGeom prst="rect">
            <a:avLst/>
          </a:prstGeom>
          <a:noFill/>
        </p:spPr>
        <p:txBody>
          <a:bodyPr wrap="square" rtlCol="0">
            <a:spAutoFit/>
          </a:bodyPr>
          <a:lstStyle/>
          <a:p>
            <a:pPr marL="457200" lvl="0" indent="-457200">
              <a:buFont typeface="+mj-lt"/>
              <a:buAutoNum type="arabicPeriod" startAt="9"/>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Calculate the atom economy for making </a:t>
            </a:r>
            <a:r>
              <a:rPr lang="en-GB" sz="2400" dirty="0"/>
              <a:t>hydrogen from methane  </a:t>
            </a:r>
          </a:p>
          <a:p>
            <a:pPr lvl="0">
              <a:defRPr/>
            </a:pPr>
            <a:r>
              <a:rPr lang="en-GB" sz="2400" dirty="0"/>
              <a:t>       and steam.</a:t>
            </a:r>
          </a:p>
          <a:p>
            <a:pPr lvl="0">
              <a:defRPr/>
            </a:pPr>
            <a:r>
              <a:rPr lang="en-GB" sz="2400" dirty="0"/>
              <a:t>                                           CH</a:t>
            </a:r>
            <a:r>
              <a:rPr lang="en-GB" sz="2400" baseline="-25000" dirty="0"/>
              <a:t>4</a:t>
            </a:r>
            <a:r>
              <a:rPr lang="en-GB" sz="2400" dirty="0"/>
              <a:t> + 2H</a:t>
            </a:r>
            <a:r>
              <a:rPr lang="en-GB" sz="2400" baseline="-25000" dirty="0"/>
              <a:t>2</a:t>
            </a:r>
            <a:r>
              <a:rPr lang="en-GB" sz="2400" dirty="0"/>
              <a:t>O → CO</a:t>
            </a:r>
            <a:r>
              <a:rPr lang="en-GB" sz="2400" baseline="-25000" dirty="0"/>
              <a:t>2</a:t>
            </a:r>
            <a:r>
              <a:rPr lang="en-GB" sz="2400" dirty="0"/>
              <a:t> + 4H</a:t>
            </a:r>
            <a:r>
              <a:rPr lang="en-GB" sz="2400" baseline="-25000" dirty="0"/>
              <a:t>2</a:t>
            </a:r>
            <a:endParaRPr lang="en-GB" sz="2400" dirty="0"/>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909402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585871"/>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Quantitative </a:t>
            </a:r>
          </a:p>
          <a:p>
            <a:r>
              <a:rPr lang="en-GB" sz="3600" b="1" dirty="0">
                <a:solidFill>
                  <a:schemeClr val="tx1">
                    <a:lumMod val="50000"/>
                    <a:lumOff val="50000"/>
                  </a:schemeClr>
                </a:solidFill>
              </a:rPr>
              <a:t>Analysis – 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Percentage yield</a:t>
            </a:r>
          </a:p>
          <a:p>
            <a:pPr marL="685800" lvl="1" indent="-342900">
              <a:buFont typeface="Arial" charset="0"/>
              <a:buChar char="•"/>
            </a:pPr>
            <a:r>
              <a:rPr lang="en-US" sz="2400" b="1" dirty="0">
                <a:solidFill>
                  <a:schemeClr val="bg1">
                    <a:lumMod val="50000"/>
                  </a:schemeClr>
                </a:solidFill>
              </a:rPr>
              <a:t>Atomy economy</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7984" y="784286"/>
            <a:ext cx="4824536" cy="5257800"/>
          </a:xfrm>
          <a:prstGeom prst="rect">
            <a:avLst/>
          </a:prstGeom>
        </p:spPr>
      </p:pic>
    </p:spTree>
    <p:extLst>
      <p:ext uri="{BB962C8B-B14F-4D97-AF65-F5344CB8AC3E}">
        <p14:creationId xmlns:p14="http://schemas.microsoft.com/office/powerpoint/2010/main" val="38364705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Yield and atom economy (Chemistry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mc:AlternateContent xmlns:mc="http://schemas.openxmlformats.org/markup-compatibility/2006">
        <mc:Choice xmlns:a14="http://schemas.microsoft.com/office/drawing/2010/main" Requires="a14">
          <p:sp>
            <p:nvSpPr>
              <p:cNvPr id="6" name="TextBox 5"/>
              <p:cNvSpPr txBox="1"/>
              <p:nvPr/>
            </p:nvSpPr>
            <p:spPr>
              <a:xfrm>
                <a:off x="149087" y="697936"/>
                <a:ext cx="8743393" cy="4739887"/>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a:solidFill>
                      <a:prstClr val="black"/>
                    </a:solidFill>
                    <a:latin typeface="Calibri"/>
                  </a:rPr>
                  <a:t>What is meant by the term ‘yield’?</a:t>
                </a:r>
              </a:p>
              <a:p>
                <a:pPr lvl="1">
                  <a:defRPr/>
                </a:pPr>
                <a:r>
                  <a:rPr lang="en-GB" sz="2400" b="1" dirty="0">
                    <a:solidFill>
                      <a:srgbClr val="00B050"/>
                    </a:solidFill>
                  </a:rPr>
                  <a:t>Amount of product obtained.</a:t>
                </a: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a:solidFill>
                      <a:prstClr val="black"/>
                    </a:solidFill>
                    <a:latin typeface="Calibri"/>
                  </a:rPr>
                  <a:t>What is the equation for calculating percentage yield?</a:t>
                </a:r>
              </a:p>
              <a:p>
                <a:pPr lvl="1">
                  <a:defRPr/>
                </a:pPr>
                <a:r>
                  <a:rPr lang="en-GB" sz="2400" b="1" dirty="0">
                    <a:solidFill>
                      <a:srgbClr val="00B050"/>
                    </a:solidFill>
                  </a:rPr>
                  <a:t>% yield = </a:t>
                </a:r>
                <a14:m>
                  <m:oMath xmlns:m="http://schemas.openxmlformats.org/officeDocument/2006/math">
                    <m:f>
                      <m:fPr>
                        <m:ctrlPr>
                          <a:rPr lang="en-GB" sz="2400" b="1" i="1" smtClean="0">
                            <a:solidFill>
                              <a:srgbClr val="00B050"/>
                            </a:solidFill>
                            <a:latin typeface="Cambria Math" panose="02040503050406030204" pitchFamily="18" charset="0"/>
                          </a:rPr>
                        </m:ctrlPr>
                      </m:fPr>
                      <m:num>
                        <m:r>
                          <a:rPr lang="en-GB" sz="2400" b="1" i="0" smtClean="0">
                            <a:solidFill>
                              <a:srgbClr val="00B050"/>
                            </a:solidFill>
                            <a:latin typeface="Cambria Math" panose="02040503050406030204" pitchFamily="18" charset="0"/>
                          </a:rPr>
                          <m:t>𝐦𝐚𝐬𝐬</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𝐨𝐟</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𝐩𝐫𝐨𝐝𝐮𝐜𝐭</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𝐚𝐜𝐭𝐮𝐚𝐥𝐥𝐲</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𝐦𝐚𝐝𝐞</m:t>
                        </m:r>
                        <m:r>
                          <a:rPr lang="en-GB" sz="2400" b="1" i="0" smtClean="0">
                            <a:solidFill>
                              <a:srgbClr val="00B050"/>
                            </a:solidFill>
                            <a:latin typeface="Cambria Math" panose="02040503050406030204" pitchFamily="18" charset="0"/>
                          </a:rPr>
                          <m:t> </m:t>
                        </m:r>
                      </m:num>
                      <m:den>
                        <m:r>
                          <a:rPr lang="en-GB" sz="2400" b="1" i="0" smtClean="0">
                            <a:solidFill>
                              <a:srgbClr val="00B050"/>
                            </a:solidFill>
                            <a:latin typeface="Cambria Math" panose="02040503050406030204" pitchFamily="18" charset="0"/>
                          </a:rPr>
                          <m:t>𝐦</m:t>
                        </m:r>
                        <m:r>
                          <a:rPr lang="en-GB" sz="2400" b="1" i="0" smtClean="0">
                            <a:solidFill>
                              <a:srgbClr val="00B050"/>
                            </a:solidFill>
                            <a:latin typeface="Cambria Math" panose="02040503050406030204" pitchFamily="18" charset="0"/>
                          </a:rPr>
                          <m:t>𝐚𝐱𝐢𝐦𝐮𝐦</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𝐭𝐡𝐞𝐨𝐫𝐞𝐭𝐢𝐜𝐚𝐥</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𝐦𝐚𝐬𝐬</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𝐨𝐟</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𝐩𝐫𝐨𝐝𝐮𝐜𝐭</m:t>
                        </m:r>
                      </m:den>
                    </m:f>
                  </m:oMath>
                </a14:m>
                <a:r>
                  <a:rPr lang="en-GB" sz="2400" dirty="0">
                    <a:solidFill>
                      <a:prstClr val="black"/>
                    </a:solidFill>
                  </a:rPr>
                  <a:t> </a:t>
                </a:r>
                <a:r>
                  <a:rPr lang="en-GB" sz="2400" dirty="0">
                    <a:solidFill>
                      <a:srgbClr val="00B050"/>
                    </a:solidFill>
                  </a:rPr>
                  <a:t>x 100</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a:solidFill>
                      <a:prstClr val="black"/>
                    </a:solidFill>
                    <a:latin typeface="Calibri"/>
                  </a:rPr>
                  <a:t>Give 2 reasons why it is not always possible to obtain the expected amount of product from a reaction.</a:t>
                </a:r>
              </a:p>
              <a:p>
                <a:pPr lvl="1">
                  <a:defRPr/>
                </a:pPr>
                <a:r>
                  <a:rPr lang="en-GB" sz="2400" b="1" dirty="0">
                    <a:solidFill>
                      <a:srgbClr val="00B050"/>
                    </a:solidFill>
                  </a:rPr>
                  <a:t>Reaction may not go to completion as it is reversible; some product may be lost; some reactants may react differently to expected.</a:t>
                </a: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What is meant by the term ‘atom economy’?</a:t>
                </a:r>
              </a:p>
              <a:p>
                <a:pPr lvl="1">
                  <a:defRPr/>
                </a:pPr>
                <a:r>
                  <a:rPr lang="en-GB" sz="2400" b="1" noProof="0" dirty="0" err="1">
                    <a:solidFill>
                      <a:srgbClr val="00B050"/>
                    </a:solidFill>
                  </a:rPr>
                  <a:t>Measur</a:t>
                </a:r>
                <a:r>
                  <a:rPr lang="en-GB" sz="2400" b="1" dirty="0">
                    <a:solidFill>
                      <a:srgbClr val="00B050"/>
                    </a:solidFill>
                  </a:rPr>
                  <a:t>e of the amount of starting materials that end up as useful products.</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p:txBody>
          </p:sp>
        </mc:Choice>
        <mc:Fallback>
          <p:sp>
            <p:nvSpPr>
              <p:cNvPr id="6" name="TextBox 5"/>
              <p:cNvSpPr txBox="1">
                <a:spLocks noRot="1" noChangeAspect="1" noMove="1" noResize="1" noEditPoints="1" noAdjustHandles="1" noChangeArrowheads="1" noChangeShapeType="1" noTextEdit="1"/>
              </p:cNvSpPr>
              <p:nvPr/>
            </p:nvSpPr>
            <p:spPr>
              <a:xfrm>
                <a:off x="149087" y="697936"/>
                <a:ext cx="8743393" cy="4739887"/>
              </a:xfrm>
              <a:prstGeom prst="rect">
                <a:avLst/>
              </a:prstGeom>
              <a:blipFill>
                <a:blip r:embed="rId3"/>
                <a:stretch>
                  <a:fillRect l="-1115" t="-1157" b="-1928"/>
                </a:stretch>
              </a:blipFill>
            </p:spPr>
            <p:txBody>
              <a:bodyPr/>
              <a:lstStyle/>
              <a:p>
                <a:r>
                  <a:rPr lang="en-GB">
                    <a:noFill/>
                  </a:rPr>
                  <a:t> </a:t>
                </a:r>
              </a:p>
            </p:txBody>
          </p:sp>
        </mc:Fallback>
      </mc:AlternateContent>
    </p:spTree>
    <p:extLst>
      <p:ext uri="{BB962C8B-B14F-4D97-AF65-F5344CB8AC3E}">
        <p14:creationId xmlns:p14="http://schemas.microsoft.com/office/powerpoint/2010/main" val="42578833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Yield and atom economy (Chemistry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6" name="TextBox 5"/>
              <p:cNvSpPr txBox="1"/>
              <p:nvPr/>
            </p:nvSpPr>
            <p:spPr>
              <a:xfrm>
                <a:off x="149087" y="697936"/>
                <a:ext cx="8743393" cy="2895152"/>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5"/>
                  <a:tabLst/>
                  <a:defRPr/>
                </a:pPr>
                <a:r>
                  <a:rPr lang="en-GB" sz="2400" dirty="0">
                    <a:solidFill>
                      <a:prstClr val="black"/>
                    </a:solidFill>
                    <a:latin typeface="Calibri"/>
                  </a:rPr>
                  <a:t>Why is it important to use reactions with high atom economy?</a:t>
                </a:r>
              </a:p>
              <a:p>
                <a:pPr lvl="1">
                  <a:defRPr/>
                </a:pPr>
                <a:r>
                  <a:rPr lang="en-GB" sz="2400" b="1" dirty="0">
                    <a:solidFill>
                      <a:srgbClr val="00B050"/>
                    </a:solidFill>
                  </a:rPr>
                  <a:t>Sustainable development; less waste products produced; economically viable; cheaper.</a:t>
                </a:r>
              </a:p>
              <a:p>
                <a:pPr lvl="1">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5"/>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What</a:t>
                </a:r>
                <a:r>
                  <a:rPr kumimoji="0" lang="en-GB" sz="2400" b="0" i="0" u="none" strike="noStrike" kern="1200" cap="none" spc="0" normalizeH="0" noProof="0" dirty="0">
                    <a:ln>
                      <a:noFill/>
                    </a:ln>
                    <a:solidFill>
                      <a:prstClr val="black"/>
                    </a:solidFill>
                    <a:effectLst/>
                    <a:uLnTx/>
                    <a:uFillTx/>
                    <a:latin typeface="Calibri"/>
                    <a:ea typeface="+mn-ea"/>
                    <a:cs typeface="+mn-cs"/>
                  </a:rPr>
                  <a:t> is the equation for calculating the percentage atom economy from a balanced chemical equation?</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lvl="1">
                  <a:defRPr/>
                </a:pPr>
                <a:r>
                  <a:rPr lang="en-GB" sz="2400" b="1" dirty="0">
                    <a:solidFill>
                      <a:srgbClr val="00B050"/>
                    </a:solidFill>
                  </a:rPr>
                  <a:t>Atom economy = </a:t>
                </a:r>
                <a14:m>
                  <m:oMath xmlns:m="http://schemas.openxmlformats.org/officeDocument/2006/math">
                    <m:f>
                      <m:fPr>
                        <m:ctrlPr>
                          <a:rPr lang="en-GB" sz="2400" b="1" i="1" smtClean="0">
                            <a:solidFill>
                              <a:srgbClr val="00B050"/>
                            </a:solidFill>
                            <a:latin typeface="Cambria Math" panose="02040503050406030204" pitchFamily="18" charset="0"/>
                          </a:rPr>
                        </m:ctrlPr>
                      </m:fPr>
                      <m:num>
                        <m:r>
                          <a:rPr lang="en-GB" sz="2400" b="1" i="0" smtClean="0">
                            <a:solidFill>
                              <a:srgbClr val="00B050"/>
                            </a:solidFill>
                            <a:latin typeface="Cambria Math" panose="02040503050406030204" pitchFamily="18" charset="0"/>
                          </a:rPr>
                          <m:t>𝐑𝐅𝐌</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𝐨𝐟</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𝐝𝐞𝐬𝐢𝐫𝐞𝐝</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𝐩𝐫𝐨𝐝𝐮𝐜𝐭</m:t>
                        </m:r>
                      </m:num>
                      <m:den>
                        <m:r>
                          <a:rPr lang="en-GB" sz="2400" b="1" i="0" smtClean="0">
                            <a:solidFill>
                              <a:srgbClr val="00B050"/>
                            </a:solidFill>
                            <a:latin typeface="Cambria Math" panose="02040503050406030204" pitchFamily="18" charset="0"/>
                          </a:rPr>
                          <m:t>𝐒𝐮𝐦</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𝐨𝐟</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𝐑𝐅𝐌</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𝐨𝐟</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𝐚𝐥𝐥</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𝐫𝐞𝐚𝐜𝐭𝐚𝐧𝐭𝐬</m:t>
                        </m:r>
                      </m:den>
                    </m:f>
                  </m:oMath>
                </a14:m>
                <a:r>
                  <a:rPr kumimoji="0" lang="en-GB" sz="2400" b="0" i="0" u="none" strike="noStrike" kern="1200" cap="none" spc="0" normalizeH="0" baseline="0" noProof="0" dirty="0">
                    <a:ln>
                      <a:noFill/>
                    </a:ln>
                    <a:solidFill>
                      <a:prstClr val="black"/>
                    </a:solidFill>
                    <a:effectLst/>
                    <a:uLnTx/>
                    <a:uFillTx/>
                    <a:latin typeface="Calibri"/>
                    <a:ea typeface="+mn-ea"/>
                    <a:cs typeface="+mn-cs"/>
                  </a:rPr>
                  <a:t> </a:t>
                </a:r>
                <a:r>
                  <a:rPr kumimoji="0" lang="en-GB" sz="2400" b="0" i="0" u="none" strike="noStrike" kern="1200" cap="none" spc="0" normalizeH="0" baseline="0" noProof="0" dirty="0">
                    <a:ln>
                      <a:noFill/>
                    </a:ln>
                    <a:solidFill>
                      <a:srgbClr val="00B050"/>
                    </a:solidFill>
                    <a:effectLst/>
                    <a:uLnTx/>
                    <a:uFillTx/>
                    <a:latin typeface="Calibri"/>
                    <a:ea typeface="+mn-ea"/>
                    <a:cs typeface="+mn-cs"/>
                  </a:rPr>
                  <a:t>x 100</a:t>
                </a:r>
              </a:p>
            </p:txBody>
          </p:sp>
        </mc:Choice>
        <mc:Fallback xmlns="">
          <p:sp>
            <p:nvSpPr>
              <p:cNvPr id="6" name="TextBox 5"/>
              <p:cNvSpPr txBox="1">
                <a:spLocks noRot="1" noChangeAspect="1" noMove="1" noResize="1" noEditPoints="1" noAdjustHandles="1" noChangeArrowheads="1" noChangeShapeType="1" noTextEdit="1"/>
              </p:cNvSpPr>
              <p:nvPr/>
            </p:nvSpPr>
            <p:spPr>
              <a:xfrm>
                <a:off x="149087" y="697936"/>
                <a:ext cx="8743393" cy="2895152"/>
              </a:xfrm>
              <a:prstGeom prst="rect">
                <a:avLst/>
              </a:prstGeom>
              <a:blipFill rotWithShape="0">
                <a:blip r:embed="rId3"/>
                <a:stretch>
                  <a:fillRect l="-1115" t="-1895"/>
                </a:stretch>
              </a:blipFill>
            </p:spPr>
            <p:txBody>
              <a:bodyPr/>
              <a:lstStyle/>
              <a:p>
                <a:r>
                  <a:rPr lang="en-GB">
                    <a:noFill/>
                  </a:rPr>
                  <a:t> </a:t>
                </a:r>
              </a:p>
            </p:txBody>
          </p:sp>
        </mc:Fallback>
      </mc:AlternateContent>
    </p:spTree>
    <p:extLst>
      <p:ext uri="{BB962C8B-B14F-4D97-AF65-F5344CB8AC3E}">
        <p14:creationId xmlns:p14="http://schemas.microsoft.com/office/powerpoint/2010/main" val="12109886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Yield and atom economy (Chemistry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743393" cy="5509200"/>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7"/>
              <a:tabLst/>
              <a:defRPr/>
            </a:pPr>
            <a:r>
              <a:rPr lang="en-GB" sz="2400" dirty="0">
                <a:solidFill>
                  <a:prstClr val="black"/>
                </a:solidFill>
                <a:latin typeface="Calibri"/>
              </a:rPr>
              <a:t>Magnesium is heated in air to make magnesium oxide. Suggest why the actual yield might be less than the maximum theoretical mass.</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lvl="0"/>
            <a:r>
              <a:rPr lang="en-GB" sz="2400" b="1" dirty="0">
                <a:solidFill>
                  <a:srgbClr val="00B050"/>
                </a:solidFill>
              </a:rPr>
              <a:t>       Magnesium nitride is formed as well as the magnesium oxide    </a:t>
            </a:r>
          </a:p>
          <a:p>
            <a:pPr lvl="0"/>
            <a:r>
              <a:rPr lang="en-GB" sz="2400" b="1" dirty="0">
                <a:solidFill>
                  <a:srgbClr val="00B050"/>
                </a:solidFill>
              </a:rPr>
              <a:t>       expected/some of the oxide might escape as smoke/not all the        </a:t>
            </a:r>
          </a:p>
          <a:p>
            <a:pPr lvl="0"/>
            <a:r>
              <a:rPr lang="en-GB" sz="2400" b="1" dirty="0">
                <a:solidFill>
                  <a:srgbClr val="00B050"/>
                </a:solidFill>
              </a:rPr>
              <a:t>       magnesium reacts.</a:t>
            </a: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lvl="0" indent="-457200">
              <a:buFont typeface="+mj-lt"/>
              <a:buAutoNum type="arabicPeriod" startAt="8"/>
              <a:defRPr/>
            </a:pPr>
            <a:r>
              <a:rPr lang="en-GB" sz="2400" dirty="0"/>
              <a:t>In the neutralisation of sulfuric acid with sodium hydroxide, the theoretical mass from 13.8g of sodium </a:t>
            </a:r>
            <a:r>
              <a:rPr lang="en-GB" sz="2400" dirty="0" err="1"/>
              <a:t>sulfate</a:t>
            </a:r>
            <a:r>
              <a:rPr lang="en-GB" sz="2400" dirty="0"/>
              <a:t> is 20g. In a synthesis, the actual yield is 17.4g. What is the percentage yield for this synthesis?</a:t>
            </a:r>
          </a:p>
          <a:p>
            <a:r>
              <a:rPr lang="en-GB" sz="2400" b="1" dirty="0">
                <a:solidFill>
                  <a:srgbClr val="00B050"/>
                </a:solidFill>
              </a:rPr>
              <a:t>       Percentage yield = (actual yield ÷ theoretical mass) × 100</a:t>
            </a:r>
          </a:p>
          <a:p>
            <a:r>
              <a:rPr lang="en-GB" sz="2400" b="1" dirty="0">
                <a:solidFill>
                  <a:srgbClr val="00B050"/>
                </a:solidFill>
              </a:rPr>
              <a:t>       Percentage yield = (17.4 ÷ 20) x 100 = 87%</a:t>
            </a:r>
          </a:p>
          <a:p>
            <a:pPr marL="457200" lvl="0" indent="-457200">
              <a:buFontTx/>
              <a:buAutoNum type="arabicPeriod" startAt="2"/>
              <a:defRPr/>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910560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Yield and atom economy (Chemistry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743393" cy="4401205"/>
          </a:xfrm>
          <a:prstGeom prst="rect">
            <a:avLst/>
          </a:prstGeom>
          <a:noFill/>
        </p:spPr>
        <p:txBody>
          <a:bodyPr wrap="square" rtlCol="0">
            <a:spAutoFit/>
          </a:bodyPr>
          <a:lstStyle/>
          <a:p>
            <a:pPr marL="457200" lvl="0" indent="-457200">
              <a:buFont typeface="+mj-lt"/>
              <a:buAutoNum type="arabicPeriod" startAt="9"/>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Calculate the atom economy for making </a:t>
            </a:r>
            <a:r>
              <a:rPr lang="en-GB" sz="2400" dirty="0"/>
              <a:t>hydrogen from methane  </a:t>
            </a:r>
          </a:p>
          <a:p>
            <a:pPr lvl="0">
              <a:defRPr/>
            </a:pPr>
            <a:r>
              <a:rPr lang="en-GB" sz="2400" dirty="0"/>
              <a:t>       and steam.</a:t>
            </a:r>
          </a:p>
          <a:p>
            <a:pPr lvl="0">
              <a:defRPr/>
            </a:pPr>
            <a:r>
              <a:rPr lang="en-GB" sz="2400" dirty="0"/>
              <a:t>                                           CH</a:t>
            </a:r>
            <a:r>
              <a:rPr lang="en-GB" sz="2400" baseline="-25000" dirty="0"/>
              <a:t>4</a:t>
            </a:r>
            <a:r>
              <a:rPr lang="en-GB" sz="2400" dirty="0"/>
              <a:t> + 2H</a:t>
            </a:r>
            <a:r>
              <a:rPr lang="en-GB" sz="2400" baseline="-25000" dirty="0"/>
              <a:t>2</a:t>
            </a:r>
            <a:r>
              <a:rPr lang="en-GB" sz="2400" dirty="0"/>
              <a:t>O → CO</a:t>
            </a:r>
            <a:r>
              <a:rPr lang="en-GB" sz="2400" baseline="-25000" dirty="0"/>
              <a:t>2</a:t>
            </a:r>
            <a:r>
              <a:rPr lang="en-GB" sz="2400" dirty="0"/>
              <a:t> + 4H</a:t>
            </a:r>
            <a:r>
              <a:rPr lang="en-GB" sz="2400" baseline="-25000" dirty="0"/>
              <a:t>2</a:t>
            </a:r>
            <a:endParaRPr lang="en-GB" sz="2400" dirty="0"/>
          </a:p>
          <a:p>
            <a:r>
              <a:rPr lang="en-GB" sz="2400" b="1" dirty="0">
                <a:solidFill>
                  <a:srgbClr val="00B050"/>
                </a:solidFill>
              </a:rPr>
              <a:t>        M</a:t>
            </a:r>
            <a:r>
              <a:rPr lang="en-GB" sz="2400" b="1" baseline="-25000" dirty="0">
                <a:solidFill>
                  <a:srgbClr val="00B050"/>
                </a:solidFill>
              </a:rPr>
              <a:t>r</a:t>
            </a:r>
            <a:r>
              <a:rPr lang="en-GB" sz="2400" b="1" dirty="0">
                <a:solidFill>
                  <a:srgbClr val="00B050"/>
                </a:solidFill>
              </a:rPr>
              <a:t> of H</a:t>
            </a:r>
            <a:r>
              <a:rPr lang="en-GB" sz="2400" b="1" baseline="-25000" dirty="0">
                <a:solidFill>
                  <a:srgbClr val="00B050"/>
                </a:solidFill>
              </a:rPr>
              <a:t>2</a:t>
            </a:r>
            <a:r>
              <a:rPr lang="en-GB" sz="2400" b="1" dirty="0">
                <a:solidFill>
                  <a:srgbClr val="00B050"/>
                </a:solidFill>
              </a:rPr>
              <a:t>O = (1 x 2) + 16 = 18</a:t>
            </a:r>
          </a:p>
          <a:p>
            <a:r>
              <a:rPr lang="en-GB" sz="2400" b="1" dirty="0">
                <a:solidFill>
                  <a:srgbClr val="00B050"/>
                </a:solidFill>
              </a:rPr>
              <a:t>                               18 x 2 = 36</a:t>
            </a:r>
          </a:p>
          <a:p>
            <a:endParaRPr lang="en-GB" sz="2400" b="1" dirty="0">
              <a:solidFill>
                <a:srgbClr val="00B050"/>
              </a:solidFill>
            </a:endParaRPr>
          </a:p>
          <a:p>
            <a:r>
              <a:rPr lang="en-GB" sz="2400" b="1" dirty="0">
                <a:solidFill>
                  <a:srgbClr val="00B050"/>
                </a:solidFill>
              </a:rPr>
              <a:t>        M</a:t>
            </a:r>
            <a:r>
              <a:rPr lang="en-GB" sz="2400" b="1" baseline="-25000" dirty="0">
                <a:solidFill>
                  <a:srgbClr val="00B050"/>
                </a:solidFill>
              </a:rPr>
              <a:t>r</a:t>
            </a:r>
            <a:r>
              <a:rPr lang="en-GB" sz="2400" b="1" dirty="0">
                <a:solidFill>
                  <a:srgbClr val="00B050"/>
                </a:solidFill>
              </a:rPr>
              <a:t> of CH</a:t>
            </a:r>
            <a:r>
              <a:rPr lang="en-GB" sz="2400" b="1" baseline="-25000" dirty="0">
                <a:solidFill>
                  <a:srgbClr val="00B050"/>
                </a:solidFill>
              </a:rPr>
              <a:t>4</a:t>
            </a:r>
            <a:r>
              <a:rPr lang="en-GB" sz="2400" b="1" dirty="0">
                <a:solidFill>
                  <a:srgbClr val="00B050"/>
                </a:solidFill>
              </a:rPr>
              <a:t> = 12 + (1 x 4) = 16</a:t>
            </a:r>
          </a:p>
          <a:p>
            <a:endParaRPr lang="en-GB" sz="2400" b="1" dirty="0">
              <a:solidFill>
                <a:srgbClr val="00B050"/>
              </a:solidFill>
            </a:endParaRPr>
          </a:p>
          <a:p>
            <a:r>
              <a:rPr lang="en-GB" sz="2400" b="1" dirty="0">
                <a:solidFill>
                  <a:srgbClr val="00B050"/>
                </a:solidFill>
              </a:rPr>
              <a:t>        Atom economy = </a:t>
            </a:r>
            <a:r>
              <a:rPr lang="en-GB" sz="2400" b="1" baseline="30000" dirty="0">
                <a:solidFill>
                  <a:srgbClr val="00B050"/>
                </a:solidFill>
              </a:rPr>
              <a:t>4 × 2</a:t>
            </a:r>
            <a:r>
              <a:rPr lang="en-GB" sz="2400" b="1" dirty="0">
                <a:solidFill>
                  <a:srgbClr val="00B050"/>
                </a:solidFill>
              </a:rPr>
              <a:t>∕</a:t>
            </a:r>
            <a:r>
              <a:rPr lang="en-GB" sz="2400" b="1" baseline="-25000" dirty="0">
                <a:solidFill>
                  <a:srgbClr val="00B050"/>
                </a:solidFill>
              </a:rPr>
              <a:t>36 + 16 </a:t>
            </a:r>
            <a:r>
              <a:rPr lang="en-GB" sz="2400" b="1" dirty="0">
                <a:solidFill>
                  <a:srgbClr val="00B050"/>
                </a:solidFill>
              </a:rPr>
              <a:t> × 100 </a:t>
            </a:r>
          </a:p>
          <a:p>
            <a:endParaRPr lang="en-GB" sz="2400" b="1" dirty="0">
              <a:solidFill>
                <a:srgbClr val="00B050"/>
              </a:solidFill>
            </a:endParaRPr>
          </a:p>
          <a:p>
            <a:r>
              <a:rPr lang="en-GB" sz="2400" b="1" dirty="0">
                <a:solidFill>
                  <a:srgbClr val="00B050"/>
                </a:solidFill>
              </a:rPr>
              <a:t>                                     = </a:t>
            </a:r>
            <a:r>
              <a:rPr lang="en-GB" sz="2400" b="1" baseline="30000" dirty="0">
                <a:solidFill>
                  <a:srgbClr val="00B050"/>
                </a:solidFill>
              </a:rPr>
              <a:t>8</a:t>
            </a:r>
            <a:r>
              <a:rPr lang="en-GB" sz="2400" b="1" dirty="0">
                <a:solidFill>
                  <a:srgbClr val="00B050"/>
                </a:solidFill>
              </a:rPr>
              <a:t>∕</a:t>
            </a:r>
            <a:r>
              <a:rPr lang="en-GB" sz="2400" b="1" baseline="-25000" dirty="0">
                <a:solidFill>
                  <a:srgbClr val="00B050"/>
                </a:solidFill>
              </a:rPr>
              <a:t>52</a:t>
            </a:r>
            <a:r>
              <a:rPr lang="en-GB" sz="2400" b="1" dirty="0">
                <a:solidFill>
                  <a:srgbClr val="00B050"/>
                </a:solidFill>
              </a:rPr>
              <a:t> × 100 = 15.4%</a:t>
            </a: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862622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364088" cy="5139869"/>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Quantitative </a:t>
            </a:r>
          </a:p>
          <a:p>
            <a:r>
              <a:rPr lang="en-GB" sz="3600" b="1" dirty="0">
                <a:solidFill>
                  <a:schemeClr val="tx1">
                    <a:lumMod val="50000"/>
                    <a:lumOff val="50000"/>
                  </a:schemeClr>
                </a:solidFill>
              </a:rPr>
              <a:t>Analysis – Part 3</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Molar volume of gas (HT)</a:t>
            </a:r>
          </a:p>
          <a:p>
            <a:pPr marL="685800" lvl="1" indent="-342900">
              <a:buFont typeface="Arial" charset="0"/>
              <a:buChar char="•"/>
            </a:pPr>
            <a:endParaRPr lang="en-US" sz="2400" b="1" dirty="0">
              <a:solidFill>
                <a:schemeClr val="bg1">
                  <a:lumMod val="50000"/>
                </a:schemeClr>
              </a:solidFill>
            </a:endParaRPr>
          </a:p>
          <a:p>
            <a:endParaRPr lang="en-GB" dirty="0"/>
          </a:p>
        </p:txBody>
      </p:sp>
    </p:spTree>
    <p:extLst>
      <p:ext uri="{BB962C8B-B14F-4D97-AF65-F5344CB8AC3E}">
        <p14:creationId xmlns:p14="http://schemas.microsoft.com/office/powerpoint/2010/main" val="34940597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9FDF976-793A-40EE-8C05-428AAC2FA6FD}"/>
              </a:ext>
            </a:extLst>
          </p:cNvPr>
          <p:cNvSpPr/>
          <p:nvPr/>
        </p:nvSpPr>
        <p:spPr>
          <a:xfrm>
            <a:off x="260888" y="2896941"/>
            <a:ext cx="4743160" cy="857291"/>
          </a:xfrm>
          <a:prstGeom prst="rect">
            <a:avLst/>
          </a:prstGeom>
          <a:solidFill>
            <a:schemeClr val="accent6">
              <a:lumMod val="60000"/>
              <a:lumOff val="4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 name="Title 1"/>
          <p:cNvSpPr>
            <a:spLocks noGrp="1"/>
          </p:cNvSpPr>
          <p:nvPr>
            <p:ph type="ctrTitle"/>
          </p:nvPr>
        </p:nvSpPr>
        <p:spPr>
          <a:xfrm>
            <a:off x="611560" y="196163"/>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Molar volume of gas (HT)</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id="{069D24D6-BF3E-48D1-A1E3-FB8C618604DE}"/>
              </a:ext>
            </a:extLst>
          </p:cNvPr>
          <p:cNvSpPr txBox="1"/>
          <p:nvPr/>
        </p:nvSpPr>
        <p:spPr>
          <a:xfrm>
            <a:off x="72118" y="760528"/>
            <a:ext cx="8884096" cy="1569660"/>
          </a:xfrm>
          <a:prstGeom prst="rect">
            <a:avLst/>
          </a:prstGeom>
          <a:noFill/>
          <a:ln>
            <a:solidFill>
              <a:schemeClr val="bg1"/>
            </a:solidFill>
          </a:ln>
        </p:spPr>
        <p:txBody>
          <a:bodyPr wrap="square" rtlCol="0">
            <a:spAutoFit/>
          </a:bodyPr>
          <a:lstStyle/>
          <a:p>
            <a:pPr algn="ctr"/>
            <a:r>
              <a:rPr lang="en-GB" sz="2000" dirty="0"/>
              <a:t>Equal amounts of moles or gases occupy the same volume under the same conditions of temperature and pressure.  </a:t>
            </a:r>
          </a:p>
          <a:p>
            <a:pPr algn="ctr"/>
            <a:r>
              <a:rPr lang="en-GB" sz="2400" dirty="0">
                <a:solidFill>
                  <a:schemeClr val="accent6">
                    <a:lumMod val="75000"/>
                  </a:schemeClr>
                </a:solidFill>
              </a:rPr>
              <a:t>The </a:t>
            </a:r>
            <a:r>
              <a:rPr lang="en-GB" sz="2400" b="1" dirty="0">
                <a:solidFill>
                  <a:schemeClr val="accent6">
                    <a:lumMod val="75000"/>
                  </a:schemeClr>
                </a:solidFill>
              </a:rPr>
              <a:t>volume</a:t>
            </a:r>
            <a:r>
              <a:rPr lang="en-GB" sz="2400" dirty="0">
                <a:solidFill>
                  <a:schemeClr val="accent6">
                    <a:lumMod val="75000"/>
                  </a:schemeClr>
                </a:solidFill>
              </a:rPr>
              <a:t> of </a:t>
            </a:r>
            <a:r>
              <a:rPr lang="en-GB" sz="2400" b="1" dirty="0">
                <a:solidFill>
                  <a:schemeClr val="accent6">
                    <a:lumMod val="75000"/>
                  </a:schemeClr>
                </a:solidFill>
              </a:rPr>
              <a:t>one mole </a:t>
            </a:r>
            <a:r>
              <a:rPr lang="en-GB" sz="2400" dirty="0">
                <a:solidFill>
                  <a:schemeClr val="accent6">
                    <a:lumMod val="75000"/>
                  </a:schemeClr>
                </a:solidFill>
              </a:rPr>
              <a:t>of any </a:t>
            </a:r>
            <a:r>
              <a:rPr lang="en-GB" sz="2400" b="1" dirty="0">
                <a:solidFill>
                  <a:schemeClr val="accent6">
                    <a:lumMod val="75000"/>
                  </a:schemeClr>
                </a:solidFill>
              </a:rPr>
              <a:t>gas</a:t>
            </a:r>
            <a:r>
              <a:rPr lang="en-GB" sz="2400" dirty="0">
                <a:solidFill>
                  <a:schemeClr val="accent6">
                    <a:lumMod val="75000"/>
                  </a:schemeClr>
                </a:solidFill>
              </a:rPr>
              <a:t> at </a:t>
            </a:r>
            <a:r>
              <a:rPr lang="en-GB" sz="2400" b="1" dirty="0">
                <a:solidFill>
                  <a:schemeClr val="accent6">
                    <a:lumMod val="75000"/>
                  </a:schemeClr>
                </a:solidFill>
              </a:rPr>
              <a:t>room temperature and pressure (</a:t>
            </a:r>
            <a:r>
              <a:rPr lang="en-GB" sz="2400" b="1" dirty="0" err="1">
                <a:solidFill>
                  <a:schemeClr val="accent6">
                    <a:lumMod val="75000"/>
                  </a:schemeClr>
                </a:solidFill>
              </a:rPr>
              <a:t>rtp</a:t>
            </a:r>
            <a:r>
              <a:rPr lang="en-GB" sz="2400" b="1" dirty="0">
                <a:solidFill>
                  <a:schemeClr val="accent6">
                    <a:lumMod val="75000"/>
                  </a:schemeClr>
                </a:solidFill>
              </a:rPr>
              <a:t>) </a:t>
            </a:r>
            <a:r>
              <a:rPr lang="en-GB" sz="2400" dirty="0">
                <a:solidFill>
                  <a:schemeClr val="accent6">
                    <a:lumMod val="75000"/>
                  </a:schemeClr>
                </a:solidFill>
              </a:rPr>
              <a:t>(</a:t>
            </a:r>
            <a:r>
              <a:rPr lang="en-GB" sz="2400" b="1" dirty="0">
                <a:solidFill>
                  <a:schemeClr val="accent6">
                    <a:lumMod val="75000"/>
                  </a:schemeClr>
                </a:solidFill>
              </a:rPr>
              <a:t>20°C and 1 atmospheric pressure</a:t>
            </a:r>
            <a:r>
              <a:rPr lang="en-GB" sz="2400" dirty="0">
                <a:solidFill>
                  <a:schemeClr val="accent6">
                    <a:lumMod val="75000"/>
                  </a:schemeClr>
                </a:solidFill>
              </a:rPr>
              <a:t>) is </a:t>
            </a:r>
            <a:r>
              <a:rPr lang="en-GB" sz="2400" b="1" dirty="0">
                <a:solidFill>
                  <a:schemeClr val="accent6">
                    <a:lumMod val="75000"/>
                  </a:schemeClr>
                </a:solidFill>
              </a:rPr>
              <a:t>24 dm</a:t>
            </a:r>
            <a:r>
              <a:rPr lang="en-GB" sz="2400" b="1" baseline="30000" dirty="0">
                <a:solidFill>
                  <a:schemeClr val="accent6">
                    <a:lumMod val="75000"/>
                  </a:schemeClr>
                </a:solidFill>
              </a:rPr>
              <a:t>3</a:t>
            </a:r>
            <a:r>
              <a:rPr lang="en-GB" sz="2400" dirty="0">
                <a:solidFill>
                  <a:schemeClr val="accent6">
                    <a:lumMod val="75000"/>
                  </a:schemeClr>
                </a:solidFill>
              </a:rPr>
              <a:t>.</a:t>
            </a:r>
          </a:p>
          <a:p>
            <a:pPr algn="ctr"/>
            <a:endParaRPr lang="en-GB" sz="800" dirty="0"/>
          </a:p>
        </p:txBody>
      </p:sp>
      <p:sp>
        <p:nvSpPr>
          <p:cNvPr id="15" name="TextBox 14">
            <a:extLst>
              <a:ext uri="{FF2B5EF4-FFF2-40B4-BE49-F238E27FC236}">
                <a16:creationId xmlns:a16="http://schemas.microsoft.com/office/drawing/2014/main" id="{174F9138-4409-4E9A-9F8F-68FB0EC8BE65}"/>
              </a:ext>
            </a:extLst>
          </p:cNvPr>
          <p:cNvSpPr txBox="1"/>
          <p:nvPr/>
        </p:nvSpPr>
        <p:spPr>
          <a:xfrm rot="10800000" flipH="1" flipV="1">
            <a:off x="279870" y="2173667"/>
            <a:ext cx="8468593" cy="1446550"/>
          </a:xfrm>
          <a:prstGeom prst="rect">
            <a:avLst/>
          </a:prstGeom>
          <a:noFill/>
        </p:spPr>
        <p:txBody>
          <a:bodyPr wrap="square" rtlCol="0">
            <a:spAutoFit/>
          </a:bodyPr>
          <a:lstStyle/>
          <a:p>
            <a:r>
              <a:rPr lang="en-GB" sz="2000" dirty="0"/>
              <a:t>You can calculate the </a:t>
            </a:r>
            <a:r>
              <a:rPr lang="en-GB" sz="2000" b="1" dirty="0"/>
              <a:t>volume </a:t>
            </a:r>
            <a:r>
              <a:rPr lang="en-GB" sz="2000" dirty="0"/>
              <a:t>of a gas at room temperature and pressure from its </a:t>
            </a:r>
            <a:r>
              <a:rPr lang="en-GB" sz="2000" b="1" dirty="0"/>
              <a:t>mass</a:t>
            </a:r>
            <a:r>
              <a:rPr lang="en-GB" sz="2000" dirty="0"/>
              <a:t> and </a:t>
            </a:r>
            <a:r>
              <a:rPr lang="en-GB" sz="2000" b="1" dirty="0"/>
              <a:t>relative formula mass </a:t>
            </a:r>
            <a:r>
              <a:rPr lang="en-GB" sz="2000" dirty="0"/>
              <a:t>using the equation:</a:t>
            </a:r>
          </a:p>
          <a:p>
            <a:endParaRPr lang="en-GB" sz="800" dirty="0"/>
          </a:p>
          <a:p>
            <a:r>
              <a:rPr lang="en-GB" sz="2000" b="1" dirty="0"/>
              <a:t>Number of moles =               mass</a:t>
            </a:r>
          </a:p>
          <a:p>
            <a:r>
              <a:rPr lang="en-GB" sz="2000" b="1" dirty="0"/>
              <a:t>	                    relative formula mass</a:t>
            </a:r>
          </a:p>
        </p:txBody>
      </p:sp>
      <p:cxnSp>
        <p:nvCxnSpPr>
          <p:cNvPr id="10" name="Straight Connector 9">
            <a:extLst>
              <a:ext uri="{FF2B5EF4-FFF2-40B4-BE49-F238E27FC236}">
                <a16:creationId xmlns:a16="http://schemas.microsoft.com/office/drawing/2014/main" id="{2F16DB37-D7AF-4CFA-8186-76A9D2F37C42}"/>
              </a:ext>
            </a:extLst>
          </p:cNvPr>
          <p:cNvCxnSpPr>
            <a:cxnSpLocks/>
          </p:cNvCxnSpPr>
          <p:nvPr/>
        </p:nvCxnSpPr>
        <p:spPr>
          <a:xfrm>
            <a:off x="2411760" y="3276600"/>
            <a:ext cx="2088232" cy="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F4E8942B-0110-4F51-A507-D1C97DC25B3F}"/>
              </a:ext>
            </a:extLst>
          </p:cNvPr>
          <p:cNvSpPr txBox="1"/>
          <p:nvPr/>
        </p:nvSpPr>
        <p:spPr>
          <a:xfrm>
            <a:off x="260887" y="4186492"/>
            <a:ext cx="8487575" cy="1015663"/>
          </a:xfrm>
          <a:prstGeom prst="rect">
            <a:avLst/>
          </a:prstGeom>
          <a:noFill/>
        </p:spPr>
        <p:txBody>
          <a:bodyPr wrap="square" rtlCol="0">
            <a:spAutoFit/>
          </a:bodyPr>
          <a:lstStyle/>
          <a:p>
            <a:r>
              <a:rPr lang="en-GB" sz="2000" dirty="0"/>
              <a:t>You can calculate the </a:t>
            </a:r>
            <a:r>
              <a:rPr lang="en-GB" sz="2000" b="1" dirty="0"/>
              <a:t>volumes</a:t>
            </a:r>
            <a:r>
              <a:rPr lang="en-GB" sz="2000" dirty="0"/>
              <a:t> of gaseous </a:t>
            </a:r>
            <a:r>
              <a:rPr lang="en-GB" sz="2000" b="1" dirty="0"/>
              <a:t>reactants</a:t>
            </a:r>
            <a:r>
              <a:rPr lang="en-GB" sz="2000" dirty="0"/>
              <a:t> and </a:t>
            </a:r>
            <a:r>
              <a:rPr lang="en-GB" sz="2000" b="1" dirty="0"/>
              <a:t>products</a:t>
            </a:r>
            <a:r>
              <a:rPr lang="en-GB" sz="2000" dirty="0"/>
              <a:t> from a </a:t>
            </a:r>
            <a:r>
              <a:rPr lang="en-GB" sz="2000" b="1" dirty="0"/>
              <a:t>balanced equation </a:t>
            </a:r>
            <a:r>
              <a:rPr lang="en-GB" sz="2000" dirty="0"/>
              <a:t>and a given </a:t>
            </a:r>
            <a:r>
              <a:rPr lang="en-GB" sz="2000" b="1" dirty="0"/>
              <a:t>volume</a:t>
            </a:r>
            <a:r>
              <a:rPr lang="en-GB" sz="2000" dirty="0"/>
              <a:t> of a gaseous </a:t>
            </a:r>
            <a:r>
              <a:rPr lang="en-GB" sz="2000" b="1" dirty="0"/>
              <a:t>reactant or product </a:t>
            </a:r>
            <a:r>
              <a:rPr lang="en-GB" sz="2000" dirty="0"/>
              <a:t>using the following equation:</a:t>
            </a:r>
          </a:p>
        </p:txBody>
      </p:sp>
      <p:sp>
        <p:nvSpPr>
          <p:cNvPr id="18" name="TextBox 17">
            <a:extLst>
              <a:ext uri="{FF2B5EF4-FFF2-40B4-BE49-F238E27FC236}">
                <a16:creationId xmlns:a16="http://schemas.microsoft.com/office/drawing/2014/main" id="{8705D143-2C11-4E87-9A5D-5DA77FF8A77F}"/>
              </a:ext>
            </a:extLst>
          </p:cNvPr>
          <p:cNvSpPr txBox="1"/>
          <p:nvPr/>
        </p:nvSpPr>
        <p:spPr>
          <a:xfrm>
            <a:off x="346489" y="5394790"/>
            <a:ext cx="6138796" cy="707886"/>
          </a:xfrm>
          <a:prstGeom prst="rect">
            <a:avLst/>
          </a:prstGeom>
          <a:solidFill>
            <a:schemeClr val="accent6">
              <a:lumMod val="60000"/>
              <a:lumOff val="40000"/>
            </a:schemeClr>
          </a:solidFill>
          <a:ln>
            <a:solidFill>
              <a:schemeClr val="accent6">
                <a:lumMod val="75000"/>
              </a:schemeClr>
            </a:solidFill>
          </a:ln>
        </p:spPr>
        <p:txBody>
          <a:bodyPr wrap="none" rtlCol="0">
            <a:spAutoFit/>
          </a:bodyPr>
          <a:lstStyle/>
          <a:p>
            <a:r>
              <a:rPr lang="en-GB" sz="2000" b="1" dirty="0">
                <a:ea typeface="Times New Roman" panose="02020603050405020304" pitchFamily="18" charset="0"/>
                <a:cs typeface="Arial" panose="020B0604020202020204" pitchFamily="34" charset="0"/>
              </a:rPr>
              <a:t>Volume of gas at </a:t>
            </a:r>
            <a:r>
              <a:rPr lang="en-GB" sz="2000" b="1" dirty="0" err="1">
                <a:ea typeface="Times New Roman" panose="02020603050405020304" pitchFamily="18" charset="0"/>
                <a:cs typeface="Arial" panose="020B0604020202020204" pitchFamily="34" charset="0"/>
              </a:rPr>
              <a:t>rtp</a:t>
            </a:r>
            <a:r>
              <a:rPr lang="en-GB" sz="2000" dirty="0">
                <a:ea typeface="Times New Roman" panose="02020603050405020304" pitchFamily="18" charset="0"/>
                <a:cs typeface="Arial" panose="020B0604020202020204" pitchFamily="34" charset="0"/>
              </a:rPr>
              <a:t> </a:t>
            </a:r>
            <a:r>
              <a:rPr lang="en-GB" sz="2000" u="sng" dirty="0">
                <a:ea typeface="Times New Roman" panose="02020603050405020304" pitchFamily="18" charset="0"/>
                <a:cs typeface="Arial" panose="020B0604020202020204" pitchFamily="34" charset="0"/>
              </a:rPr>
              <a:t>= </a:t>
            </a:r>
            <a:r>
              <a:rPr lang="en-GB" sz="2000" b="1" u="sng" dirty="0">
                <a:ea typeface="Times New Roman" panose="02020603050405020304" pitchFamily="18" charset="0"/>
                <a:cs typeface="Arial" panose="020B0604020202020204" pitchFamily="34" charset="0"/>
              </a:rPr>
              <a:t>number of moles   x   molar mass </a:t>
            </a:r>
          </a:p>
          <a:p>
            <a:r>
              <a:rPr lang="en-GB" sz="2000" b="1" dirty="0">
                <a:ea typeface="Times New Roman" panose="02020603050405020304" pitchFamily="18" charset="0"/>
                <a:cs typeface="Arial" panose="020B0604020202020204" pitchFamily="34" charset="0"/>
              </a:rPr>
              <a:t>                                                          volume (24 dm</a:t>
            </a:r>
            <a:r>
              <a:rPr lang="en-GB" sz="2000" b="1" baseline="30000" dirty="0">
                <a:ea typeface="Times New Roman" panose="02020603050405020304" pitchFamily="18" charset="0"/>
                <a:cs typeface="Arial" panose="020B0604020202020204" pitchFamily="34" charset="0"/>
              </a:rPr>
              <a:t>3</a:t>
            </a:r>
            <a:r>
              <a:rPr lang="en-GB" sz="2000" b="1" dirty="0">
                <a:ea typeface="Times New Roman" panose="02020603050405020304" pitchFamily="18" charset="0"/>
                <a:cs typeface="Arial" panose="020B0604020202020204" pitchFamily="34" charset="0"/>
              </a:rPr>
              <a:t>)</a:t>
            </a:r>
            <a:endParaRPr lang="en-GB" sz="2000" b="1" dirty="0">
              <a:ea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37024F89-2B6E-47E8-88C5-B14609D43694}"/>
              </a:ext>
            </a:extLst>
          </p:cNvPr>
          <p:cNvCxnSpPr/>
          <p:nvPr/>
        </p:nvCxnSpPr>
        <p:spPr>
          <a:xfrm>
            <a:off x="4499992" y="5717955"/>
            <a:ext cx="1561160" cy="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8705D143-2C11-4E87-9A5D-5DA77FF8A77F}"/>
              </a:ext>
            </a:extLst>
          </p:cNvPr>
          <p:cNvSpPr txBox="1"/>
          <p:nvPr/>
        </p:nvSpPr>
        <p:spPr>
          <a:xfrm>
            <a:off x="5212445" y="3091141"/>
            <a:ext cx="3686202" cy="400110"/>
          </a:xfrm>
          <a:prstGeom prst="rect">
            <a:avLst/>
          </a:prstGeom>
          <a:solidFill>
            <a:schemeClr val="accent6">
              <a:lumMod val="60000"/>
              <a:lumOff val="40000"/>
            </a:schemeClr>
          </a:solidFill>
          <a:ln>
            <a:solidFill>
              <a:schemeClr val="accent6">
                <a:lumMod val="75000"/>
              </a:schemeClr>
            </a:solidFill>
          </a:ln>
        </p:spPr>
        <p:txBody>
          <a:bodyPr wrap="none" rtlCol="0">
            <a:spAutoFit/>
          </a:bodyPr>
          <a:lstStyle/>
          <a:p>
            <a:r>
              <a:rPr lang="en-GB" sz="2000" b="1" dirty="0">
                <a:ea typeface="Times New Roman" panose="02020603050405020304" pitchFamily="18" charset="0"/>
                <a:cs typeface="Arial" panose="020B0604020202020204" pitchFamily="34" charset="0"/>
              </a:rPr>
              <a:t>Volume of gas at </a:t>
            </a:r>
            <a:r>
              <a:rPr lang="en-GB" sz="2000" b="1" dirty="0" err="1">
                <a:ea typeface="Times New Roman" panose="02020603050405020304" pitchFamily="18" charset="0"/>
                <a:cs typeface="Arial" panose="020B0604020202020204" pitchFamily="34" charset="0"/>
              </a:rPr>
              <a:t>rtp</a:t>
            </a:r>
            <a:r>
              <a:rPr lang="en-GB" sz="2000" dirty="0">
                <a:ea typeface="Times New Roman" panose="02020603050405020304" pitchFamily="18" charset="0"/>
                <a:cs typeface="Arial" panose="020B0604020202020204" pitchFamily="34" charset="0"/>
              </a:rPr>
              <a:t> </a:t>
            </a:r>
            <a:r>
              <a:rPr lang="en-GB" sz="2000" b="1" dirty="0">
                <a:ea typeface="Times New Roman" panose="02020603050405020304" pitchFamily="18" charset="0"/>
                <a:cs typeface="Arial" panose="020B0604020202020204" pitchFamily="34" charset="0"/>
              </a:rPr>
              <a:t>= moles x 24</a:t>
            </a:r>
            <a:endParaRPr lang="en-GB" sz="2000" b="1" dirty="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36122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198704"/>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Molar volume of gas (HT)</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Rectangle 4">
            <a:extLst>
              <a:ext uri="{FF2B5EF4-FFF2-40B4-BE49-F238E27FC236}">
                <a16:creationId xmlns:a16="http://schemas.microsoft.com/office/drawing/2014/main" id="{44BB4903-CB3E-425C-9E8D-8AC8820396EB}"/>
              </a:ext>
            </a:extLst>
          </p:cNvPr>
          <p:cNvSpPr/>
          <p:nvPr/>
        </p:nvSpPr>
        <p:spPr>
          <a:xfrm>
            <a:off x="0" y="722055"/>
            <a:ext cx="3671464" cy="2554545"/>
          </a:xfrm>
          <a:prstGeom prst="rect">
            <a:avLst/>
          </a:prstGeom>
          <a:solidFill>
            <a:schemeClr val="accent6">
              <a:lumMod val="20000"/>
              <a:lumOff val="80000"/>
            </a:schemeClr>
          </a:solidFill>
          <a:ln>
            <a:solidFill>
              <a:schemeClr val="accent6">
                <a:lumMod val="75000"/>
              </a:schemeClr>
            </a:solidFill>
          </a:ln>
        </p:spPr>
        <p:txBody>
          <a:bodyPr wrap="square">
            <a:spAutoFit/>
          </a:bodyPr>
          <a:lstStyle/>
          <a:p>
            <a:r>
              <a:rPr lang="en-GB" sz="2000" i="1" dirty="0"/>
              <a:t>What is the volume of 3.5g of hydrogen?</a:t>
            </a:r>
            <a:r>
              <a:rPr lang="en-GB" sz="2000" dirty="0"/>
              <a:t> </a:t>
            </a:r>
            <a:endParaRPr lang="en-GB" sz="2000" b="1" dirty="0">
              <a:solidFill>
                <a:schemeClr val="accent6">
                  <a:lumMod val="75000"/>
                </a:schemeClr>
              </a:solidFill>
            </a:endParaRPr>
          </a:p>
          <a:p>
            <a:r>
              <a:rPr lang="en-GB" sz="2000" b="1" dirty="0" err="1">
                <a:solidFill>
                  <a:schemeClr val="accent6">
                    <a:lumMod val="75000"/>
                  </a:schemeClr>
                </a:solidFill>
              </a:rPr>
              <a:t>A</a:t>
            </a:r>
            <a:r>
              <a:rPr lang="en-GB" sz="2000" b="1" baseline="-25000" dirty="0" err="1">
                <a:solidFill>
                  <a:schemeClr val="accent6">
                    <a:lumMod val="75000"/>
                  </a:schemeClr>
                </a:solidFill>
              </a:rPr>
              <a:t>r</a:t>
            </a:r>
            <a:r>
              <a:rPr lang="en-GB" sz="2000" b="1" dirty="0">
                <a:solidFill>
                  <a:schemeClr val="accent6">
                    <a:lumMod val="75000"/>
                  </a:schemeClr>
                </a:solidFill>
              </a:rPr>
              <a:t> :  H (1) </a:t>
            </a:r>
          </a:p>
          <a:p>
            <a:r>
              <a:rPr lang="en-GB" sz="2000" b="1" dirty="0">
                <a:solidFill>
                  <a:schemeClr val="accent6">
                    <a:lumMod val="75000"/>
                  </a:schemeClr>
                </a:solidFill>
              </a:rPr>
              <a:t>M</a:t>
            </a:r>
            <a:r>
              <a:rPr lang="en-GB" sz="2000" b="1" baseline="-25000" dirty="0">
                <a:solidFill>
                  <a:schemeClr val="accent6">
                    <a:lumMod val="75000"/>
                  </a:schemeClr>
                </a:solidFill>
              </a:rPr>
              <a:t>r</a:t>
            </a:r>
            <a:r>
              <a:rPr lang="en-GB" sz="2000" b="1" dirty="0">
                <a:solidFill>
                  <a:schemeClr val="accent6">
                    <a:lumMod val="75000"/>
                  </a:schemeClr>
                </a:solidFill>
              </a:rPr>
              <a:t> : H</a:t>
            </a:r>
            <a:r>
              <a:rPr lang="en-GB" sz="2000" b="1" baseline="-25000" dirty="0">
                <a:solidFill>
                  <a:schemeClr val="accent6">
                    <a:lumMod val="75000"/>
                  </a:schemeClr>
                </a:solidFill>
              </a:rPr>
              <a:t>2</a:t>
            </a:r>
            <a:r>
              <a:rPr lang="en-GB" sz="2000" b="1" dirty="0">
                <a:solidFill>
                  <a:schemeClr val="accent6">
                    <a:lumMod val="75000"/>
                  </a:schemeClr>
                </a:solidFill>
              </a:rPr>
              <a:t> = 2</a:t>
            </a:r>
          </a:p>
          <a:p>
            <a:r>
              <a:rPr lang="en-GB" sz="2000" b="1" dirty="0">
                <a:solidFill>
                  <a:schemeClr val="accent6">
                    <a:lumMod val="75000"/>
                  </a:schemeClr>
                </a:solidFill>
              </a:rPr>
              <a:t>1 mole in g = 2g</a:t>
            </a:r>
          </a:p>
          <a:p>
            <a:r>
              <a:rPr lang="en-GB" sz="2000" b="1" dirty="0">
                <a:solidFill>
                  <a:schemeClr val="accent6">
                    <a:lumMod val="75000"/>
                  </a:schemeClr>
                </a:solidFill>
              </a:rPr>
              <a:t>3.5/2 = 1.75 </a:t>
            </a:r>
            <a:r>
              <a:rPr lang="en-GB" sz="2000" b="1" dirty="0" err="1">
                <a:solidFill>
                  <a:schemeClr val="accent6">
                    <a:lumMod val="75000"/>
                  </a:schemeClr>
                </a:solidFill>
              </a:rPr>
              <a:t>mol</a:t>
            </a:r>
            <a:endParaRPr lang="en-GB" sz="2000" b="1" dirty="0">
              <a:solidFill>
                <a:schemeClr val="accent6">
                  <a:lumMod val="75000"/>
                </a:schemeClr>
              </a:solidFill>
            </a:endParaRPr>
          </a:p>
          <a:p>
            <a:endParaRPr lang="en-GB" sz="2000" b="1" dirty="0">
              <a:solidFill>
                <a:schemeClr val="accent6">
                  <a:lumMod val="75000"/>
                </a:schemeClr>
              </a:solidFill>
            </a:endParaRPr>
          </a:p>
          <a:p>
            <a:r>
              <a:rPr lang="en-GB" sz="2000" b="1" dirty="0">
                <a:solidFill>
                  <a:schemeClr val="accent6">
                    <a:lumMod val="75000"/>
                  </a:schemeClr>
                </a:solidFill>
              </a:rPr>
              <a:t>volume H</a:t>
            </a:r>
            <a:r>
              <a:rPr lang="en-GB" sz="2000" b="1" baseline="-25000" dirty="0">
                <a:solidFill>
                  <a:schemeClr val="accent6">
                    <a:lumMod val="75000"/>
                  </a:schemeClr>
                </a:solidFill>
              </a:rPr>
              <a:t>2</a:t>
            </a:r>
            <a:r>
              <a:rPr lang="en-GB" sz="2000" b="1" dirty="0">
                <a:solidFill>
                  <a:schemeClr val="accent6">
                    <a:lumMod val="75000"/>
                  </a:schemeClr>
                </a:solidFill>
              </a:rPr>
              <a:t> = 1.75 x 24 = 42 dm</a:t>
            </a:r>
            <a:r>
              <a:rPr lang="en-GB" sz="2000" b="1" baseline="30000" dirty="0">
                <a:solidFill>
                  <a:schemeClr val="accent6">
                    <a:lumMod val="75000"/>
                  </a:schemeClr>
                </a:solidFill>
              </a:rPr>
              <a:t>3</a:t>
            </a:r>
            <a:r>
              <a:rPr lang="en-GB" sz="2000" b="1" dirty="0">
                <a:solidFill>
                  <a:schemeClr val="accent6">
                    <a:lumMod val="75000"/>
                  </a:schemeClr>
                </a:solidFill>
              </a:rPr>
              <a:t> </a:t>
            </a:r>
            <a:endParaRPr lang="en-GB" sz="2000" b="1" i="0" dirty="0">
              <a:solidFill>
                <a:schemeClr val="accent6">
                  <a:lumMod val="75000"/>
                </a:schemeClr>
              </a:solidFill>
              <a:effectLst/>
            </a:endParaRPr>
          </a:p>
        </p:txBody>
      </p:sp>
      <p:sp>
        <p:nvSpPr>
          <p:cNvPr id="13" name="Rectangle 12">
            <a:extLst>
              <a:ext uri="{FF2B5EF4-FFF2-40B4-BE49-F238E27FC236}">
                <a16:creationId xmlns:a16="http://schemas.microsoft.com/office/drawing/2014/main" id="{FCF454E6-6D85-4DE7-A5EE-9AA6BC805958}"/>
              </a:ext>
            </a:extLst>
          </p:cNvPr>
          <p:cNvSpPr/>
          <p:nvPr/>
        </p:nvSpPr>
        <p:spPr>
          <a:xfrm>
            <a:off x="3765920" y="948402"/>
            <a:ext cx="5283696" cy="1938992"/>
          </a:xfrm>
          <a:prstGeom prst="rect">
            <a:avLst/>
          </a:prstGeom>
          <a:solidFill>
            <a:schemeClr val="accent6">
              <a:lumMod val="20000"/>
              <a:lumOff val="80000"/>
            </a:schemeClr>
          </a:solidFill>
          <a:ln>
            <a:solidFill>
              <a:schemeClr val="accent6">
                <a:lumMod val="75000"/>
              </a:schemeClr>
            </a:solidFill>
          </a:ln>
        </p:spPr>
        <p:txBody>
          <a:bodyPr wrap="square">
            <a:spAutoFit/>
          </a:bodyPr>
          <a:lstStyle/>
          <a:p>
            <a:r>
              <a:rPr lang="en-GB" sz="2000" i="1" dirty="0">
                <a:solidFill>
                  <a:srgbClr val="000000"/>
                </a:solidFill>
              </a:rPr>
              <a:t>6g of a hydrocarbon gas had a volume of 4.8 dm</a:t>
            </a:r>
            <a:r>
              <a:rPr lang="en-GB" sz="2000" i="1" baseline="30000" dirty="0">
                <a:solidFill>
                  <a:srgbClr val="000000"/>
                </a:solidFill>
              </a:rPr>
              <a:t>3</a:t>
            </a:r>
            <a:r>
              <a:rPr lang="en-GB" sz="2000" i="1" dirty="0">
                <a:solidFill>
                  <a:srgbClr val="000000"/>
                </a:solidFill>
              </a:rPr>
              <a:t>. Calculate its molecular mass.</a:t>
            </a:r>
          </a:p>
          <a:p>
            <a:endParaRPr lang="en-GB" sz="2000" i="1" dirty="0">
              <a:solidFill>
                <a:srgbClr val="000000"/>
              </a:solidFill>
            </a:endParaRPr>
          </a:p>
          <a:p>
            <a:r>
              <a:rPr lang="en-GB" sz="2000" b="1" dirty="0">
                <a:solidFill>
                  <a:schemeClr val="accent6">
                    <a:lumMod val="75000"/>
                  </a:schemeClr>
                </a:solidFill>
              </a:rPr>
              <a:t>1 mole = 24 dm</a:t>
            </a:r>
            <a:r>
              <a:rPr lang="en-GB" sz="2000" b="1" baseline="30000" dirty="0">
                <a:solidFill>
                  <a:schemeClr val="accent6">
                    <a:lumMod val="75000"/>
                  </a:schemeClr>
                </a:solidFill>
              </a:rPr>
              <a:t>3</a:t>
            </a:r>
            <a:r>
              <a:rPr lang="en-GB" sz="2000" b="1" dirty="0">
                <a:solidFill>
                  <a:schemeClr val="accent6">
                    <a:lumMod val="75000"/>
                  </a:schemeClr>
                </a:solidFill>
              </a:rPr>
              <a:t>, so 4.8/24 = 0.2 </a:t>
            </a:r>
            <a:r>
              <a:rPr lang="en-GB" sz="2000" b="1" dirty="0" err="1">
                <a:solidFill>
                  <a:schemeClr val="accent6">
                    <a:lumMod val="75000"/>
                  </a:schemeClr>
                </a:solidFill>
              </a:rPr>
              <a:t>mol</a:t>
            </a:r>
            <a:endParaRPr lang="en-GB" sz="2000" b="1" dirty="0">
              <a:solidFill>
                <a:schemeClr val="accent6">
                  <a:lumMod val="75000"/>
                </a:schemeClr>
              </a:solidFill>
            </a:endParaRPr>
          </a:p>
          <a:p>
            <a:r>
              <a:rPr lang="en-GB" sz="2000" b="1" dirty="0">
                <a:solidFill>
                  <a:schemeClr val="accent6">
                    <a:lumMod val="75000"/>
                  </a:schemeClr>
                </a:solidFill>
              </a:rPr>
              <a:t>M</a:t>
            </a:r>
            <a:r>
              <a:rPr lang="en-GB" sz="2000" b="1" baseline="-25000" dirty="0">
                <a:solidFill>
                  <a:schemeClr val="accent6">
                    <a:lumMod val="75000"/>
                  </a:schemeClr>
                </a:solidFill>
              </a:rPr>
              <a:t>r</a:t>
            </a:r>
            <a:r>
              <a:rPr lang="en-GB" sz="2000" b="1" dirty="0">
                <a:solidFill>
                  <a:schemeClr val="accent6">
                    <a:lumMod val="75000"/>
                  </a:schemeClr>
                </a:solidFill>
              </a:rPr>
              <a:t> = 6 / 0.2 = 30</a:t>
            </a:r>
          </a:p>
          <a:p>
            <a:r>
              <a:rPr lang="en-GB" sz="2000" b="1" dirty="0">
                <a:solidFill>
                  <a:schemeClr val="accent6">
                    <a:lumMod val="75000"/>
                  </a:schemeClr>
                </a:solidFill>
              </a:rPr>
              <a:t>if 6g = 0.2 </a:t>
            </a:r>
            <a:r>
              <a:rPr lang="en-GB" sz="2000" b="1" dirty="0" err="1">
                <a:solidFill>
                  <a:schemeClr val="accent6">
                    <a:lumMod val="75000"/>
                  </a:schemeClr>
                </a:solidFill>
              </a:rPr>
              <a:t>mol</a:t>
            </a:r>
            <a:r>
              <a:rPr lang="en-GB" sz="2000" b="1" dirty="0">
                <a:solidFill>
                  <a:schemeClr val="accent6">
                    <a:lumMod val="75000"/>
                  </a:schemeClr>
                </a:solidFill>
              </a:rPr>
              <a:t>, 1 </a:t>
            </a:r>
            <a:r>
              <a:rPr lang="en-GB" sz="2000" b="1" dirty="0" err="1">
                <a:solidFill>
                  <a:schemeClr val="accent6">
                    <a:lumMod val="75000"/>
                  </a:schemeClr>
                </a:solidFill>
              </a:rPr>
              <a:t>mol</a:t>
            </a:r>
            <a:r>
              <a:rPr lang="en-GB" sz="2000" b="1" dirty="0">
                <a:solidFill>
                  <a:schemeClr val="accent6">
                    <a:lumMod val="75000"/>
                  </a:schemeClr>
                </a:solidFill>
              </a:rPr>
              <a:t> equals 30 g </a:t>
            </a:r>
            <a:endParaRPr lang="en-GB" sz="2000" b="1" i="0" dirty="0">
              <a:solidFill>
                <a:schemeClr val="accent6">
                  <a:lumMod val="75000"/>
                </a:schemeClr>
              </a:solidFill>
              <a:effectLst/>
            </a:endParaRPr>
          </a:p>
        </p:txBody>
      </p:sp>
      <p:sp>
        <p:nvSpPr>
          <p:cNvPr id="12" name="Rectangle 11">
            <a:extLst>
              <a:ext uri="{FF2B5EF4-FFF2-40B4-BE49-F238E27FC236}">
                <a16:creationId xmlns:a16="http://schemas.microsoft.com/office/drawing/2014/main" id="{A3175E69-2430-4AD5-99AE-F3899B0E9E9B}"/>
              </a:ext>
            </a:extLst>
          </p:cNvPr>
          <p:cNvSpPr/>
          <p:nvPr/>
        </p:nvSpPr>
        <p:spPr>
          <a:xfrm>
            <a:off x="197768" y="3607524"/>
            <a:ext cx="3024336" cy="2554545"/>
          </a:xfrm>
          <a:prstGeom prst="rect">
            <a:avLst/>
          </a:prstGeom>
          <a:solidFill>
            <a:schemeClr val="accent6">
              <a:lumMod val="20000"/>
              <a:lumOff val="80000"/>
            </a:schemeClr>
          </a:solidFill>
          <a:ln>
            <a:solidFill>
              <a:schemeClr val="accent6">
                <a:lumMod val="75000"/>
              </a:schemeClr>
            </a:solidFill>
          </a:ln>
        </p:spPr>
        <p:txBody>
          <a:bodyPr wrap="square">
            <a:spAutoFit/>
          </a:bodyPr>
          <a:lstStyle/>
          <a:p>
            <a:r>
              <a:rPr lang="en-GB" sz="2000" i="1" dirty="0"/>
              <a:t>What is the volume of 11.6 g of </a:t>
            </a:r>
          </a:p>
          <a:p>
            <a:r>
              <a:rPr lang="en-GB" sz="2000" i="1" dirty="0"/>
              <a:t>butane (C</a:t>
            </a:r>
            <a:r>
              <a:rPr lang="en-GB" sz="2000" i="1" baseline="-25000" dirty="0"/>
              <a:t>4</a:t>
            </a:r>
            <a:r>
              <a:rPr lang="en-GB" sz="2000" i="1" dirty="0"/>
              <a:t>H</a:t>
            </a:r>
            <a:r>
              <a:rPr lang="en-GB" sz="2000" i="1" baseline="-25000" dirty="0"/>
              <a:t>10</a:t>
            </a:r>
            <a:r>
              <a:rPr lang="en-GB" sz="2000" i="1" dirty="0"/>
              <a:t>) gas at RTP?</a:t>
            </a:r>
          </a:p>
          <a:p>
            <a:endParaRPr lang="en-GB" sz="2000" dirty="0"/>
          </a:p>
          <a:p>
            <a:r>
              <a:rPr lang="en-GB" sz="2000" b="1" dirty="0">
                <a:solidFill>
                  <a:schemeClr val="accent6">
                    <a:lumMod val="75000"/>
                  </a:schemeClr>
                </a:solidFill>
              </a:rPr>
              <a:t>M</a:t>
            </a:r>
            <a:r>
              <a:rPr lang="en-GB" sz="2000" b="1" baseline="-25000" dirty="0">
                <a:solidFill>
                  <a:schemeClr val="accent6">
                    <a:lumMod val="75000"/>
                  </a:schemeClr>
                </a:solidFill>
              </a:rPr>
              <a:t>r </a:t>
            </a:r>
            <a:r>
              <a:rPr lang="en-GB" sz="2000" b="1" dirty="0">
                <a:solidFill>
                  <a:schemeClr val="accent6">
                    <a:lumMod val="75000"/>
                  </a:schemeClr>
                </a:solidFill>
              </a:rPr>
              <a:t>: (4 x 12) + (10 x 1) = 58</a:t>
            </a:r>
          </a:p>
          <a:p>
            <a:r>
              <a:rPr lang="en-GB" sz="2000" b="1" dirty="0">
                <a:solidFill>
                  <a:schemeClr val="accent6">
                    <a:lumMod val="75000"/>
                  </a:schemeClr>
                </a:solidFill>
              </a:rPr>
              <a:t>11.6/58 = 0.20 </a:t>
            </a:r>
            <a:r>
              <a:rPr lang="en-GB" sz="2000" b="1" dirty="0" err="1">
                <a:solidFill>
                  <a:schemeClr val="accent6">
                    <a:lumMod val="75000"/>
                  </a:schemeClr>
                </a:solidFill>
              </a:rPr>
              <a:t>mol</a:t>
            </a:r>
            <a:endParaRPr lang="en-GB" sz="2000" b="1" dirty="0">
              <a:solidFill>
                <a:schemeClr val="accent6">
                  <a:lumMod val="75000"/>
                </a:schemeClr>
              </a:solidFill>
            </a:endParaRPr>
          </a:p>
          <a:p>
            <a:r>
              <a:rPr lang="en-GB" sz="2000" b="1" dirty="0">
                <a:solidFill>
                  <a:schemeClr val="accent6">
                    <a:lumMod val="75000"/>
                  </a:schemeClr>
                </a:solidFill>
              </a:rPr>
              <a:t>volume =  0.20 x 24 = 4.8 dm</a:t>
            </a:r>
            <a:r>
              <a:rPr lang="en-GB" sz="2000" b="1" baseline="30000" dirty="0">
                <a:solidFill>
                  <a:schemeClr val="accent6">
                    <a:lumMod val="75000"/>
                  </a:schemeClr>
                </a:solidFill>
              </a:rPr>
              <a:t>3</a:t>
            </a:r>
            <a:endParaRPr lang="en-GB" sz="2000" b="1" dirty="0">
              <a:solidFill>
                <a:schemeClr val="accent6">
                  <a:lumMod val="75000"/>
                </a:schemeClr>
              </a:solidFill>
            </a:endParaRPr>
          </a:p>
        </p:txBody>
      </p:sp>
      <p:sp>
        <p:nvSpPr>
          <p:cNvPr id="6" name="Rectangle 5">
            <a:extLst>
              <a:ext uri="{FF2B5EF4-FFF2-40B4-BE49-F238E27FC236}">
                <a16:creationId xmlns:a16="http://schemas.microsoft.com/office/drawing/2014/main" id="{CDB23334-C148-49CD-B4E7-9CF432EA89DA}"/>
              </a:ext>
            </a:extLst>
          </p:cNvPr>
          <p:cNvSpPr/>
          <p:nvPr/>
        </p:nvSpPr>
        <p:spPr>
          <a:xfrm>
            <a:off x="3419872" y="3015118"/>
            <a:ext cx="5616624" cy="3477875"/>
          </a:xfrm>
          <a:prstGeom prst="rect">
            <a:avLst/>
          </a:prstGeom>
          <a:solidFill>
            <a:schemeClr val="accent6">
              <a:lumMod val="20000"/>
              <a:lumOff val="80000"/>
            </a:schemeClr>
          </a:solidFill>
          <a:ln>
            <a:solidFill>
              <a:schemeClr val="accent6">
                <a:lumMod val="75000"/>
              </a:schemeClr>
            </a:solidFill>
          </a:ln>
        </p:spPr>
        <p:txBody>
          <a:bodyPr wrap="square">
            <a:spAutoFit/>
          </a:bodyPr>
          <a:lstStyle/>
          <a:p>
            <a:r>
              <a:rPr lang="en-GB" sz="2000" i="1" dirty="0">
                <a:solidFill>
                  <a:srgbClr val="000000"/>
                </a:solidFill>
              </a:rPr>
              <a:t>What mass of magnesium carbonate is needed to make 6 dm</a:t>
            </a:r>
            <a:r>
              <a:rPr lang="en-GB" sz="2000" i="1" baseline="30000" dirty="0">
                <a:solidFill>
                  <a:srgbClr val="000000"/>
                </a:solidFill>
              </a:rPr>
              <a:t>3</a:t>
            </a:r>
            <a:r>
              <a:rPr lang="en-GB" sz="2000" i="1" dirty="0">
                <a:solidFill>
                  <a:srgbClr val="000000"/>
                </a:solidFill>
              </a:rPr>
              <a:t> of carbon dioxide?</a:t>
            </a:r>
          </a:p>
          <a:p>
            <a:r>
              <a:rPr lang="pt-BR" sz="2000" dirty="0"/>
              <a:t>        MgCO</a:t>
            </a:r>
            <a:r>
              <a:rPr lang="pt-BR" sz="2000" baseline="-25000" dirty="0"/>
              <a:t>3(s)</a:t>
            </a:r>
            <a:r>
              <a:rPr lang="pt-BR" sz="2000" dirty="0"/>
              <a:t> + H</a:t>
            </a:r>
            <a:r>
              <a:rPr lang="pt-BR" sz="2000" baseline="-25000" dirty="0"/>
              <a:t>2</a:t>
            </a:r>
            <a:r>
              <a:rPr lang="pt-BR" sz="2000" dirty="0"/>
              <a:t>SO</a:t>
            </a:r>
            <a:r>
              <a:rPr lang="pt-BR" sz="2000" baseline="-25000" dirty="0"/>
              <a:t>4(aq)</a:t>
            </a:r>
            <a:r>
              <a:rPr lang="pt-BR" sz="2000" dirty="0"/>
              <a:t> </a:t>
            </a:r>
            <a:r>
              <a:rPr lang="pt-BR" sz="2000" dirty="0">
                <a:sym typeface="Wingdings" panose="05000000000000000000" pitchFamily="2" charset="2"/>
              </a:rPr>
              <a:t></a:t>
            </a:r>
            <a:r>
              <a:rPr lang="pt-BR" sz="2000" dirty="0"/>
              <a:t> MgSO</a:t>
            </a:r>
            <a:r>
              <a:rPr lang="pt-BR" sz="2000" baseline="-25000" dirty="0"/>
              <a:t>4(aq)</a:t>
            </a:r>
            <a:r>
              <a:rPr lang="pt-BR" sz="2000" dirty="0"/>
              <a:t> + H</a:t>
            </a:r>
            <a:r>
              <a:rPr lang="pt-BR" sz="2000" baseline="-25000" dirty="0"/>
              <a:t>2</a:t>
            </a:r>
            <a:r>
              <a:rPr lang="pt-BR" sz="2000" dirty="0"/>
              <a:t>O</a:t>
            </a:r>
            <a:r>
              <a:rPr lang="pt-BR" sz="2000" baseline="-25000" dirty="0"/>
              <a:t>(l)</a:t>
            </a:r>
            <a:r>
              <a:rPr lang="pt-BR" sz="2000" dirty="0"/>
              <a:t> +CO</a:t>
            </a:r>
            <a:r>
              <a:rPr lang="pt-BR" sz="2000" baseline="-25000" dirty="0"/>
              <a:t>2(g)</a:t>
            </a:r>
          </a:p>
          <a:p>
            <a:r>
              <a:rPr lang="en-GB" sz="2000" b="1" dirty="0">
                <a:solidFill>
                  <a:schemeClr val="accent6">
                    <a:lumMod val="75000"/>
                  </a:schemeClr>
                </a:solidFill>
              </a:rPr>
              <a:t>1 mole = 24 dm</a:t>
            </a:r>
            <a:r>
              <a:rPr lang="en-GB" sz="2000" b="1" baseline="30000" dirty="0">
                <a:solidFill>
                  <a:schemeClr val="accent6">
                    <a:lumMod val="75000"/>
                  </a:schemeClr>
                </a:solidFill>
              </a:rPr>
              <a:t>3</a:t>
            </a:r>
            <a:r>
              <a:rPr lang="en-GB" sz="2000" b="1" dirty="0">
                <a:solidFill>
                  <a:schemeClr val="accent6">
                    <a:lumMod val="75000"/>
                  </a:schemeClr>
                </a:solidFill>
              </a:rPr>
              <a:t>, 6 dm</a:t>
            </a:r>
            <a:r>
              <a:rPr lang="en-GB" sz="2000" b="1" baseline="30000" dirty="0">
                <a:solidFill>
                  <a:schemeClr val="accent6">
                    <a:lumMod val="75000"/>
                  </a:schemeClr>
                </a:solidFill>
              </a:rPr>
              <a:t>3</a:t>
            </a:r>
            <a:r>
              <a:rPr lang="en-GB" sz="2000" b="1" dirty="0">
                <a:solidFill>
                  <a:schemeClr val="accent6">
                    <a:lumMod val="75000"/>
                  </a:schemeClr>
                </a:solidFill>
              </a:rPr>
              <a:t> is equal to 6/24 = 0.25 </a:t>
            </a:r>
            <a:r>
              <a:rPr lang="en-GB" sz="2000" b="1" dirty="0" err="1">
                <a:solidFill>
                  <a:schemeClr val="accent6">
                    <a:lumMod val="75000"/>
                  </a:schemeClr>
                </a:solidFill>
              </a:rPr>
              <a:t>mol</a:t>
            </a:r>
            <a:r>
              <a:rPr lang="en-GB" sz="2000" b="1" dirty="0">
                <a:solidFill>
                  <a:schemeClr val="accent6">
                    <a:lumMod val="75000"/>
                  </a:schemeClr>
                </a:solidFill>
              </a:rPr>
              <a:t> of gas</a:t>
            </a:r>
          </a:p>
          <a:p>
            <a:r>
              <a:rPr lang="en-GB" sz="2000" b="1" dirty="0">
                <a:solidFill>
                  <a:schemeClr val="accent6">
                    <a:lumMod val="75000"/>
                  </a:schemeClr>
                </a:solidFill>
              </a:rPr>
              <a:t>From the equation, 1 mole of MgCO</a:t>
            </a:r>
            <a:r>
              <a:rPr lang="en-GB" sz="2000" b="1" baseline="-25000" dirty="0">
                <a:solidFill>
                  <a:schemeClr val="accent6">
                    <a:lumMod val="75000"/>
                  </a:schemeClr>
                </a:solidFill>
              </a:rPr>
              <a:t>3</a:t>
            </a:r>
            <a:r>
              <a:rPr lang="en-GB" sz="2000" b="1" dirty="0">
                <a:solidFill>
                  <a:schemeClr val="accent6">
                    <a:lumMod val="75000"/>
                  </a:schemeClr>
                </a:solidFill>
              </a:rPr>
              <a:t> produces 1 mole of CO</a:t>
            </a:r>
            <a:r>
              <a:rPr lang="en-GB" sz="2000" b="1" baseline="-25000" dirty="0">
                <a:solidFill>
                  <a:schemeClr val="accent6">
                    <a:lumMod val="75000"/>
                  </a:schemeClr>
                </a:solidFill>
              </a:rPr>
              <a:t>2</a:t>
            </a:r>
            <a:r>
              <a:rPr lang="en-GB" sz="2000" b="1" dirty="0">
                <a:solidFill>
                  <a:schemeClr val="accent6">
                    <a:lumMod val="75000"/>
                  </a:schemeClr>
                </a:solidFill>
              </a:rPr>
              <a:t>, which occupies a volume of 24 dm</a:t>
            </a:r>
            <a:r>
              <a:rPr lang="en-GB" sz="2000" b="1" baseline="30000" dirty="0">
                <a:solidFill>
                  <a:schemeClr val="accent6">
                    <a:lumMod val="75000"/>
                  </a:schemeClr>
                </a:solidFill>
              </a:rPr>
              <a:t>3</a:t>
            </a:r>
            <a:r>
              <a:rPr lang="en-GB" sz="2000" b="1" dirty="0">
                <a:solidFill>
                  <a:schemeClr val="accent6">
                    <a:lumMod val="75000"/>
                  </a:schemeClr>
                </a:solidFill>
              </a:rPr>
              <a:t>.</a:t>
            </a:r>
          </a:p>
          <a:p>
            <a:r>
              <a:rPr lang="en-GB" sz="2000" b="1" dirty="0">
                <a:solidFill>
                  <a:schemeClr val="accent6">
                    <a:lumMod val="75000"/>
                  </a:schemeClr>
                </a:solidFill>
              </a:rPr>
              <a:t>so 0.25 moles of MgCO</a:t>
            </a:r>
            <a:r>
              <a:rPr lang="en-GB" sz="2000" b="1" baseline="-25000" dirty="0">
                <a:solidFill>
                  <a:schemeClr val="accent6">
                    <a:lumMod val="75000"/>
                  </a:schemeClr>
                </a:solidFill>
              </a:rPr>
              <a:t>3</a:t>
            </a:r>
            <a:r>
              <a:rPr lang="en-GB" sz="2000" b="1" dirty="0">
                <a:solidFill>
                  <a:schemeClr val="accent6">
                    <a:lumMod val="75000"/>
                  </a:schemeClr>
                </a:solidFill>
              </a:rPr>
              <a:t> is needed to make 0.25 </a:t>
            </a:r>
            <a:r>
              <a:rPr lang="en-GB" sz="2000" b="1" dirty="0" err="1">
                <a:solidFill>
                  <a:schemeClr val="accent6">
                    <a:lumMod val="75000"/>
                  </a:schemeClr>
                </a:solidFill>
              </a:rPr>
              <a:t>mol</a:t>
            </a:r>
            <a:r>
              <a:rPr lang="en-GB" sz="2000" b="1" dirty="0">
                <a:solidFill>
                  <a:schemeClr val="accent6">
                    <a:lumMod val="75000"/>
                  </a:schemeClr>
                </a:solidFill>
              </a:rPr>
              <a:t> of CO</a:t>
            </a:r>
            <a:r>
              <a:rPr lang="en-GB" sz="2000" b="1" baseline="-25000" dirty="0">
                <a:solidFill>
                  <a:schemeClr val="accent6">
                    <a:lumMod val="75000"/>
                  </a:schemeClr>
                </a:solidFill>
              </a:rPr>
              <a:t>2</a:t>
            </a:r>
            <a:r>
              <a:rPr lang="en-GB" sz="2000" b="1" dirty="0">
                <a:solidFill>
                  <a:schemeClr val="accent6">
                    <a:lumMod val="75000"/>
                  </a:schemeClr>
                </a:solidFill>
              </a:rPr>
              <a:t> </a:t>
            </a:r>
          </a:p>
          <a:p>
            <a:r>
              <a:rPr lang="en-GB" sz="2000" b="1" dirty="0">
                <a:solidFill>
                  <a:schemeClr val="accent6">
                    <a:lumMod val="75000"/>
                  </a:schemeClr>
                </a:solidFill>
              </a:rPr>
              <a:t>M</a:t>
            </a:r>
            <a:r>
              <a:rPr lang="en-GB" sz="2000" b="1" baseline="-25000" dirty="0">
                <a:solidFill>
                  <a:schemeClr val="accent6">
                    <a:lumMod val="75000"/>
                  </a:schemeClr>
                </a:solidFill>
              </a:rPr>
              <a:t>r </a:t>
            </a:r>
            <a:r>
              <a:rPr lang="en-GB" sz="2000" b="1" dirty="0">
                <a:solidFill>
                  <a:schemeClr val="accent6">
                    <a:lumMod val="75000"/>
                  </a:schemeClr>
                </a:solidFill>
              </a:rPr>
              <a:t>: MgCO</a:t>
            </a:r>
            <a:r>
              <a:rPr lang="en-GB" sz="2000" b="1" baseline="-25000" dirty="0">
                <a:solidFill>
                  <a:schemeClr val="accent6">
                    <a:lumMod val="75000"/>
                  </a:schemeClr>
                </a:solidFill>
              </a:rPr>
              <a:t>3</a:t>
            </a:r>
            <a:r>
              <a:rPr lang="en-GB" sz="2000" b="1" dirty="0">
                <a:solidFill>
                  <a:schemeClr val="accent6">
                    <a:lumMod val="75000"/>
                  </a:schemeClr>
                </a:solidFill>
              </a:rPr>
              <a:t> = 24 + 12 + (3 x 16) = 84,</a:t>
            </a:r>
          </a:p>
          <a:p>
            <a:r>
              <a:rPr lang="en-GB" sz="2000" b="1" dirty="0">
                <a:solidFill>
                  <a:schemeClr val="accent6">
                    <a:lumMod val="75000"/>
                  </a:schemeClr>
                </a:solidFill>
              </a:rPr>
              <a:t>Mass of MgCO</a:t>
            </a:r>
            <a:r>
              <a:rPr lang="en-GB" sz="2000" b="1" baseline="-25000" dirty="0">
                <a:solidFill>
                  <a:schemeClr val="accent6">
                    <a:lumMod val="75000"/>
                  </a:schemeClr>
                </a:solidFill>
              </a:rPr>
              <a:t>3</a:t>
            </a:r>
            <a:r>
              <a:rPr lang="en-GB" sz="2000" b="1" dirty="0">
                <a:solidFill>
                  <a:schemeClr val="accent6">
                    <a:lumMod val="75000"/>
                  </a:schemeClr>
                </a:solidFill>
              </a:rPr>
              <a:t>  = 0.25 x 84 = 21g</a:t>
            </a:r>
          </a:p>
        </p:txBody>
      </p:sp>
    </p:spTree>
    <p:extLst>
      <p:ext uri="{BB962C8B-B14F-4D97-AF65-F5344CB8AC3E}">
        <p14:creationId xmlns:p14="http://schemas.microsoft.com/office/powerpoint/2010/main" val="19935253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3939540"/>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r>
              <a:rPr lang="en-GB" sz="3600" b="1" dirty="0">
                <a:solidFill>
                  <a:schemeClr val="tx1">
                    <a:lumMod val="50000"/>
                    <a:lumOff val="50000"/>
                  </a:schemeClr>
                </a:solidFill>
              </a:rPr>
              <a:t>Quantitative </a:t>
            </a:r>
          </a:p>
          <a:p>
            <a:r>
              <a:rPr lang="en-GB" sz="3600" b="1" dirty="0">
                <a:solidFill>
                  <a:schemeClr val="tx1">
                    <a:lumMod val="50000"/>
                    <a:lumOff val="50000"/>
                  </a:schemeClr>
                </a:solidFill>
              </a:rPr>
              <a:t>Analysis – Part 3</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Molar volume of gas (HT)</a:t>
            </a: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3077152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Quantities (Chemistry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743393" cy="5878532"/>
          </a:xfrm>
          <a:prstGeom prst="rect">
            <a:avLst/>
          </a:prstGeom>
          <a:noFill/>
        </p:spPr>
        <p:txBody>
          <a:bodyPr wrap="square" rtlCol="0">
            <a:spAutoFit/>
          </a:bodyPr>
          <a:lstStyle/>
          <a:p>
            <a:pPr marL="457200" indent="-457200">
              <a:buAutoNum type="arabicPeriod"/>
            </a:pPr>
            <a:r>
              <a:rPr lang="en-GB" sz="2400" dirty="0"/>
              <a:t>What can be said about equal amounts of moles of gases and the volume they occupy?</a:t>
            </a:r>
          </a:p>
          <a:p>
            <a:pPr marL="457200" indent="-457200">
              <a:buAutoNum type="arabicPeriod"/>
            </a:pPr>
            <a:endParaRPr lang="en-GB" sz="2400" dirty="0"/>
          </a:p>
          <a:p>
            <a:pPr marL="457200" indent="-457200">
              <a:buAutoNum type="arabicPeriod"/>
            </a:pPr>
            <a:r>
              <a:rPr lang="en-GB" sz="2400" dirty="0"/>
              <a:t>What is meant by RTP?</a:t>
            </a:r>
          </a:p>
          <a:p>
            <a:pPr marL="457200" indent="-457200">
              <a:buAutoNum type="arabicPeriod"/>
            </a:pPr>
            <a:endParaRPr lang="en-GB" sz="2400" dirty="0"/>
          </a:p>
          <a:p>
            <a:pPr marL="457200" lvl="0" indent="-457200">
              <a:buFont typeface="+mj-lt"/>
              <a:buAutoNum type="arabicPeriod"/>
            </a:pPr>
            <a:r>
              <a:rPr lang="en-GB" sz="2400" dirty="0"/>
              <a:t>What are the values for RTP? </a:t>
            </a:r>
          </a:p>
          <a:p>
            <a:pPr marL="457200" lvl="0" indent="-457200">
              <a:buFont typeface="+mj-lt"/>
              <a:buAutoNum type="arabicPeriod"/>
            </a:pPr>
            <a:endParaRPr lang="en-GB" sz="2400" dirty="0"/>
          </a:p>
          <a:p>
            <a:pPr marL="457200" lvl="0" indent="-457200">
              <a:buFont typeface="+mj-lt"/>
              <a:buAutoNum type="arabicPeriod"/>
            </a:pPr>
            <a:r>
              <a:rPr lang="en-GB" sz="2400" dirty="0"/>
              <a:t>What is the volume of 4.5g of oxygen? </a:t>
            </a:r>
          </a:p>
          <a:p>
            <a:pPr marL="457200" lvl="0" indent="-457200">
              <a:buFont typeface="+mj-lt"/>
              <a:buAutoNum type="arabicPeriod"/>
            </a:pPr>
            <a:endParaRPr lang="en-GB" sz="2400" dirty="0"/>
          </a:p>
          <a:p>
            <a:pPr marL="457200" lvl="0" indent="-457200">
              <a:buFont typeface="+mj-lt"/>
              <a:buAutoNum type="arabicPeriod"/>
            </a:pPr>
            <a:r>
              <a:rPr lang="en-GB" sz="2400" dirty="0"/>
              <a:t>Calculate the number of moles of hydrogen that occupy 6dm</a:t>
            </a:r>
            <a:r>
              <a:rPr lang="en-GB" sz="2400" baseline="30000" dirty="0"/>
              <a:t>3</a:t>
            </a:r>
            <a:r>
              <a:rPr lang="en-GB" sz="2400" dirty="0"/>
              <a:t> at  RTP.</a:t>
            </a:r>
          </a:p>
          <a:p>
            <a:pPr marL="457200" indent="-457200">
              <a:buAutoNum type="arabicPeriod"/>
            </a:pPr>
            <a:endParaRPr lang="en-GB" sz="2400" dirty="0"/>
          </a:p>
          <a:p>
            <a:pPr marL="457200" indent="-457200">
              <a:buAutoNum type="arabicPeriod"/>
            </a:pPr>
            <a:endParaRPr lang="en-GB" sz="2400" dirty="0"/>
          </a:p>
          <a:p>
            <a:endParaRPr lang="en-GB" sz="2400" dirty="0"/>
          </a:p>
          <a:p>
            <a:pPr marL="457200" indent="-457200">
              <a:buAutoNum type="arabicPeriod" startAt="3"/>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220749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585871"/>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Quantitative </a:t>
            </a:r>
          </a:p>
          <a:p>
            <a:r>
              <a:rPr lang="en-GB" sz="3600" b="1" dirty="0">
                <a:solidFill>
                  <a:schemeClr val="tx1">
                    <a:lumMod val="50000"/>
                    <a:lumOff val="50000"/>
                  </a:schemeClr>
                </a:solidFill>
              </a:rPr>
              <a:t>Analysis – Part 3</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Molar volume of gas (HT)</a:t>
            </a:r>
          </a:p>
          <a:p>
            <a:pPr marL="685800" lvl="1" indent="-342900">
              <a:buFont typeface="Arial" charset="0"/>
              <a:buChar char="•"/>
            </a:pPr>
            <a:endParaRPr lang="en-US" sz="2400" b="1" dirty="0">
              <a:solidFill>
                <a:schemeClr val="bg1">
                  <a:lumMod val="50000"/>
                </a:schemeClr>
              </a:solidFill>
            </a:endParaRP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7984" y="784286"/>
            <a:ext cx="4824536" cy="5257800"/>
          </a:xfrm>
          <a:prstGeom prst="rect">
            <a:avLst/>
          </a:prstGeom>
        </p:spPr>
      </p:pic>
    </p:spTree>
    <p:extLst>
      <p:ext uri="{BB962C8B-B14F-4D97-AF65-F5344CB8AC3E}">
        <p14:creationId xmlns:p14="http://schemas.microsoft.com/office/powerpoint/2010/main" val="34210311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Quantities (Chemistry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743393" cy="4401205"/>
          </a:xfrm>
          <a:prstGeom prst="rect">
            <a:avLst/>
          </a:prstGeom>
          <a:noFill/>
        </p:spPr>
        <p:txBody>
          <a:bodyPr wrap="square" rtlCol="0">
            <a:spAutoFit/>
          </a:bodyPr>
          <a:lstStyle/>
          <a:p>
            <a:pPr marL="457200" indent="-457200">
              <a:buAutoNum type="arabicPeriod"/>
            </a:pPr>
            <a:r>
              <a:rPr lang="en-GB" sz="2400" dirty="0"/>
              <a:t>What can be said about equal amounts of moles of gases and the volume they occupy?</a:t>
            </a:r>
          </a:p>
          <a:p>
            <a:pPr lvl="1"/>
            <a:r>
              <a:rPr lang="en-GB" sz="2400" b="1" dirty="0">
                <a:solidFill>
                  <a:srgbClr val="00B050"/>
                </a:solidFill>
              </a:rPr>
              <a:t>Equal amounts of moles of gases occupy the same volume under the same conditions of temperature and pressure.</a:t>
            </a:r>
          </a:p>
          <a:p>
            <a:pPr marL="914400" lvl="1" indent="-457200">
              <a:buFont typeface="+mj-lt"/>
              <a:buAutoNum type="arabicPeriod"/>
            </a:pPr>
            <a:endParaRPr lang="en-GB" sz="2400" dirty="0"/>
          </a:p>
          <a:p>
            <a:pPr marL="457200" indent="-457200">
              <a:buFont typeface="+mj-lt"/>
              <a:buAutoNum type="arabicPeriod"/>
            </a:pPr>
            <a:r>
              <a:rPr lang="en-GB" sz="2400" dirty="0"/>
              <a:t>What is meant by RTP?</a:t>
            </a:r>
          </a:p>
          <a:p>
            <a:pPr lvl="1"/>
            <a:r>
              <a:rPr lang="en-GB" sz="2400" b="1" dirty="0">
                <a:solidFill>
                  <a:srgbClr val="00B050"/>
                </a:solidFill>
              </a:rPr>
              <a:t>Room temperature and pressure</a:t>
            </a:r>
          </a:p>
          <a:p>
            <a:pPr marL="914400" lvl="1" indent="-457200">
              <a:buFont typeface="+mj-lt"/>
              <a:buAutoNum type="arabicPeriod"/>
            </a:pPr>
            <a:endParaRPr lang="en-GB" sz="2400" dirty="0"/>
          </a:p>
          <a:p>
            <a:pPr marL="457200" indent="-457200">
              <a:buAutoNum type="arabicPeriod"/>
            </a:pPr>
            <a:r>
              <a:rPr lang="en-GB" sz="2400" dirty="0"/>
              <a:t>What are the values for RTP?</a:t>
            </a:r>
          </a:p>
          <a:p>
            <a:pPr lvl="1"/>
            <a:r>
              <a:rPr lang="en-GB" sz="2400" b="1" dirty="0">
                <a:solidFill>
                  <a:srgbClr val="00B050"/>
                </a:solidFill>
              </a:rPr>
              <a:t>0</a:t>
            </a:r>
            <a:r>
              <a:rPr lang="en-GB" sz="2400" b="1" baseline="30000" dirty="0">
                <a:solidFill>
                  <a:srgbClr val="00B050"/>
                </a:solidFill>
              </a:rPr>
              <a:t>o</a:t>
            </a:r>
            <a:r>
              <a:rPr lang="en-GB" sz="2400" b="1" dirty="0">
                <a:solidFill>
                  <a:srgbClr val="00B050"/>
                </a:solidFill>
              </a:rPr>
              <a:t>C ; 1 atmosphere pressure</a:t>
            </a:r>
            <a:endParaRPr lang="en-GB" sz="2400" dirty="0"/>
          </a:p>
          <a:p>
            <a:pPr marL="457200" indent="-457200">
              <a:buAutoNum type="arabicPeriod" startAt="3"/>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79279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Quantities (Chemistry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743393" cy="4031873"/>
          </a:xfrm>
          <a:prstGeom prst="rect">
            <a:avLst/>
          </a:prstGeom>
          <a:noFill/>
        </p:spPr>
        <p:txBody>
          <a:bodyPr wrap="square" rtlCol="0">
            <a:spAutoFit/>
          </a:bodyPr>
          <a:lstStyle/>
          <a:p>
            <a:pPr marL="457200" indent="-457200">
              <a:buFont typeface="+mj-lt"/>
              <a:buAutoNum type="arabicPeriod" startAt="4"/>
            </a:pPr>
            <a:r>
              <a:rPr lang="en-GB" sz="2400" dirty="0"/>
              <a:t>What is the volume of 4.5g of oxygen? </a:t>
            </a:r>
          </a:p>
          <a:p>
            <a:r>
              <a:rPr lang="en-GB" sz="2400" b="1" dirty="0">
                <a:solidFill>
                  <a:srgbClr val="00B050"/>
                </a:solidFill>
              </a:rPr>
              <a:t>       </a:t>
            </a:r>
            <a:r>
              <a:rPr lang="en-GB" sz="2400" b="1" dirty="0" err="1">
                <a:solidFill>
                  <a:srgbClr val="00B050"/>
                </a:solidFill>
              </a:rPr>
              <a:t>A</a:t>
            </a:r>
            <a:r>
              <a:rPr lang="en-GB" sz="2400" b="1" baseline="-25000" dirty="0" err="1">
                <a:solidFill>
                  <a:srgbClr val="00B050"/>
                </a:solidFill>
              </a:rPr>
              <a:t>r</a:t>
            </a:r>
            <a:r>
              <a:rPr lang="en-GB" sz="2400" b="1" dirty="0">
                <a:solidFill>
                  <a:srgbClr val="00B050"/>
                </a:solidFill>
              </a:rPr>
              <a:t> :  O (16) </a:t>
            </a:r>
          </a:p>
          <a:p>
            <a:r>
              <a:rPr lang="en-GB" sz="2400" b="1" dirty="0">
                <a:solidFill>
                  <a:srgbClr val="00B050"/>
                </a:solidFill>
              </a:rPr>
              <a:t>       M</a:t>
            </a:r>
            <a:r>
              <a:rPr lang="en-GB" sz="2400" b="1" baseline="-25000" dirty="0">
                <a:solidFill>
                  <a:srgbClr val="00B050"/>
                </a:solidFill>
              </a:rPr>
              <a:t>r</a:t>
            </a:r>
            <a:r>
              <a:rPr lang="en-GB" sz="2400" b="1" dirty="0">
                <a:solidFill>
                  <a:srgbClr val="00B050"/>
                </a:solidFill>
              </a:rPr>
              <a:t> : O</a:t>
            </a:r>
            <a:r>
              <a:rPr lang="en-GB" sz="2400" b="1" baseline="-25000" dirty="0">
                <a:solidFill>
                  <a:srgbClr val="00B050"/>
                </a:solidFill>
              </a:rPr>
              <a:t>2</a:t>
            </a:r>
            <a:r>
              <a:rPr lang="en-GB" sz="2400" b="1" dirty="0">
                <a:solidFill>
                  <a:srgbClr val="00B050"/>
                </a:solidFill>
              </a:rPr>
              <a:t> = 32</a:t>
            </a:r>
          </a:p>
          <a:p>
            <a:r>
              <a:rPr lang="en-GB" sz="2400" b="1" dirty="0">
                <a:solidFill>
                  <a:srgbClr val="00B050"/>
                </a:solidFill>
              </a:rPr>
              <a:t>       1 mole in g = 32g</a:t>
            </a:r>
          </a:p>
          <a:p>
            <a:r>
              <a:rPr lang="en-GB" sz="2400" b="1" dirty="0">
                <a:solidFill>
                  <a:srgbClr val="00B050"/>
                </a:solidFill>
              </a:rPr>
              <a:t>       4.5/32 = 0.14 </a:t>
            </a:r>
            <a:r>
              <a:rPr lang="en-GB" sz="2400" b="1" dirty="0" err="1">
                <a:solidFill>
                  <a:srgbClr val="00B050"/>
                </a:solidFill>
              </a:rPr>
              <a:t>mol</a:t>
            </a:r>
            <a:endParaRPr lang="en-GB" sz="2400" b="1" dirty="0">
              <a:solidFill>
                <a:srgbClr val="00B050"/>
              </a:solidFill>
            </a:endParaRPr>
          </a:p>
          <a:p>
            <a:r>
              <a:rPr lang="en-GB" sz="2400" b="1" dirty="0">
                <a:solidFill>
                  <a:srgbClr val="00B050"/>
                </a:solidFill>
              </a:rPr>
              <a:t>       Volume O</a:t>
            </a:r>
            <a:r>
              <a:rPr lang="en-GB" sz="2400" b="1" baseline="-25000" dirty="0">
                <a:solidFill>
                  <a:srgbClr val="00B050"/>
                </a:solidFill>
              </a:rPr>
              <a:t>2</a:t>
            </a:r>
            <a:r>
              <a:rPr lang="en-GB" sz="2400" b="1" dirty="0">
                <a:solidFill>
                  <a:srgbClr val="00B050"/>
                </a:solidFill>
              </a:rPr>
              <a:t> = 0.14 x 24 = 3.38 dm</a:t>
            </a:r>
            <a:r>
              <a:rPr lang="en-GB" sz="2400" b="1" baseline="30000" dirty="0">
                <a:solidFill>
                  <a:srgbClr val="00B050"/>
                </a:solidFill>
              </a:rPr>
              <a:t>3</a:t>
            </a:r>
            <a:r>
              <a:rPr lang="en-GB" sz="2400" b="1" dirty="0">
                <a:solidFill>
                  <a:srgbClr val="00B050"/>
                </a:solidFill>
              </a:rPr>
              <a:t> </a:t>
            </a:r>
            <a:endParaRPr lang="en-GB" sz="1000" b="1" dirty="0">
              <a:solidFill>
                <a:srgbClr val="00B050"/>
              </a:solidFill>
            </a:endParaRPr>
          </a:p>
          <a:p>
            <a:pPr marL="457200" indent="-457200">
              <a:buAutoNum type="arabicPeriod" startAt="4"/>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indent="-457200">
              <a:buFont typeface="+mj-lt"/>
              <a:buAutoNum type="arabicPeriod" startAt="5"/>
            </a:pPr>
            <a:r>
              <a:rPr lang="en-GB" sz="2400" dirty="0"/>
              <a:t>Calculate the number of moles of hydrogen that occupy 6dm</a:t>
            </a:r>
            <a:r>
              <a:rPr lang="en-GB" sz="2400" baseline="30000" dirty="0"/>
              <a:t>3</a:t>
            </a:r>
            <a:r>
              <a:rPr lang="en-GB" sz="2400" dirty="0"/>
              <a:t> at  </a:t>
            </a:r>
          </a:p>
          <a:p>
            <a:r>
              <a:rPr lang="en-GB" sz="2400" dirty="0"/>
              <a:t>       RTP.</a:t>
            </a:r>
          </a:p>
          <a:p>
            <a:r>
              <a:rPr lang="en-GB" sz="2400" dirty="0"/>
              <a:t>       </a:t>
            </a:r>
            <a:r>
              <a:rPr lang="en-GB" sz="2400" b="1" dirty="0">
                <a:solidFill>
                  <a:srgbClr val="00B050"/>
                </a:solidFill>
              </a:rPr>
              <a:t>Number of moles = 6 ÷ 24 = 0.25 </a:t>
            </a:r>
            <a:r>
              <a:rPr lang="en-GB" sz="2400" b="1" dirty="0" err="1">
                <a:solidFill>
                  <a:srgbClr val="00B050"/>
                </a:solidFill>
              </a:rPr>
              <a:t>mol</a:t>
            </a:r>
            <a:endParaRPr lang="en-GB" sz="2400" b="1" dirty="0">
              <a:solidFill>
                <a:srgbClr val="00B050"/>
              </a:solidFill>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872109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22696" y="675435"/>
            <a:ext cx="4882728" cy="5355312"/>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3600" b="1" dirty="0">
                <a:solidFill>
                  <a:schemeClr val="tx1">
                    <a:lumMod val="50000"/>
                    <a:lumOff val="50000"/>
                  </a:schemeClr>
                </a:solidFill>
              </a:rPr>
              <a:t>Dynamic equilibria – </a:t>
            </a:r>
            <a:endParaRPr lang="en-GB" sz="2800" dirty="0">
              <a:solidFill>
                <a:schemeClr val="tx1">
                  <a:lumMod val="50000"/>
                  <a:lumOff val="50000"/>
                </a:schemeClr>
              </a:solidFill>
            </a:endParaRP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Haber process</a:t>
            </a:r>
          </a:p>
          <a:p>
            <a:pPr marL="685800" lvl="1" indent="-342900">
              <a:buFont typeface="Arial" charset="0"/>
              <a:buChar char="•"/>
            </a:pPr>
            <a:r>
              <a:rPr lang="en-US" sz="2400" b="1" dirty="0">
                <a:solidFill>
                  <a:schemeClr val="bg1">
                    <a:lumMod val="50000"/>
                  </a:schemeClr>
                </a:solidFill>
              </a:rPr>
              <a:t>Factors affecting rate of attainment of equilibria (HT)</a:t>
            </a:r>
          </a:p>
          <a:p>
            <a:pPr marL="685800" lvl="1" indent="-342900">
              <a:buFont typeface="Arial" charset="0"/>
              <a:buChar char="•"/>
            </a:pPr>
            <a:r>
              <a:rPr lang="en-US" sz="2400" b="1" dirty="0" err="1">
                <a:solidFill>
                  <a:schemeClr val="bg1">
                    <a:lumMod val="50000"/>
                  </a:schemeClr>
                </a:solidFill>
              </a:rPr>
              <a:t>Fertilisers</a:t>
            </a:r>
            <a:endParaRPr lang="en-US" sz="2400" b="1" dirty="0">
              <a:solidFill>
                <a:schemeClr val="bg1">
                  <a:lumMod val="50000"/>
                </a:schemeClr>
              </a:solidFill>
            </a:endParaRPr>
          </a:p>
          <a:p>
            <a:endParaRPr lang="en-GB" sz="2000" b="1" dirty="0">
              <a:solidFill>
                <a:schemeClr val="tx1">
                  <a:lumMod val="50000"/>
                  <a:lumOff val="50000"/>
                </a:schemeClr>
              </a:solidFill>
            </a:endParaRPr>
          </a:p>
        </p:txBody>
      </p:sp>
    </p:spTree>
    <p:extLst>
      <p:ext uri="{BB962C8B-B14F-4D97-AF65-F5344CB8AC3E}">
        <p14:creationId xmlns:p14="http://schemas.microsoft.com/office/powerpoint/2010/main" val="13587737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1680" y="-32700"/>
            <a:ext cx="7452320" cy="941420"/>
          </a:xfrm>
        </p:spPr>
        <p:txBody>
          <a:bodyPr>
            <a:noAutofit/>
          </a:bodyPr>
          <a:lstStyle/>
          <a:p>
            <a:pPr marL="342900" lvl="1" algn="r" defTabSz="342900" rtl="0">
              <a:spcBef>
                <a:spcPct val="20000"/>
              </a:spcBef>
            </a:pPr>
            <a:r>
              <a:rPr lang="en-US" sz="2400" b="1" dirty="0">
                <a:solidFill>
                  <a:schemeClr val="accent6"/>
                </a:solidFill>
              </a:rPr>
              <a:t>The Haber process (HT) </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4" name="TextBox 3"/>
          <p:cNvSpPr txBox="1"/>
          <p:nvPr/>
        </p:nvSpPr>
        <p:spPr>
          <a:xfrm>
            <a:off x="166632" y="764704"/>
            <a:ext cx="8725847" cy="1477328"/>
          </a:xfrm>
          <a:custGeom>
            <a:avLst/>
            <a:gdLst>
              <a:gd name="connsiteX0" fmla="*/ 0 w 8712968"/>
              <a:gd name="connsiteY0" fmla="*/ 0 h 1538883"/>
              <a:gd name="connsiteX1" fmla="*/ 8712968 w 8712968"/>
              <a:gd name="connsiteY1" fmla="*/ 0 h 1538883"/>
              <a:gd name="connsiteX2" fmla="*/ 8712968 w 8712968"/>
              <a:gd name="connsiteY2" fmla="*/ 1538883 h 1538883"/>
              <a:gd name="connsiteX3" fmla="*/ 0 w 8712968"/>
              <a:gd name="connsiteY3" fmla="*/ 1538883 h 1538883"/>
              <a:gd name="connsiteX4" fmla="*/ 0 w 8712968"/>
              <a:gd name="connsiteY4" fmla="*/ 0 h 1538883"/>
              <a:gd name="connsiteX0" fmla="*/ 12879 w 8725847"/>
              <a:gd name="connsiteY0" fmla="*/ 0 h 1538883"/>
              <a:gd name="connsiteX1" fmla="*/ 8725847 w 8725847"/>
              <a:gd name="connsiteY1" fmla="*/ 0 h 1538883"/>
              <a:gd name="connsiteX2" fmla="*/ 8725847 w 8725847"/>
              <a:gd name="connsiteY2" fmla="*/ 1538883 h 1538883"/>
              <a:gd name="connsiteX3" fmla="*/ 0 w 8725847"/>
              <a:gd name="connsiteY3" fmla="*/ 1216912 h 1538883"/>
              <a:gd name="connsiteX4" fmla="*/ 12879 w 8725847"/>
              <a:gd name="connsiteY4" fmla="*/ 0 h 1538883"/>
              <a:gd name="connsiteX0" fmla="*/ 12879 w 8725847"/>
              <a:gd name="connsiteY0" fmla="*/ 0 h 1242669"/>
              <a:gd name="connsiteX1" fmla="*/ 8725847 w 8725847"/>
              <a:gd name="connsiteY1" fmla="*/ 0 h 1242669"/>
              <a:gd name="connsiteX2" fmla="*/ 8700089 w 8725847"/>
              <a:gd name="connsiteY2" fmla="*/ 1242669 h 1242669"/>
              <a:gd name="connsiteX3" fmla="*/ 0 w 8725847"/>
              <a:gd name="connsiteY3" fmla="*/ 1216912 h 1242669"/>
              <a:gd name="connsiteX4" fmla="*/ 12879 w 8725847"/>
              <a:gd name="connsiteY4" fmla="*/ 0 h 1242669"/>
              <a:gd name="connsiteX0" fmla="*/ 12879 w 8725847"/>
              <a:gd name="connsiteY0" fmla="*/ 0 h 1229790"/>
              <a:gd name="connsiteX1" fmla="*/ 8725847 w 8725847"/>
              <a:gd name="connsiteY1" fmla="*/ 0 h 1229790"/>
              <a:gd name="connsiteX2" fmla="*/ 8700089 w 8725847"/>
              <a:gd name="connsiteY2" fmla="*/ 1229790 h 1229790"/>
              <a:gd name="connsiteX3" fmla="*/ 0 w 8725847"/>
              <a:gd name="connsiteY3" fmla="*/ 1216912 h 1229790"/>
              <a:gd name="connsiteX4" fmla="*/ 12879 w 8725847"/>
              <a:gd name="connsiteY4" fmla="*/ 0 h 1229790"/>
              <a:gd name="connsiteX0" fmla="*/ 12879 w 8725847"/>
              <a:gd name="connsiteY0" fmla="*/ 0 h 1216912"/>
              <a:gd name="connsiteX1" fmla="*/ 8725847 w 8725847"/>
              <a:gd name="connsiteY1" fmla="*/ 0 h 1216912"/>
              <a:gd name="connsiteX2" fmla="*/ 8712968 w 8725847"/>
              <a:gd name="connsiteY2" fmla="*/ 1204033 h 1216912"/>
              <a:gd name="connsiteX3" fmla="*/ 0 w 8725847"/>
              <a:gd name="connsiteY3" fmla="*/ 1216912 h 1216912"/>
              <a:gd name="connsiteX4" fmla="*/ 12879 w 8725847"/>
              <a:gd name="connsiteY4" fmla="*/ 0 h 1216912"/>
              <a:gd name="connsiteX0" fmla="*/ 12879 w 8725847"/>
              <a:gd name="connsiteY0" fmla="*/ 0 h 1216912"/>
              <a:gd name="connsiteX1" fmla="*/ 8725847 w 8725847"/>
              <a:gd name="connsiteY1" fmla="*/ 0 h 1216912"/>
              <a:gd name="connsiteX2" fmla="*/ 8725847 w 8725847"/>
              <a:gd name="connsiteY2" fmla="*/ 1204033 h 1216912"/>
              <a:gd name="connsiteX3" fmla="*/ 0 w 8725847"/>
              <a:gd name="connsiteY3" fmla="*/ 1216912 h 1216912"/>
              <a:gd name="connsiteX4" fmla="*/ 12879 w 8725847"/>
              <a:gd name="connsiteY4" fmla="*/ 0 h 1216912"/>
              <a:gd name="connsiteX0" fmla="*/ 12879 w 8725847"/>
              <a:gd name="connsiteY0" fmla="*/ 0 h 1255548"/>
              <a:gd name="connsiteX1" fmla="*/ 8725847 w 8725847"/>
              <a:gd name="connsiteY1" fmla="*/ 0 h 1255548"/>
              <a:gd name="connsiteX2" fmla="*/ 8725847 w 8725847"/>
              <a:gd name="connsiteY2" fmla="*/ 1204033 h 1255548"/>
              <a:gd name="connsiteX3" fmla="*/ 0 w 8725847"/>
              <a:gd name="connsiteY3" fmla="*/ 1255548 h 1255548"/>
              <a:gd name="connsiteX4" fmla="*/ 12879 w 8725847"/>
              <a:gd name="connsiteY4" fmla="*/ 0 h 1255548"/>
              <a:gd name="connsiteX0" fmla="*/ 12879 w 8725847"/>
              <a:gd name="connsiteY0" fmla="*/ 0 h 1268427"/>
              <a:gd name="connsiteX1" fmla="*/ 8725847 w 8725847"/>
              <a:gd name="connsiteY1" fmla="*/ 0 h 1268427"/>
              <a:gd name="connsiteX2" fmla="*/ 8725847 w 8725847"/>
              <a:gd name="connsiteY2" fmla="*/ 1268427 h 1268427"/>
              <a:gd name="connsiteX3" fmla="*/ 0 w 8725847"/>
              <a:gd name="connsiteY3" fmla="*/ 1255548 h 1268427"/>
              <a:gd name="connsiteX4" fmla="*/ 12879 w 8725847"/>
              <a:gd name="connsiteY4" fmla="*/ 0 h 12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5847" h="1268427">
                <a:moveTo>
                  <a:pt x="12879" y="0"/>
                </a:moveTo>
                <a:lnTo>
                  <a:pt x="8725847" y="0"/>
                </a:lnTo>
                <a:lnTo>
                  <a:pt x="8725847" y="1268427"/>
                </a:lnTo>
                <a:lnTo>
                  <a:pt x="0" y="1255548"/>
                </a:lnTo>
                <a:lnTo>
                  <a:pt x="12879" y="0"/>
                </a:lnTo>
                <a:close/>
              </a:path>
            </a:pathLst>
          </a:custGeom>
          <a:noFill/>
          <a:ln w="28575">
            <a:solidFill>
              <a:schemeClr val="accent6"/>
            </a:solidFill>
          </a:ln>
        </p:spPr>
        <p:txBody>
          <a:bodyPr wrap="square" rtlCol="0">
            <a:spAutoFit/>
          </a:bodyPr>
          <a:lstStyle/>
          <a:p>
            <a:r>
              <a:rPr lang="en-GB" sz="2400" dirty="0"/>
              <a:t>The production of </a:t>
            </a:r>
            <a:r>
              <a:rPr lang="en-GB" sz="2400" b="1" dirty="0">
                <a:solidFill>
                  <a:schemeClr val="accent6">
                    <a:lumMod val="75000"/>
                  </a:schemeClr>
                </a:solidFill>
              </a:rPr>
              <a:t>ammonia</a:t>
            </a:r>
            <a:r>
              <a:rPr lang="en-GB" sz="2400" dirty="0"/>
              <a:t> is a </a:t>
            </a:r>
            <a:r>
              <a:rPr lang="en-GB" sz="2400" b="1" dirty="0">
                <a:solidFill>
                  <a:schemeClr val="accent6">
                    <a:lumMod val="75000"/>
                  </a:schemeClr>
                </a:solidFill>
              </a:rPr>
              <a:t>reversible reaction</a:t>
            </a:r>
            <a:r>
              <a:rPr lang="en-GB" sz="2400" b="1" dirty="0"/>
              <a:t> </a:t>
            </a:r>
            <a:r>
              <a:rPr lang="en-GB" sz="2400" dirty="0"/>
              <a:t>that can reach a </a:t>
            </a:r>
            <a:r>
              <a:rPr lang="en-GB" sz="2400" b="1" dirty="0">
                <a:solidFill>
                  <a:schemeClr val="accent6">
                    <a:lumMod val="75000"/>
                  </a:schemeClr>
                </a:solidFill>
              </a:rPr>
              <a:t>dynamic equilibrium</a:t>
            </a:r>
            <a:r>
              <a:rPr lang="en-GB" sz="2400" dirty="0"/>
              <a:t>:</a:t>
            </a:r>
          </a:p>
          <a:p>
            <a:pPr algn="ctr"/>
            <a:r>
              <a:rPr lang="en-GB" sz="3200" b="1" dirty="0"/>
              <a:t>3H</a:t>
            </a:r>
            <a:r>
              <a:rPr lang="en-GB" sz="3200" b="1" baseline="-25000" dirty="0"/>
              <a:t>2</a:t>
            </a:r>
            <a:r>
              <a:rPr lang="en-GB" sz="3200" b="1" dirty="0"/>
              <a:t> + N</a:t>
            </a:r>
            <a:r>
              <a:rPr lang="en-GB" sz="3200" b="1" baseline="-25000" dirty="0"/>
              <a:t>2</a:t>
            </a:r>
            <a:r>
              <a:rPr lang="en-GB" sz="3200" b="1" dirty="0"/>
              <a:t>           2NH</a:t>
            </a:r>
            <a:r>
              <a:rPr lang="en-GB" sz="3200" b="1" baseline="-25000" dirty="0"/>
              <a:t>3</a:t>
            </a:r>
          </a:p>
          <a:p>
            <a:pPr algn="ctr"/>
            <a:endParaRPr lang="en-GB" sz="1000" b="1" dirty="0"/>
          </a:p>
        </p:txBody>
      </p:sp>
      <p:pic>
        <p:nvPicPr>
          <p:cNvPr id="6" name="Picture 5"/>
          <p:cNvPicPr/>
          <p:nvPr/>
        </p:nvPicPr>
        <p:blipFill>
          <a:blip r:embed="rId3"/>
          <a:stretch>
            <a:fillRect/>
          </a:stretch>
        </p:blipFill>
        <p:spPr>
          <a:xfrm>
            <a:off x="4529555" y="1441812"/>
            <a:ext cx="467812" cy="504292"/>
          </a:xfrm>
          <a:prstGeom prst="rect">
            <a:avLst/>
          </a:prstGeom>
        </p:spPr>
      </p:pic>
      <p:sp>
        <p:nvSpPr>
          <p:cNvPr id="12" name="TextBox 11"/>
          <p:cNvSpPr txBox="1"/>
          <p:nvPr/>
        </p:nvSpPr>
        <p:spPr>
          <a:xfrm>
            <a:off x="166632" y="2482348"/>
            <a:ext cx="8687211" cy="3785652"/>
          </a:xfrm>
          <a:custGeom>
            <a:avLst/>
            <a:gdLst>
              <a:gd name="connsiteX0" fmla="*/ 0 w 8725847"/>
              <a:gd name="connsiteY0" fmla="*/ 0 h 612071"/>
              <a:gd name="connsiteX1" fmla="*/ 8725847 w 8725847"/>
              <a:gd name="connsiteY1" fmla="*/ 0 h 612071"/>
              <a:gd name="connsiteX2" fmla="*/ 8725847 w 8725847"/>
              <a:gd name="connsiteY2" fmla="*/ 612071 h 612071"/>
              <a:gd name="connsiteX3" fmla="*/ 0 w 8725847"/>
              <a:gd name="connsiteY3" fmla="*/ 612071 h 612071"/>
              <a:gd name="connsiteX4" fmla="*/ 0 w 8725847"/>
              <a:gd name="connsiteY4" fmla="*/ 0 h 612071"/>
              <a:gd name="connsiteX0" fmla="*/ 12879 w 8725847"/>
              <a:gd name="connsiteY0" fmla="*/ 0 h 1835564"/>
              <a:gd name="connsiteX1" fmla="*/ 8725847 w 8725847"/>
              <a:gd name="connsiteY1" fmla="*/ 1223493 h 1835564"/>
              <a:gd name="connsiteX2" fmla="*/ 8725847 w 8725847"/>
              <a:gd name="connsiteY2" fmla="*/ 1835564 h 1835564"/>
              <a:gd name="connsiteX3" fmla="*/ 0 w 8725847"/>
              <a:gd name="connsiteY3" fmla="*/ 1835564 h 1835564"/>
              <a:gd name="connsiteX4" fmla="*/ 12879 w 8725847"/>
              <a:gd name="connsiteY4" fmla="*/ 0 h 1835564"/>
              <a:gd name="connsiteX0" fmla="*/ 12879 w 8725847"/>
              <a:gd name="connsiteY0" fmla="*/ 25758 h 1861322"/>
              <a:gd name="connsiteX1" fmla="*/ 8700090 w 8725847"/>
              <a:gd name="connsiteY1" fmla="*/ 0 h 1861322"/>
              <a:gd name="connsiteX2" fmla="*/ 8725847 w 8725847"/>
              <a:gd name="connsiteY2" fmla="*/ 1861322 h 1861322"/>
              <a:gd name="connsiteX3" fmla="*/ 0 w 8725847"/>
              <a:gd name="connsiteY3" fmla="*/ 1861322 h 1861322"/>
              <a:gd name="connsiteX4" fmla="*/ 12879 w 8725847"/>
              <a:gd name="connsiteY4" fmla="*/ 25758 h 1861322"/>
              <a:gd name="connsiteX0" fmla="*/ 12879 w 8725847"/>
              <a:gd name="connsiteY0" fmla="*/ 0 h 1835564"/>
              <a:gd name="connsiteX1" fmla="*/ 8700090 w 8725847"/>
              <a:gd name="connsiteY1" fmla="*/ 0 h 1835564"/>
              <a:gd name="connsiteX2" fmla="*/ 8725847 w 8725847"/>
              <a:gd name="connsiteY2" fmla="*/ 1835564 h 1835564"/>
              <a:gd name="connsiteX3" fmla="*/ 0 w 8725847"/>
              <a:gd name="connsiteY3" fmla="*/ 1835564 h 1835564"/>
              <a:gd name="connsiteX4" fmla="*/ 12879 w 8725847"/>
              <a:gd name="connsiteY4" fmla="*/ 0 h 1835564"/>
              <a:gd name="connsiteX0" fmla="*/ 12879 w 8700090"/>
              <a:gd name="connsiteY0" fmla="*/ 0 h 1835564"/>
              <a:gd name="connsiteX1" fmla="*/ 8700090 w 8700090"/>
              <a:gd name="connsiteY1" fmla="*/ 0 h 1835564"/>
              <a:gd name="connsiteX2" fmla="*/ 8700089 w 8700090"/>
              <a:gd name="connsiteY2" fmla="*/ 599192 h 1835564"/>
              <a:gd name="connsiteX3" fmla="*/ 0 w 8700090"/>
              <a:gd name="connsiteY3" fmla="*/ 1835564 h 1835564"/>
              <a:gd name="connsiteX4" fmla="*/ 12879 w 8700090"/>
              <a:gd name="connsiteY4" fmla="*/ 0 h 1835564"/>
              <a:gd name="connsiteX0" fmla="*/ 0 w 8687211"/>
              <a:gd name="connsiteY0" fmla="*/ 0 h 676466"/>
              <a:gd name="connsiteX1" fmla="*/ 8687211 w 8687211"/>
              <a:gd name="connsiteY1" fmla="*/ 0 h 676466"/>
              <a:gd name="connsiteX2" fmla="*/ 8687210 w 8687211"/>
              <a:gd name="connsiteY2" fmla="*/ 599192 h 676466"/>
              <a:gd name="connsiteX3" fmla="*/ 0 w 8687211"/>
              <a:gd name="connsiteY3" fmla="*/ 676466 h 676466"/>
              <a:gd name="connsiteX4" fmla="*/ 0 w 8687211"/>
              <a:gd name="connsiteY4" fmla="*/ 0 h 676466"/>
              <a:gd name="connsiteX0" fmla="*/ 0 w 8687211"/>
              <a:gd name="connsiteY0" fmla="*/ 0 h 663587"/>
              <a:gd name="connsiteX1" fmla="*/ 8687211 w 8687211"/>
              <a:gd name="connsiteY1" fmla="*/ 0 h 663587"/>
              <a:gd name="connsiteX2" fmla="*/ 8687210 w 8687211"/>
              <a:gd name="connsiteY2" fmla="*/ 599192 h 663587"/>
              <a:gd name="connsiteX3" fmla="*/ 0 w 8687211"/>
              <a:gd name="connsiteY3" fmla="*/ 663587 h 663587"/>
              <a:gd name="connsiteX4" fmla="*/ 0 w 8687211"/>
              <a:gd name="connsiteY4" fmla="*/ 0 h 663587"/>
              <a:gd name="connsiteX0" fmla="*/ 0 w 8687211"/>
              <a:gd name="connsiteY0" fmla="*/ 0 h 637829"/>
              <a:gd name="connsiteX1" fmla="*/ 8687211 w 8687211"/>
              <a:gd name="connsiteY1" fmla="*/ 0 h 637829"/>
              <a:gd name="connsiteX2" fmla="*/ 8687210 w 8687211"/>
              <a:gd name="connsiteY2" fmla="*/ 599192 h 637829"/>
              <a:gd name="connsiteX3" fmla="*/ 0 w 8687211"/>
              <a:gd name="connsiteY3" fmla="*/ 637829 h 637829"/>
              <a:gd name="connsiteX4" fmla="*/ 0 w 8687211"/>
              <a:gd name="connsiteY4" fmla="*/ 0 h 637829"/>
              <a:gd name="connsiteX0" fmla="*/ 0 w 8687211"/>
              <a:gd name="connsiteY0" fmla="*/ 0 h 612071"/>
              <a:gd name="connsiteX1" fmla="*/ 8687211 w 8687211"/>
              <a:gd name="connsiteY1" fmla="*/ 0 h 612071"/>
              <a:gd name="connsiteX2" fmla="*/ 8687210 w 8687211"/>
              <a:gd name="connsiteY2" fmla="*/ 599192 h 612071"/>
              <a:gd name="connsiteX3" fmla="*/ 0 w 8687211"/>
              <a:gd name="connsiteY3" fmla="*/ 612071 h 612071"/>
              <a:gd name="connsiteX4" fmla="*/ 0 w 8687211"/>
              <a:gd name="connsiteY4" fmla="*/ 0 h 612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7211" h="612071">
                <a:moveTo>
                  <a:pt x="0" y="0"/>
                </a:moveTo>
                <a:lnTo>
                  <a:pt x="8687211" y="0"/>
                </a:lnTo>
                <a:cubicBezTo>
                  <a:pt x="8687211" y="199731"/>
                  <a:pt x="8687210" y="399461"/>
                  <a:pt x="8687210" y="599192"/>
                </a:cubicBezTo>
                <a:lnTo>
                  <a:pt x="0" y="612071"/>
                </a:lnTo>
                <a:lnTo>
                  <a:pt x="0" y="0"/>
                </a:lnTo>
                <a:close/>
              </a:path>
            </a:pathLst>
          </a:custGeom>
          <a:noFill/>
        </p:spPr>
        <p:txBody>
          <a:bodyPr wrap="square" rtlCol="0">
            <a:spAutoFit/>
          </a:bodyPr>
          <a:lstStyle/>
          <a:p>
            <a:r>
              <a:rPr lang="en-GB" sz="2000" dirty="0"/>
              <a:t>Several factors affect the </a:t>
            </a:r>
            <a:r>
              <a:rPr lang="en-GB" sz="2000" b="1" dirty="0">
                <a:solidFill>
                  <a:schemeClr val="accent6">
                    <a:lumMod val="75000"/>
                  </a:schemeClr>
                </a:solidFill>
              </a:rPr>
              <a:t>rate of attainment </a:t>
            </a:r>
            <a:r>
              <a:rPr lang="en-GB" sz="2000" dirty="0"/>
              <a:t>of equilibrium such as this. They include:</a:t>
            </a:r>
          </a:p>
          <a:p>
            <a:pPr marL="342900" indent="-342900">
              <a:buFont typeface="Arial" panose="020B0604020202020204" pitchFamily="34" charset="0"/>
              <a:buChar char="•"/>
            </a:pPr>
            <a:r>
              <a:rPr lang="en-GB" sz="2000" dirty="0"/>
              <a:t>Changes in </a:t>
            </a:r>
            <a:r>
              <a:rPr lang="en-GB" sz="2000" b="1" dirty="0">
                <a:solidFill>
                  <a:schemeClr val="accent6">
                    <a:lumMod val="75000"/>
                  </a:schemeClr>
                </a:solidFill>
              </a:rPr>
              <a:t>temperature</a:t>
            </a:r>
          </a:p>
          <a:p>
            <a:pPr marL="342900" indent="-342900">
              <a:buFont typeface="Arial" panose="020B0604020202020204" pitchFamily="34" charset="0"/>
              <a:buChar char="•"/>
            </a:pPr>
            <a:r>
              <a:rPr lang="en-GB" sz="2000" dirty="0"/>
              <a:t>Changes in </a:t>
            </a:r>
            <a:r>
              <a:rPr lang="en-GB" sz="2000" b="1" dirty="0">
                <a:solidFill>
                  <a:schemeClr val="accent6">
                    <a:lumMod val="75000"/>
                  </a:schemeClr>
                </a:solidFill>
              </a:rPr>
              <a:t>pressure</a:t>
            </a:r>
          </a:p>
          <a:p>
            <a:pPr marL="342900" indent="-342900">
              <a:buFont typeface="Arial" panose="020B0604020202020204" pitchFamily="34" charset="0"/>
              <a:buChar char="•"/>
            </a:pPr>
            <a:r>
              <a:rPr lang="en-GB" sz="2000" dirty="0"/>
              <a:t>Changes in </a:t>
            </a:r>
            <a:r>
              <a:rPr lang="en-GB" sz="2000" b="1" dirty="0">
                <a:solidFill>
                  <a:schemeClr val="accent6">
                    <a:lumMod val="75000"/>
                  </a:schemeClr>
                </a:solidFill>
              </a:rPr>
              <a:t>concentration</a:t>
            </a:r>
          </a:p>
          <a:p>
            <a:pPr marL="342900" indent="-342900">
              <a:buFont typeface="Arial" panose="020B0604020202020204" pitchFamily="34" charset="0"/>
              <a:buChar char="•"/>
            </a:pPr>
            <a:r>
              <a:rPr lang="en-GB" sz="2000" dirty="0"/>
              <a:t>Use of </a:t>
            </a:r>
            <a:r>
              <a:rPr lang="en-GB" sz="2000" b="1" dirty="0">
                <a:solidFill>
                  <a:schemeClr val="accent6">
                    <a:lumMod val="75000"/>
                  </a:schemeClr>
                </a:solidFill>
              </a:rPr>
              <a:t>catalyst </a:t>
            </a:r>
          </a:p>
          <a:p>
            <a:pPr marL="342900" indent="-342900">
              <a:buFont typeface="Arial" panose="020B0604020202020204" pitchFamily="34" charset="0"/>
              <a:buChar char="•"/>
            </a:pPr>
            <a:endParaRPr lang="en-GB" sz="2000" b="1" dirty="0">
              <a:solidFill>
                <a:schemeClr val="accent6">
                  <a:lumMod val="75000"/>
                </a:schemeClr>
              </a:solidFill>
            </a:endParaRPr>
          </a:p>
          <a:p>
            <a:r>
              <a:rPr lang="en-GB" sz="2000" dirty="0"/>
              <a:t>When manufacturing ammonia using the Haber process the conditions actually used in industry may differ from theoretical ideals. This will be influenced by the availability and </a:t>
            </a:r>
            <a:r>
              <a:rPr lang="en-GB" sz="2000" b="1" dirty="0">
                <a:solidFill>
                  <a:schemeClr val="accent6">
                    <a:lumMod val="75000"/>
                  </a:schemeClr>
                </a:solidFill>
              </a:rPr>
              <a:t>cost</a:t>
            </a:r>
            <a:r>
              <a:rPr lang="en-GB" sz="2000" dirty="0"/>
              <a:t> of </a:t>
            </a:r>
            <a:r>
              <a:rPr lang="en-GB" sz="2000" b="1" dirty="0">
                <a:solidFill>
                  <a:schemeClr val="accent6">
                    <a:lumMod val="75000"/>
                  </a:schemeClr>
                </a:solidFill>
              </a:rPr>
              <a:t>raw materials </a:t>
            </a:r>
            <a:r>
              <a:rPr lang="en-GB" sz="2000" dirty="0"/>
              <a:t>and </a:t>
            </a:r>
            <a:r>
              <a:rPr lang="en-GB" sz="2000" b="1" dirty="0">
                <a:solidFill>
                  <a:schemeClr val="accent6">
                    <a:lumMod val="75000"/>
                  </a:schemeClr>
                </a:solidFill>
              </a:rPr>
              <a:t>energy</a:t>
            </a:r>
            <a:r>
              <a:rPr lang="en-GB" sz="2000" dirty="0"/>
              <a:t> supplies; the control of </a:t>
            </a:r>
            <a:r>
              <a:rPr lang="en-GB" sz="2000" b="1" dirty="0">
                <a:solidFill>
                  <a:schemeClr val="accent6">
                    <a:lumMod val="75000"/>
                  </a:schemeClr>
                </a:solidFill>
              </a:rPr>
              <a:t>temperature, pressure</a:t>
            </a:r>
            <a:r>
              <a:rPr lang="en-GB" sz="2000" dirty="0"/>
              <a:t> and </a:t>
            </a:r>
            <a:r>
              <a:rPr lang="en-GB" sz="2000" b="1" dirty="0">
                <a:solidFill>
                  <a:schemeClr val="accent6">
                    <a:lumMod val="75000"/>
                  </a:schemeClr>
                </a:solidFill>
              </a:rPr>
              <a:t>catalyst</a:t>
            </a:r>
            <a:r>
              <a:rPr lang="en-GB" sz="2000" dirty="0"/>
              <a:t> used; as well as achieving an </a:t>
            </a:r>
            <a:r>
              <a:rPr lang="en-GB" sz="2000" b="1" dirty="0">
                <a:solidFill>
                  <a:schemeClr val="accent6">
                    <a:lumMod val="75000"/>
                  </a:schemeClr>
                </a:solidFill>
              </a:rPr>
              <a:t>acceptable yield </a:t>
            </a:r>
            <a:r>
              <a:rPr lang="en-GB" sz="2000" dirty="0"/>
              <a:t>in an </a:t>
            </a:r>
            <a:r>
              <a:rPr lang="en-GB" sz="2000" b="1" dirty="0">
                <a:solidFill>
                  <a:schemeClr val="accent6">
                    <a:lumMod val="75000"/>
                  </a:schemeClr>
                </a:solidFill>
              </a:rPr>
              <a:t>acceptable time</a:t>
            </a:r>
            <a:r>
              <a:rPr lang="en-GB" sz="2000" dirty="0"/>
              <a:t>.</a:t>
            </a:r>
          </a:p>
        </p:txBody>
      </p:sp>
    </p:spTree>
    <p:extLst>
      <p:ext uri="{BB962C8B-B14F-4D97-AF65-F5344CB8AC3E}">
        <p14:creationId xmlns:p14="http://schemas.microsoft.com/office/powerpoint/2010/main" val="21114360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1680" y="-32700"/>
            <a:ext cx="7452320" cy="941420"/>
          </a:xfrm>
        </p:spPr>
        <p:txBody>
          <a:bodyPr>
            <a:noAutofit/>
          </a:bodyPr>
          <a:lstStyle/>
          <a:p>
            <a:pPr marL="342900" lvl="1" algn="r" defTabSz="342900" rtl="0">
              <a:spcBef>
                <a:spcPct val="20000"/>
              </a:spcBef>
            </a:pPr>
            <a:r>
              <a:rPr lang="en-US" sz="2400" b="1" dirty="0">
                <a:solidFill>
                  <a:schemeClr val="accent6"/>
                </a:solidFill>
              </a:rPr>
              <a:t>The Haber process – industrial compromise (HT) </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pic>
        <p:nvPicPr>
          <p:cNvPr id="3" name="Picture 2"/>
          <p:cNvPicPr>
            <a:picLocks noChangeAspect="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4505722" y="2953910"/>
            <a:ext cx="4336550" cy="2912747"/>
          </a:xfrm>
          <a:prstGeom prst="rect">
            <a:avLst/>
          </a:prstGeom>
        </p:spPr>
      </p:pic>
      <p:sp>
        <p:nvSpPr>
          <p:cNvPr id="5" name="TextBox 4"/>
          <p:cNvSpPr txBox="1"/>
          <p:nvPr/>
        </p:nvSpPr>
        <p:spPr>
          <a:xfrm>
            <a:off x="179512" y="764704"/>
            <a:ext cx="8712968" cy="2554545"/>
          </a:xfrm>
          <a:prstGeom prst="rect">
            <a:avLst/>
          </a:prstGeom>
          <a:noFill/>
        </p:spPr>
        <p:txBody>
          <a:bodyPr wrap="square" rtlCol="0">
            <a:spAutoFit/>
          </a:bodyPr>
          <a:lstStyle/>
          <a:p>
            <a:r>
              <a:rPr lang="en-GB" sz="2000" dirty="0"/>
              <a:t>The ideal conditions for the production of ammonia in terms of </a:t>
            </a:r>
            <a:r>
              <a:rPr lang="en-GB" sz="2000" b="1" dirty="0">
                <a:solidFill>
                  <a:schemeClr val="accent6">
                    <a:lumMod val="75000"/>
                  </a:schemeClr>
                </a:solidFill>
              </a:rPr>
              <a:t>dynamic equilibrium </a:t>
            </a:r>
            <a:r>
              <a:rPr lang="en-GB" sz="2000" dirty="0"/>
              <a:t>are:</a:t>
            </a:r>
          </a:p>
          <a:p>
            <a:pPr marL="342900" indent="-342900">
              <a:buFont typeface="Arial" panose="020B0604020202020204" pitchFamily="34" charset="0"/>
              <a:buChar char="•"/>
            </a:pPr>
            <a:r>
              <a:rPr lang="en-GB" sz="2000" b="1" dirty="0">
                <a:solidFill>
                  <a:schemeClr val="accent6">
                    <a:lumMod val="75000"/>
                  </a:schemeClr>
                </a:solidFill>
              </a:rPr>
              <a:t>Low temperature </a:t>
            </a:r>
            <a:r>
              <a:rPr lang="en-GB" sz="2000" dirty="0"/>
              <a:t>– because the forward reaction is exothermic. Low temperatures mean a slow rate of reaction. Higher temperatures have a faster rate of reaction, but produce a lower yield – (see graph)</a:t>
            </a:r>
          </a:p>
          <a:p>
            <a:pPr marL="342900" indent="-342900">
              <a:buFont typeface="Arial" panose="020B0604020202020204" pitchFamily="34" charset="0"/>
              <a:buChar char="•"/>
            </a:pPr>
            <a:r>
              <a:rPr lang="en-GB" sz="2000" b="1" dirty="0">
                <a:solidFill>
                  <a:schemeClr val="accent6">
                    <a:lumMod val="75000"/>
                  </a:schemeClr>
                </a:solidFill>
              </a:rPr>
              <a:t>High pressure </a:t>
            </a:r>
            <a:r>
              <a:rPr lang="en-GB" sz="2000" dirty="0"/>
              <a:t>– because there are fewer moles of gas on the ammonia side of the equation. High pressures require very strong and expensive equipment increasing the cost of production.</a:t>
            </a:r>
          </a:p>
        </p:txBody>
      </p:sp>
      <p:sp>
        <p:nvSpPr>
          <p:cNvPr id="7" name="TextBox 6"/>
          <p:cNvSpPr txBox="1"/>
          <p:nvPr/>
        </p:nvSpPr>
        <p:spPr>
          <a:xfrm>
            <a:off x="188082" y="3242007"/>
            <a:ext cx="4267432" cy="2246769"/>
          </a:xfrm>
          <a:prstGeom prst="rect">
            <a:avLst/>
          </a:prstGeom>
          <a:noFill/>
        </p:spPr>
        <p:txBody>
          <a:bodyPr wrap="square" rtlCol="0">
            <a:spAutoFit/>
          </a:bodyPr>
          <a:lstStyle/>
          <a:p>
            <a:pPr marL="342900" indent="-342900">
              <a:buFont typeface="Arial" panose="020B0604020202020204" pitchFamily="34" charset="0"/>
              <a:buChar char="•"/>
            </a:pPr>
            <a:r>
              <a:rPr lang="en-GB" sz="2000" b="1" dirty="0">
                <a:solidFill>
                  <a:schemeClr val="accent6">
                    <a:lumMod val="75000"/>
                  </a:schemeClr>
                </a:solidFill>
              </a:rPr>
              <a:t>High concentration of reactants </a:t>
            </a:r>
            <a:r>
              <a:rPr lang="en-GB" sz="2000" dirty="0"/>
              <a:t>– so more product is formed. The reactants are expensive and are recycled. Removing the product has the same impact.</a:t>
            </a:r>
          </a:p>
          <a:p>
            <a:pPr marL="342900" indent="-342900">
              <a:buFont typeface="Arial" panose="020B0604020202020204" pitchFamily="34" charset="0"/>
              <a:buChar char="•"/>
            </a:pPr>
            <a:r>
              <a:rPr lang="en-GB" sz="2000" b="1" dirty="0">
                <a:solidFill>
                  <a:schemeClr val="accent6">
                    <a:lumMod val="75000"/>
                  </a:schemeClr>
                </a:solidFill>
              </a:rPr>
              <a:t>Catalyst</a:t>
            </a:r>
            <a:r>
              <a:rPr lang="en-GB" sz="2000" dirty="0"/>
              <a:t> is added to speed up the rate of reaction - in both directions!</a:t>
            </a:r>
          </a:p>
        </p:txBody>
      </p:sp>
    </p:spTree>
    <p:extLst>
      <p:ext uri="{BB962C8B-B14F-4D97-AF65-F5344CB8AC3E}">
        <p14:creationId xmlns:p14="http://schemas.microsoft.com/office/powerpoint/2010/main" val="32937562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1680" y="-32700"/>
            <a:ext cx="7452320" cy="941420"/>
          </a:xfrm>
        </p:spPr>
        <p:txBody>
          <a:bodyPr>
            <a:noAutofit/>
          </a:bodyPr>
          <a:lstStyle/>
          <a:p>
            <a:pPr marL="342900" lvl="1" algn="r" defTabSz="342900" rtl="0">
              <a:spcBef>
                <a:spcPct val="20000"/>
              </a:spcBef>
            </a:pPr>
            <a:r>
              <a:rPr lang="en-US" sz="2400" b="1" dirty="0" err="1">
                <a:solidFill>
                  <a:schemeClr val="accent6"/>
                </a:solidFill>
              </a:rPr>
              <a:t>Fertilisers</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4" name="TextBox 3"/>
          <p:cNvSpPr txBox="1"/>
          <p:nvPr/>
        </p:nvSpPr>
        <p:spPr>
          <a:xfrm>
            <a:off x="166632" y="764704"/>
            <a:ext cx="8725847" cy="1631216"/>
          </a:xfrm>
          <a:custGeom>
            <a:avLst/>
            <a:gdLst>
              <a:gd name="connsiteX0" fmla="*/ 0 w 8712968"/>
              <a:gd name="connsiteY0" fmla="*/ 0 h 1538883"/>
              <a:gd name="connsiteX1" fmla="*/ 8712968 w 8712968"/>
              <a:gd name="connsiteY1" fmla="*/ 0 h 1538883"/>
              <a:gd name="connsiteX2" fmla="*/ 8712968 w 8712968"/>
              <a:gd name="connsiteY2" fmla="*/ 1538883 h 1538883"/>
              <a:gd name="connsiteX3" fmla="*/ 0 w 8712968"/>
              <a:gd name="connsiteY3" fmla="*/ 1538883 h 1538883"/>
              <a:gd name="connsiteX4" fmla="*/ 0 w 8712968"/>
              <a:gd name="connsiteY4" fmla="*/ 0 h 1538883"/>
              <a:gd name="connsiteX0" fmla="*/ 12879 w 8725847"/>
              <a:gd name="connsiteY0" fmla="*/ 0 h 1538883"/>
              <a:gd name="connsiteX1" fmla="*/ 8725847 w 8725847"/>
              <a:gd name="connsiteY1" fmla="*/ 0 h 1538883"/>
              <a:gd name="connsiteX2" fmla="*/ 8725847 w 8725847"/>
              <a:gd name="connsiteY2" fmla="*/ 1538883 h 1538883"/>
              <a:gd name="connsiteX3" fmla="*/ 0 w 8725847"/>
              <a:gd name="connsiteY3" fmla="*/ 1216912 h 1538883"/>
              <a:gd name="connsiteX4" fmla="*/ 12879 w 8725847"/>
              <a:gd name="connsiteY4" fmla="*/ 0 h 1538883"/>
              <a:gd name="connsiteX0" fmla="*/ 12879 w 8725847"/>
              <a:gd name="connsiteY0" fmla="*/ 0 h 1242669"/>
              <a:gd name="connsiteX1" fmla="*/ 8725847 w 8725847"/>
              <a:gd name="connsiteY1" fmla="*/ 0 h 1242669"/>
              <a:gd name="connsiteX2" fmla="*/ 8700089 w 8725847"/>
              <a:gd name="connsiteY2" fmla="*/ 1242669 h 1242669"/>
              <a:gd name="connsiteX3" fmla="*/ 0 w 8725847"/>
              <a:gd name="connsiteY3" fmla="*/ 1216912 h 1242669"/>
              <a:gd name="connsiteX4" fmla="*/ 12879 w 8725847"/>
              <a:gd name="connsiteY4" fmla="*/ 0 h 1242669"/>
              <a:gd name="connsiteX0" fmla="*/ 12879 w 8725847"/>
              <a:gd name="connsiteY0" fmla="*/ 0 h 1229790"/>
              <a:gd name="connsiteX1" fmla="*/ 8725847 w 8725847"/>
              <a:gd name="connsiteY1" fmla="*/ 0 h 1229790"/>
              <a:gd name="connsiteX2" fmla="*/ 8700089 w 8725847"/>
              <a:gd name="connsiteY2" fmla="*/ 1229790 h 1229790"/>
              <a:gd name="connsiteX3" fmla="*/ 0 w 8725847"/>
              <a:gd name="connsiteY3" fmla="*/ 1216912 h 1229790"/>
              <a:gd name="connsiteX4" fmla="*/ 12879 w 8725847"/>
              <a:gd name="connsiteY4" fmla="*/ 0 h 1229790"/>
              <a:gd name="connsiteX0" fmla="*/ 12879 w 8725847"/>
              <a:gd name="connsiteY0" fmla="*/ 0 h 1216912"/>
              <a:gd name="connsiteX1" fmla="*/ 8725847 w 8725847"/>
              <a:gd name="connsiteY1" fmla="*/ 0 h 1216912"/>
              <a:gd name="connsiteX2" fmla="*/ 8712968 w 8725847"/>
              <a:gd name="connsiteY2" fmla="*/ 1204033 h 1216912"/>
              <a:gd name="connsiteX3" fmla="*/ 0 w 8725847"/>
              <a:gd name="connsiteY3" fmla="*/ 1216912 h 1216912"/>
              <a:gd name="connsiteX4" fmla="*/ 12879 w 8725847"/>
              <a:gd name="connsiteY4" fmla="*/ 0 h 1216912"/>
              <a:gd name="connsiteX0" fmla="*/ 12879 w 8725847"/>
              <a:gd name="connsiteY0" fmla="*/ 0 h 1216912"/>
              <a:gd name="connsiteX1" fmla="*/ 8725847 w 8725847"/>
              <a:gd name="connsiteY1" fmla="*/ 0 h 1216912"/>
              <a:gd name="connsiteX2" fmla="*/ 8725847 w 8725847"/>
              <a:gd name="connsiteY2" fmla="*/ 1204033 h 1216912"/>
              <a:gd name="connsiteX3" fmla="*/ 0 w 8725847"/>
              <a:gd name="connsiteY3" fmla="*/ 1216912 h 1216912"/>
              <a:gd name="connsiteX4" fmla="*/ 12879 w 8725847"/>
              <a:gd name="connsiteY4" fmla="*/ 0 h 1216912"/>
              <a:gd name="connsiteX0" fmla="*/ 12879 w 8725847"/>
              <a:gd name="connsiteY0" fmla="*/ 0 h 1255548"/>
              <a:gd name="connsiteX1" fmla="*/ 8725847 w 8725847"/>
              <a:gd name="connsiteY1" fmla="*/ 0 h 1255548"/>
              <a:gd name="connsiteX2" fmla="*/ 8725847 w 8725847"/>
              <a:gd name="connsiteY2" fmla="*/ 1204033 h 1255548"/>
              <a:gd name="connsiteX3" fmla="*/ 0 w 8725847"/>
              <a:gd name="connsiteY3" fmla="*/ 1255548 h 1255548"/>
              <a:gd name="connsiteX4" fmla="*/ 12879 w 8725847"/>
              <a:gd name="connsiteY4" fmla="*/ 0 h 1255548"/>
              <a:gd name="connsiteX0" fmla="*/ 12879 w 8725847"/>
              <a:gd name="connsiteY0" fmla="*/ 0 h 1268427"/>
              <a:gd name="connsiteX1" fmla="*/ 8725847 w 8725847"/>
              <a:gd name="connsiteY1" fmla="*/ 0 h 1268427"/>
              <a:gd name="connsiteX2" fmla="*/ 8725847 w 8725847"/>
              <a:gd name="connsiteY2" fmla="*/ 1268427 h 1268427"/>
              <a:gd name="connsiteX3" fmla="*/ 0 w 8725847"/>
              <a:gd name="connsiteY3" fmla="*/ 1255548 h 1268427"/>
              <a:gd name="connsiteX4" fmla="*/ 12879 w 8725847"/>
              <a:gd name="connsiteY4" fmla="*/ 0 h 12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5847" h="1268427">
                <a:moveTo>
                  <a:pt x="12879" y="0"/>
                </a:moveTo>
                <a:lnTo>
                  <a:pt x="8725847" y="0"/>
                </a:lnTo>
                <a:lnTo>
                  <a:pt x="8725847" y="1268427"/>
                </a:lnTo>
                <a:lnTo>
                  <a:pt x="0" y="1255548"/>
                </a:lnTo>
                <a:lnTo>
                  <a:pt x="12879" y="0"/>
                </a:lnTo>
                <a:close/>
              </a:path>
            </a:pathLst>
          </a:custGeom>
          <a:noFill/>
          <a:ln w="28575">
            <a:solidFill>
              <a:schemeClr val="accent6"/>
            </a:solidFill>
          </a:ln>
        </p:spPr>
        <p:txBody>
          <a:bodyPr wrap="square" rtlCol="0">
            <a:spAutoFit/>
          </a:bodyPr>
          <a:lstStyle/>
          <a:p>
            <a:r>
              <a:rPr lang="en-GB" sz="2000" dirty="0"/>
              <a:t>Many fertilisers contain </a:t>
            </a:r>
            <a:r>
              <a:rPr lang="en-GB" sz="2000" b="1" dirty="0">
                <a:solidFill>
                  <a:schemeClr val="accent6">
                    <a:lumMod val="75000"/>
                  </a:schemeClr>
                </a:solidFill>
              </a:rPr>
              <a:t>nitrogen</a:t>
            </a:r>
            <a:r>
              <a:rPr lang="en-GB" sz="2000" dirty="0"/>
              <a:t>, </a:t>
            </a:r>
            <a:r>
              <a:rPr lang="en-GB" sz="2000" b="1" dirty="0">
                <a:solidFill>
                  <a:schemeClr val="accent6">
                    <a:lumMod val="75000"/>
                  </a:schemeClr>
                </a:solidFill>
              </a:rPr>
              <a:t>phosphorus</a:t>
            </a:r>
            <a:r>
              <a:rPr lang="en-GB" sz="2000" dirty="0"/>
              <a:t> and </a:t>
            </a:r>
            <a:r>
              <a:rPr lang="en-GB" sz="2000" b="1" dirty="0">
                <a:solidFill>
                  <a:schemeClr val="accent6">
                    <a:lumMod val="75000"/>
                  </a:schemeClr>
                </a:solidFill>
              </a:rPr>
              <a:t>potassium</a:t>
            </a:r>
            <a:r>
              <a:rPr lang="en-GB" sz="2000" dirty="0"/>
              <a:t> to promote plant growth. They are therefore known as NPK fertilisers. </a:t>
            </a:r>
            <a:r>
              <a:rPr lang="en-GB" sz="2000" b="1" dirty="0">
                <a:solidFill>
                  <a:schemeClr val="accent6">
                    <a:lumMod val="75000"/>
                  </a:schemeClr>
                </a:solidFill>
              </a:rPr>
              <a:t>Ammonium nitrate </a:t>
            </a:r>
            <a:r>
              <a:rPr lang="en-GB" sz="2000" dirty="0"/>
              <a:t>is a salt used as a fertiliser, produced from the reaction between </a:t>
            </a:r>
            <a:r>
              <a:rPr lang="en-GB" sz="2000" b="1" dirty="0">
                <a:solidFill>
                  <a:schemeClr val="accent6">
                    <a:lumMod val="75000"/>
                  </a:schemeClr>
                </a:solidFill>
              </a:rPr>
              <a:t>ammonia</a:t>
            </a:r>
            <a:r>
              <a:rPr lang="en-GB" sz="2000" dirty="0"/>
              <a:t> and </a:t>
            </a:r>
            <a:r>
              <a:rPr lang="en-GB" sz="2000" b="1" dirty="0">
                <a:solidFill>
                  <a:schemeClr val="accent6">
                    <a:lumMod val="75000"/>
                  </a:schemeClr>
                </a:solidFill>
              </a:rPr>
              <a:t>nitric acid</a:t>
            </a:r>
            <a:r>
              <a:rPr lang="en-GB" sz="2000" dirty="0"/>
              <a:t>.</a:t>
            </a:r>
          </a:p>
          <a:p>
            <a:endParaRPr lang="en-GB" sz="2000" dirty="0"/>
          </a:p>
          <a:p>
            <a:endParaRPr lang="en-GB" sz="2000" dirty="0"/>
          </a:p>
        </p:txBody>
      </p:sp>
      <p:sp>
        <p:nvSpPr>
          <p:cNvPr id="7" name="TextBox 6"/>
          <p:cNvSpPr txBox="1"/>
          <p:nvPr/>
        </p:nvSpPr>
        <p:spPr>
          <a:xfrm>
            <a:off x="2267744" y="1706124"/>
            <a:ext cx="3613280" cy="523220"/>
          </a:xfrm>
          <a:custGeom>
            <a:avLst/>
            <a:gdLst>
              <a:gd name="connsiteX0" fmla="*/ 0 w 8725847"/>
              <a:gd name="connsiteY0" fmla="*/ 0 h 612071"/>
              <a:gd name="connsiteX1" fmla="*/ 8725847 w 8725847"/>
              <a:gd name="connsiteY1" fmla="*/ 0 h 612071"/>
              <a:gd name="connsiteX2" fmla="*/ 8725847 w 8725847"/>
              <a:gd name="connsiteY2" fmla="*/ 612071 h 612071"/>
              <a:gd name="connsiteX3" fmla="*/ 0 w 8725847"/>
              <a:gd name="connsiteY3" fmla="*/ 612071 h 612071"/>
              <a:gd name="connsiteX4" fmla="*/ 0 w 8725847"/>
              <a:gd name="connsiteY4" fmla="*/ 0 h 612071"/>
              <a:gd name="connsiteX0" fmla="*/ 12879 w 8725847"/>
              <a:gd name="connsiteY0" fmla="*/ 0 h 1835564"/>
              <a:gd name="connsiteX1" fmla="*/ 8725847 w 8725847"/>
              <a:gd name="connsiteY1" fmla="*/ 1223493 h 1835564"/>
              <a:gd name="connsiteX2" fmla="*/ 8725847 w 8725847"/>
              <a:gd name="connsiteY2" fmla="*/ 1835564 h 1835564"/>
              <a:gd name="connsiteX3" fmla="*/ 0 w 8725847"/>
              <a:gd name="connsiteY3" fmla="*/ 1835564 h 1835564"/>
              <a:gd name="connsiteX4" fmla="*/ 12879 w 8725847"/>
              <a:gd name="connsiteY4" fmla="*/ 0 h 1835564"/>
              <a:gd name="connsiteX0" fmla="*/ 12879 w 8725847"/>
              <a:gd name="connsiteY0" fmla="*/ 25758 h 1861322"/>
              <a:gd name="connsiteX1" fmla="*/ 8700090 w 8725847"/>
              <a:gd name="connsiteY1" fmla="*/ 0 h 1861322"/>
              <a:gd name="connsiteX2" fmla="*/ 8725847 w 8725847"/>
              <a:gd name="connsiteY2" fmla="*/ 1861322 h 1861322"/>
              <a:gd name="connsiteX3" fmla="*/ 0 w 8725847"/>
              <a:gd name="connsiteY3" fmla="*/ 1861322 h 1861322"/>
              <a:gd name="connsiteX4" fmla="*/ 12879 w 8725847"/>
              <a:gd name="connsiteY4" fmla="*/ 25758 h 1861322"/>
              <a:gd name="connsiteX0" fmla="*/ 12879 w 8725847"/>
              <a:gd name="connsiteY0" fmla="*/ 0 h 1835564"/>
              <a:gd name="connsiteX1" fmla="*/ 8700090 w 8725847"/>
              <a:gd name="connsiteY1" fmla="*/ 0 h 1835564"/>
              <a:gd name="connsiteX2" fmla="*/ 8725847 w 8725847"/>
              <a:gd name="connsiteY2" fmla="*/ 1835564 h 1835564"/>
              <a:gd name="connsiteX3" fmla="*/ 0 w 8725847"/>
              <a:gd name="connsiteY3" fmla="*/ 1835564 h 1835564"/>
              <a:gd name="connsiteX4" fmla="*/ 12879 w 8725847"/>
              <a:gd name="connsiteY4" fmla="*/ 0 h 1835564"/>
              <a:gd name="connsiteX0" fmla="*/ 12879 w 8700090"/>
              <a:gd name="connsiteY0" fmla="*/ 0 h 1835564"/>
              <a:gd name="connsiteX1" fmla="*/ 8700090 w 8700090"/>
              <a:gd name="connsiteY1" fmla="*/ 0 h 1835564"/>
              <a:gd name="connsiteX2" fmla="*/ 8700089 w 8700090"/>
              <a:gd name="connsiteY2" fmla="*/ 599192 h 1835564"/>
              <a:gd name="connsiteX3" fmla="*/ 0 w 8700090"/>
              <a:gd name="connsiteY3" fmla="*/ 1835564 h 1835564"/>
              <a:gd name="connsiteX4" fmla="*/ 12879 w 8700090"/>
              <a:gd name="connsiteY4" fmla="*/ 0 h 1835564"/>
              <a:gd name="connsiteX0" fmla="*/ 0 w 8687211"/>
              <a:gd name="connsiteY0" fmla="*/ 0 h 676466"/>
              <a:gd name="connsiteX1" fmla="*/ 8687211 w 8687211"/>
              <a:gd name="connsiteY1" fmla="*/ 0 h 676466"/>
              <a:gd name="connsiteX2" fmla="*/ 8687210 w 8687211"/>
              <a:gd name="connsiteY2" fmla="*/ 599192 h 676466"/>
              <a:gd name="connsiteX3" fmla="*/ 0 w 8687211"/>
              <a:gd name="connsiteY3" fmla="*/ 676466 h 676466"/>
              <a:gd name="connsiteX4" fmla="*/ 0 w 8687211"/>
              <a:gd name="connsiteY4" fmla="*/ 0 h 676466"/>
              <a:gd name="connsiteX0" fmla="*/ 0 w 8687211"/>
              <a:gd name="connsiteY0" fmla="*/ 0 h 663587"/>
              <a:gd name="connsiteX1" fmla="*/ 8687211 w 8687211"/>
              <a:gd name="connsiteY1" fmla="*/ 0 h 663587"/>
              <a:gd name="connsiteX2" fmla="*/ 8687210 w 8687211"/>
              <a:gd name="connsiteY2" fmla="*/ 599192 h 663587"/>
              <a:gd name="connsiteX3" fmla="*/ 0 w 8687211"/>
              <a:gd name="connsiteY3" fmla="*/ 663587 h 663587"/>
              <a:gd name="connsiteX4" fmla="*/ 0 w 8687211"/>
              <a:gd name="connsiteY4" fmla="*/ 0 h 663587"/>
              <a:gd name="connsiteX0" fmla="*/ 0 w 8687211"/>
              <a:gd name="connsiteY0" fmla="*/ 0 h 637829"/>
              <a:gd name="connsiteX1" fmla="*/ 8687211 w 8687211"/>
              <a:gd name="connsiteY1" fmla="*/ 0 h 637829"/>
              <a:gd name="connsiteX2" fmla="*/ 8687210 w 8687211"/>
              <a:gd name="connsiteY2" fmla="*/ 599192 h 637829"/>
              <a:gd name="connsiteX3" fmla="*/ 0 w 8687211"/>
              <a:gd name="connsiteY3" fmla="*/ 637829 h 637829"/>
              <a:gd name="connsiteX4" fmla="*/ 0 w 8687211"/>
              <a:gd name="connsiteY4" fmla="*/ 0 h 637829"/>
              <a:gd name="connsiteX0" fmla="*/ 0 w 8687211"/>
              <a:gd name="connsiteY0" fmla="*/ 0 h 612071"/>
              <a:gd name="connsiteX1" fmla="*/ 8687211 w 8687211"/>
              <a:gd name="connsiteY1" fmla="*/ 0 h 612071"/>
              <a:gd name="connsiteX2" fmla="*/ 8687210 w 8687211"/>
              <a:gd name="connsiteY2" fmla="*/ 599192 h 612071"/>
              <a:gd name="connsiteX3" fmla="*/ 0 w 8687211"/>
              <a:gd name="connsiteY3" fmla="*/ 612071 h 612071"/>
              <a:gd name="connsiteX4" fmla="*/ 0 w 8687211"/>
              <a:gd name="connsiteY4" fmla="*/ 0 h 612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7211" h="612071">
                <a:moveTo>
                  <a:pt x="0" y="0"/>
                </a:moveTo>
                <a:lnTo>
                  <a:pt x="8687211" y="0"/>
                </a:lnTo>
                <a:cubicBezTo>
                  <a:pt x="8687211" y="199731"/>
                  <a:pt x="8687210" y="399461"/>
                  <a:pt x="8687210" y="599192"/>
                </a:cubicBezTo>
                <a:lnTo>
                  <a:pt x="0" y="612071"/>
                </a:lnTo>
                <a:lnTo>
                  <a:pt x="0" y="0"/>
                </a:lnTo>
                <a:close/>
              </a:path>
            </a:pathLst>
          </a:custGeom>
          <a:noFill/>
        </p:spPr>
        <p:txBody>
          <a:bodyPr wrap="square" rtlCol="0">
            <a:spAutoFit/>
          </a:bodyPr>
          <a:lstStyle/>
          <a:p>
            <a:r>
              <a:rPr lang="en-GB" sz="2800" b="1" dirty="0"/>
              <a:t>NH</a:t>
            </a:r>
            <a:r>
              <a:rPr lang="en-GB" sz="2800" b="1" baseline="-25000" dirty="0"/>
              <a:t>3</a:t>
            </a:r>
            <a:r>
              <a:rPr lang="en-GB" sz="2800" b="1" dirty="0"/>
              <a:t> + HNO</a:t>
            </a:r>
            <a:r>
              <a:rPr lang="en-GB" sz="2800" b="1" baseline="-25000" dirty="0"/>
              <a:t>3</a:t>
            </a:r>
            <a:r>
              <a:rPr lang="en-GB" sz="2800" b="1" dirty="0"/>
              <a:t> → NH</a:t>
            </a:r>
            <a:r>
              <a:rPr lang="en-GB" sz="2800" b="1" baseline="-25000" dirty="0"/>
              <a:t>4</a:t>
            </a:r>
            <a:r>
              <a:rPr lang="en-GB" sz="2800" b="1" dirty="0"/>
              <a:t>NO</a:t>
            </a:r>
            <a:r>
              <a:rPr lang="en-GB" sz="2800" b="1" baseline="-25000" dirty="0"/>
              <a:t>3</a:t>
            </a:r>
          </a:p>
        </p:txBody>
      </p:sp>
      <p:sp>
        <p:nvSpPr>
          <p:cNvPr id="5" name="TextBox 4"/>
          <p:cNvSpPr txBox="1"/>
          <p:nvPr/>
        </p:nvSpPr>
        <p:spPr>
          <a:xfrm>
            <a:off x="166632" y="2564904"/>
            <a:ext cx="5485488" cy="4093428"/>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GB" sz="2000" dirty="0"/>
              <a:t>Preparation of ammonium </a:t>
            </a:r>
            <a:r>
              <a:rPr lang="en-GB" sz="2000" dirty="0" err="1"/>
              <a:t>sulfate</a:t>
            </a:r>
            <a:r>
              <a:rPr lang="en-GB" sz="2000" dirty="0"/>
              <a:t> from ammonia solution and dilute sulfuric acid.</a:t>
            </a:r>
          </a:p>
          <a:p>
            <a:pPr marL="342900" indent="-342900">
              <a:buFont typeface="Arial" panose="020B0604020202020204" pitchFamily="34" charset="0"/>
              <a:buChar char="•"/>
            </a:pPr>
            <a:r>
              <a:rPr lang="en-GB" sz="2000" dirty="0"/>
              <a:t>Add known volume of dilute sulfuric acid to an evaporating basin.</a:t>
            </a:r>
          </a:p>
          <a:p>
            <a:pPr marL="342900" indent="-342900">
              <a:buFont typeface="Arial" panose="020B0604020202020204" pitchFamily="34" charset="0"/>
              <a:buChar char="•"/>
            </a:pPr>
            <a:r>
              <a:rPr lang="en-GB" sz="2000" dirty="0"/>
              <a:t>Add known volume and concentration of ammonia to the sulfuric acid.</a:t>
            </a:r>
          </a:p>
          <a:p>
            <a:pPr marL="342900" indent="-342900">
              <a:buFont typeface="Arial" panose="020B0604020202020204" pitchFamily="34" charset="0"/>
              <a:buChar char="•"/>
            </a:pPr>
            <a:r>
              <a:rPr lang="en-GB" sz="2000" dirty="0"/>
              <a:t>Test with universal indicator paper to ensure neutral.</a:t>
            </a:r>
          </a:p>
          <a:p>
            <a:pPr marL="342900" indent="-342900">
              <a:buFont typeface="Arial" panose="020B0604020202020204" pitchFamily="34" charset="0"/>
              <a:buChar char="•"/>
            </a:pPr>
            <a:r>
              <a:rPr lang="en-GB" sz="2000" dirty="0"/>
              <a:t>Evaporate the solution slowly using Bunsen burner to concentrate the solution.</a:t>
            </a:r>
          </a:p>
          <a:p>
            <a:pPr marL="342900" indent="-342900">
              <a:buFont typeface="Arial" panose="020B0604020202020204" pitchFamily="34" charset="0"/>
              <a:buChar char="•"/>
            </a:pPr>
            <a:r>
              <a:rPr lang="en-GB" sz="2000" dirty="0"/>
              <a:t>Cool until crystals form; dry the sample.</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endParaRPr lang="en-GB" sz="2000" dirty="0"/>
          </a:p>
        </p:txBody>
      </p:sp>
      <p:sp>
        <p:nvSpPr>
          <p:cNvPr id="9" name="TextBox 8"/>
          <p:cNvSpPr txBox="1"/>
          <p:nvPr/>
        </p:nvSpPr>
        <p:spPr>
          <a:xfrm>
            <a:off x="793234" y="5949280"/>
            <a:ext cx="4824536" cy="523220"/>
          </a:xfrm>
          <a:custGeom>
            <a:avLst/>
            <a:gdLst>
              <a:gd name="connsiteX0" fmla="*/ 0 w 8725847"/>
              <a:gd name="connsiteY0" fmla="*/ 0 h 612071"/>
              <a:gd name="connsiteX1" fmla="*/ 8725847 w 8725847"/>
              <a:gd name="connsiteY1" fmla="*/ 0 h 612071"/>
              <a:gd name="connsiteX2" fmla="*/ 8725847 w 8725847"/>
              <a:gd name="connsiteY2" fmla="*/ 612071 h 612071"/>
              <a:gd name="connsiteX3" fmla="*/ 0 w 8725847"/>
              <a:gd name="connsiteY3" fmla="*/ 612071 h 612071"/>
              <a:gd name="connsiteX4" fmla="*/ 0 w 8725847"/>
              <a:gd name="connsiteY4" fmla="*/ 0 h 612071"/>
              <a:gd name="connsiteX0" fmla="*/ 12879 w 8725847"/>
              <a:gd name="connsiteY0" fmla="*/ 0 h 1835564"/>
              <a:gd name="connsiteX1" fmla="*/ 8725847 w 8725847"/>
              <a:gd name="connsiteY1" fmla="*/ 1223493 h 1835564"/>
              <a:gd name="connsiteX2" fmla="*/ 8725847 w 8725847"/>
              <a:gd name="connsiteY2" fmla="*/ 1835564 h 1835564"/>
              <a:gd name="connsiteX3" fmla="*/ 0 w 8725847"/>
              <a:gd name="connsiteY3" fmla="*/ 1835564 h 1835564"/>
              <a:gd name="connsiteX4" fmla="*/ 12879 w 8725847"/>
              <a:gd name="connsiteY4" fmla="*/ 0 h 1835564"/>
              <a:gd name="connsiteX0" fmla="*/ 12879 w 8725847"/>
              <a:gd name="connsiteY0" fmla="*/ 25758 h 1861322"/>
              <a:gd name="connsiteX1" fmla="*/ 8700090 w 8725847"/>
              <a:gd name="connsiteY1" fmla="*/ 0 h 1861322"/>
              <a:gd name="connsiteX2" fmla="*/ 8725847 w 8725847"/>
              <a:gd name="connsiteY2" fmla="*/ 1861322 h 1861322"/>
              <a:gd name="connsiteX3" fmla="*/ 0 w 8725847"/>
              <a:gd name="connsiteY3" fmla="*/ 1861322 h 1861322"/>
              <a:gd name="connsiteX4" fmla="*/ 12879 w 8725847"/>
              <a:gd name="connsiteY4" fmla="*/ 25758 h 1861322"/>
              <a:gd name="connsiteX0" fmla="*/ 12879 w 8725847"/>
              <a:gd name="connsiteY0" fmla="*/ 0 h 1835564"/>
              <a:gd name="connsiteX1" fmla="*/ 8700090 w 8725847"/>
              <a:gd name="connsiteY1" fmla="*/ 0 h 1835564"/>
              <a:gd name="connsiteX2" fmla="*/ 8725847 w 8725847"/>
              <a:gd name="connsiteY2" fmla="*/ 1835564 h 1835564"/>
              <a:gd name="connsiteX3" fmla="*/ 0 w 8725847"/>
              <a:gd name="connsiteY3" fmla="*/ 1835564 h 1835564"/>
              <a:gd name="connsiteX4" fmla="*/ 12879 w 8725847"/>
              <a:gd name="connsiteY4" fmla="*/ 0 h 1835564"/>
              <a:gd name="connsiteX0" fmla="*/ 12879 w 8700090"/>
              <a:gd name="connsiteY0" fmla="*/ 0 h 1835564"/>
              <a:gd name="connsiteX1" fmla="*/ 8700090 w 8700090"/>
              <a:gd name="connsiteY1" fmla="*/ 0 h 1835564"/>
              <a:gd name="connsiteX2" fmla="*/ 8700089 w 8700090"/>
              <a:gd name="connsiteY2" fmla="*/ 599192 h 1835564"/>
              <a:gd name="connsiteX3" fmla="*/ 0 w 8700090"/>
              <a:gd name="connsiteY3" fmla="*/ 1835564 h 1835564"/>
              <a:gd name="connsiteX4" fmla="*/ 12879 w 8700090"/>
              <a:gd name="connsiteY4" fmla="*/ 0 h 1835564"/>
              <a:gd name="connsiteX0" fmla="*/ 0 w 8687211"/>
              <a:gd name="connsiteY0" fmla="*/ 0 h 676466"/>
              <a:gd name="connsiteX1" fmla="*/ 8687211 w 8687211"/>
              <a:gd name="connsiteY1" fmla="*/ 0 h 676466"/>
              <a:gd name="connsiteX2" fmla="*/ 8687210 w 8687211"/>
              <a:gd name="connsiteY2" fmla="*/ 599192 h 676466"/>
              <a:gd name="connsiteX3" fmla="*/ 0 w 8687211"/>
              <a:gd name="connsiteY3" fmla="*/ 676466 h 676466"/>
              <a:gd name="connsiteX4" fmla="*/ 0 w 8687211"/>
              <a:gd name="connsiteY4" fmla="*/ 0 h 676466"/>
              <a:gd name="connsiteX0" fmla="*/ 0 w 8687211"/>
              <a:gd name="connsiteY0" fmla="*/ 0 h 663587"/>
              <a:gd name="connsiteX1" fmla="*/ 8687211 w 8687211"/>
              <a:gd name="connsiteY1" fmla="*/ 0 h 663587"/>
              <a:gd name="connsiteX2" fmla="*/ 8687210 w 8687211"/>
              <a:gd name="connsiteY2" fmla="*/ 599192 h 663587"/>
              <a:gd name="connsiteX3" fmla="*/ 0 w 8687211"/>
              <a:gd name="connsiteY3" fmla="*/ 663587 h 663587"/>
              <a:gd name="connsiteX4" fmla="*/ 0 w 8687211"/>
              <a:gd name="connsiteY4" fmla="*/ 0 h 663587"/>
              <a:gd name="connsiteX0" fmla="*/ 0 w 8687211"/>
              <a:gd name="connsiteY0" fmla="*/ 0 h 637829"/>
              <a:gd name="connsiteX1" fmla="*/ 8687211 w 8687211"/>
              <a:gd name="connsiteY1" fmla="*/ 0 h 637829"/>
              <a:gd name="connsiteX2" fmla="*/ 8687210 w 8687211"/>
              <a:gd name="connsiteY2" fmla="*/ 599192 h 637829"/>
              <a:gd name="connsiteX3" fmla="*/ 0 w 8687211"/>
              <a:gd name="connsiteY3" fmla="*/ 637829 h 637829"/>
              <a:gd name="connsiteX4" fmla="*/ 0 w 8687211"/>
              <a:gd name="connsiteY4" fmla="*/ 0 h 637829"/>
              <a:gd name="connsiteX0" fmla="*/ 0 w 8687211"/>
              <a:gd name="connsiteY0" fmla="*/ 0 h 612071"/>
              <a:gd name="connsiteX1" fmla="*/ 8687211 w 8687211"/>
              <a:gd name="connsiteY1" fmla="*/ 0 h 612071"/>
              <a:gd name="connsiteX2" fmla="*/ 8687210 w 8687211"/>
              <a:gd name="connsiteY2" fmla="*/ 599192 h 612071"/>
              <a:gd name="connsiteX3" fmla="*/ 0 w 8687211"/>
              <a:gd name="connsiteY3" fmla="*/ 612071 h 612071"/>
              <a:gd name="connsiteX4" fmla="*/ 0 w 8687211"/>
              <a:gd name="connsiteY4" fmla="*/ 0 h 612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7211" h="612071">
                <a:moveTo>
                  <a:pt x="0" y="0"/>
                </a:moveTo>
                <a:lnTo>
                  <a:pt x="8687211" y="0"/>
                </a:lnTo>
                <a:cubicBezTo>
                  <a:pt x="8687211" y="199731"/>
                  <a:pt x="8687210" y="399461"/>
                  <a:pt x="8687210" y="599192"/>
                </a:cubicBezTo>
                <a:lnTo>
                  <a:pt x="0" y="612071"/>
                </a:lnTo>
                <a:lnTo>
                  <a:pt x="0" y="0"/>
                </a:lnTo>
                <a:close/>
              </a:path>
            </a:pathLst>
          </a:custGeom>
          <a:noFill/>
        </p:spPr>
        <p:txBody>
          <a:bodyPr wrap="square" rtlCol="0">
            <a:spAutoFit/>
          </a:bodyPr>
          <a:lstStyle/>
          <a:p>
            <a:r>
              <a:rPr lang="en-GB" sz="2800" b="1" dirty="0"/>
              <a:t>2NH</a:t>
            </a:r>
            <a:r>
              <a:rPr lang="en-GB" sz="2800" b="1" baseline="-25000" dirty="0"/>
              <a:t>3</a:t>
            </a:r>
            <a:r>
              <a:rPr lang="en-GB" sz="2800" b="1" dirty="0"/>
              <a:t> + H</a:t>
            </a:r>
            <a:r>
              <a:rPr lang="en-GB" sz="2800" b="1" baseline="-25000" dirty="0"/>
              <a:t>2</a:t>
            </a:r>
            <a:r>
              <a:rPr lang="en-GB" sz="2800" b="1" dirty="0"/>
              <a:t>SO</a:t>
            </a:r>
            <a:r>
              <a:rPr lang="en-GB" sz="2800" b="1" baseline="-25000" dirty="0"/>
              <a:t>4</a:t>
            </a:r>
            <a:r>
              <a:rPr lang="en-GB" sz="2800" b="1" dirty="0"/>
              <a:t> → (NH</a:t>
            </a:r>
            <a:r>
              <a:rPr lang="en-GB" sz="2800" b="1" baseline="-25000" dirty="0"/>
              <a:t>4</a:t>
            </a:r>
            <a:r>
              <a:rPr lang="en-GB" sz="2800" b="1" dirty="0"/>
              <a:t>)</a:t>
            </a:r>
            <a:r>
              <a:rPr lang="en-GB" sz="2800" b="1" baseline="-25000" dirty="0"/>
              <a:t>2</a:t>
            </a:r>
            <a:r>
              <a:rPr lang="en-GB" sz="2800" b="1" dirty="0"/>
              <a:t>SO</a:t>
            </a:r>
            <a:r>
              <a:rPr lang="en-GB" sz="2800" b="1" baseline="-25000" dirty="0"/>
              <a:t>4</a:t>
            </a:r>
          </a:p>
        </p:txBody>
      </p:sp>
      <p:sp>
        <p:nvSpPr>
          <p:cNvPr id="10" name="TextBox 9"/>
          <p:cNvSpPr txBox="1"/>
          <p:nvPr/>
        </p:nvSpPr>
        <p:spPr>
          <a:xfrm>
            <a:off x="5978992" y="3470090"/>
            <a:ext cx="2913487" cy="2862322"/>
          </a:xfrm>
          <a:custGeom>
            <a:avLst/>
            <a:gdLst>
              <a:gd name="connsiteX0" fmla="*/ 0 w 8712968"/>
              <a:gd name="connsiteY0" fmla="*/ 0 h 1538883"/>
              <a:gd name="connsiteX1" fmla="*/ 8712968 w 8712968"/>
              <a:gd name="connsiteY1" fmla="*/ 0 h 1538883"/>
              <a:gd name="connsiteX2" fmla="*/ 8712968 w 8712968"/>
              <a:gd name="connsiteY2" fmla="*/ 1538883 h 1538883"/>
              <a:gd name="connsiteX3" fmla="*/ 0 w 8712968"/>
              <a:gd name="connsiteY3" fmla="*/ 1538883 h 1538883"/>
              <a:gd name="connsiteX4" fmla="*/ 0 w 8712968"/>
              <a:gd name="connsiteY4" fmla="*/ 0 h 1538883"/>
              <a:gd name="connsiteX0" fmla="*/ 12879 w 8725847"/>
              <a:gd name="connsiteY0" fmla="*/ 0 h 1538883"/>
              <a:gd name="connsiteX1" fmla="*/ 8725847 w 8725847"/>
              <a:gd name="connsiteY1" fmla="*/ 0 h 1538883"/>
              <a:gd name="connsiteX2" fmla="*/ 8725847 w 8725847"/>
              <a:gd name="connsiteY2" fmla="*/ 1538883 h 1538883"/>
              <a:gd name="connsiteX3" fmla="*/ 0 w 8725847"/>
              <a:gd name="connsiteY3" fmla="*/ 1216912 h 1538883"/>
              <a:gd name="connsiteX4" fmla="*/ 12879 w 8725847"/>
              <a:gd name="connsiteY4" fmla="*/ 0 h 1538883"/>
              <a:gd name="connsiteX0" fmla="*/ 12879 w 8725847"/>
              <a:gd name="connsiteY0" fmla="*/ 0 h 1242669"/>
              <a:gd name="connsiteX1" fmla="*/ 8725847 w 8725847"/>
              <a:gd name="connsiteY1" fmla="*/ 0 h 1242669"/>
              <a:gd name="connsiteX2" fmla="*/ 8700089 w 8725847"/>
              <a:gd name="connsiteY2" fmla="*/ 1242669 h 1242669"/>
              <a:gd name="connsiteX3" fmla="*/ 0 w 8725847"/>
              <a:gd name="connsiteY3" fmla="*/ 1216912 h 1242669"/>
              <a:gd name="connsiteX4" fmla="*/ 12879 w 8725847"/>
              <a:gd name="connsiteY4" fmla="*/ 0 h 1242669"/>
              <a:gd name="connsiteX0" fmla="*/ 12879 w 8725847"/>
              <a:gd name="connsiteY0" fmla="*/ 0 h 1229790"/>
              <a:gd name="connsiteX1" fmla="*/ 8725847 w 8725847"/>
              <a:gd name="connsiteY1" fmla="*/ 0 h 1229790"/>
              <a:gd name="connsiteX2" fmla="*/ 8700089 w 8725847"/>
              <a:gd name="connsiteY2" fmla="*/ 1229790 h 1229790"/>
              <a:gd name="connsiteX3" fmla="*/ 0 w 8725847"/>
              <a:gd name="connsiteY3" fmla="*/ 1216912 h 1229790"/>
              <a:gd name="connsiteX4" fmla="*/ 12879 w 8725847"/>
              <a:gd name="connsiteY4" fmla="*/ 0 h 1229790"/>
              <a:gd name="connsiteX0" fmla="*/ 12879 w 8725847"/>
              <a:gd name="connsiteY0" fmla="*/ 0 h 1216912"/>
              <a:gd name="connsiteX1" fmla="*/ 8725847 w 8725847"/>
              <a:gd name="connsiteY1" fmla="*/ 0 h 1216912"/>
              <a:gd name="connsiteX2" fmla="*/ 8712968 w 8725847"/>
              <a:gd name="connsiteY2" fmla="*/ 1204033 h 1216912"/>
              <a:gd name="connsiteX3" fmla="*/ 0 w 8725847"/>
              <a:gd name="connsiteY3" fmla="*/ 1216912 h 1216912"/>
              <a:gd name="connsiteX4" fmla="*/ 12879 w 8725847"/>
              <a:gd name="connsiteY4" fmla="*/ 0 h 1216912"/>
              <a:gd name="connsiteX0" fmla="*/ 12879 w 8725847"/>
              <a:gd name="connsiteY0" fmla="*/ 0 h 1216912"/>
              <a:gd name="connsiteX1" fmla="*/ 8725847 w 8725847"/>
              <a:gd name="connsiteY1" fmla="*/ 0 h 1216912"/>
              <a:gd name="connsiteX2" fmla="*/ 8725847 w 8725847"/>
              <a:gd name="connsiteY2" fmla="*/ 1204033 h 1216912"/>
              <a:gd name="connsiteX3" fmla="*/ 0 w 8725847"/>
              <a:gd name="connsiteY3" fmla="*/ 1216912 h 1216912"/>
              <a:gd name="connsiteX4" fmla="*/ 12879 w 8725847"/>
              <a:gd name="connsiteY4" fmla="*/ 0 h 1216912"/>
              <a:gd name="connsiteX0" fmla="*/ 12879 w 8725847"/>
              <a:gd name="connsiteY0" fmla="*/ 0 h 1255548"/>
              <a:gd name="connsiteX1" fmla="*/ 8725847 w 8725847"/>
              <a:gd name="connsiteY1" fmla="*/ 0 h 1255548"/>
              <a:gd name="connsiteX2" fmla="*/ 8725847 w 8725847"/>
              <a:gd name="connsiteY2" fmla="*/ 1204033 h 1255548"/>
              <a:gd name="connsiteX3" fmla="*/ 0 w 8725847"/>
              <a:gd name="connsiteY3" fmla="*/ 1255548 h 1255548"/>
              <a:gd name="connsiteX4" fmla="*/ 12879 w 8725847"/>
              <a:gd name="connsiteY4" fmla="*/ 0 h 1255548"/>
              <a:gd name="connsiteX0" fmla="*/ 12879 w 8725847"/>
              <a:gd name="connsiteY0" fmla="*/ 0 h 1268427"/>
              <a:gd name="connsiteX1" fmla="*/ 8725847 w 8725847"/>
              <a:gd name="connsiteY1" fmla="*/ 0 h 1268427"/>
              <a:gd name="connsiteX2" fmla="*/ 8725847 w 8725847"/>
              <a:gd name="connsiteY2" fmla="*/ 1268427 h 1268427"/>
              <a:gd name="connsiteX3" fmla="*/ 0 w 8725847"/>
              <a:gd name="connsiteY3" fmla="*/ 1255548 h 1268427"/>
              <a:gd name="connsiteX4" fmla="*/ 12879 w 8725847"/>
              <a:gd name="connsiteY4" fmla="*/ 0 h 12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5847" h="1268427">
                <a:moveTo>
                  <a:pt x="12879" y="0"/>
                </a:moveTo>
                <a:lnTo>
                  <a:pt x="8725847" y="0"/>
                </a:lnTo>
                <a:lnTo>
                  <a:pt x="8725847" y="1268427"/>
                </a:lnTo>
                <a:lnTo>
                  <a:pt x="0" y="1255548"/>
                </a:lnTo>
                <a:lnTo>
                  <a:pt x="12879" y="0"/>
                </a:lnTo>
                <a:close/>
              </a:path>
            </a:pathLst>
          </a:custGeom>
          <a:noFill/>
          <a:ln w="28575">
            <a:solidFill>
              <a:schemeClr val="accent6"/>
            </a:solidFill>
          </a:ln>
        </p:spPr>
        <p:txBody>
          <a:bodyPr wrap="square" rtlCol="0">
            <a:spAutoFit/>
          </a:bodyPr>
          <a:lstStyle/>
          <a:p>
            <a:r>
              <a:rPr lang="en-GB" sz="2000" dirty="0"/>
              <a:t>In industry, the quantities of raw materials required mean the preparation of </a:t>
            </a:r>
            <a:r>
              <a:rPr lang="en-GB" sz="2000" b="1" dirty="0">
                <a:solidFill>
                  <a:schemeClr val="accent6">
                    <a:lumMod val="75000"/>
                  </a:schemeClr>
                </a:solidFill>
              </a:rPr>
              <a:t>ammonia </a:t>
            </a:r>
            <a:r>
              <a:rPr lang="en-GB" sz="2000" dirty="0"/>
              <a:t>using the </a:t>
            </a:r>
            <a:r>
              <a:rPr lang="en-GB" sz="2000" b="1" dirty="0">
                <a:solidFill>
                  <a:schemeClr val="accent6">
                    <a:lumMod val="75000"/>
                  </a:schemeClr>
                </a:solidFill>
              </a:rPr>
              <a:t>Haber process</a:t>
            </a:r>
            <a:r>
              <a:rPr lang="en-GB" sz="2000" dirty="0"/>
              <a:t>, and </a:t>
            </a:r>
            <a:r>
              <a:rPr lang="en-GB" sz="2000" b="1" dirty="0">
                <a:solidFill>
                  <a:schemeClr val="accent6">
                    <a:lumMod val="75000"/>
                  </a:schemeClr>
                </a:solidFill>
              </a:rPr>
              <a:t>sulfuric acid </a:t>
            </a:r>
            <a:r>
              <a:rPr lang="en-GB" sz="2000" dirty="0"/>
              <a:t>using the </a:t>
            </a:r>
            <a:r>
              <a:rPr lang="en-GB" sz="2000" b="1" dirty="0">
                <a:solidFill>
                  <a:schemeClr val="accent6">
                    <a:lumMod val="75000"/>
                  </a:schemeClr>
                </a:solidFill>
              </a:rPr>
              <a:t>Contact process</a:t>
            </a:r>
            <a:r>
              <a:rPr lang="en-GB" sz="2000" dirty="0"/>
              <a:t>. The reaction is carried out on a </a:t>
            </a:r>
            <a:r>
              <a:rPr lang="en-GB" sz="2000" b="1" dirty="0">
                <a:solidFill>
                  <a:schemeClr val="accent6">
                    <a:lumMod val="75000"/>
                  </a:schemeClr>
                </a:solidFill>
              </a:rPr>
              <a:t>much larger scale</a:t>
            </a:r>
            <a:r>
              <a:rPr lang="en-GB" sz="2000" dirty="0"/>
              <a:t>.</a:t>
            </a:r>
          </a:p>
        </p:txBody>
      </p:sp>
      <p:pic>
        <p:nvPicPr>
          <p:cNvPr id="3" name="Picture 2"/>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456726" y="1807804"/>
            <a:ext cx="1958017" cy="1514200"/>
          </a:xfrm>
          <a:prstGeom prst="rect">
            <a:avLst/>
          </a:prstGeom>
        </p:spPr>
      </p:pic>
    </p:spTree>
    <p:extLst>
      <p:ext uri="{BB962C8B-B14F-4D97-AF65-F5344CB8AC3E}">
        <p14:creationId xmlns:p14="http://schemas.microsoft.com/office/powerpoint/2010/main" val="7850520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113691" y="1041996"/>
            <a:ext cx="4716016" cy="4493538"/>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3600" b="1" dirty="0">
                <a:solidFill>
                  <a:schemeClr val="tx1">
                    <a:lumMod val="50000"/>
                    <a:lumOff val="50000"/>
                  </a:schemeClr>
                </a:solidFill>
              </a:rPr>
              <a:t>Dynamic equilibria – </a:t>
            </a:r>
            <a:endParaRPr lang="en-GB" sz="2800" dirty="0">
              <a:solidFill>
                <a:schemeClr val="tx1">
                  <a:lumMod val="50000"/>
                  <a:lumOff val="50000"/>
                </a:schemeClr>
              </a:solidFill>
            </a:endParaRP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Haber process</a:t>
            </a:r>
          </a:p>
          <a:p>
            <a:pPr marL="685800" lvl="1" indent="-342900">
              <a:buFont typeface="Arial" charset="0"/>
              <a:buChar char="•"/>
            </a:pPr>
            <a:r>
              <a:rPr lang="en-US" sz="2400" b="1" dirty="0">
                <a:solidFill>
                  <a:schemeClr val="bg1">
                    <a:lumMod val="50000"/>
                  </a:schemeClr>
                </a:solidFill>
              </a:rPr>
              <a:t>Factors affecting rate of attainment of equilibria (HT)</a:t>
            </a:r>
          </a:p>
          <a:p>
            <a:pPr marL="685800" lvl="1" indent="-342900">
              <a:buFont typeface="Arial" charset="0"/>
              <a:buChar char="•"/>
            </a:pPr>
            <a:r>
              <a:rPr lang="en-US" sz="2400" b="1" dirty="0" err="1">
                <a:solidFill>
                  <a:schemeClr val="bg1">
                    <a:lumMod val="50000"/>
                  </a:schemeClr>
                </a:solidFill>
              </a:rPr>
              <a:t>Fertilisers</a:t>
            </a:r>
            <a:endParaRPr lang="en-US" sz="2400" b="1" dirty="0">
              <a:solidFill>
                <a:schemeClr val="bg1">
                  <a:lumMod val="50000"/>
                </a:schemeClr>
              </a:solidFill>
            </a:endParaRPr>
          </a:p>
        </p:txBody>
      </p:sp>
    </p:spTree>
    <p:extLst>
      <p:ext uri="{BB962C8B-B14F-4D97-AF65-F5344CB8AC3E}">
        <p14:creationId xmlns:p14="http://schemas.microsoft.com/office/powerpoint/2010/main" val="4342606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1700" b="1" dirty="0">
                <a:solidFill>
                  <a:schemeClr val="accent6"/>
                </a:solidFill>
              </a:rPr>
              <a:t>Dynamic equilibria </a:t>
            </a:r>
            <a:r>
              <a:rPr lang="en-US" sz="1700" b="1" dirty="0">
                <a:solidFill>
                  <a:schemeClr val="tx1"/>
                </a:solidFill>
              </a:rPr>
              <a:t>Question</a:t>
            </a:r>
            <a:r>
              <a:rPr kumimoji="0" lang="en-US" sz="17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57041"/>
            <a:ext cx="8915400" cy="4524315"/>
          </a:xfrm>
          <a:prstGeom prst="rect">
            <a:avLst/>
          </a:prstGeom>
          <a:noFill/>
        </p:spPr>
        <p:txBody>
          <a:bodyPr wrap="square" rtlCol="0">
            <a:spAutoFit/>
          </a:bodyPr>
          <a:lstStyle/>
          <a:p>
            <a:pPr marL="457200" indent="-457200">
              <a:buAutoNum type="arabicPeriod"/>
            </a:pPr>
            <a:r>
              <a:rPr lang="en-GB" sz="2400" dirty="0"/>
              <a:t>What is a reversible reaction?</a:t>
            </a:r>
          </a:p>
          <a:p>
            <a:pPr marL="457200" indent="-457200">
              <a:buAutoNum type="arabicPeriod"/>
            </a:pPr>
            <a:endParaRPr lang="en-GB" sz="2400" dirty="0"/>
          </a:p>
          <a:p>
            <a:pPr marL="457200" indent="-457200">
              <a:buAutoNum type="arabicPeriod"/>
            </a:pPr>
            <a:r>
              <a:rPr lang="en-GB" sz="2400" dirty="0"/>
              <a:t>Give the balanced symbol equation for the reaction between nitrogen and hydrogen to produce ammonia. </a:t>
            </a:r>
          </a:p>
          <a:p>
            <a:pPr marL="457200" indent="-457200">
              <a:buAutoNum type="arabicPeriod"/>
            </a:pPr>
            <a:endParaRPr lang="en-GB" sz="2400" dirty="0"/>
          </a:p>
          <a:p>
            <a:pPr marL="457200" indent="-457200">
              <a:buAutoNum type="arabicPeriod"/>
            </a:pPr>
            <a:r>
              <a:rPr lang="en-GB" sz="2400" dirty="0"/>
              <a:t>(HT) What compromises are made in the reaction conditions for the production of ammonia in the Haber process?</a:t>
            </a:r>
          </a:p>
          <a:p>
            <a:pPr marL="457200" indent="-457200">
              <a:buAutoNum type="arabicPeriod"/>
            </a:pPr>
            <a:endParaRPr lang="en-GB" sz="2400" dirty="0"/>
          </a:p>
          <a:p>
            <a:pPr marL="457200" indent="-457200">
              <a:buAutoNum type="arabicPeriod"/>
            </a:pPr>
            <a:r>
              <a:rPr lang="en-GB" sz="2400" dirty="0"/>
              <a:t>What three elements do most fertilisers contain?</a:t>
            </a:r>
          </a:p>
          <a:p>
            <a:pPr marL="457200" indent="-457200">
              <a:buAutoNum type="arabicPeriod"/>
            </a:pPr>
            <a:endParaRPr lang="en-GB" sz="2400" dirty="0"/>
          </a:p>
          <a:p>
            <a:pPr marL="457200" indent="-457200">
              <a:buAutoNum type="arabicPeriod"/>
            </a:pPr>
            <a:r>
              <a:rPr lang="en-GB" sz="2400" dirty="0"/>
              <a:t>What is produced when ammonia reacts with nitric acid?</a:t>
            </a:r>
          </a:p>
          <a:p>
            <a:pPr marL="457200" indent="-457200">
              <a:buAutoNum type="arabicPeriod"/>
            </a:pPr>
            <a:endParaRPr lang="en-GB" sz="2400" dirty="0"/>
          </a:p>
        </p:txBody>
      </p:sp>
    </p:spTree>
    <p:extLst>
      <p:ext uri="{BB962C8B-B14F-4D97-AF65-F5344CB8AC3E}">
        <p14:creationId xmlns:p14="http://schemas.microsoft.com/office/powerpoint/2010/main" val="3751478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1700" b="1" dirty="0">
                <a:solidFill>
                  <a:schemeClr val="accent6"/>
                </a:solidFill>
              </a:rPr>
              <a:t>Dynamic equilibria </a:t>
            </a:r>
            <a:r>
              <a:rPr lang="en-US" sz="1700" b="1" dirty="0">
                <a:solidFill>
                  <a:schemeClr val="tx1"/>
                </a:solidFill>
              </a:rPr>
              <a:t>Question</a:t>
            </a:r>
            <a:r>
              <a:rPr kumimoji="0" lang="en-US" sz="17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57041"/>
            <a:ext cx="8915400" cy="2923877"/>
          </a:xfrm>
          <a:prstGeom prst="rect">
            <a:avLst/>
          </a:prstGeom>
          <a:noFill/>
        </p:spPr>
        <p:txBody>
          <a:bodyPr wrap="square" rtlCol="0">
            <a:spAutoFit/>
          </a:bodyPr>
          <a:lstStyle/>
          <a:p>
            <a:pPr marL="457200" indent="-457200">
              <a:buFont typeface="+mj-lt"/>
              <a:buAutoNum type="arabicPeriod" startAt="6"/>
            </a:pPr>
            <a:r>
              <a:rPr lang="en-GB" sz="2400" dirty="0"/>
              <a:t>Write a balanced symbol equation for the reaction between ammonia and nitric acid.</a:t>
            </a:r>
          </a:p>
          <a:p>
            <a:pPr marL="457200" indent="-457200">
              <a:buFont typeface="+mj-lt"/>
              <a:buAutoNum type="arabicPeriod" startAt="6"/>
            </a:pPr>
            <a:endParaRPr lang="en-GB" sz="2400" dirty="0"/>
          </a:p>
          <a:p>
            <a:pPr marL="457200" indent="-457200">
              <a:buFont typeface="+mj-lt"/>
              <a:buAutoNum type="arabicPeriod" startAt="6"/>
            </a:pPr>
            <a:endParaRPr lang="en-GB" sz="2400" dirty="0"/>
          </a:p>
          <a:p>
            <a:pPr marL="457200" indent="-457200">
              <a:buAutoNum type="arabicPeriod" startAt="6"/>
            </a:pPr>
            <a:r>
              <a:rPr lang="en-GB" sz="2400" dirty="0"/>
              <a:t>Write a balanced symbol equation for the reaction between ammonia and sulfuric acid. </a:t>
            </a:r>
          </a:p>
          <a:p>
            <a:pPr marL="457200" indent="-457200">
              <a:buAutoNum type="arabicPeriod" startAt="6"/>
            </a:pPr>
            <a:endParaRPr lang="en-GB" sz="2000" dirty="0"/>
          </a:p>
          <a:p>
            <a:pPr marL="457200" indent="-457200">
              <a:buAutoNum type="arabicPeriod" startAt="6"/>
            </a:pPr>
            <a:endParaRPr lang="en-GB" sz="2000" dirty="0"/>
          </a:p>
        </p:txBody>
      </p:sp>
    </p:spTree>
    <p:extLst>
      <p:ext uri="{BB962C8B-B14F-4D97-AF65-F5344CB8AC3E}">
        <p14:creationId xmlns:p14="http://schemas.microsoft.com/office/powerpoint/2010/main" val="7302484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770537"/>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Dynamic equilibria – </a:t>
            </a:r>
            <a:endParaRPr lang="en-GB" sz="2800" dirty="0">
              <a:solidFill>
                <a:schemeClr val="tx1">
                  <a:lumMod val="50000"/>
                  <a:lumOff val="50000"/>
                </a:schemeClr>
              </a:solidFill>
            </a:endParaRP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Haber process</a:t>
            </a:r>
          </a:p>
          <a:p>
            <a:pPr marL="685800" lvl="1" indent="-342900">
              <a:buFont typeface="Arial" charset="0"/>
              <a:buChar char="•"/>
            </a:pPr>
            <a:r>
              <a:rPr lang="en-US" sz="2400" b="1" dirty="0">
                <a:solidFill>
                  <a:schemeClr val="bg1">
                    <a:lumMod val="50000"/>
                  </a:schemeClr>
                </a:solidFill>
              </a:rPr>
              <a:t>Factors affecting rate of attainment of equilibria (HT)</a:t>
            </a:r>
          </a:p>
          <a:p>
            <a:pPr marL="685800" lvl="1" indent="-342900">
              <a:buFont typeface="Arial" charset="0"/>
              <a:buChar char="•"/>
            </a:pPr>
            <a:r>
              <a:rPr lang="en-US" sz="2400" b="1" dirty="0" err="1">
                <a:solidFill>
                  <a:schemeClr val="bg1">
                    <a:lumMod val="50000"/>
                  </a:schemeClr>
                </a:solidFill>
              </a:rPr>
              <a:t>Fertilisers</a:t>
            </a:r>
            <a:endParaRPr lang="en-US" sz="2400" b="1" dirty="0">
              <a:solidFill>
                <a:schemeClr val="bg1">
                  <a:lumMod val="50000"/>
                </a:schemeClr>
              </a:solidFill>
            </a:endParaRPr>
          </a:p>
          <a:p>
            <a:endParaRPr lang="en-GB" dirty="0"/>
          </a:p>
        </p:txBody>
      </p:sp>
    </p:spTree>
    <p:extLst>
      <p:ext uri="{BB962C8B-B14F-4D97-AF65-F5344CB8AC3E}">
        <p14:creationId xmlns:p14="http://schemas.microsoft.com/office/powerpoint/2010/main" val="37858740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1700" b="1" dirty="0">
                <a:solidFill>
                  <a:schemeClr val="accent6"/>
                </a:solidFill>
              </a:rPr>
              <a:t>Dynamic equilibria </a:t>
            </a:r>
            <a:r>
              <a:rPr lang="en-US" sz="1700" b="1" dirty="0">
                <a:solidFill>
                  <a:schemeClr val="tx1"/>
                </a:solidFill>
              </a:rPr>
              <a:t>Question</a:t>
            </a:r>
            <a:r>
              <a:rPr kumimoji="0" lang="en-US" sz="17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57041"/>
            <a:ext cx="8915400" cy="4893647"/>
          </a:xfrm>
          <a:prstGeom prst="rect">
            <a:avLst/>
          </a:prstGeom>
          <a:noFill/>
        </p:spPr>
        <p:txBody>
          <a:bodyPr wrap="square" rtlCol="0">
            <a:spAutoFit/>
          </a:bodyPr>
          <a:lstStyle/>
          <a:p>
            <a:pPr marL="457200" indent="-457200">
              <a:buAutoNum type="arabicPeriod"/>
            </a:pPr>
            <a:r>
              <a:rPr lang="en-GB" sz="2400" dirty="0"/>
              <a:t>What is a reversible reaction?</a:t>
            </a:r>
          </a:p>
          <a:p>
            <a:pPr lvl="1"/>
            <a:r>
              <a:rPr lang="en-GB" sz="2400" dirty="0">
                <a:solidFill>
                  <a:srgbClr val="00B050"/>
                </a:solidFill>
              </a:rPr>
              <a:t>Chemical reaction which can go in either direction.</a:t>
            </a:r>
          </a:p>
          <a:p>
            <a:pPr marL="457200" indent="-457200">
              <a:buAutoNum type="arabicPeriod"/>
            </a:pPr>
            <a:r>
              <a:rPr lang="en-GB" sz="2400" dirty="0"/>
              <a:t>Give the balanced symbol equation for the reaction between nitrogen and hydrogen to produce ammonia. </a:t>
            </a:r>
          </a:p>
          <a:p>
            <a:pPr lvl="1"/>
            <a:r>
              <a:rPr lang="en-GB" sz="2400" dirty="0">
                <a:solidFill>
                  <a:srgbClr val="00B050"/>
                </a:solidFill>
              </a:rPr>
              <a:t>2H</a:t>
            </a:r>
            <a:r>
              <a:rPr lang="en-GB" sz="2400" baseline="-25000" dirty="0">
                <a:solidFill>
                  <a:srgbClr val="00B050"/>
                </a:solidFill>
              </a:rPr>
              <a:t>2</a:t>
            </a:r>
            <a:r>
              <a:rPr lang="en-GB" sz="2400" dirty="0">
                <a:solidFill>
                  <a:srgbClr val="00B050"/>
                </a:solidFill>
              </a:rPr>
              <a:t> + N</a:t>
            </a:r>
            <a:r>
              <a:rPr lang="en-GB" sz="2400" baseline="-25000" dirty="0">
                <a:solidFill>
                  <a:srgbClr val="00B050"/>
                </a:solidFill>
              </a:rPr>
              <a:t>2</a:t>
            </a:r>
            <a:r>
              <a:rPr lang="en-GB" sz="2400" dirty="0">
                <a:solidFill>
                  <a:srgbClr val="00B050"/>
                </a:solidFill>
              </a:rPr>
              <a:t> </a:t>
            </a:r>
            <a:r>
              <a:rPr lang="en-GB" sz="2400" b="1" dirty="0">
                <a:solidFill>
                  <a:srgbClr val="00B050"/>
                </a:solidFill>
              </a:rPr>
              <a:t>→</a:t>
            </a:r>
            <a:r>
              <a:rPr lang="en-GB" sz="2400" dirty="0">
                <a:solidFill>
                  <a:srgbClr val="00B050"/>
                </a:solidFill>
              </a:rPr>
              <a:t> 2NH</a:t>
            </a:r>
            <a:r>
              <a:rPr lang="en-GB" sz="2400" baseline="-25000" dirty="0">
                <a:solidFill>
                  <a:srgbClr val="00B050"/>
                </a:solidFill>
              </a:rPr>
              <a:t>3</a:t>
            </a:r>
          </a:p>
          <a:p>
            <a:pPr marL="457200" indent="-457200">
              <a:buAutoNum type="arabicPeriod"/>
            </a:pPr>
            <a:r>
              <a:rPr lang="en-GB" sz="2400" dirty="0"/>
              <a:t>(HT) What compromises are made in the reaction conditions for the production of ammonia in the Haber process?</a:t>
            </a:r>
          </a:p>
          <a:p>
            <a:pPr lvl="1"/>
            <a:r>
              <a:rPr lang="en-GB" sz="2400" dirty="0">
                <a:solidFill>
                  <a:srgbClr val="00B050"/>
                </a:solidFill>
              </a:rPr>
              <a:t>Slightly higher temperature – to increase rate of reaction; slightly lower pressure – to reduce costs and increase safety.</a:t>
            </a:r>
          </a:p>
          <a:p>
            <a:pPr marL="457200" indent="-457200">
              <a:buAutoNum type="arabicPeriod"/>
            </a:pPr>
            <a:r>
              <a:rPr lang="en-GB" sz="2400" dirty="0"/>
              <a:t>What three elements do most fertilisers contain?</a:t>
            </a:r>
          </a:p>
          <a:p>
            <a:pPr lvl="1"/>
            <a:r>
              <a:rPr lang="en-GB" sz="2400" dirty="0">
                <a:solidFill>
                  <a:srgbClr val="00B050"/>
                </a:solidFill>
              </a:rPr>
              <a:t>Nitrogen, phosphorus, potassium.</a:t>
            </a:r>
          </a:p>
          <a:p>
            <a:pPr marL="457200" indent="-457200">
              <a:buAutoNum type="arabicPeriod"/>
            </a:pPr>
            <a:r>
              <a:rPr lang="en-GB" sz="2400" dirty="0"/>
              <a:t>What is produced when ammonia reacts with nitric acid?</a:t>
            </a:r>
          </a:p>
          <a:p>
            <a:pPr lvl="1"/>
            <a:r>
              <a:rPr lang="en-GB" sz="2400" dirty="0">
                <a:solidFill>
                  <a:srgbClr val="00B050"/>
                </a:solidFill>
              </a:rPr>
              <a:t>Salt; ammonium nitrate</a:t>
            </a:r>
          </a:p>
        </p:txBody>
      </p:sp>
    </p:spTree>
    <p:extLst>
      <p:ext uri="{BB962C8B-B14F-4D97-AF65-F5344CB8AC3E}">
        <p14:creationId xmlns:p14="http://schemas.microsoft.com/office/powerpoint/2010/main" val="28026616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1700" b="1" dirty="0">
                <a:solidFill>
                  <a:schemeClr val="accent6"/>
                </a:solidFill>
              </a:rPr>
              <a:t>Dynamic equilibria </a:t>
            </a:r>
            <a:r>
              <a:rPr lang="en-US" sz="1700" b="1" dirty="0">
                <a:solidFill>
                  <a:schemeClr val="tx1"/>
                </a:solidFill>
              </a:rPr>
              <a:t>Question</a:t>
            </a:r>
            <a:r>
              <a:rPr kumimoji="0" lang="en-US" sz="17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57041"/>
            <a:ext cx="8915400" cy="3354765"/>
          </a:xfrm>
          <a:prstGeom prst="rect">
            <a:avLst/>
          </a:prstGeom>
          <a:noFill/>
        </p:spPr>
        <p:txBody>
          <a:bodyPr wrap="square" rtlCol="0">
            <a:spAutoFit/>
          </a:bodyPr>
          <a:lstStyle/>
          <a:p>
            <a:pPr marL="457200" indent="-457200">
              <a:buFont typeface="+mj-lt"/>
              <a:buAutoNum type="arabicPeriod" startAt="6"/>
            </a:pPr>
            <a:r>
              <a:rPr lang="en-GB" sz="2400" dirty="0"/>
              <a:t>Write a balanced symbol equation for the reaction between ammonia and nitric acid.</a:t>
            </a:r>
          </a:p>
          <a:p>
            <a:pPr lvl="1"/>
            <a:r>
              <a:rPr lang="en-GB" sz="2400" dirty="0">
                <a:solidFill>
                  <a:srgbClr val="00B050"/>
                </a:solidFill>
              </a:rPr>
              <a:t>NH</a:t>
            </a:r>
            <a:r>
              <a:rPr lang="en-GB" sz="2400" baseline="-25000" dirty="0">
                <a:solidFill>
                  <a:srgbClr val="00B050"/>
                </a:solidFill>
              </a:rPr>
              <a:t>3</a:t>
            </a:r>
            <a:r>
              <a:rPr lang="en-GB" sz="2400" dirty="0">
                <a:solidFill>
                  <a:srgbClr val="00B050"/>
                </a:solidFill>
              </a:rPr>
              <a:t> + HNO</a:t>
            </a:r>
            <a:r>
              <a:rPr lang="en-GB" sz="2400" baseline="-25000" dirty="0">
                <a:solidFill>
                  <a:srgbClr val="00B050"/>
                </a:solidFill>
              </a:rPr>
              <a:t>3</a:t>
            </a:r>
            <a:r>
              <a:rPr lang="en-GB" sz="2400" dirty="0">
                <a:solidFill>
                  <a:srgbClr val="00B050"/>
                </a:solidFill>
              </a:rPr>
              <a:t> → NH</a:t>
            </a:r>
            <a:r>
              <a:rPr lang="en-GB" sz="2400" baseline="-25000" dirty="0">
                <a:solidFill>
                  <a:srgbClr val="00B050"/>
                </a:solidFill>
              </a:rPr>
              <a:t>4</a:t>
            </a:r>
            <a:r>
              <a:rPr lang="en-GB" sz="2400" dirty="0">
                <a:solidFill>
                  <a:srgbClr val="00B050"/>
                </a:solidFill>
              </a:rPr>
              <a:t>NO</a:t>
            </a:r>
            <a:r>
              <a:rPr lang="en-GB" sz="2400" baseline="-25000" dirty="0">
                <a:solidFill>
                  <a:srgbClr val="00B050"/>
                </a:solidFill>
              </a:rPr>
              <a:t>3</a:t>
            </a:r>
            <a:endParaRPr lang="en-GB" sz="2400" dirty="0">
              <a:solidFill>
                <a:srgbClr val="00B050"/>
              </a:solidFill>
            </a:endParaRPr>
          </a:p>
          <a:p>
            <a:pPr marL="457200" indent="-457200">
              <a:buFont typeface="+mj-lt"/>
              <a:buAutoNum type="arabicPeriod" startAt="6"/>
            </a:pPr>
            <a:endParaRPr lang="en-GB" sz="2400" dirty="0"/>
          </a:p>
          <a:p>
            <a:pPr marL="457200" indent="-457200">
              <a:buAutoNum type="arabicPeriod" startAt="6"/>
            </a:pPr>
            <a:r>
              <a:rPr lang="en-GB" sz="2400" dirty="0"/>
              <a:t>Write a balanced symbol equation for the reaction between ammonia and sulfuric acid. </a:t>
            </a:r>
          </a:p>
          <a:p>
            <a:pPr lvl="1"/>
            <a:r>
              <a:rPr lang="en-GB" sz="2400" dirty="0">
                <a:solidFill>
                  <a:srgbClr val="00B050"/>
                </a:solidFill>
              </a:rPr>
              <a:t>2NH</a:t>
            </a:r>
            <a:r>
              <a:rPr lang="en-GB" sz="2400" baseline="-25000" dirty="0">
                <a:solidFill>
                  <a:srgbClr val="00B050"/>
                </a:solidFill>
              </a:rPr>
              <a:t>3</a:t>
            </a:r>
            <a:r>
              <a:rPr lang="en-GB" sz="2400" dirty="0">
                <a:solidFill>
                  <a:srgbClr val="00B050"/>
                </a:solidFill>
              </a:rPr>
              <a:t> + H</a:t>
            </a:r>
            <a:r>
              <a:rPr lang="en-GB" sz="2400" baseline="-25000" dirty="0">
                <a:solidFill>
                  <a:srgbClr val="00B050"/>
                </a:solidFill>
              </a:rPr>
              <a:t>2</a:t>
            </a:r>
            <a:r>
              <a:rPr lang="en-GB" sz="2400" dirty="0">
                <a:solidFill>
                  <a:srgbClr val="00B050"/>
                </a:solidFill>
              </a:rPr>
              <a:t>SO</a:t>
            </a:r>
            <a:r>
              <a:rPr lang="en-GB" sz="2400" baseline="-25000" dirty="0">
                <a:solidFill>
                  <a:srgbClr val="00B050"/>
                </a:solidFill>
              </a:rPr>
              <a:t>4</a:t>
            </a:r>
            <a:r>
              <a:rPr lang="en-GB" sz="2400" dirty="0">
                <a:solidFill>
                  <a:srgbClr val="00B050"/>
                </a:solidFill>
              </a:rPr>
              <a:t> → (NH</a:t>
            </a:r>
            <a:r>
              <a:rPr lang="en-GB" sz="2400" baseline="-25000" dirty="0">
                <a:solidFill>
                  <a:srgbClr val="00B050"/>
                </a:solidFill>
              </a:rPr>
              <a:t>4</a:t>
            </a:r>
            <a:r>
              <a:rPr lang="en-GB" sz="2400" dirty="0">
                <a:solidFill>
                  <a:srgbClr val="00B050"/>
                </a:solidFill>
              </a:rPr>
              <a:t>)</a:t>
            </a:r>
            <a:r>
              <a:rPr lang="en-GB" sz="2400" baseline="-25000" dirty="0">
                <a:solidFill>
                  <a:srgbClr val="00B050"/>
                </a:solidFill>
              </a:rPr>
              <a:t>2</a:t>
            </a:r>
            <a:r>
              <a:rPr lang="en-GB" sz="2400" dirty="0">
                <a:solidFill>
                  <a:srgbClr val="00B050"/>
                </a:solidFill>
              </a:rPr>
              <a:t>SO</a:t>
            </a:r>
            <a:r>
              <a:rPr lang="en-GB" sz="2400" baseline="-25000" dirty="0">
                <a:solidFill>
                  <a:srgbClr val="00B050"/>
                </a:solidFill>
              </a:rPr>
              <a:t>4</a:t>
            </a:r>
          </a:p>
          <a:p>
            <a:pPr lvl="1"/>
            <a:endParaRPr lang="en-GB" sz="2000" dirty="0"/>
          </a:p>
          <a:p>
            <a:pPr marL="457200" indent="-457200">
              <a:buAutoNum type="arabicPeriod" startAt="6"/>
            </a:pPr>
            <a:endParaRPr lang="en-GB" sz="2000" dirty="0"/>
          </a:p>
        </p:txBody>
      </p:sp>
    </p:spTree>
    <p:extLst>
      <p:ext uri="{BB962C8B-B14F-4D97-AF65-F5344CB8AC3E}">
        <p14:creationId xmlns:p14="http://schemas.microsoft.com/office/powerpoint/2010/main" val="40653236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pic>
        <p:nvPicPr>
          <p:cNvPr id="8" name="Picture 7"/>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
        <p:nvSpPr>
          <p:cNvPr id="7" name="TextBox 6"/>
          <p:cNvSpPr txBox="1"/>
          <p:nvPr/>
        </p:nvSpPr>
        <p:spPr>
          <a:xfrm>
            <a:off x="-22696" y="675435"/>
            <a:ext cx="4572000" cy="4801314"/>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3200" b="1" dirty="0">
                <a:solidFill>
                  <a:schemeClr val="tx1">
                    <a:lumMod val="50000"/>
                    <a:lumOff val="50000"/>
                  </a:schemeClr>
                </a:solidFill>
              </a:rPr>
              <a:t>Chemical Cells And </a:t>
            </a:r>
          </a:p>
          <a:p>
            <a:r>
              <a:rPr lang="en-GB" sz="3200" b="1" dirty="0">
                <a:solidFill>
                  <a:schemeClr val="tx1">
                    <a:lumMod val="50000"/>
                    <a:lumOff val="50000"/>
                  </a:schemeClr>
                </a:solidFill>
              </a:rPr>
              <a:t>Fuel Cells</a:t>
            </a:r>
          </a:p>
          <a:p>
            <a:endParaRPr lang="en-GB" sz="3200" b="1" dirty="0">
              <a:solidFill>
                <a:schemeClr val="tx1">
                  <a:lumMod val="50000"/>
                  <a:lumOff val="50000"/>
                </a:schemeClr>
              </a:solidFill>
            </a:endParaRPr>
          </a:p>
          <a:p>
            <a:pPr marL="342900" indent="-342900">
              <a:buFont typeface="Arial" panose="020B0604020202020204" pitchFamily="34" charset="0"/>
              <a:buChar char="•"/>
            </a:pPr>
            <a:r>
              <a:rPr lang="en-GB" sz="2400" b="1" dirty="0">
                <a:solidFill>
                  <a:schemeClr val="tx1">
                    <a:lumMod val="50000"/>
                    <a:lumOff val="50000"/>
                  </a:schemeClr>
                </a:solidFill>
              </a:rPr>
              <a:t>Cells </a:t>
            </a:r>
          </a:p>
          <a:p>
            <a:pPr marL="342900" indent="-342900">
              <a:buFont typeface="Arial" panose="020B0604020202020204" pitchFamily="34" charset="0"/>
              <a:buChar char="•"/>
            </a:pPr>
            <a:r>
              <a:rPr lang="en-GB" sz="2400" b="1" dirty="0">
                <a:solidFill>
                  <a:schemeClr val="tx1">
                    <a:lumMod val="50000"/>
                    <a:lumOff val="50000"/>
                  </a:schemeClr>
                </a:solidFill>
              </a:rPr>
              <a:t>Fuel Cells </a:t>
            </a:r>
          </a:p>
        </p:txBody>
      </p:sp>
    </p:spTree>
    <p:extLst>
      <p:ext uri="{BB962C8B-B14F-4D97-AF65-F5344CB8AC3E}">
        <p14:creationId xmlns:p14="http://schemas.microsoft.com/office/powerpoint/2010/main" val="9315764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56436" y="-14024"/>
            <a:ext cx="6876256" cy="657041"/>
          </a:xfrm>
        </p:spPr>
        <p:txBody>
          <a:bodyPr>
            <a:noAutofit/>
          </a:bodyPr>
          <a:lstStyle/>
          <a:p>
            <a:pPr marL="342900" lvl="1" algn="r" defTabSz="342900" rtl="0">
              <a:spcBef>
                <a:spcPct val="20000"/>
              </a:spcBef>
            </a:pPr>
            <a:r>
              <a:rPr lang="en-US" sz="2400" b="1" dirty="0">
                <a:solidFill>
                  <a:schemeClr val="accent6"/>
                </a:solidFill>
              </a:rPr>
              <a:t>Cells</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251520" y="919173"/>
            <a:ext cx="8712968" cy="830997"/>
          </a:xfrm>
          <a:prstGeom prst="rect">
            <a:avLst/>
          </a:prstGeom>
          <a:noFill/>
          <a:ln w="28575">
            <a:solidFill>
              <a:schemeClr val="accent6"/>
            </a:solidFill>
          </a:ln>
        </p:spPr>
        <p:txBody>
          <a:bodyPr wrap="square" rtlCol="0">
            <a:spAutoFit/>
          </a:bodyPr>
          <a:lstStyle/>
          <a:p>
            <a:pPr algn="ctr"/>
            <a:r>
              <a:rPr lang="en-GB" sz="2400" b="1" dirty="0">
                <a:solidFill>
                  <a:schemeClr val="accent6">
                    <a:lumMod val="75000"/>
                  </a:schemeClr>
                </a:solidFill>
              </a:rPr>
              <a:t>Cells</a:t>
            </a:r>
            <a:r>
              <a:rPr lang="en-GB" sz="2400" b="1" dirty="0"/>
              <a:t> contain chemicals which react to produce electricity. They continue to produce a voltage until one of the reactants is used up.</a:t>
            </a:r>
          </a:p>
        </p:txBody>
      </p:sp>
      <p:sp>
        <p:nvSpPr>
          <p:cNvPr id="6" name="TextBox 5"/>
          <p:cNvSpPr txBox="1"/>
          <p:nvPr/>
        </p:nvSpPr>
        <p:spPr>
          <a:xfrm>
            <a:off x="243410" y="2236803"/>
            <a:ext cx="5688632" cy="1569660"/>
          </a:xfrm>
          <a:prstGeom prst="rect">
            <a:avLst/>
          </a:prstGeom>
          <a:noFill/>
          <a:ln w="28575">
            <a:solidFill>
              <a:schemeClr val="accent6"/>
            </a:solidFill>
          </a:ln>
        </p:spPr>
        <p:txBody>
          <a:bodyPr wrap="square" rtlCol="0">
            <a:spAutoFit/>
          </a:bodyPr>
          <a:lstStyle/>
          <a:p>
            <a:pPr algn="ctr"/>
            <a:r>
              <a:rPr lang="en-GB" sz="2400" b="1" dirty="0"/>
              <a:t>The </a:t>
            </a:r>
            <a:r>
              <a:rPr lang="en-GB" sz="2400" b="1" dirty="0">
                <a:solidFill>
                  <a:schemeClr val="accent6">
                    <a:lumMod val="75000"/>
                  </a:schemeClr>
                </a:solidFill>
              </a:rPr>
              <a:t>voltage</a:t>
            </a:r>
            <a:r>
              <a:rPr lang="en-GB" sz="2400" b="1" dirty="0"/>
              <a:t> produced by a cell is dependent upon a number of factors including the type of </a:t>
            </a:r>
            <a:r>
              <a:rPr lang="en-GB" sz="2400" b="1" dirty="0">
                <a:solidFill>
                  <a:schemeClr val="accent6">
                    <a:lumMod val="75000"/>
                  </a:schemeClr>
                </a:solidFill>
              </a:rPr>
              <a:t>electrode</a:t>
            </a:r>
            <a:r>
              <a:rPr lang="en-GB" sz="2400" b="1" dirty="0"/>
              <a:t> and </a:t>
            </a:r>
            <a:r>
              <a:rPr lang="en-GB" sz="2400" b="1" dirty="0">
                <a:solidFill>
                  <a:schemeClr val="accent6">
                    <a:lumMod val="75000"/>
                  </a:schemeClr>
                </a:solidFill>
              </a:rPr>
              <a:t>electrolyte.</a:t>
            </a:r>
          </a:p>
        </p:txBody>
      </p:sp>
      <p:sp>
        <p:nvSpPr>
          <p:cNvPr id="9" name="TextBox 8"/>
          <p:cNvSpPr txBox="1"/>
          <p:nvPr/>
        </p:nvSpPr>
        <p:spPr>
          <a:xfrm>
            <a:off x="251520" y="4293095"/>
            <a:ext cx="5688632" cy="1200329"/>
          </a:xfrm>
          <a:prstGeom prst="rect">
            <a:avLst/>
          </a:prstGeom>
          <a:noFill/>
          <a:ln w="28575">
            <a:solidFill>
              <a:schemeClr val="accent6"/>
            </a:solidFill>
          </a:ln>
        </p:spPr>
        <p:txBody>
          <a:bodyPr wrap="square" rtlCol="0">
            <a:spAutoFit/>
          </a:bodyPr>
          <a:lstStyle/>
          <a:p>
            <a:pPr algn="ctr"/>
            <a:r>
              <a:rPr lang="en-GB" sz="2400" b="1" dirty="0"/>
              <a:t>A simple </a:t>
            </a:r>
            <a:r>
              <a:rPr lang="en-GB" sz="2400" b="1" dirty="0">
                <a:solidFill>
                  <a:schemeClr val="accent6">
                    <a:lumMod val="75000"/>
                  </a:schemeClr>
                </a:solidFill>
              </a:rPr>
              <a:t>cell</a:t>
            </a:r>
            <a:r>
              <a:rPr lang="en-GB" sz="2400" b="1" dirty="0"/>
              <a:t> can be made by connecting two different metals in contact with an </a:t>
            </a:r>
            <a:r>
              <a:rPr lang="en-GB" sz="2400" b="1" dirty="0">
                <a:solidFill>
                  <a:schemeClr val="accent6">
                    <a:lumMod val="75000"/>
                  </a:schemeClr>
                </a:solidFill>
              </a:rPr>
              <a:t>electrolyte</a:t>
            </a:r>
            <a:r>
              <a:rPr lang="en-GB" sz="2400" b="1" dirty="0"/>
              <a:t>.</a:t>
            </a:r>
          </a:p>
        </p:txBody>
      </p:sp>
      <p:pic>
        <p:nvPicPr>
          <p:cNvPr id="4" name="Picture 3"/>
          <p:cNvPicPr>
            <a:picLocks noChangeAspect="1"/>
          </p:cNvPicPr>
          <p:nvPr/>
        </p:nvPicPr>
        <p:blipFill>
          <a:blip r:embed="rId3"/>
          <a:stretch>
            <a:fillRect/>
          </a:stretch>
        </p:blipFill>
        <p:spPr>
          <a:xfrm>
            <a:off x="6448280" y="2372980"/>
            <a:ext cx="2520279" cy="2520280"/>
          </a:xfrm>
          <a:prstGeom prst="rect">
            <a:avLst/>
          </a:prstGeom>
        </p:spPr>
      </p:pic>
    </p:spTree>
    <p:extLst>
      <p:ext uri="{BB962C8B-B14F-4D97-AF65-F5344CB8AC3E}">
        <p14:creationId xmlns:p14="http://schemas.microsoft.com/office/powerpoint/2010/main" val="32093957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56436" y="-14024"/>
            <a:ext cx="6876256" cy="657041"/>
          </a:xfrm>
        </p:spPr>
        <p:txBody>
          <a:bodyPr>
            <a:noAutofit/>
          </a:bodyPr>
          <a:lstStyle/>
          <a:p>
            <a:pPr marL="342900" lvl="1" algn="r" defTabSz="342900" rtl="0">
              <a:spcBef>
                <a:spcPct val="20000"/>
              </a:spcBef>
            </a:pPr>
            <a:r>
              <a:rPr lang="en-US" sz="2400" b="1" dirty="0">
                <a:solidFill>
                  <a:schemeClr val="accent6"/>
                </a:solidFill>
              </a:rPr>
              <a:t>Hydrogen – oxygen fuel cells</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250162" y="864606"/>
            <a:ext cx="5400600" cy="2308324"/>
          </a:xfrm>
          <a:prstGeom prst="rect">
            <a:avLst/>
          </a:prstGeom>
          <a:noFill/>
          <a:ln w="28575">
            <a:solidFill>
              <a:schemeClr val="accent6"/>
            </a:solidFill>
          </a:ln>
        </p:spPr>
        <p:txBody>
          <a:bodyPr wrap="square" rtlCol="0">
            <a:spAutoFit/>
          </a:bodyPr>
          <a:lstStyle/>
          <a:p>
            <a:pPr algn="ctr"/>
            <a:r>
              <a:rPr lang="en-GB" sz="2400" b="1" dirty="0">
                <a:solidFill>
                  <a:schemeClr val="accent6">
                    <a:lumMod val="75000"/>
                  </a:schemeClr>
                </a:solidFill>
              </a:rPr>
              <a:t>Fuel cells </a:t>
            </a:r>
            <a:r>
              <a:rPr lang="en-GB" sz="2400" b="1" dirty="0"/>
              <a:t>are supplied by an external source of fuel (e.g. hydrogen) and oxygen or air. The fuel is </a:t>
            </a:r>
            <a:r>
              <a:rPr lang="en-GB" sz="2400" b="1" dirty="0">
                <a:solidFill>
                  <a:schemeClr val="accent6">
                    <a:lumMod val="75000"/>
                  </a:schemeClr>
                </a:solidFill>
              </a:rPr>
              <a:t>oxidised electrochemically </a:t>
            </a:r>
            <a:r>
              <a:rPr lang="en-GB" sz="2400" b="1" dirty="0"/>
              <a:t>within the fuel cell to produce a </a:t>
            </a:r>
            <a:r>
              <a:rPr lang="en-GB" sz="2400" b="1" dirty="0">
                <a:solidFill>
                  <a:schemeClr val="accent6">
                    <a:lumMod val="75000"/>
                  </a:schemeClr>
                </a:solidFill>
              </a:rPr>
              <a:t>potential difference </a:t>
            </a:r>
            <a:r>
              <a:rPr lang="en-GB" sz="2400" b="1" dirty="0"/>
              <a:t>(a voltage).</a:t>
            </a:r>
          </a:p>
        </p:txBody>
      </p:sp>
      <p:sp>
        <p:nvSpPr>
          <p:cNvPr id="9" name="TextBox 8"/>
          <p:cNvSpPr txBox="1"/>
          <p:nvPr/>
        </p:nvSpPr>
        <p:spPr>
          <a:xfrm>
            <a:off x="250162" y="3523397"/>
            <a:ext cx="8570310" cy="1569660"/>
          </a:xfrm>
          <a:custGeom>
            <a:avLst/>
            <a:gdLst>
              <a:gd name="connsiteX0" fmla="*/ 0 w 5688632"/>
              <a:gd name="connsiteY0" fmla="*/ 0 h 646331"/>
              <a:gd name="connsiteX1" fmla="*/ 5688632 w 5688632"/>
              <a:gd name="connsiteY1" fmla="*/ 0 h 646331"/>
              <a:gd name="connsiteX2" fmla="*/ 5688632 w 5688632"/>
              <a:gd name="connsiteY2" fmla="*/ 646331 h 646331"/>
              <a:gd name="connsiteX3" fmla="*/ 0 w 5688632"/>
              <a:gd name="connsiteY3" fmla="*/ 646331 h 646331"/>
              <a:gd name="connsiteX4" fmla="*/ 0 w 5688632"/>
              <a:gd name="connsiteY4" fmla="*/ 0 h 646331"/>
              <a:gd name="connsiteX0" fmla="*/ 25758 w 5688632"/>
              <a:gd name="connsiteY0" fmla="*/ 0 h 1200123"/>
              <a:gd name="connsiteX1" fmla="*/ 5688632 w 5688632"/>
              <a:gd name="connsiteY1" fmla="*/ 553792 h 1200123"/>
              <a:gd name="connsiteX2" fmla="*/ 5688632 w 5688632"/>
              <a:gd name="connsiteY2" fmla="*/ 1200123 h 1200123"/>
              <a:gd name="connsiteX3" fmla="*/ 0 w 5688632"/>
              <a:gd name="connsiteY3" fmla="*/ 1200123 h 1200123"/>
              <a:gd name="connsiteX4" fmla="*/ 25758 w 5688632"/>
              <a:gd name="connsiteY4" fmla="*/ 0 h 1200123"/>
              <a:gd name="connsiteX0" fmla="*/ 25758 w 5701510"/>
              <a:gd name="connsiteY0" fmla="*/ 0 h 1200123"/>
              <a:gd name="connsiteX1" fmla="*/ 5701510 w 5701510"/>
              <a:gd name="connsiteY1" fmla="*/ 0 h 1200123"/>
              <a:gd name="connsiteX2" fmla="*/ 5688632 w 5701510"/>
              <a:gd name="connsiteY2" fmla="*/ 1200123 h 1200123"/>
              <a:gd name="connsiteX3" fmla="*/ 0 w 5701510"/>
              <a:gd name="connsiteY3" fmla="*/ 1200123 h 1200123"/>
              <a:gd name="connsiteX4" fmla="*/ 25758 w 5701510"/>
              <a:gd name="connsiteY4" fmla="*/ 0 h 1200123"/>
              <a:gd name="connsiteX0" fmla="*/ 0 w 5702944"/>
              <a:gd name="connsiteY0" fmla="*/ 0 h 1200123"/>
              <a:gd name="connsiteX1" fmla="*/ 5702944 w 5702944"/>
              <a:gd name="connsiteY1" fmla="*/ 0 h 1200123"/>
              <a:gd name="connsiteX2" fmla="*/ 5690066 w 5702944"/>
              <a:gd name="connsiteY2" fmla="*/ 1200123 h 1200123"/>
              <a:gd name="connsiteX3" fmla="*/ 1434 w 5702944"/>
              <a:gd name="connsiteY3" fmla="*/ 1200123 h 1200123"/>
              <a:gd name="connsiteX4" fmla="*/ 0 w 5702944"/>
              <a:gd name="connsiteY4" fmla="*/ 0 h 1200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02944" h="1200123">
                <a:moveTo>
                  <a:pt x="0" y="0"/>
                </a:moveTo>
                <a:lnTo>
                  <a:pt x="5702944" y="0"/>
                </a:lnTo>
                <a:lnTo>
                  <a:pt x="5690066" y="1200123"/>
                </a:lnTo>
                <a:lnTo>
                  <a:pt x="1434" y="1200123"/>
                </a:lnTo>
                <a:lnTo>
                  <a:pt x="0" y="0"/>
                </a:lnTo>
                <a:close/>
              </a:path>
            </a:pathLst>
          </a:custGeom>
          <a:noFill/>
          <a:ln w="28575">
            <a:solidFill>
              <a:schemeClr val="accent6"/>
            </a:solidFill>
          </a:ln>
        </p:spPr>
        <p:txBody>
          <a:bodyPr wrap="square" rtlCol="0">
            <a:spAutoFit/>
          </a:bodyPr>
          <a:lstStyle/>
          <a:p>
            <a:pPr algn="ctr"/>
            <a:r>
              <a:rPr lang="en-GB" sz="2400" b="1" dirty="0"/>
              <a:t>The overall reaction in a hydrogen fuel cell involves the oxidation of hydrogen to produce water.</a:t>
            </a:r>
          </a:p>
          <a:p>
            <a:pPr algn="ctr"/>
            <a:r>
              <a:rPr lang="en-GB" sz="2400" b="1" dirty="0">
                <a:solidFill>
                  <a:schemeClr val="accent6">
                    <a:lumMod val="75000"/>
                  </a:schemeClr>
                </a:solidFill>
              </a:rPr>
              <a:t>hydrogen  +  oxygen </a:t>
            </a:r>
            <a:r>
              <a:rPr lang="en-GB" sz="2400" b="1" dirty="0">
                <a:solidFill>
                  <a:schemeClr val="accent6">
                    <a:lumMod val="75000"/>
                  </a:schemeClr>
                </a:solidFill>
                <a:sym typeface="Wingdings" panose="05000000000000000000" pitchFamily="2" charset="2"/>
              </a:rPr>
              <a:t>  water</a:t>
            </a:r>
          </a:p>
          <a:p>
            <a:pPr algn="ctr"/>
            <a:r>
              <a:rPr lang="en-GB" sz="2400" b="1" dirty="0">
                <a:solidFill>
                  <a:schemeClr val="accent6">
                    <a:lumMod val="75000"/>
                  </a:schemeClr>
                </a:solidFill>
                <a:sym typeface="Wingdings" panose="05000000000000000000" pitchFamily="2" charset="2"/>
              </a:rPr>
              <a:t>2H</a:t>
            </a:r>
            <a:r>
              <a:rPr lang="en-GB" sz="2400" b="1" baseline="-25000" dirty="0">
                <a:solidFill>
                  <a:schemeClr val="accent6">
                    <a:lumMod val="75000"/>
                  </a:schemeClr>
                </a:solidFill>
                <a:sym typeface="Wingdings" panose="05000000000000000000" pitchFamily="2" charset="2"/>
              </a:rPr>
              <a:t>2 </a:t>
            </a:r>
            <a:r>
              <a:rPr lang="en-GB" sz="2400" b="1" dirty="0">
                <a:solidFill>
                  <a:schemeClr val="accent6">
                    <a:lumMod val="75000"/>
                  </a:schemeClr>
                </a:solidFill>
                <a:sym typeface="Wingdings" panose="05000000000000000000" pitchFamily="2" charset="2"/>
              </a:rPr>
              <a:t>(g)  +  O</a:t>
            </a:r>
            <a:r>
              <a:rPr lang="en-GB" sz="2400" b="1" baseline="-25000" dirty="0">
                <a:solidFill>
                  <a:schemeClr val="accent6">
                    <a:lumMod val="75000"/>
                  </a:schemeClr>
                </a:solidFill>
                <a:sym typeface="Wingdings" panose="05000000000000000000" pitchFamily="2" charset="2"/>
              </a:rPr>
              <a:t>2</a:t>
            </a:r>
            <a:r>
              <a:rPr lang="en-GB" sz="2400" b="1" dirty="0">
                <a:solidFill>
                  <a:schemeClr val="accent6">
                    <a:lumMod val="75000"/>
                  </a:schemeClr>
                </a:solidFill>
                <a:sym typeface="Wingdings" panose="05000000000000000000" pitchFamily="2" charset="2"/>
              </a:rPr>
              <a:t> (g)  2H</a:t>
            </a:r>
            <a:r>
              <a:rPr lang="en-GB" sz="2400" b="1" baseline="-25000" dirty="0">
                <a:solidFill>
                  <a:schemeClr val="accent6">
                    <a:lumMod val="75000"/>
                  </a:schemeClr>
                </a:solidFill>
                <a:sym typeface="Wingdings" panose="05000000000000000000" pitchFamily="2" charset="2"/>
              </a:rPr>
              <a:t>2</a:t>
            </a:r>
            <a:r>
              <a:rPr lang="en-GB" sz="2400" b="1" dirty="0">
                <a:solidFill>
                  <a:schemeClr val="accent6">
                    <a:lumMod val="75000"/>
                  </a:schemeClr>
                </a:solidFill>
                <a:sym typeface="Wingdings" panose="05000000000000000000" pitchFamily="2" charset="2"/>
              </a:rPr>
              <a:t>O (g)</a:t>
            </a:r>
            <a:endParaRPr lang="en-GB" sz="2400" b="1" dirty="0">
              <a:solidFill>
                <a:schemeClr val="accent6">
                  <a:lumMod val="75000"/>
                </a:schemeClr>
              </a:solidFill>
            </a:endParaRPr>
          </a:p>
        </p:txBody>
      </p:sp>
      <p:sp>
        <p:nvSpPr>
          <p:cNvPr id="14" name="TextBox 13"/>
          <p:cNvSpPr txBox="1"/>
          <p:nvPr/>
        </p:nvSpPr>
        <p:spPr>
          <a:xfrm>
            <a:off x="250162" y="5471418"/>
            <a:ext cx="8570310" cy="830997"/>
          </a:xfrm>
          <a:custGeom>
            <a:avLst/>
            <a:gdLst>
              <a:gd name="connsiteX0" fmla="*/ 0 w 5688632"/>
              <a:gd name="connsiteY0" fmla="*/ 0 h 646331"/>
              <a:gd name="connsiteX1" fmla="*/ 5688632 w 5688632"/>
              <a:gd name="connsiteY1" fmla="*/ 0 h 646331"/>
              <a:gd name="connsiteX2" fmla="*/ 5688632 w 5688632"/>
              <a:gd name="connsiteY2" fmla="*/ 646331 h 646331"/>
              <a:gd name="connsiteX3" fmla="*/ 0 w 5688632"/>
              <a:gd name="connsiteY3" fmla="*/ 646331 h 646331"/>
              <a:gd name="connsiteX4" fmla="*/ 0 w 5688632"/>
              <a:gd name="connsiteY4" fmla="*/ 0 h 646331"/>
              <a:gd name="connsiteX0" fmla="*/ 12878 w 5688632"/>
              <a:gd name="connsiteY0" fmla="*/ 0 h 787999"/>
              <a:gd name="connsiteX1" fmla="*/ 5688632 w 5688632"/>
              <a:gd name="connsiteY1" fmla="*/ 141668 h 787999"/>
              <a:gd name="connsiteX2" fmla="*/ 5688632 w 5688632"/>
              <a:gd name="connsiteY2" fmla="*/ 787999 h 787999"/>
              <a:gd name="connsiteX3" fmla="*/ 0 w 5688632"/>
              <a:gd name="connsiteY3" fmla="*/ 787999 h 787999"/>
              <a:gd name="connsiteX4" fmla="*/ 12878 w 5688632"/>
              <a:gd name="connsiteY4" fmla="*/ 0 h 787999"/>
              <a:gd name="connsiteX0" fmla="*/ 12878 w 5688632"/>
              <a:gd name="connsiteY0" fmla="*/ 0 h 787999"/>
              <a:gd name="connsiteX1" fmla="*/ 5662875 w 5688632"/>
              <a:gd name="connsiteY1" fmla="*/ 0 h 787999"/>
              <a:gd name="connsiteX2" fmla="*/ 5688632 w 5688632"/>
              <a:gd name="connsiteY2" fmla="*/ 787999 h 787999"/>
              <a:gd name="connsiteX3" fmla="*/ 0 w 5688632"/>
              <a:gd name="connsiteY3" fmla="*/ 787999 h 787999"/>
              <a:gd name="connsiteX4" fmla="*/ 12878 w 5688632"/>
              <a:gd name="connsiteY4" fmla="*/ 0 h 787999"/>
              <a:gd name="connsiteX0" fmla="*/ 12878 w 5688632"/>
              <a:gd name="connsiteY0" fmla="*/ 0 h 787999"/>
              <a:gd name="connsiteX1" fmla="*/ 5662875 w 5688632"/>
              <a:gd name="connsiteY1" fmla="*/ 0 h 787999"/>
              <a:gd name="connsiteX2" fmla="*/ 5688632 w 5688632"/>
              <a:gd name="connsiteY2" fmla="*/ 749363 h 787999"/>
              <a:gd name="connsiteX3" fmla="*/ 0 w 5688632"/>
              <a:gd name="connsiteY3" fmla="*/ 787999 h 787999"/>
              <a:gd name="connsiteX4" fmla="*/ 12878 w 5688632"/>
              <a:gd name="connsiteY4" fmla="*/ 0 h 787999"/>
              <a:gd name="connsiteX0" fmla="*/ 0 w 5675754"/>
              <a:gd name="connsiteY0" fmla="*/ 0 h 749363"/>
              <a:gd name="connsiteX1" fmla="*/ 5649997 w 5675754"/>
              <a:gd name="connsiteY1" fmla="*/ 0 h 749363"/>
              <a:gd name="connsiteX2" fmla="*/ 5675754 w 5675754"/>
              <a:gd name="connsiteY2" fmla="*/ 749363 h 749363"/>
              <a:gd name="connsiteX3" fmla="*/ 25758 w 5675754"/>
              <a:gd name="connsiteY3" fmla="*/ 749363 h 749363"/>
              <a:gd name="connsiteX4" fmla="*/ 0 w 5675754"/>
              <a:gd name="connsiteY4" fmla="*/ 0 h 749363"/>
              <a:gd name="connsiteX0" fmla="*/ 0 w 5675754"/>
              <a:gd name="connsiteY0" fmla="*/ 0 h 749363"/>
              <a:gd name="connsiteX1" fmla="*/ 5649997 w 5675754"/>
              <a:gd name="connsiteY1" fmla="*/ 0 h 749363"/>
              <a:gd name="connsiteX2" fmla="*/ 5675754 w 5675754"/>
              <a:gd name="connsiteY2" fmla="*/ 749363 h 749363"/>
              <a:gd name="connsiteX3" fmla="*/ 12879 w 5675754"/>
              <a:gd name="connsiteY3" fmla="*/ 749363 h 749363"/>
              <a:gd name="connsiteX4" fmla="*/ 0 w 5675754"/>
              <a:gd name="connsiteY4" fmla="*/ 0 h 749363"/>
              <a:gd name="connsiteX0" fmla="*/ 12878 w 5688632"/>
              <a:gd name="connsiteY0" fmla="*/ 0 h 749363"/>
              <a:gd name="connsiteX1" fmla="*/ 5662875 w 5688632"/>
              <a:gd name="connsiteY1" fmla="*/ 0 h 749363"/>
              <a:gd name="connsiteX2" fmla="*/ 5688632 w 5688632"/>
              <a:gd name="connsiteY2" fmla="*/ 749363 h 749363"/>
              <a:gd name="connsiteX3" fmla="*/ 0 w 5688632"/>
              <a:gd name="connsiteY3" fmla="*/ 749363 h 749363"/>
              <a:gd name="connsiteX4" fmla="*/ 12878 w 5688632"/>
              <a:gd name="connsiteY4" fmla="*/ 0 h 749363"/>
              <a:gd name="connsiteX0" fmla="*/ 0 w 5675754"/>
              <a:gd name="connsiteY0" fmla="*/ 0 h 749363"/>
              <a:gd name="connsiteX1" fmla="*/ 5649997 w 5675754"/>
              <a:gd name="connsiteY1" fmla="*/ 0 h 749363"/>
              <a:gd name="connsiteX2" fmla="*/ 5675754 w 5675754"/>
              <a:gd name="connsiteY2" fmla="*/ 749363 h 749363"/>
              <a:gd name="connsiteX3" fmla="*/ 0 w 5675754"/>
              <a:gd name="connsiteY3" fmla="*/ 749363 h 749363"/>
              <a:gd name="connsiteX4" fmla="*/ 0 w 5675754"/>
              <a:gd name="connsiteY4" fmla="*/ 0 h 749363"/>
              <a:gd name="connsiteX0" fmla="*/ 0 w 5675754"/>
              <a:gd name="connsiteY0" fmla="*/ 77274 h 749363"/>
              <a:gd name="connsiteX1" fmla="*/ 5649997 w 5675754"/>
              <a:gd name="connsiteY1" fmla="*/ 0 h 749363"/>
              <a:gd name="connsiteX2" fmla="*/ 5675754 w 5675754"/>
              <a:gd name="connsiteY2" fmla="*/ 749363 h 749363"/>
              <a:gd name="connsiteX3" fmla="*/ 0 w 5675754"/>
              <a:gd name="connsiteY3" fmla="*/ 749363 h 749363"/>
              <a:gd name="connsiteX4" fmla="*/ 0 w 5675754"/>
              <a:gd name="connsiteY4" fmla="*/ 77274 h 749363"/>
              <a:gd name="connsiteX0" fmla="*/ 0 w 5675755"/>
              <a:gd name="connsiteY0" fmla="*/ 0 h 672089"/>
              <a:gd name="connsiteX1" fmla="*/ 5675755 w 5675755"/>
              <a:gd name="connsiteY1" fmla="*/ 38636 h 672089"/>
              <a:gd name="connsiteX2" fmla="*/ 5675754 w 5675755"/>
              <a:gd name="connsiteY2" fmla="*/ 672089 h 672089"/>
              <a:gd name="connsiteX3" fmla="*/ 0 w 5675755"/>
              <a:gd name="connsiteY3" fmla="*/ 672089 h 672089"/>
              <a:gd name="connsiteX4" fmla="*/ 0 w 5675755"/>
              <a:gd name="connsiteY4" fmla="*/ 0 h 672089"/>
              <a:gd name="connsiteX0" fmla="*/ 0 w 5675755"/>
              <a:gd name="connsiteY0" fmla="*/ 25759 h 633453"/>
              <a:gd name="connsiteX1" fmla="*/ 5675755 w 5675755"/>
              <a:gd name="connsiteY1" fmla="*/ 0 h 633453"/>
              <a:gd name="connsiteX2" fmla="*/ 5675754 w 5675755"/>
              <a:gd name="connsiteY2" fmla="*/ 633453 h 633453"/>
              <a:gd name="connsiteX3" fmla="*/ 0 w 5675755"/>
              <a:gd name="connsiteY3" fmla="*/ 633453 h 633453"/>
              <a:gd name="connsiteX4" fmla="*/ 0 w 5675755"/>
              <a:gd name="connsiteY4" fmla="*/ 25759 h 633453"/>
              <a:gd name="connsiteX0" fmla="*/ 0 w 5675755"/>
              <a:gd name="connsiteY0" fmla="*/ 1 h 633453"/>
              <a:gd name="connsiteX1" fmla="*/ 5675755 w 5675755"/>
              <a:gd name="connsiteY1" fmla="*/ 0 h 633453"/>
              <a:gd name="connsiteX2" fmla="*/ 5675754 w 5675755"/>
              <a:gd name="connsiteY2" fmla="*/ 633453 h 633453"/>
              <a:gd name="connsiteX3" fmla="*/ 0 w 5675755"/>
              <a:gd name="connsiteY3" fmla="*/ 633453 h 633453"/>
              <a:gd name="connsiteX4" fmla="*/ 0 w 5675755"/>
              <a:gd name="connsiteY4" fmla="*/ 1 h 633453"/>
              <a:gd name="connsiteX0" fmla="*/ 0 w 5675755"/>
              <a:gd name="connsiteY0" fmla="*/ 242019 h 633453"/>
              <a:gd name="connsiteX1" fmla="*/ 5675755 w 5675755"/>
              <a:gd name="connsiteY1" fmla="*/ 0 h 633453"/>
              <a:gd name="connsiteX2" fmla="*/ 5675754 w 5675755"/>
              <a:gd name="connsiteY2" fmla="*/ 633453 h 633453"/>
              <a:gd name="connsiteX3" fmla="*/ 0 w 5675755"/>
              <a:gd name="connsiteY3" fmla="*/ 633453 h 633453"/>
              <a:gd name="connsiteX4" fmla="*/ 0 w 5675755"/>
              <a:gd name="connsiteY4" fmla="*/ 242019 h 633453"/>
              <a:gd name="connsiteX0" fmla="*/ 0 w 5675755"/>
              <a:gd name="connsiteY0" fmla="*/ 34574 h 426008"/>
              <a:gd name="connsiteX1" fmla="*/ 5675755 w 5675755"/>
              <a:gd name="connsiteY1" fmla="*/ 0 h 426008"/>
              <a:gd name="connsiteX2" fmla="*/ 5675754 w 5675755"/>
              <a:gd name="connsiteY2" fmla="*/ 426008 h 426008"/>
              <a:gd name="connsiteX3" fmla="*/ 0 w 5675755"/>
              <a:gd name="connsiteY3" fmla="*/ 426008 h 426008"/>
              <a:gd name="connsiteX4" fmla="*/ 0 w 5675755"/>
              <a:gd name="connsiteY4" fmla="*/ 34574 h 426008"/>
              <a:gd name="connsiteX0" fmla="*/ 0 w 5675755"/>
              <a:gd name="connsiteY0" fmla="*/ 11524 h 402958"/>
              <a:gd name="connsiteX1" fmla="*/ 5675755 w 5675755"/>
              <a:gd name="connsiteY1" fmla="*/ 0 h 402958"/>
              <a:gd name="connsiteX2" fmla="*/ 5675754 w 5675755"/>
              <a:gd name="connsiteY2" fmla="*/ 402958 h 402958"/>
              <a:gd name="connsiteX3" fmla="*/ 0 w 5675755"/>
              <a:gd name="connsiteY3" fmla="*/ 402958 h 402958"/>
              <a:gd name="connsiteX4" fmla="*/ 0 w 5675755"/>
              <a:gd name="connsiteY4" fmla="*/ 11524 h 402958"/>
              <a:gd name="connsiteX0" fmla="*/ 0 w 5689286"/>
              <a:gd name="connsiteY0" fmla="*/ 11524 h 621927"/>
              <a:gd name="connsiteX1" fmla="*/ 5675755 w 5689286"/>
              <a:gd name="connsiteY1" fmla="*/ 0 h 621927"/>
              <a:gd name="connsiteX2" fmla="*/ 5689286 w 5689286"/>
              <a:gd name="connsiteY2" fmla="*/ 621927 h 621927"/>
              <a:gd name="connsiteX3" fmla="*/ 0 w 5689286"/>
              <a:gd name="connsiteY3" fmla="*/ 402958 h 621927"/>
              <a:gd name="connsiteX4" fmla="*/ 0 w 5689286"/>
              <a:gd name="connsiteY4" fmla="*/ 11524 h 621927"/>
              <a:gd name="connsiteX0" fmla="*/ 0 w 5689286"/>
              <a:gd name="connsiteY0" fmla="*/ 11524 h 621927"/>
              <a:gd name="connsiteX1" fmla="*/ 5675755 w 5689286"/>
              <a:gd name="connsiteY1" fmla="*/ 0 h 621927"/>
              <a:gd name="connsiteX2" fmla="*/ 5689286 w 5689286"/>
              <a:gd name="connsiteY2" fmla="*/ 621927 h 621927"/>
              <a:gd name="connsiteX3" fmla="*/ 0 w 5689286"/>
              <a:gd name="connsiteY3" fmla="*/ 598877 h 621927"/>
              <a:gd name="connsiteX4" fmla="*/ 0 w 5689286"/>
              <a:gd name="connsiteY4" fmla="*/ 11524 h 621927"/>
              <a:gd name="connsiteX0" fmla="*/ 0 w 5689286"/>
              <a:gd name="connsiteY0" fmla="*/ 11524 h 621927"/>
              <a:gd name="connsiteX1" fmla="*/ 5675755 w 5689286"/>
              <a:gd name="connsiteY1" fmla="*/ 0 h 621927"/>
              <a:gd name="connsiteX2" fmla="*/ 5689286 w 5689286"/>
              <a:gd name="connsiteY2" fmla="*/ 621927 h 621927"/>
              <a:gd name="connsiteX3" fmla="*/ 0 w 5689286"/>
              <a:gd name="connsiteY3" fmla="*/ 610402 h 621927"/>
              <a:gd name="connsiteX4" fmla="*/ 0 w 5689286"/>
              <a:gd name="connsiteY4" fmla="*/ 11524 h 621927"/>
              <a:gd name="connsiteX0" fmla="*/ 0 w 5675755"/>
              <a:gd name="connsiteY0" fmla="*/ 11524 h 621927"/>
              <a:gd name="connsiteX1" fmla="*/ 5675755 w 5675755"/>
              <a:gd name="connsiteY1" fmla="*/ 0 h 621927"/>
              <a:gd name="connsiteX2" fmla="*/ 5675754 w 5675755"/>
              <a:gd name="connsiteY2" fmla="*/ 621927 h 621927"/>
              <a:gd name="connsiteX3" fmla="*/ 0 w 5675755"/>
              <a:gd name="connsiteY3" fmla="*/ 610402 h 621927"/>
              <a:gd name="connsiteX4" fmla="*/ 0 w 5675755"/>
              <a:gd name="connsiteY4" fmla="*/ 11524 h 621927"/>
              <a:gd name="connsiteX0" fmla="*/ 0 w 5675755"/>
              <a:gd name="connsiteY0" fmla="*/ 11524 h 610402"/>
              <a:gd name="connsiteX1" fmla="*/ 5675755 w 5675755"/>
              <a:gd name="connsiteY1" fmla="*/ 0 h 610402"/>
              <a:gd name="connsiteX2" fmla="*/ 5675754 w 5675755"/>
              <a:gd name="connsiteY2" fmla="*/ 610402 h 610402"/>
              <a:gd name="connsiteX3" fmla="*/ 0 w 5675755"/>
              <a:gd name="connsiteY3" fmla="*/ 610402 h 610402"/>
              <a:gd name="connsiteX4" fmla="*/ 0 w 5675755"/>
              <a:gd name="connsiteY4" fmla="*/ 11524 h 610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5755" h="610402">
                <a:moveTo>
                  <a:pt x="0" y="11524"/>
                </a:moveTo>
                <a:lnTo>
                  <a:pt x="5675755" y="0"/>
                </a:lnTo>
                <a:cubicBezTo>
                  <a:pt x="5675755" y="211151"/>
                  <a:pt x="5675754" y="399251"/>
                  <a:pt x="5675754" y="610402"/>
                </a:cubicBezTo>
                <a:lnTo>
                  <a:pt x="0" y="610402"/>
                </a:lnTo>
                <a:lnTo>
                  <a:pt x="0" y="11524"/>
                </a:lnTo>
                <a:close/>
              </a:path>
            </a:pathLst>
          </a:custGeom>
          <a:noFill/>
          <a:ln w="28575">
            <a:solidFill>
              <a:schemeClr val="accent6"/>
            </a:solidFill>
          </a:ln>
        </p:spPr>
        <p:txBody>
          <a:bodyPr wrap="square" rtlCol="0">
            <a:spAutoFit/>
          </a:bodyPr>
          <a:lstStyle/>
          <a:p>
            <a:pPr algn="ctr"/>
            <a:r>
              <a:rPr lang="en-GB" sz="2400" b="1" dirty="0">
                <a:solidFill>
                  <a:schemeClr val="accent6">
                    <a:lumMod val="75000"/>
                  </a:schemeClr>
                </a:solidFill>
              </a:rPr>
              <a:t>Hydrogen fuel cells </a:t>
            </a:r>
            <a:r>
              <a:rPr lang="en-GB" sz="2400" b="1" dirty="0"/>
              <a:t>offer a potential alternative to rechargeable cells and batteries.</a:t>
            </a:r>
          </a:p>
        </p:txBody>
      </p:sp>
      <p:pic>
        <p:nvPicPr>
          <p:cNvPr id="4" name="Picture 3"/>
          <p:cNvPicPr>
            <a:picLocks noChangeAspect="1"/>
          </p:cNvPicPr>
          <p:nvPr/>
        </p:nvPicPr>
        <p:blipFill>
          <a:blip r:embed="rId3"/>
          <a:stretch>
            <a:fillRect/>
          </a:stretch>
        </p:blipFill>
        <p:spPr>
          <a:xfrm>
            <a:off x="5868144" y="628767"/>
            <a:ext cx="3185039" cy="2673156"/>
          </a:xfrm>
          <a:prstGeom prst="rect">
            <a:avLst/>
          </a:prstGeom>
        </p:spPr>
      </p:pic>
    </p:spTree>
    <p:extLst>
      <p:ext uri="{BB962C8B-B14F-4D97-AF65-F5344CB8AC3E}">
        <p14:creationId xmlns:p14="http://schemas.microsoft.com/office/powerpoint/2010/main" val="11254042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113691" y="1041996"/>
            <a:ext cx="4716016" cy="4555093"/>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3600" b="1" dirty="0">
                <a:solidFill>
                  <a:schemeClr val="tx1">
                    <a:lumMod val="50000"/>
                    <a:lumOff val="50000"/>
                  </a:schemeClr>
                </a:solidFill>
              </a:rPr>
              <a:t>Chemical Cells And </a:t>
            </a:r>
          </a:p>
          <a:p>
            <a:r>
              <a:rPr lang="en-GB" sz="3600" b="1" dirty="0">
                <a:solidFill>
                  <a:schemeClr val="tx1">
                    <a:lumMod val="50000"/>
                    <a:lumOff val="50000"/>
                  </a:schemeClr>
                </a:solidFill>
              </a:rPr>
              <a:t>Fuel Cells</a:t>
            </a:r>
          </a:p>
          <a:p>
            <a:endParaRPr lang="en-GB" sz="3600" b="1" dirty="0">
              <a:solidFill>
                <a:schemeClr val="tx1">
                  <a:lumMod val="50000"/>
                  <a:lumOff val="50000"/>
                </a:schemeClr>
              </a:solidFill>
            </a:endParaRPr>
          </a:p>
          <a:p>
            <a:pPr marL="342900" indent="-342900">
              <a:buFont typeface="Arial" panose="020B0604020202020204" pitchFamily="34" charset="0"/>
              <a:buChar char="•"/>
            </a:pPr>
            <a:r>
              <a:rPr lang="en-GB" sz="2800" b="1" dirty="0">
                <a:solidFill>
                  <a:schemeClr val="tx1">
                    <a:lumMod val="50000"/>
                    <a:lumOff val="50000"/>
                  </a:schemeClr>
                </a:solidFill>
              </a:rPr>
              <a:t>Cells </a:t>
            </a:r>
          </a:p>
          <a:p>
            <a:pPr marL="342900" indent="-342900">
              <a:buFont typeface="Arial" panose="020B0604020202020204" pitchFamily="34" charset="0"/>
              <a:buChar char="•"/>
            </a:pPr>
            <a:r>
              <a:rPr lang="en-GB" sz="2800" b="1" dirty="0">
                <a:solidFill>
                  <a:schemeClr val="tx1">
                    <a:lumMod val="50000"/>
                    <a:lumOff val="50000"/>
                  </a:schemeClr>
                </a:solidFill>
              </a:rPr>
              <a:t>Fuel Cells </a:t>
            </a:r>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24891914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sz="2400" b="1" dirty="0">
                <a:solidFill>
                  <a:schemeClr val="accent6"/>
                </a:solidFill>
              </a:rPr>
              <a:t>Chemical and fuel cells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788496"/>
            <a:ext cx="8915400" cy="4985980"/>
          </a:xfrm>
          <a:prstGeom prst="rect">
            <a:avLst/>
          </a:prstGeom>
          <a:noFill/>
        </p:spPr>
        <p:txBody>
          <a:bodyPr wrap="square" rtlCol="0">
            <a:spAutoFit/>
          </a:bodyPr>
          <a:lstStyle/>
          <a:p>
            <a:pPr marL="457200" indent="-457200">
              <a:buFont typeface="+mj-lt"/>
              <a:buAutoNum type="arabicPeriod"/>
            </a:pPr>
            <a:r>
              <a:rPr lang="en-GB" sz="2400" dirty="0"/>
              <a:t>Give two factors which may affect the voltage given out by a battery.</a:t>
            </a:r>
          </a:p>
          <a:p>
            <a:pPr marL="457200" indent="-457200">
              <a:buFont typeface="+mj-lt"/>
              <a:buAutoNum type="arabicPeriod"/>
            </a:pPr>
            <a:endParaRPr lang="en-GB" sz="2400" dirty="0"/>
          </a:p>
          <a:p>
            <a:pPr marL="457200" indent="-457200">
              <a:buFont typeface="+mj-lt"/>
              <a:buAutoNum type="arabicPeriod"/>
            </a:pPr>
            <a:r>
              <a:rPr lang="en-GB" sz="2400" dirty="0"/>
              <a:t>Here is a reactivity series of metals. The most reactive is first, the least reactive is last:     Magnesium      Zinc       Tin    Copper</a:t>
            </a:r>
          </a:p>
          <a:p>
            <a:pPr lvl="1"/>
            <a:r>
              <a:rPr lang="en-GB" sz="2400" dirty="0"/>
              <a:t>Which two metals would you use to make a battery which had the highest voltage? Explain why.</a:t>
            </a:r>
          </a:p>
          <a:p>
            <a:pPr marL="457200" indent="-457200">
              <a:buFont typeface="+mj-lt"/>
              <a:buAutoNum type="arabicPeriod"/>
            </a:pPr>
            <a:endParaRPr lang="en-GB" sz="2400" dirty="0"/>
          </a:p>
          <a:p>
            <a:pPr marL="457200" indent="-457200">
              <a:buFont typeface="+mj-lt"/>
              <a:buAutoNum type="arabicPeriod"/>
            </a:pPr>
            <a:r>
              <a:rPr lang="en-GB" sz="2400" dirty="0"/>
              <a:t>Why do non-renewable batteries stop producing a voltage after a certain time?</a:t>
            </a:r>
          </a:p>
          <a:p>
            <a:pPr marL="457200" indent="-457200">
              <a:buFont typeface="+mj-lt"/>
              <a:buAutoNum type="arabicPeriod"/>
            </a:pPr>
            <a:endParaRPr lang="en-GB" sz="2400" dirty="0"/>
          </a:p>
          <a:p>
            <a:pPr marL="457200" indent="-457200">
              <a:buFont typeface="+mj-lt"/>
              <a:buAutoNum type="arabicPeriod"/>
            </a:pPr>
            <a:r>
              <a:rPr lang="en-GB" sz="2400" dirty="0"/>
              <a:t>How are rechargeable batteries recharged?</a:t>
            </a:r>
          </a:p>
          <a:p>
            <a:pPr>
              <a:lnSpc>
                <a:spcPct val="150000"/>
              </a:lnSpc>
            </a:pPr>
            <a:r>
              <a:rPr lang="en-GB" sz="2000" b="1" dirty="0"/>
              <a:t>        </a:t>
            </a:r>
            <a:endParaRPr lang="en-GB" sz="2400" dirty="0"/>
          </a:p>
        </p:txBody>
      </p:sp>
    </p:spTree>
    <p:extLst>
      <p:ext uri="{BB962C8B-B14F-4D97-AF65-F5344CB8AC3E}">
        <p14:creationId xmlns:p14="http://schemas.microsoft.com/office/powerpoint/2010/main" val="21222161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sz="2400" b="1" dirty="0">
                <a:solidFill>
                  <a:schemeClr val="accent6"/>
                </a:solidFill>
              </a:rPr>
              <a:t>Chemical and fuel cells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802524"/>
            <a:ext cx="8915400" cy="3508653"/>
          </a:xfrm>
          <a:prstGeom prst="rect">
            <a:avLst/>
          </a:prstGeom>
          <a:noFill/>
        </p:spPr>
        <p:txBody>
          <a:bodyPr wrap="square" rtlCol="0">
            <a:spAutoFit/>
          </a:bodyPr>
          <a:lstStyle/>
          <a:p>
            <a:pPr marL="457200" indent="-457200">
              <a:buFont typeface="+mj-lt"/>
              <a:buAutoNum type="arabicPeriod" startAt="5"/>
            </a:pPr>
            <a:r>
              <a:rPr lang="en-GB" sz="2400" dirty="0"/>
              <a:t>What chemical is the fuel in a fuel cell ?</a:t>
            </a:r>
          </a:p>
          <a:p>
            <a:pPr marL="457200" indent="-457200">
              <a:buFont typeface="+mj-lt"/>
              <a:buAutoNum type="arabicPeriod" startAt="5"/>
            </a:pPr>
            <a:endParaRPr lang="en-GB" sz="2400" dirty="0"/>
          </a:p>
          <a:p>
            <a:pPr marL="457200" indent="-457200">
              <a:buFont typeface="+mj-lt"/>
              <a:buAutoNum type="arabicPeriod" startAt="5"/>
            </a:pPr>
            <a:r>
              <a:rPr lang="en-GB" sz="2400" dirty="0"/>
              <a:t>What happens to this fuel inside the fuel cell to produce a potential difference?</a:t>
            </a:r>
          </a:p>
          <a:p>
            <a:pPr marL="457200" indent="-457200">
              <a:buFont typeface="+mj-lt"/>
              <a:buAutoNum type="arabicPeriod" startAt="5"/>
            </a:pPr>
            <a:endParaRPr lang="en-GB" sz="2400" dirty="0"/>
          </a:p>
          <a:p>
            <a:pPr marL="457200" indent="-457200">
              <a:buFont typeface="+mj-lt"/>
              <a:buAutoNum type="arabicPeriod" startAt="5"/>
            </a:pPr>
            <a:r>
              <a:rPr lang="en-GB" sz="2400" dirty="0"/>
              <a:t>Write the overall  balanced symbol equation for the reaction in a fuel cell.</a:t>
            </a:r>
          </a:p>
          <a:p>
            <a:pPr marL="457200" indent="-457200">
              <a:buFont typeface="+mj-lt"/>
              <a:buAutoNum type="arabicPeriod" startAt="5"/>
            </a:pPr>
            <a:endParaRPr lang="en-GB" sz="2400" dirty="0"/>
          </a:p>
          <a:p>
            <a:pPr>
              <a:lnSpc>
                <a:spcPct val="150000"/>
              </a:lnSpc>
            </a:pPr>
            <a:endParaRPr lang="en-GB" sz="2000" b="1" dirty="0"/>
          </a:p>
        </p:txBody>
      </p:sp>
    </p:spTree>
    <p:extLst>
      <p:ext uri="{BB962C8B-B14F-4D97-AF65-F5344CB8AC3E}">
        <p14:creationId xmlns:p14="http://schemas.microsoft.com/office/powerpoint/2010/main" val="39644833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832092"/>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Chemical Cells And </a:t>
            </a:r>
          </a:p>
          <a:p>
            <a:r>
              <a:rPr lang="en-GB" sz="3600" b="1" dirty="0">
                <a:solidFill>
                  <a:schemeClr val="tx1">
                    <a:lumMod val="50000"/>
                    <a:lumOff val="50000"/>
                  </a:schemeClr>
                </a:solidFill>
              </a:rPr>
              <a:t>Fuel Cells</a:t>
            </a:r>
          </a:p>
          <a:p>
            <a:endParaRPr lang="en-GB" sz="3600" b="1" dirty="0">
              <a:solidFill>
                <a:schemeClr val="tx1">
                  <a:lumMod val="50000"/>
                  <a:lumOff val="50000"/>
                </a:schemeClr>
              </a:solidFill>
            </a:endParaRPr>
          </a:p>
          <a:p>
            <a:pPr marL="342900" indent="-342900">
              <a:buFont typeface="Arial" panose="020B0604020202020204" pitchFamily="34" charset="0"/>
              <a:buChar char="•"/>
            </a:pPr>
            <a:r>
              <a:rPr lang="en-GB" sz="2800" b="1" dirty="0">
                <a:solidFill>
                  <a:schemeClr val="tx1">
                    <a:lumMod val="50000"/>
                    <a:lumOff val="50000"/>
                  </a:schemeClr>
                </a:solidFill>
              </a:rPr>
              <a:t>Cells </a:t>
            </a:r>
          </a:p>
          <a:p>
            <a:pPr marL="342900" indent="-342900">
              <a:buFont typeface="Arial" panose="020B0604020202020204" pitchFamily="34" charset="0"/>
              <a:buChar char="•"/>
            </a:pPr>
            <a:r>
              <a:rPr lang="en-GB" sz="2800" b="1" dirty="0">
                <a:solidFill>
                  <a:schemeClr val="tx1">
                    <a:lumMod val="50000"/>
                    <a:lumOff val="50000"/>
                  </a:schemeClr>
                </a:solidFill>
              </a:rPr>
              <a:t>Fuel Cells </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42257929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sz="2400" b="1" dirty="0">
                <a:solidFill>
                  <a:schemeClr val="accent6"/>
                </a:solidFill>
              </a:rPr>
              <a:t>Chemical and fuel cells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802524"/>
            <a:ext cx="8915400" cy="5632311"/>
          </a:xfrm>
          <a:prstGeom prst="rect">
            <a:avLst/>
          </a:prstGeom>
          <a:noFill/>
        </p:spPr>
        <p:txBody>
          <a:bodyPr wrap="square" rtlCol="0">
            <a:spAutoFit/>
          </a:bodyPr>
          <a:lstStyle/>
          <a:p>
            <a:pPr marL="457200" indent="-457200">
              <a:buFont typeface="+mj-lt"/>
              <a:buAutoNum type="arabicPeriod"/>
            </a:pPr>
            <a:r>
              <a:rPr lang="en-GB" sz="2400" dirty="0"/>
              <a:t>Give two factors which may affect the voltage given out by a battery.</a:t>
            </a:r>
          </a:p>
          <a:p>
            <a:r>
              <a:rPr lang="en-GB" sz="2400" dirty="0"/>
              <a:t>        	</a:t>
            </a:r>
            <a:r>
              <a:rPr lang="en-GB" sz="2400" dirty="0">
                <a:solidFill>
                  <a:srgbClr val="00B050"/>
                </a:solidFill>
              </a:rPr>
              <a:t>The type of electrode and the electrolyte</a:t>
            </a:r>
          </a:p>
          <a:p>
            <a:pPr marL="457200" indent="-457200">
              <a:buFont typeface="+mj-lt"/>
              <a:buAutoNum type="arabicPeriod" startAt="2"/>
            </a:pPr>
            <a:r>
              <a:rPr lang="en-GB" sz="2400" dirty="0"/>
              <a:t>Here is a reactivity series of metals. The most reactive is first, the least reactive is last.      Magnesium      Zinc       Tin    Copper</a:t>
            </a:r>
          </a:p>
          <a:p>
            <a:pPr lvl="1"/>
            <a:r>
              <a:rPr lang="en-GB" sz="2400" dirty="0"/>
              <a:t>Which two metals would you use to make a battery which gave off the most voltage? Explain why</a:t>
            </a:r>
          </a:p>
          <a:p>
            <a:r>
              <a:rPr lang="en-GB" sz="2400" dirty="0"/>
              <a:t>        	</a:t>
            </a:r>
            <a:r>
              <a:rPr lang="en-GB" sz="2400" dirty="0">
                <a:solidFill>
                  <a:srgbClr val="00B050"/>
                </a:solidFill>
              </a:rPr>
              <a:t>Magnesium and copper as largest difference in reactivity.</a:t>
            </a:r>
          </a:p>
          <a:p>
            <a:pPr marL="457200" indent="-457200">
              <a:buFont typeface="+mj-lt"/>
              <a:buAutoNum type="arabicPeriod" startAt="3"/>
            </a:pPr>
            <a:r>
              <a:rPr lang="en-GB" sz="2400" dirty="0"/>
              <a:t>Why do non-renewable batteries stop producing a voltage after a certain time?</a:t>
            </a:r>
          </a:p>
          <a:p>
            <a:r>
              <a:rPr lang="en-GB" sz="2400" dirty="0"/>
              <a:t>        	</a:t>
            </a:r>
            <a:r>
              <a:rPr lang="en-GB" sz="2400" dirty="0">
                <a:solidFill>
                  <a:srgbClr val="00B050"/>
                </a:solidFill>
              </a:rPr>
              <a:t>The chemical reactions stop when one of the reactants has 	been used up.</a:t>
            </a:r>
          </a:p>
          <a:p>
            <a:pPr marL="457200" indent="-457200">
              <a:buFont typeface="+mj-lt"/>
              <a:buAutoNum type="arabicPeriod" startAt="4"/>
            </a:pPr>
            <a:r>
              <a:rPr lang="en-GB" sz="2400" dirty="0"/>
              <a:t>How are rechargeable batteries recharged?</a:t>
            </a:r>
          </a:p>
          <a:p>
            <a:r>
              <a:rPr lang="en-GB" sz="2400" dirty="0"/>
              <a:t>        	</a:t>
            </a:r>
            <a:r>
              <a:rPr lang="en-GB" sz="2400" dirty="0">
                <a:solidFill>
                  <a:srgbClr val="00B050"/>
                </a:solidFill>
              </a:rPr>
              <a:t>The chemical reactions are reversed by an external electrical 	current.</a:t>
            </a:r>
          </a:p>
        </p:txBody>
      </p:sp>
    </p:spTree>
    <p:extLst>
      <p:ext uri="{BB962C8B-B14F-4D97-AF65-F5344CB8AC3E}">
        <p14:creationId xmlns:p14="http://schemas.microsoft.com/office/powerpoint/2010/main" val="41096217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sz="2400" b="1" dirty="0">
                <a:solidFill>
                  <a:schemeClr val="accent6"/>
                </a:solidFill>
              </a:rPr>
              <a:t>Chemical and fuel cells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0812" y="802524"/>
            <a:ext cx="8915400" cy="3600986"/>
          </a:xfrm>
          <a:prstGeom prst="rect">
            <a:avLst/>
          </a:prstGeom>
          <a:noFill/>
        </p:spPr>
        <p:txBody>
          <a:bodyPr wrap="square" rtlCol="0">
            <a:spAutoFit/>
          </a:bodyPr>
          <a:lstStyle/>
          <a:p>
            <a:pPr marL="457200" indent="-457200">
              <a:buFont typeface="+mj-lt"/>
              <a:buAutoNum type="arabicPeriod" startAt="5"/>
            </a:pPr>
            <a:r>
              <a:rPr lang="en-GB" sz="2400" dirty="0"/>
              <a:t>What chemical is the fuel in a fuel cell ?</a:t>
            </a:r>
          </a:p>
          <a:p>
            <a:r>
              <a:rPr lang="en-GB" sz="2400" dirty="0"/>
              <a:t>       	</a:t>
            </a:r>
            <a:r>
              <a:rPr lang="en-GB" sz="2400" dirty="0">
                <a:solidFill>
                  <a:srgbClr val="00B050"/>
                </a:solidFill>
              </a:rPr>
              <a:t>Hydrogen.</a:t>
            </a:r>
          </a:p>
          <a:p>
            <a:pPr marL="457200" indent="-457200">
              <a:buFont typeface="+mj-lt"/>
              <a:buAutoNum type="arabicPeriod" startAt="6"/>
            </a:pPr>
            <a:r>
              <a:rPr lang="en-GB" sz="2400" dirty="0"/>
              <a:t>What happens to this fuel inside the fuel cell to produce a potential difference?</a:t>
            </a:r>
          </a:p>
          <a:p>
            <a:r>
              <a:rPr lang="en-GB" sz="2400" dirty="0">
                <a:solidFill>
                  <a:srgbClr val="00B050"/>
                </a:solidFill>
              </a:rPr>
              <a:t>        It is oxidised.</a:t>
            </a:r>
          </a:p>
          <a:p>
            <a:pPr marL="457200" indent="-457200">
              <a:buFont typeface="+mj-lt"/>
              <a:buAutoNum type="arabicPeriod" startAt="7"/>
            </a:pPr>
            <a:r>
              <a:rPr lang="en-GB" sz="2400" dirty="0"/>
              <a:t>Write the overall  balanced symbol equation for the reaction in a fuel cell.</a:t>
            </a:r>
          </a:p>
          <a:p>
            <a:pPr algn="ctr"/>
            <a:r>
              <a:rPr lang="en-GB" sz="2400" dirty="0">
                <a:solidFill>
                  <a:srgbClr val="00B050"/>
                </a:solidFill>
                <a:sym typeface="Wingdings" panose="05000000000000000000" pitchFamily="2" charset="2"/>
              </a:rPr>
              <a:t>2H</a:t>
            </a:r>
            <a:r>
              <a:rPr lang="en-GB" sz="2400" baseline="-25000" dirty="0">
                <a:solidFill>
                  <a:srgbClr val="00B050"/>
                </a:solidFill>
                <a:sym typeface="Wingdings" panose="05000000000000000000" pitchFamily="2" charset="2"/>
              </a:rPr>
              <a:t>2 </a:t>
            </a:r>
            <a:r>
              <a:rPr lang="en-GB" sz="2400" dirty="0">
                <a:solidFill>
                  <a:srgbClr val="00B050"/>
                </a:solidFill>
                <a:sym typeface="Wingdings" panose="05000000000000000000" pitchFamily="2" charset="2"/>
              </a:rPr>
              <a:t>(g)  +  O</a:t>
            </a:r>
            <a:r>
              <a:rPr lang="en-GB" sz="2400" baseline="-25000" dirty="0">
                <a:solidFill>
                  <a:srgbClr val="00B050"/>
                </a:solidFill>
                <a:sym typeface="Wingdings" panose="05000000000000000000" pitchFamily="2" charset="2"/>
              </a:rPr>
              <a:t>2</a:t>
            </a:r>
            <a:r>
              <a:rPr lang="en-GB" sz="2400" dirty="0">
                <a:solidFill>
                  <a:srgbClr val="00B050"/>
                </a:solidFill>
                <a:sym typeface="Wingdings" panose="05000000000000000000" pitchFamily="2" charset="2"/>
              </a:rPr>
              <a:t> (g)  2H</a:t>
            </a:r>
            <a:r>
              <a:rPr lang="en-GB" sz="2400" baseline="-25000" dirty="0">
                <a:solidFill>
                  <a:srgbClr val="00B050"/>
                </a:solidFill>
                <a:sym typeface="Wingdings" panose="05000000000000000000" pitchFamily="2" charset="2"/>
              </a:rPr>
              <a:t>2</a:t>
            </a:r>
            <a:r>
              <a:rPr lang="en-GB" sz="2400" dirty="0">
                <a:solidFill>
                  <a:srgbClr val="00B050"/>
                </a:solidFill>
                <a:sym typeface="Wingdings" panose="05000000000000000000" pitchFamily="2" charset="2"/>
              </a:rPr>
              <a:t>O (g)</a:t>
            </a:r>
            <a:endParaRPr lang="en-GB" sz="2400" dirty="0">
              <a:solidFill>
                <a:srgbClr val="00B050"/>
              </a:solidFill>
            </a:endParaRPr>
          </a:p>
          <a:p>
            <a:pPr>
              <a:lnSpc>
                <a:spcPct val="150000"/>
              </a:lnSpc>
            </a:pPr>
            <a:endParaRPr lang="en-GB" sz="2400" dirty="0"/>
          </a:p>
        </p:txBody>
      </p:sp>
    </p:spTree>
    <p:extLst>
      <p:ext uri="{BB962C8B-B14F-4D97-AF65-F5344CB8AC3E}">
        <p14:creationId xmlns:p14="http://schemas.microsoft.com/office/powerpoint/2010/main" val="377033357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4489A17B-A778-43E8-8CAD-39AF0ABD1C3C}" vid="{5B90DF28-B678-4AF8-820C-D210C98786D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IXL Sci">
  <a:themeElements>
    <a:clrScheme name="Custom 1">
      <a:dk1>
        <a:sysClr val="windowText" lastClr="000000"/>
      </a:dk1>
      <a:lt1>
        <a:sysClr val="window" lastClr="FFFFFF"/>
      </a:lt1>
      <a:dk2>
        <a:srgbClr val="1F497D"/>
      </a:dk2>
      <a:lt2>
        <a:srgbClr val="EEECE1"/>
      </a:lt2>
      <a:accent1>
        <a:srgbClr val="4F81BD"/>
      </a:accent1>
      <a:accent2>
        <a:srgbClr val="FF990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IXL Sci" id="{2CFE4A30-D880-BA4E-B779-8E17F61ECAC9}" vid="{3D4DF9ED-AD7F-6943-859C-106C4E33968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26203</TotalTime>
  <Words>6799</Words>
  <Application>Microsoft Office PowerPoint</Application>
  <PresentationFormat>On-screen Show (4:3)</PresentationFormat>
  <Paragraphs>849</Paragraphs>
  <Slides>69</Slides>
  <Notes>57</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69</vt:i4>
      </vt:variant>
    </vt:vector>
  </HeadingPairs>
  <TitlesOfParts>
    <vt:vector size="82" baseType="lpstr">
      <vt:lpstr>Arial</vt:lpstr>
      <vt:lpstr>Beirut</vt:lpstr>
      <vt:lpstr>Calibri</vt:lpstr>
      <vt:lpstr>Calibri Light</vt:lpstr>
      <vt:lpstr>Cambria Math</vt:lpstr>
      <vt:lpstr>Gill Sans</vt:lpstr>
      <vt:lpstr>Lato Medium</vt:lpstr>
      <vt:lpstr>News Gothic MT</vt:lpstr>
      <vt:lpstr>Times New Roman</vt:lpstr>
      <vt:lpstr>Wingdings</vt:lpstr>
      <vt:lpstr>1_Office Theme</vt:lpstr>
      <vt:lpstr>Custom Design</vt:lpstr>
      <vt:lpstr>PIXL Sci</vt:lpstr>
      <vt:lpstr>PowerPoint Presentation</vt:lpstr>
      <vt:lpstr>Overview   Separate Chemistry 1</vt:lpstr>
      <vt:lpstr>PowerPoint Presentation</vt:lpstr>
      <vt:lpstr>Transition metals</vt:lpstr>
      <vt:lpstr>Corrosion and its prevention</vt:lpstr>
      <vt:lpstr>Corrosion and its prevention</vt:lpstr>
      <vt:lpstr>Alloys</vt:lpstr>
      <vt:lpstr>Alloys as useful materials</vt:lpstr>
      <vt:lpstr>Metals as useful materials</vt:lpstr>
      <vt:lpstr>Alloys as useful materials</vt:lpstr>
      <vt:lpstr>PowerPoint Presentation</vt:lpstr>
      <vt:lpstr>Transition metals, alloys and corrosion– QuestionIT</vt:lpstr>
      <vt:lpstr>Transition metals, alloys and corrosion– QuestionIT</vt:lpstr>
      <vt:lpstr>PowerPoint Presentation</vt:lpstr>
      <vt:lpstr>Transition metals, alloys and corrosion– QuestionIT</vt:lpstr>
      <vt:lpstr>Transition metals, alloys and corrosion– QuestionIT</vt:lpstr>
      <vt:lpstr>PowerPoint Presentation</vt:lpstr>
      <vt:lpstr>Calculating concentration</vt:lpstr>
      <vt:lpstr>Calculating concentration</vt:lpstr>
      <vt:lpstr>Titration calculations</vt:lpstr>
      <vt:lpstr>PowerPoint Presentation</vt:lpstr>
      <vt:lpstr>Quantitative analysis part 1 (HT)– QuestionIT</vt:lpstr>
      <vt:lpstr>Quantitative analysis part 1 – QuestionIT</vt:lpstr>
      <vt:lpstr>Quantitative analysis part 1– QuestionIT</vt:lpstr>
      <vt:lpstr>PowerPoint Presentation</vt:lpstr>
      <vt:lpstr>Quantitative analysis part 1– QuestionIT</vt:lpstr>
      <vt:lpstr>Quantitative analysis part 1– QuestionIT</vt:lpstr>
      <vt:lpstr>Use of amount of substance – QuestionIT</vt:lpstr>
      <vt:lpstr>Quantitative analysis part 1– QuestionIT</vt:lpstr>
      <vt:lpstr>PowerPoint Presentation</vt:lpstr>
      <vt:lpstr>Yield and atom economy</vt:lpstr>
      <vt:lpstr>Yield</vt:lpstr>
      <vt:lpstr>Atom economy </vt:lpstr>
      <vt:lpstr>PowerPoint Presentation</vt:lpstr>
      <vt:lpstr>Yield and atom economy (Chemistry only) – QuestionIT</vt:lpstr>
      <vt:lpstr>Yield and atom economy (Chemistry only) – QuestionIT</vt:lpstr>
      <vt:lpstr>Yield and atom economy (Chemistry only) – QuestionIT</vt:lpstr>
      <vt:lpstr>PowerPoint Presentation</vt:lpstr>
      <vt:lpstr>Yield and atom economy (Chemistry only) – QuestionIT</vt:lpstr>
      <vt:lpstr>Yield and atom economy (Chemistry only) – QuestionIT</vt:lpstr>
      <vt:lpstr>Yield and atom economy (Chemistry only) – QuestionIT</vt:lpstr>
      <vt:lpstr>Yield and atom economy (Chemistry only) – QuestionIT</vt:lpstr>
      <vt:lpstr>PowerPoint Presentation</vt:lpstr>
      <vt:lpstr>Molar volume of gas (HT)</vt:lpstr>
      <vt:lpstr>Molar volume of gas (HT)</vt:lpstr>
      <vt:lpstr>PowerPoint Presentation</vt:lpstr>
      <vt:lpstr>Quantities (Chemistry only) – QuestionIT</vt:lpstr>
      <vt:lpstr>PowerPoint Presentation</vt:lpstr>
      <vt:lpstr>Quantities (Chemistry only) – QuestionIT</vt:lpstr>
      <vt:lpstr>Quantities (Chemistry only) – QuestionIT</vt:lpstr>
      <vt:lpstr>PowerPoint Presentation</vt:lpstr>
      <vt:lpstr>The Haber process (HT) </vt:lpstr>
      <vt:lpstr>The Haber process – industrial compromise (HT) </vt:lpstr>
      <vt:lpstr>Fertilisers</vt:lpstr>
      <vt:lpstr>PowerPoint Presentation</vt:lpstr>
      <vt:lpstr>Dynamic equilibria QuestionIT</vt:lpstr>
      <vt:lpstr>Dynamic equilibria QuestionIT</vt:lpstr>
      <vt:lpstr>PowerPoint Presentation</vt:lpstr>
      <vt:lpstr>Dynamic equilibria QuestionIT</vt:lpstr>
      <vt:lpstr>Dynamic equilibria QuestionIT</vt:lpstr>
      <vt:lpstr>PowerPoint Presentation</vt:lpstr>
      <vt:lpstr>Cells</vt:lpstr>
      <vt:lpstr>Hydrogen – oxygen fuel cells</vt:lpstr>
      <vt:lpstr>PowerPoint Presentation</vt:lpstr>
      <vt:lpstr>Chemical and fuel cells QuestionIT</vt:lpstr>
      <vt:lpstr>Chemical and fuel cells QuestionIT</vt:lpstr>
      <vt:lpstr>PowerPoint Presentation</vt:lpstr>
      <vt:lpstr>Chemical and fuel cells AnswerIT</vt:lpstr>
      <vt:lpstr>Chemical and fuel cells AnswerIT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zarina shaffi</dc:creator>
  <cp:lastModifiedBy>Vicki Pugh</cp:lastModifiedBy>
  <cp:revision>417</cp:revision>
  <dcterms:created xsi:type="dcterms:W3CDTF">2016-03-05T09:38:04Z</dcterms:created>
  <dcterms:modified xsi:type="dcterms:W3CDTF">2018-02-09T19:10:37Z</dcterms:modified>
</cp:coreProperties>
</file>