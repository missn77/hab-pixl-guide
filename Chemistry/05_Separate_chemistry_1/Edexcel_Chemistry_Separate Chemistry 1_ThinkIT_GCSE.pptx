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4"/>
  </p:notesMasterIdLst>
  <p:sldIdLst>
    <p:sldId id="256" r:id="rId2"/>
    <p:sldId id="258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57" autoAdjust="0"/>
    <p:restoredTop sz="95833"/>
  </p:normalViewPr>
  <p:slideViewPr>
    <p:cSldViewPr snapToGrid="0" snapToObjects="1">
      <p:cViewPr varScale="1">
        <p:scale>
          <a:sx n="74" d="100"/>
          <a:sy n="74" d="100"/>
        </p:scale>
        <p:origin x="72" y="9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00B4FC-DE72-B04E-881B-39948BCD13FE}" type="datetimeFigureOut">
              <a:rPr lang="en-GB" smtClean="0"/>
              <a:t>12/03/2018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FD04F4-2695-714D-9F3D-51394D3EE3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1387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FD04F4-2695-714D-9F3D-51394D3EE3A0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15625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FD04F4-2695-714D-9F3D-51394D3EE3A0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01193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08B80-D4A0-3548-B9B8-BE81C52EC421}" type="datetimeFigureOut">
              <a:rPr lang="en-GB" smtClean="0"/>
              <a:t>12/03/2018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9DC77-15E7-A540-8773-3C582D5B9B40}" type="slidenum">
              <a:rPr lang="en-GB" smtClean="0"/>
              <a:t>‹#›</a:t>
            </a:fld>
            <a:endParaRPr lang="en-GB"/>
          </a:p>
        </p:txBody>
      </p:sp>
      <p:sp>
        <p:nvSpPr>
          <p:cNvPr id="8" name="Rounded Rectangle 7"/>
          <p:cNvSpPr/>
          <p:nvPr userDrawn="1"/>
        </p:nvSpPr>
        <p:spPr>
          <a:xfrm>
            <a:off x="84224" y="84221"/>
            <a:ext cx="8975555" cy="6649817"/>
          </a:xfrm>
          <a:prstGeom prst="roundRect">
            <a:avLst>
              <a:gd name="adj" fmla="val 2765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08B80-D4A0-3548-B9B8-BE81C52EC421}" type="datetimeFigureOut">
              <a:rPr lang="en-GB" smtClean="0"/>
              <a:t>12/03/2018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9DC77-15E7-A540-8773-3C582D5B9B40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ounded Rectangle 6"/>
          <p:cNvSpPr/>
          <p:nvPr userDrawn="1"/>
        </p:nvSpPr>
        <p:spPr>
          <a:xfrm>
            <a:off x="84224" y="84221"/>
            <a:ext cx="8975555" cy="6649817"/>
          </a:xfrm>
          <a:prstGeom prst="roundRect">
            <a:avLst>
              <a:gd name="adj" fmla="val 2765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808B80-D4A0-3548-B9B8-BE81C52EC421}" type="datetimeFigureOut">
              <a:rPr lang="en-GB" smtClean="0"/>
              <a:t>12/03/2018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69DC77-15E7-A540-8773-3C582D5B9B4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5712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</p:sldLayoutIdLst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968" y="234419"/>
            <a:ext cx="8846063" cy="6389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942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44380" y="2576388"/>
            <a:ext cx="2694872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>
                <a:latin typeface="Nanum Brush Script" charset="-127"/>
                <a:ea typeface="Nanum Brush Script" charset="-127"/>
                <a:cs typeface="Nanum Brush Script" charset="-127"/>
              </a:rPr>
              <a:t>Edexcel GCSE </a:t>
            </a:r>
            <a:r>
              <a:rPr lang="en-GB" sz="2000" b="1" dirty="0" smtClean="0">
                <a:latin typeface="Nanum Brush Script" charset="-127"/>
                <a:ea typeface="Nanum Brush Script" charset="-127"/>
                <a:cs typeface="Nanum Brush Script" charset="-127"/>
              </a:rPr>
              <a:t>Separate Chemistry 1</a:t>
            </a:r>
            <a:endParaRPr lang="en-GB" sz="2000" dirty="0" smtClean="0">
              <a:latin typeface="Nanum Brush Script" charset="-127"/>
              <a:ea typeface="Nanum Brush Script" charset="-127"/>
              <a:cs typeface="Nanum Brush Script" charset="-127"/>
            </a:endParaRPr>
          </a:p>
          <a:p>
            <a:pPr algn="ctr"/>
            <a:r>
              <a:rPr lang="en-GB" sz="2800" dirty="0" smtClean="0">
                <a:latin typeface="Nanum Brush Script" charset="-127"/>
                <a:ea typeface="Nanum Brush Script" charset="-127"/>
                <a:cs typeface="Nanum Brush Script" charset="-127"/>
              </a:rPr>
              <a:t> </a:t>
            </a:r>
            <a:r>
              <a:rPr lang="en-GB" sz="5400" b="1" dirty="0" err="1" smtClean="0">
                <a:solidFill>
                  <a:schemeClr val="accent2">
                    <a:lumMod val="75000"/>
                  </a:schemeClr>
                </a:solidFill>
                <a:latin typeface="Nanum Brush Script" charset="-127"/>
                <a:ea typeface="Nanum Brush Script" charset="-127"/>
                <a:cs typeface="Nanum Brush Script" charset="-127"/>
              </a:rPr>
              <a:t>T</a:t>
            </a:r>
            <a:r>
              <a:rPr lang="en-GB" sz="3200" b="1" dirty="0" err="1" smtClean="0">
                <a:latin typeface="Nanum Brush Script" charset="-127"/>
                <a:ea typeface="Nanum Brush Script" charset="-127"/>
                <a:cs typeface="Nanum Brush Script" charset="-127"/>
              </a:rPr>
              <a:t>hink</a:t>
            </a:r>
            <a:r>
              <a:rPr lang="en-GB" sz="3600" b="1" dirty="0" err="1" smtClean="0">
                <a:solidFill>
                  <a:schemeClr val="accent2">
                    <a:lumMod val="75000"/>
                  </a:schemeClr>
                </a:solidFill>
                <a:latin typeface="Nanum Brush Script" charset="-127"/>
                <a:ea typeface="Nanum Brush Script" charset="-127"/>
                <a:cs typeface="Nanum Brush Script" charset="-127"/>
              </a:rPr>
              <a:t>IT</a:t>
            </a:r>
            <a:r>
              <a:rPr lang="en-GB" sz="3200" b="1" dirty="0" smtClean="0">
                <a:latin typeface="Nanum Brush Script" charset="-127"/>
                <a:ea typeface="Nanum Brush Script" charset="-127"/>
                <a:cs typeface="Nanum Brush Script" charset="-127"/>
              </a:rPr>
              <a:t>! </a:t>
            </a:r>
            <a:endParaRPr lang="en-GB" sz="4400" b="1" dirty="0">
              <a:latin typeface="Nanum Brush Script" charset="-127"/>
              <a:ea typeface="Nanum Brush Script" charset="-127"/>
              <a:cs typeface="Nanum Brush Script" charset="-127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6121041" y="152724"/>
            <a:ext cx="2875672" cy="1635896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dirty="0">
                <a:solidFill>
                  <a:srgbClr val="000000"/>
                </a:solidFill>
                <a:ea typeface="Chalkduster"/>
                <a:cs typeface="Chalkduster"/>
              </a:rPr>
              <a:t>R</a:t>
            </a:r>
            <a:r>
              <a:rPr lang="en-GB" sz="1200" b="1" dirty="0" smtClean="0">
                <a:solidFill>
                  <a:srgbClr val="000000"/>
                </a:solidFill>
                <a:ea typeface="Chalkduster"/>
                <a:cs typeface="Chalkduster"/>
              </a:rPr>
              <a:t>eversible </a:t>
            </a:r>
            <a:r>
              <a:rPr lang="en-GB" sz="1200" b="1" dirty="0">
                <a:solidFill>
                  <a:srgbClr val="000000"/>
                </a:solidFill>
                <a:ea typeface="Chalkduster"/>
                <a:cs typeface="Chalkduster"/>
              </a:rPr>
              <a:t>reactions and equilibrium</a:t>
            </a: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Write a balanced symbol equation for the reversible reaction when nitrogen gas reacts with hydrogen gas to make ammonia gas.</a:t>
            </a:r>
            <a:endParaRPr lang="en-GB" sz="1100" dirty="0">
              <a:solidFill>
                <a:srgbClr val="000000"/>
              </a:solidFill>
              <a:ea typeface="Chalkduster"/>
              <a:cs typeface="Chalkduster"/>
            </a:endParaRP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dirty="0">
                <a:solidFill>
                  <a:srgbClr val="000000"/>
                </a:solidFill>
                <a:ea typeface="Chalkduster"/>
                <a:cs typeface="Chalkduster"/>
              </a:rPr>
              <a:t>What would you need to do to ensure that the above reaction could reach equilibrium?</a:t>
            </a:r>
          </a:p>
          <a:p>
            <a:endParaRPr lang="en-GB" sz="1100" dirty="0" smtClean="0">
              <a:ea typeface="Chalkduster" charset="0"/>
              <a:cs typeface="Chalkduster" charset="0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153222" y="152725"/>
            <a:ext cx="2926990" cy="2018976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dirty="0">
                <a:solidFill>
                  <a:srgbClr val="000000"/>
                </a:solidFill>
                <a:ea typeface="Chalkduster"/>
                <a:cs typeface="Chalkduster"/>
              </a:rPr>
              <a:t>Moles of Solutions and Gases:</a:t>
            </a:r>
          </a:p>
          <a:p>
            <a:pPr marL="171450" lvl="0" indent="-171450"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dirty="0" smtClean="0">
                <a:solidFill>
                  <a:srgbClr val="000000"/>
                </a:solidFill>
              </a:rPr>
              <a:t>Explain </a:t>
            </a:r>
            <a:r>
              <a:rPr lang="en-GB" sz="1100" dirty="0">
                <a:solidFill>
                  <a:srgbClr val="000000"/>
                </a:solidFill>
              </a:rPr>
              <a:t>how the concentration of a solution in </a:t>
            </a:r>
            <a:r>
              <a:rPr lang="en-GB" sz="1100" dirty="0" err="1">
                <a:solidFill>
                  <a:srgbClr val="000000"/>
                </a:solidFill>
              </a:rPr>
              <a:t>mol</a:t>
            </a:r>
            <a:r>
              <a:rPr lang="en-GB" sz="1100" dirty="0">
                <a:solidFill>
                  <a:srgbClr val="000000"/>
                </a:solidFill>
              </a:rPr>
              <a:t>/dm</a:t>
            </a:r>
            <a:r>
              <a:rPr lang="en-GB" sz="1100" baseline="30000" dirty="0">
                <a:solidFill>
                  <a:srgbClr val="000000"/>
                </a:solidFill>
              </a:rPr>
              <a:t>3</a:t>
            </a:r>
            <a:r>
              <a:rPr lang="en-GB" sz="1100" dirty="0">
                <a:solidFill>
                  <a:srgbClr val="000000"/>
                </a:solidFill>
              </a:rPr>
              <a:t> is related to the mass of the solute and the volume of the solution.</a:t>
            </a:r>
          </a:p>
          <a:p>
            <a:pPr marL="171450" lvl="0" indent="-171450"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kern="0" dirty="0">
                <a:solidFill>
                  <a:srgbClr val="000000"/>
                </a:solidFill>
              </a:rPr>
              <a:t>The formula of butane is C</a:t>
            </a:r>
            <a:r>
              <a:rPr lang="en-GB" sz="1100" kern="0" baseline="-25000" dirty="0">
                <a:solidFill>
                  <a:srgbClr val="000000"/>
                </a:solidFill>
              </a:rPr>
              <a:t>4</a:t>
            </a:r>
            <a:r>
              <a:rPr lang="en-GB" sz="1100" kern="0" dirty="0">
                <a:solidFill>
                  <a:srgbClr val="000000"/>
                </a:solidFill>
              </a:rPr>
              <a:t>H</a:t>
            </a:r>
            <a:r>
              <a:rPr lang="en-GB" sz="1100" kern="0" baseline="-25000" dirty="0">
                <a:solidFill>
                  <a:srgbClr val="000000"/>
                </a:solidFill>
              </a:rPr>
              <a:t>10.</a:t>
            </a:r>
            <a:r>
              <a:rPr lang="en-GB" sz="1100" kern="0" dirty="0">
                <a:solidFill>
                  <a:srgbClr val="000000"/>
                </a:solidFill>
              </a:rPr>
              <a:t>.  Calculate the volume of 11.6 g of butane gas at RTP.</a:t>
            </a:r>
          </a:p>
          <a:p>
            <a:pPr marL="171450" lvl="0" indent="-171450"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Explain </a:t>
            </a:r>
            <a:r>
              <a:rPr lang="en-GB" sz="1100" kern="0" dirty="0">
                <a:solidFill>
                  <a:srgbClr val="000000"/>
                </a:solidFill>
              </a:rPr>
              <a:t>why it can sometimes be difficult to calculate the volume of a gas.</a:t>
            </a:r>
          </a:p>
          <a:p>
            <a:pPr marL="171450" indent="-171450">
              <a:buFont typeface="Arial" charset="0"/>
              <a:buChar char="•"/>
            </a:pPr>
            <a:endParaRPr lang="en-GB" sz="1100" dirty="0" smtClean="0">
              <a:ea typeface="Chalkduster" charset="0"/>
              <a:cs typeface="Chalkduster" charset="0"/>
            </a:endParaRPr>
          </a:p>
          <a:p>
            <a:endParaRPr lang="en-GB" sz="1200" dirty="0" smtClean="0">
              <a:ea typeface="Chalkduster" charset="0"/>
              <a:cs typeface="Chalkduster" charset="0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6121041" y="1867437"/>
            <a:ext cx="2886402" cy="273803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dirty="0">
                <a:solidFill>
                  <a:srgbClr val="000000"/>
                </a:solidFill>
                <a:ea typeface="Chalkduster"/>
                <a:cs typeface="Chalkduster"/>
              </a:rPr>
              <a:t>Mole:</a:t>
            </a: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dirty="0">
                <a:solidFill>
                  <a:srgbClr val="000000"/>
                </a:solidFill>
                <a:ea typeface="Chalkduster"/>
                <a:cs typeface="Chalkduster"/>
              </a:rPr>
              <a:t>Describe what is meant by the term “mole”.</a:t>
            </a: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dirty="0">
                <a:solidFill>
                  <a:srgbClr val="000000"/>
                </a:solidFill>
                <a:ea typeface="Chalkduster"/>
                <a:cs typeface="Chalkduster"/>
              </a:rPr>
              <a:t>Explain how to calculate how many moles there are in 9.6g of </a:t>
            </a:r>
            <a:r>
              <a:rPr lang="en-GB" sz="1100" dirty="0" err="1">
                <a:solidFill>
                  <a:srgbClr val="000000"/>
                </a:solidFill>
                <a:ea typeface="Chalkduster"/>
                <a:cs typeface="Chalkduster"/>
              </a:rPr>
              <a:t>sulfur</a:t>
            </a:r>
            <a:r>
              <a:rPr lang="en-GB" sz="1100" dirty="0">
                <a:solidFill>
                  <a:srgbClr val="000000"/>
                </a:solidFill>
                <a:ea typeface="Chalkduster"/>
                <a:cs typeface="Chalkduster"/>
              </a:rPr>
              <a:t>.</a:t>
            </a: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dirty="0" smtClean="0">
                <a:solidFill>
                  <a:srgbClr val="000000"/>
                </a:solidFill>
                <a:ea typeface="Chalkduster"/>
                <a:cs typeface="Chalkduster"/>
              </a:rPr>
              <a:t>3.2g </a:t>
            </a:r>
            <a:r>
              <a:rPr lang="en-GB" sz="1100" dirty="0">
                <a:solidFill>
                  <a:srgbClr val="000000"/>
                </a:solidFill>
                <a:ea typeface="Chalkduster"/>
                <a:cs typeface="Chalkduster"/>
              </a:rPr>
              <a:t>of iron oxide reacts with 16.2g of aluminium to produce aluminium oxide.  Describe how to calculate the maximum mass of iron that could be collected at the end of the experiment, </a:t>
            </a: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and</a:t>
            </a:r>
            <a:r>
              <a:rPr lang="en-GB" sz="1100" dirty="0">
                <a:solidFill>
                  <a:srgbClr val="000000"/>
                </a:solidFill>
                <a:ea typeface="Chalkduster"/>
                <a:cs typeface="Chalkduster"/>
              </a:rPr>
              <a:t> why this mass is not collected.</a:t>
            </a: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16.2g of aluminium reacts with 32.0g of iron(III) oxide to produce iron metal and aluminium oxide.  Explain why iron oxide is the limiting factor. </a:t>
            </a:r>
            <a:endParaRPr lang="en-GB" sz="1100" dirty="0">
              <a:solidFill>
                <a:srgbClr val="000000"/>
              </a:solidFill>
              <a:ea typeface="Chalkduster"/>
              <a:cs typeface="Chalkduster"/>
            </a:endParaRPr>
          </a:p>
          <a:p>
            <a:endParaRPr lang="en-GB" sz="1100" dirty="0" smtClean="0">
              <a:ea typeface="Chalkduster" charset="0"/>
              <a:cs typeface="Chalkduster" charset="0"/>
            </a:endParaRPr>
          </a:p>
          <a:p>
            <a:pPr marL="171450" indent="-171450">
              <a:buFont typeface="Arial" charset="0"/>
              <a:buChar char="•"/>
            </a:pPr>
            <a:endParaRPr lang="en-GB" sz="1100" dirty="0" smtClean="0">
              <a:ea typeface="Chalkduster" charset="0"/>
              <a:cs typeface="Chalkduster" charset="0"/>
            </a:endParaRPr>
          </a:p>
          <a:p>
            <a:pPr marL="171450" indent="-171450">
              <a:buFont typeface="Arial" charset="0"/>
              <a:buChar char="•"/>
            </a:pPr>
            <a:endParaRPr lang="en-GB" sz="1100" dirty="0">
              <a:ea typeface="Chalkduster" charset="0"/>
              <a:cs typeface="Chalkduster" charset="0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6121041" y="4684293"/>
            <a:ext cx="2875672" cy="2013783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dirty="0">
                <a:solidFill>
                  <a:srgbClr val="000000"/>
                </a:solidFill>
                <a:ea typeface="Chalkduster"/>
                <a:cs typeface="Chalkduster"/>
              </a:rPr>
              <a:t>Transition </a:t>
            </a:r>
            <a:r>
              <a:rPr lang="en-GB" sz="1200" b="1" dirty="0" smtClean="0">
                <a:solidFill>
                  <a:srgbClr val="000000"/>
                </a:solidFill>
                <a:ea typeface="Chalkduster"/>
                <a:cs typeface="Chalkduster"/>
              </a:rPr>
              <a:t>metals and alloys:</a:t>
            </a:r>
            <a:endParaRPr lang="en-GB" sz="1050" kern="0" dirty="0">
              <a:solidFill>
                <a:srgbClr val="000000"/>
              </a:solidFill>
            </a:endParaRPr>
          </a:p>
          <a:p>
            <a:pPr marL="171450" lvl="0" indent="-171450"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kern="0" dirty="0" smtClean="0">
                <a:solidFill>
                  <a:srgbClr val="000000"/>
                </a:solidFill>
              </a:rPr>
              <a:t>State the typical properties of transition metals.</a:t>
            </a:r>
            <a:endParaRPr lang="en-GB" sz="1100" kern="0" dirty="0">
              <a:solidFill>
                <a:srgbClr val="000000"/>
              </a:solidFill>
            </a:endParaRPr>
          </a:p>
          <a:p>
            <a:pPr marL="171450" lvl="0" indent="-171450"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kern="0" dirty="0">
                <a:solidFill>
                  <a:srgbClr val="000000"/>
                </a:solidFill>
              </a:rPr>
              <a:t>Explain why the transition metals form ions with different charges</a:t>
            </a:r>
            <a:r>
              <a:rPr lang="en-GB" sz="1100" kern="0" dirty="0" smtClean="0">
                <a:solidFill>
                  <a:srgbClr val="000000"/>
                </a:solidFill>
              </a:rPr>
              <a:t>.</a:t>
            </a:r>
            <a:endParaRPr lang="en-GB" sz="1100" kern="0" dirty="0">
              <a:solidFill>
                <a:srgbClr val="000000"/>
              </a:solidFill>
            </a:endParaRPr>
          </a:p>
          <a:p>
            <a:pPr marL="171450" lvl="0" indent="-171450"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kern="0" dirty="0">
                <a:solidFill>
                  <a:srgbClr val="000000"/>
                </a:solidFill>
              </a:rPr>
              <a:t>Discuss the economic advantages of the transition metals as catalysts</a:t>
            </a:r>
            <a:r>
              <a:rPr lang="en-GB" sz="1100" kern="0" dirty="0" smtClean="0">
                <a:solidFill>
                  <a:srgbClr val="000000"/>
                </a:solidFill>
              </a:rPr>
              <a:t>.</a:t>
            </a:r>
          </a:p>
          <a:p>
            <a:pPr marL="171450" indent="-171450"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dirty="0">
                <a:solidFill>
                  <a:srgbClr val="000000"/>
                </a:solidFill>
                <a:ea typeface="Chalkduster"/>
                <a:cs typeface="Chalkduster"/>
              </a:rPr>
              <a:t>Use diagrams to explain how alloying improves the usefulness of metals and how strength is increased in terms of structure.</a:t>
            </a:r>
          </a:p>
          <a:p>
            <a:pPr marL="171450" lvl="0" indent="-171450"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100" kern="0" dirty="0" smtClean="0">
              <a:solidFill>
                <a:srgbClr val="000000"/>
              </a:solidFill>
            </a:endParaRPr>
          </a:p>
          <a:p>
            <a:pPr marL="171450" lvl="0" indent="-171450"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100" kern="0" dirty="0">
              <a:solidFill>
                <a:srgbClr val="000000"/>
              </a:solidFill>
            </a:endParaRPr>
          </a:p>
          <a:p>
            <a:pPr marL="171450" indent="-171450">
              <a:buFont typeface="Arial" charset="0"/>
              <a:buChar char="•"/>
            </a:pPr>
            <a:endParaRPr lang="en-GB" sz="1100" dirty="0">
              <a:ea typeface="Chalkduster" charset="0"/>
              <a:cs typeface="Chalkduster" charset="0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145556" y="5061397"/>
            <a:ext cx="2934656" cy="1632574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kern="0" dirty="0">
                <a:solidFill>
                  <a:srgbClr val="000000"/>
                </a:solidFill>
                <a:ea typeface="Chalkduster"/>
                <a:cs typeface="Chalkduster"/>
              </a:rPr>
              <a:t>Corrosion and it’s </a:t>
            </a:r>
            <a:r>
              <a:rPr lang="en-GB" sz="1200" b="1" kern="0" dirty="0" smtClean="0">
                <a:solidFill>
                  <a:srgbClr val="000000"/>
                </a:solidFill>
                <a:ea typeface="Chalkduster"/>
                <a:cs typeface="Chalkduster"/>
              </a:rPr>
              <a:t>prevention:</a:t>
            </a:r>
            <a:endParaRPr lang="en-GB" sz="1200" b="1" kern="0" dirty="0">
              <a:solidFill>
                <a:srgbClr val="000000"/>
              </a:solidFill>
              <a:ea typeface="Chalkduster"/>
              <a:cs typeface="Chalkduster"/>
            </a:endParaRP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Explain how iron can be stopped from rusting.</a:t>
            </a: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Explain what is meant by sacrificial protection</a:t>
            </a:r>
            <a:r>
              <a:rPr lang="en-GB" sz="1100" kern="0" dirty="0" smtClean="0">
                <a:solidFill>
                  <a:srgbClr val="000000"/>
                </a:solidFill>
                <a:ea typeface="Chalkduster"/>
                <a:cs typeface="Chalkduster"/>
              </a:rPr>
              <a:t>.</a:t>
            </a: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kern="0" dirty="0" smtClean="0">
                <a:solidFill>
                  <a:srgbClr val="000000"/>
                </a:solidFill>
                <a:ea typeface="Chalkduster"/>
                <a:cs typeface="Chalkduster"/>
              </a:rPr>
              <a:t>Corrosion is the oxidation of metals. Explain why oxidation of aluminium does not result in rusting. </a:t>
            </a:r>
            <a:endParaRPr lang="en-GB" sz="1100" kern="0" dirty="0">
              <a:solidFill>
                <a:srgbClr val="000000"/>
              </a:solidFill>
              <a:ea typeface="Chalkduster"/>
              <a:cs typeface="Chalkduster"/>
            </a:endParaRPr>
          </a:p>
          <a:p>
            <a:pPr marL="171450" indent="-171450">
              <a:buFont typeface="Arial" charset="0"/>
              <a:buChar char="•"/>
            </a:pPr>
            <a:endParaRPr lang="en-GB" sz="1200" dirty="0" smtClean="0">
              <a:ea typeface="Chalkduster" charset="0"/>
              <a:cs typeface="Chalkduster" charset="0"/>
            </a:endParaRPr>
          </a:p>
          <a:p>
            <a:endParaRPr lang="en-GB" sz="1200" dirty="0" smtClean="0">
              <a:ea typeface="Chalkduster" charset="0"/>
              <a:cs typeface="Chalkduster" charset="0"/>
            </a:endParaRPr>
          </a:p>
          <a:p>
            <a:endParaRPr lang="en-GB" sz="1200" dirty="0">
              <a:ea typeface="Chalkduster" charset="0"/>
              <a:cs typeface="Chalkduster" charset="0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3193290" y="4684293"/>
            <a:ext cx="2861220" cy="200301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dirty="0">
                <a:solidFill>
                  <a:srgbClr val="000000"/>
                </a:solidFill>
                <a:ea typeface="Chalkduster"/>
                <a:cs typeface="Chalkduster"/>
              </a:rPr>
              <a:t>Cells and Fuel </a:t>
            </a:r>
            <a:r>
              <a:rPr lang="en-GB" sz="1200" b="1" dirty="0" smtClean="0">
                <a:solidFill>
                  <a:srgbClr val="000000"/>
                </a:solidFill>
                <a:ea typeface="Chalkduster"/>
                <a:cs typeface="Chalkduster"/>
              </a:rPr>
              <a:t>Cells:</a:t>
            </a:r>
            <a:endParaRPr lang="en-GB" sz="1200" b="1" dirty="0">
              <a:solidFill>
                <a:srgbClr val="000000"/>
              </a:solidFill>
              <a:ea typeface="Chalkduster"/>
              <a:cs typeface="Chalkduster"/>
            </a:endParaRPr>
          </a:p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000" b="1" dirty="0">
              <a:solidFill>
                <a:srgbClr val="000000"/>
              </a:solidFill>
              <a:latin typeface="Chalkduster"/>
              <a:ea typeface="Chalkduster"/>
              <a:cs typeface="Chalkduster"/>
            </a:endParaRPr>
          </a:p>
          <a:p>
            <a:pPr marL="171450" lvl="0" indent="-171450"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kern="0" dirty="0">
                <a:solidFill>
                  <a:srgbClr val="000000"/>
                </a:solidFill>
                <a:latin typeface="Calibri" pitchFamily="34"/>
                <a:ea typeface="Chalkduster"/>
                <a:cs typeface="Calibri" pitchFamily="34"/>
              </a:rPr>
              <a:t>Hydrogen fuel cells are used in some buses, but are not yet used in cars. Discuss why this is the case</a:t>
            </a:r>
            <a:r>
              <a:rPr lang="en-GB" sz="1100" kern="0" dirty="0" smtClean="0">
                <a:solidFill>
                  <a:srgbClr val="000000"/>
                </a:solidFill>
                <a:latin typeface="Calibri" pitchFamily="34"/>
                <a:ea typeface="Chalkduster"/>
                <a:cs typeface="Calibri" pitchFamily="34"/>
              </a:rPr>
              <a:t>.</a:t>
            </a:r>
            <a:endParaRPr lang="en-GB" sz="1100" dirty="0">
              <a:solidFill>
                <a:srgbClr val="000000"/>
              </a:solidFill>
              <a:latin typeface="Calibri" pitchFamily="34"/>
              <a:ea typeface="Chalkduster"/>
              <a:cs typeface="Calibri" pitchFamily="34"/>
            </a:endParaRPr>
          </a:p>
          <a:p>
            <a:pPr marL="171450" lvl="0" indent="-171450"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kern="0" dirty="0">
                <a:solidFill>
                  <a:srgbClr val="000000"/>
                </a:solidFill>
                <a:latin typeface="Calibri" pitchFamily="34"/>
                <a:ea typeface="Chalkduster"/>
                <a:cs typeface="Calibri" pitchFamily="34"/>
              </a:rPr>
              <a:t>Hydrogen is sometimes described a "perfect fuel" evaluate this statement</a:t>
            </a:r>
            <a:r>
              <a:rPr lang="en-GB" sz="1100" kern="0" dirty="0" smtClean="0">
                <a:solidFill>
                  <a:srgbClr val="000000"/>
                </a:solidFill>
                <a:latin typeface="Calibri" pitchFamily="34"/>
                <a:ea typeface="Chalkduster"/>
                <a:cs typeface="Calibri" pitchFamily="34"/>
              </a:rPr>
              <a:t>.</a:t>
            </a:r>
            <a:endParaRPr lang="en-GB" sz="1100" kern="0" dirty="0">
              <a:solidFill>
                <a:srgbClr val="000000"/>
              </a:solidFill>
              <a:latin typeface="Calibri" pitchFamily="34"/>
              <a:ea typeface="Chalkduster"/>
              <a:cs typeface="Calibri" pitchFamily="34"/>
            </a:endParaRPr>
          </a:p>
          <a:p>
            <a:pPr marL="171450" lvl="0" indent="-171450"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b="1" kern="0" dirty="0">
                <a:solidFill>
                  <a:srgbClr val="000000"/>
                </a:solidFill>
                <a:latin typeface="Calibri" pitchFamily="34"/>
                <a:ea typeface="Chalkduster"/>
                <a:cs typeface="Calibri" pitchFamily="34"/>
              </a:rPr>
              <a:t>D</a:t>
            </a:r>
            <a:r>
              <a:rPr lang="en-GB" sz="1100" kern="0" dirty="0" smtClean="0">
                <a:solidFill>
                  <a:srgbClr val="000000"/>
                </a:solidFill>
                <a:latin typeface="Calibri" pitchFamily="34"/>
                <a:ea typeface="Chalkduster"/>
                <a:cs typeface="Calibri" pitchFamily="34"/>
              </a:rPr>
              <a:t>escribe </a:t>
            </a:r>
            <a:r>
              <a:rPr lang="en-GB" sz="1100" kern="0" dirty="0">
                <a:solidFill>
                  <a:srgbClr val="000000"/>
                </a:solidFill>
                <a:latin typeface="Calibri" pitchFamily="34"/>
                <a:ea typeface="Chalkduster"/>
                <a:cs typeface="Calibri" pitchFamily="34"/>
              </a:rPr>
              <a:t>what happens at the electrodes in a fuel cell, giving the half equations.</a:t>
            </a:r>
            <a:endParaRPr lang="en-GB" sz="1100" dirty="0">
              <a:solidFill>
                <a:srgbClr val="000000"/>
              </a:solidFill>
              <a:latin typeface="Calibri" pitchFamily="34"/>
              <a:ea typeface="Chalkduster"/>
              <a:cs typeface="Calibri" pitchFamily="34"/>
            </a:endParaRPr>
          </a:p>
          <a:p>
            <a:pPr marL="17145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050" dirty="0">
              <a:solidFill>
                <a:srgbClr val="000000"/>
              </a:solidFill>
              <a:ea typeface="Chalkduster"/>
              <a:cs typeface="Chalkduster"/>
            </a:endParaRP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050" dirty="0">
              <a:solidFill>
                <a:srgbClr val="000000"/>
              </a:solidFill>
              <a:ea typeface="Chalkduster"/>
              <a:cs typeface="Chalkduster"/>
            </a:endParaRPr>
          </a:p>
          <a:p>
            <a:pPr marL="171450" indent="-171450">
              <a:buFont typeface="Arial" charset="0"/>
              <a:buChar char="•"/>
            </a:pPr>
            <a:endParaRPr lang="en-GB" sz="1100" dirty="0" smtClean="0">
              <a:ea typeface="Chalkduster" charset="0"/>
              <a:cs typeface="Chalkduster" charset="0"/>
            </a:endParaRPr>
          </a:p>
          <a:p>
            <a:endParaRPr lang="en-GB" sz="1200" dirty="0">
              <a:ea typeface="Chalkduster" charset="0"/>
              <a:cs typeface="Chalkduster" charset="0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153222" y="2234553"/>
            <a:ext cx="2921202" cy="27366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dirty="0" smtClean="0">
                <a:solidFill>
                  <a:srgbClr val="000000"/>
                </a:solidFill>
                <a:ea typeface="Chalkduster"/>
                <a:cs typeface="Chalkduster"/>
              </a:rPr>
              <a:t>Atom Economy and percentage yield:</a:t>
            </a: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kern="0" dirty="0">
                <a:solidFill>
                  <a:srgbClr val="000000"/>
                </a:solidFill>
              </a:rPr>
              <a:t>Calculate the atom economy in the production of iron in the blast furnace.</a:t>
            </a: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Ethanol can be produced by fermentation or by hydration of </a:t>
            </a:r>
            <a:r>
              <a:rPr lang="en-GB" sz="1100" kern="0" dirty="0" err="1">
                <a:solidFill>
                  <a:srgbClr val="000000"/>
                </a:solidFill>
                <a:ea typeface="Chalkduster"/>
                <a:cs typeface="Chalkduster"/>
              </a:rPr>
              <a:t>ethene</a:t>
            </a: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. </a:t>
            </a:r>
            <a:r>
              <a:rPr lang="en-GB" sz="1100" kern="0" dirty="0">
                <a:solidFill>
                  <a:srgbClr val="000000"/>
                </a:solidFill>
              </a:rPr>
              <a:t>Compare their atom economy and evaluate which method is best for making ethanol</a:t>
            </a:r>
            <a:r>
              <a:rPr lang="en-GB" sz="1100" kern="0" dirty="0" smtClean="0">
                <a:solidFill>
                  <a:srgbClr val="000000"/>
                </a:solidFill>
              </a:rPr>
              <a:t>.</a:t>
            </a: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 </a:t>
            </a:r>
            <a:endParaRPr lang="en-GB" sz="1100" kern="0" dirty="0" smtClean="0">
              <a:solidFill>
                <a:srgbClr val="000000"/>
              </a:solidFill>
              <a:ea typeface="Chalkduster"/>
              <a:cs typeface="Chalkduster"/>
            </a:endParaRP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kern="0" dirty="0" smtClean="0">
                <a:solidFill>
                  <a:srgbClr val="000000"/>
                </a:solidFill>
                <a:ea typeface="Chalkduster"/>
                <a:cs typeface="Chalkduster"/>
              </a:rPr>
              <a:t>A </a:t>
            </a: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company processes 200 tonnes of limestone a day.  It collects 98 tonnes of calcium oxide for manufacturing.  Calculate the percentage yield and explain why this reaction does not have a 100% yield production.</a:t>
            </a: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100" kern="0" dirty="0">
              <a:solidFill>
                <a:srgbClr val="000000"/>
              </a:solidFill>
              <a:ea typeface="Chalkduster"/>
              <a:cs typeface="Chalkduster"/>
            </a:endParaRPr>
          </a:p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200" b="1" dirty="0">
              <a:solidFill>
                <a:srgbClr val="000000"/>
              </a:solidFill>
              <a:ea typeface="Chalkduster"/>
              <a:cs typeface="Chalkduster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3161206" y="152724"/>
            <a:ext cx="2893304" cy="20818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dirty="0">
                <a:solidFill>
                  <a:srgbClr val="000000"/>
                </a:solidFill>
                <a:ea typeface="Chalkduster"/>
                <a:cs typeface="Chalkduster"/>
              </a:rPr>
              <a:t>Concentration of Solutions:</a:t>
            </a: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kern="0" dirty="0">
                <a:solidFill>
                  <a:srgbClr val="000000"/>
                </a:solidFill>
              </a:rPr>
              <a:t>0.5 </a:t>
            </a:r>
            <a:r>
              <a:rPr lang="en-GB" sz="1100" kern="0" dirty="0" err="1">
                <a:solidFill>
                  <a:srgbClr val="000000"/>
                </a:solidFill>
              </a:rPr>
              <a:t>mol</a:t>
            </a:r>
            <a:r>
              <a:rPr lang="en-GB" sz="1100" kern="0" dirty="0">
                <a:solidFill>
                  <a:srgbClr val="000000"/>
                </a:solidFill>
              </a:rPr>
              <a:t> of solute is dissolved in 250 cm</a:t>
            </a:r>
            <a:r>
              <a:rPr lang="en-GB" sz="1100" kern="0" baseline="30000" dirty="0">
                <a:solidFill>
                  <a:srgbClr val="000000"/>
                </a:solidFill>
              </a:rPr>
              <a:t>3</a:t>
            </a:r>
            <a:r>
              <a:rPr lang="en-GB" sz="1100" kern="0" dirty="0">
                <a:solidFill>
                  <a:srgbClr val="000000"/>
                </a:solidFill>
              </a:rPr>
              <a:t> of solution. Calculate its concentration.</a:t>
            </a: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C</a:t>
            </a:r>
            <a:r>
              <a:rPr lang="en-GB" sz="1100" dirty="0">
                <a:solidFill>
                  <a:srgbClr val="000000"/>
                </a:solidFill>
                <a:ea typeface="Chalkduster"/>
                <a:cs typeface="Chalkduster"/>
              </a:rPr>
              <a:t>alculate the concentration for </a:t>
            </a: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2.925x10</a:t>
            </a:r>
            <a:r>
              <a:rPr lang="en-GB" sz="1100" kern="0" baseline="30000" dirty="0">
                <a:solidFill>
                  <a:srgbClr val="000000"/>
                </a:solidFill>
                <a:ea typeface="Chalkduster"/>
                <a:cs typeface="Chalkduster"/>
              </a:rPr>
              <a:t>-4</a:t>
            </a:r>
            <a:r>
              <a:rPr lang="en-GB" sz="1100" dirty="0">
                <a:solidFill>
                  <a:srgbClr val="000000"/>
                </a:solidFill>
                <a:ea typeface="Chalkduster"/>
                <a:cs typeface="Chalkduster"/>
              </a:rPr>
              <a:t>g of sodium chloride in 5cm</a:t>
            </a:r>
            <a:r>
              <a:rPr lang="en-GB" sz="1100" baseline="30000" dirty="0">
                <a:solidFill>
                  <a:srgbClr val="000000"/>
                </a:solidFill>
                <a:ea typeface="Chalkduster"/>
                <a:cs typeface="Chalkduster"/>
              </a:rPr>
              <a:t>3</a:t>
            </a:r>
            <a:r>
              <a:rPr lang="en-GB" sz="1100" dirty="0">
                <a:solidFill>
                  <a:srgbClr val="000000"/>
                </a:solidFill>
                <a:ea typeface="Chalkduster"/>
                <a:cs typeface="Chalkduster"/>
              </a:rPr>
              <a:t> of water.</a:t>
            </a: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kern="0" dirty="0" smtClean="0">
                <a:solidFill>
                  <a:srgbClr val="000000"/>
                </a:solidFill>
                <a:ea typeface="Chalkduster"/>
                <a:cs typeface="Chalkduster"/>
              </a:rPr>
              <a:t>Fire </a:t>
            </a: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crews will often attend accidents involving chemical containers to hose down chemical spills. Explain why.</a:t>
            </a:r>
            <a:endParaRPr lang="en-GB" sz="1100" dirty="0">
              <a:solidFill>
                <a:srgbClr val="000000"/>
              </a:solidFill>
              <a:ea typeface="Chalkduster"/>
              <a:cs typeface="Chalkduster"/>
            </a:endParaRPr>
          </a:p>
          <a:p>
            <a:pPr marL="171450" indent="-171450">
              <a:buFont typeface="Arial" charset="0"/>
              <a:buChar char="•"/>
            </a:pPr>
            <a:endParaRPr lang="en-GB" sz="1100" dirty="0" smtClean="0">
              <a:ea typeface="Chalkduster" charset="0"/>
              <a:cs typeface="Chalkduster" charset="0"/>
            </a:endParaRPr>
          </a:p>
          <a:p>
            <a:pPr marL="171450" indent="-171450">
              <a:buFont typeface="Arial" charset="0"/>
              <a:buChar char="•"/>
            </a:pPr>
            <a:endParaRPr lang="en-GB" sz="1100" dirty="0" smtClean="0">
              <a:ea typeface="Chalkduster" charset="0"/>
              <a:cs typeface="Chalkduster" charset="0"/>
            </a:endParaRPr>
          </a:p>
          <a:p>
            <a:pPr marL="171450" indent="-171450">
              <a:buFont typeface="Arial" charset="0"/>
              <a:buChar char="•"/>
            </a:pPr>
            <a:endParaRPr lang="en-GB" sz="1100" dirty="0" smtClean="0">
              <a:ea typeface="Chalkduster" charset="0"/>
              <a:cs typeface="Chalkduster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3501683" y="4246829"/>
            <a:ext cx="218026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© Copyright The PiXL Club Ltd, </a:t>
            </a:r>
            <a:r>
              <a:rPr lang="en-GB" sz="1000" dirty="0" smtClean="0"/>
              <a:t>2017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231778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 THINKIT" id="{999C12DA-BDAB-614A-AF3B-CC505B52B3A9}" vid="{2545354F-674C-8E45-97A2-0D9EB86DC10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THINKIT</Template>
  <TotalTime>28</TotalTime>
  <Words>440</Words>
  <Application>Microsoft Office PowerPoint</Application>
  <PresentationFormat>On-screen Show (4:3)</PresentationFormat>
  <Paragraphs>45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Chalkduster</vt:lpstr>
      <vt:lpstr>Nanum Brush Script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Karen Collins</dc:creator>
  <cp:lastModifiedBy>Karen Collins</cp:lastModifiedBy>
  <cp:revision>12</cp:revision>
  <cp:lastPrinted>2017-02-15T18:44:41Z</cp:lastPrinted>
  <dcterms:created xsi:type="dcterms:W3CDTF">2018-03-12T11:05:29Z</dcterms:created>
  <dcterms:modified xsi:type="dcterms:W3CDTF">2018-03-12T11:34:12Z</dcterms:modified>
</cp:coreProperties>
</file>