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1"/>
    <p:restoredTop sz="95833"/>
  </p:normalViewPr>
  <p:slideViewPr>
    <p:cSldViewPr snapToGrid="0" snapToObjects="1">
      <p:cViewPr varScale="1">
        <p:scale>
          <a:sx n="107" d="100"/>
          <a:sy n="107" d="100"/>
        </p:scale>
        <p:origin x="205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pPr/>
              <a:t>10/05/2018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1AFE97-7E2D-0544-B21D-DC139F12B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56" y="285007"/>
            <a:ext cx="8520812" cy="636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18589" y="2265853"/>
            <a:ext cx="2694872" cy="24314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GB" sz="2000" b="1" dirty="0">
                <a:ea typeface="Nanum Brush Script" charset="-127"/>
                <a:cs typeface="Nanum Brush Script" charset="-127"/>
              </a:rPr>
              <a:t>Edexcel GCSE Health, disease and the development of medicines.</a:t>
            </a:r>
            <a:endParaRPr lang="en-GB" sz="2000" dirty="0"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7200" b="1" dirty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4400" dirty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4800" dirty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4400" dirty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100" b="1" dirty="0">
                <a:ea typeface="Chalkduster" charset="0"/>
                <a:cs typeface="Chalkduster" charset="0"/>
              </a:rPr>
              <a:t>Risk Factors: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Community and factors: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charset="0"/>
              <a:buChar char="•"/>
            </a:pPr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84293"/>
            <a:ext cx="2861220" cy="20030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: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43954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200" dirty="0">
                <a:latin typeface="Chalkduster" charset="0"/>
                <a:ea typeface="Chalkduster" charset="0"/>
                <a:cs typeface="Chalkduster" charset="0"/>
              </a:rPr>
              <a:t>: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87947" y="3507201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2017</a:t>
            </a:r>
            <a:endParaRPr lang="en-US" sz="1000" dirty="0"/>
          </a:p>
        </p:txBody>
      </p:sp>
      <p:sp>
        <p:nvSpPr>
          <p:cNvPr id="19" name="Rounded Rectangle 18"/>
          <p:cNvSpPr/>
          <p:nvPr/>
        </p:nvSpPr>
        <p:spPr>
          <a:xfrm>
            <a:off x="153222" y="152725"/>
            <a:ext cx="2926990" cy="201897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0" rtlCol="0" anchor="t"/>
          <a:lstStyle/>
          <a:p>
            <a:pPr marL="171450" indent="-171450"/>
            <a:endParaRPr lang="en-GB" sz="1050" dirty="0">
              <a:ea typeface="Chalkduster" charset="0"/>
              <a:cs typeface="Chalkduster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1252" y="161252"/>
            <a:ext cx="2916000" cy="2016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Communicable disease: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Cervical cancer is spread by the human papillomavirus (HPV). Suggest how this makes it different to other cancers.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Discuss the similarities and differences between measles and HIV.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How do viruses cause illness?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Salmonella bacteria release a toxin into the gut. Use your knowledge of osmosis to explain why this can cause diarrhoea.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9252" y="152626"/>
            <a:ext cx="2880000" cy="20733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36000" rIns="0" bIns="0" rtlCol="0" anchor="ctr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 Antibiotics: 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Justify why doctors refuse to prescribe antibiotics for viral diseases, such as flu?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Antibiotics are described as specific to the type of bacteria. Discuss the meaning  of the term ‘specific’ 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Conjunctivitis is a bacterial infection of the eye causing irritation and inflammation. Explain why a doctor may prescribe </a:t>
            </a:r>
            <a:r>
              <a:rPr lang="en-GB" sz="1100">
                <a:ea typeface="Chalkduster" charset="0"/>
                <a:cs typeface="Chalkduster" charset="0"/>
              </a:rPr>
              <a:t>both antibiotics </a:t>
            </a:r>
            <a:r>
              <a:rPr lang="en-GB" sz="1100" dirty="0">
                <a:ea typeface="Chalkduster" charset="0"/>
                <a:cs typeface="Chalkduster" charset="0"/>
              </a:rPr>
              <a:t>and painkillers.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4000" y="2265853"/>
            <a:ext cx="3096000" cy="23447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Ins="0" rtlCol="0" anchor="t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Monoclonal antibodies: ( biology HT only)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Why are some antibodies described as monoclonal?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Prostate cancer releases a chemical called PSA into the blood. Discuss how monoclonal antibodies could be used for this condition.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Suggest some of the benefits of using  monoclonal antibodies bound to a radioactive drug to target cancer cells in comparison to traditional radiotherapy /chemotherapy treatments.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Suggest why some people feel the use of monoclonal antibodies in unethical.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>
              <a:buFont typeface="Arial" pitchFamily="34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  <a:p>
            <a:pPr>
              <a:buFont typeface="Arial" pitchFamily="34" charset="0"/>
              <a:buChar char="•"/>
            </a:pPr>
            <a:endParaRPr lang="en-GB" sz="1200" dirty="0">
              <a:latin typeface="Chalkduster" charset="0"/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44648" y="4674908"/>
            <a:ext cx="2934656" cy="2016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Vaccination: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Herd vaccination protects the whole population. Ring vaccination targets those at risk when there is an outbreak. Suggest the benefits and drawbacks from each of these methods.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 A person can catch chicken pox many times but only get symptoms once. Explain this.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If a person already has TB explain why a vaccine for TB will not help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24896" y="4574038"/>
            <a:ext cx="2929613" cy="21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108000" rIns="36000" bIns="36000" rtlCol="0" anchor="ctr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Plant defence: (biology only)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and contrast the methods plants use to defend themselves with the human body defence systems.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Explain why it would be beneficial to a plant to be able to make its leaves droop or curl.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Discuss why foxgloves are both a benefit to humans and a risk to cows</a:t>
            </a:r>
            <a:r>
              <a:rPr lang="en-GB" sz="1200" dirty="0">
                <a:ea typeface="Chalkduster" charset="0"/>
                <a:cs typeface="Chalkduster" charset="0"/>
              </a:rPr>
              <a:t>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Both the cloudberry (arctic) and cactus (desert) plants are xerophytes. Explain what this means and how it aids defence.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1041" y="4680000"/>
            <a:ext cx="2886401" cy="2016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tIns="0" rtlCol="0" anchor="t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Plant disease: (biology only)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Describe how you could set up an investigation to prove that pond weed needs nitrate ions to be healthy.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A gardener noticed a disease on some of his trees. He suspected it was Chalara ash dieback. Suggest three ways he might have identified that the plant was diseased. </a:t>
            </a:r>
          </a:p>
          <a:p>
            <a:pPr marL="171450" indent="-171450"/>
            <a:endParaRPr lang="en-GB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53222" y="2234553"/>
            <a:ext cx="3096000" cy="2376000"/>
          </a:xfrm>
          <a:prstGeom prst="roundRect">
            <a:avLst>
              <a:gd name="adj" fmla="val 1546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0" rIns="72000" bIns="0" rtlCol="0" anchor="t" anchorCtr="1"/>
          <a:lstStyle/>
          <a:p>
            <a:r>
              <a:rPr lang="en-US" sz="1200" b="1" dirty="0">
                <a:ea typeface="Chalkduster" charset="0"/>
                <a:cs typeface="Chalkduster" charset="0"/>
              </a:rPr>
              <a:t>Human </a:t>
            </a:r>
            <a:r>
              <a:rPr lang="en-US" sz="1200" b="1" dirty="0" err="1">
                <a:ea typeface="Chalkduster" charset="0"/>
                <a:cs typeface="Chalkduster" charset="0"/>
              </a:rPr>
              <a:t>defence</a:t>
            </a:r>
            <a:r>
              <a:rPr lang="en-US" sz="1200" b="1" dirty="0">
                <a:ea typeface="Chalkduster" charset="0"/>
                <a:cs typeface="Chalkduster" charset="0"/>
              </a:rPr>
              <a:t> systems: 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100" dirty="0">
                <a:ea typeface="Chalkduster" charset="0"/>
                <a:cs typeface="Chalkduster" charset="0"/>
              </a:rPr>
              <a:t>What is meant by the ‘non- specific’ defence systems of the human body?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100" dirty="0">
                <a:ea typeface="Chalkduster" charset="0"/>
                <a:cs typeface="Chalkduster" charset="0"/>
              </a:rPr>
              <a:t>Describe how each of the following  body parts defend against pathogen entry: </a:t>
            </a:r>
          </a:p>
          <a:p>
            <a:pPr marL="171450" indent="-171450"/>
            <a:r>
              <a:rPr lang="en-US" sz="1100" dirty="0">
                <a:ea typeface="Chalkduster" charset="0"/>
                <a:cs typeface="Chalkduster" charset="0"/>
              </a:rPr>
              <a:t>	skin, nose, trachea &amp; bronchi and stomach. Include the role of cilia in your answer.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ea typeface="Chalkduster" charset="0"/>
                <a:cs typeface="Chalkduster" charset="0"/>
              </a:rPr>
              <a:t>Classify these defences as mechanical, chemical or physical.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100" dirty="0">
                <a:ea typeface="Chalkduster" charset="0"/>
                <a:cs typeface="Chalkduster" charset="0"/>
              </a:rPr>
              <a:t>Cystic fibrosis leads to a build up of mucus in the lungs. Explain how this could put a sufferer at a greater risk of infection.</a:t>
            </a:r>
          </a:p>
          <a:p>
            <a:pPr marL="171450" indent="-171450">
              <a:buFont typeface="Arial" charset="0"/>
              <a:buChar char="•"/>
            </a:pPr>
            <a:r>
              <a:rPr lang="en-US" sz="1100" dirty="0">
                <a:ea typeface="Chalkduster" charset="0"/>
                <a:cs typeface="Chalkduster" charset="0"/>
              </a:rPr>
              <a:t>Compare and contrast skin &amp; plant epidermis. </a:t>
            </a:r>
          </a:p>
          <a:p>
            <a:pPr marL="171450" indent="-171450"/>
            <a:endParaRPr lang="en-US" sz="1100" dirty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US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US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US" sz="1100" dirty="0">
              <a:ea typeface="Chalkduster" charset="0"/>
              <a:cs typeface="Chalkduster" charset="0"/>
            </a:endParaRPr>
          </a:p>
          <a:p>
            <a:pPr marL="171450" indent="-171450"/>
            <a:endParaRPr lang="en-US" sz="1200" dirty="0">
              <a:ea typeface="Chalkduster" charset="0"/>
              <a:cs typeface="Chalkduster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84000" y="161252"/>
            <a:ext cx="2916000" cy="200429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36000" tIns="36000" rIns="36000" bIns="36000" rtlCol="0" anchor="ctr" anchorCtr="0"/>
          <a:lstStyle/>
          <a:p>
            <a:r>
              <a:rPr lang="en-GB" sz="1200" b="1" dirty="0">
                <a:ea typeface="Chalkduster" charset="0"/>
                <a:cs typeface="Chalkduster" charset="0"/>
              </a:rPr>
              <a:t>Discovery and development of drugs: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Describe and explain the processes involved in getting a drug from the point of discovery to market. What is the role of peer review? What are the 3 main outcomes being tested during trials?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Evaluate the risks and benefits of using unlicensed drugs as a treatment in the Ebola virus outbreak which killed 11 000.</a:t>
            </a:r>
          </a:p>
          <a:p>
            <a:pPr marL="171450" indent="-171450">
              <a:buFont typeface="Arial" charset="0"/>
              <a:buChar char="•"/>
            </a:pPr>
            <a:r>
              <a:rPr lang="en-GB" sz="1100" dirty="0">
                <a:ea typeface="Chalkduster" charset="0"/>
                <a:cs typeface="Chalkduster" charset="0"/>
              </a:rPr>
              <a:t>Compare and contrast surgical and life long medication treatments for CVD.</a:t>
            </a:r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THINK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604</TotalTime>
  <Words>561</Words>
  <Application>Microsoft Macintosh PowerPoint</Application>
  <PresentationFormat>On-screen Show (4:3)</PresentationFormat>
  <Paragraphs>58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Nanum Brush Script</vt:lpstr>
      <vt:lpstr>Arial</vt:lpstr>
      <vt:lpstr>Calibri</vt:lpstr>
      <vt:lpstr>Calibri Light</vt:lpstr>
      <vt:lpstr>Chalkduster</vt:lpstr>
      <vt:lpstr>TEMPLATE THINKIT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Amanda Clegg</dc:creator>
  <cp:lastModifiedBy>Amanda Fleck</cp:lastModifiedBy>
  <cp:revision>87</cp:revision>
  <cp:lastPrinted>2017-02-15T18:44:41Z</cp:lastPrinted>
  <dcterms:created xsi:type="dcterms:W3CDTF">2018-04-18T12:49:43Z</dcterms:created>
  <dcterms:modified xsi:type="dcterms:W3CDTF">2018-05-10T15:52:18Z</dcterms:modified>
</cp:coreProperties>
</file>