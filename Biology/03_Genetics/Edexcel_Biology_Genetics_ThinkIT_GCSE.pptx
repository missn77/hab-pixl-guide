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4"/>
  </p:notesMasterIdLst>
  <p:sldIdLst>
    <p:sldId id="256" r:id="rId2"/>
    <p:sldId id="258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manda Clegg" initials="AKC" lastIdx="8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44"/>
    <p:restoredTop sz="95833"/>
  </p:normalViewPr>
  <p:slideViewPr>
    <p:cSldViewPr snapToGrid="0" snapToObjects="1">
      <p:cViewPr varScale="1">
        <p:scale>
          <a:sx n="107" d="100"/>
          <a:sy n="107" d="100"/>
        </p:scale>
        <p:origin x="736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00B4FC-DE72-B04E-881B-39948BCD13FE}" type="datetimeFigureOut">
              <a:rPr lang="en-GB" smtClean="0"/>
              <a:pPr/>
              <a:t>10/05/2018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FD04F4-2695-714D-9F3D-51394D3EE3A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1387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FD04F4-2695-714D-9F3D-51394D3EE3A0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715625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FD04F4-2695-714D-9F3D-51394D3EE3A0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0119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08B80-D4A0-3548-B9B8-BE81C52EC421}" type="datetimeFigureOut">
              <a:rPr lang="en-GB" smtClean="0"/>
              <a:pPr/>
              <a:t>10/05/2018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9DC77-15E7-A540-8773-3C582D5B9B4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ounded Rectangle 7"/>
          <p:cNvSpPr/>
          <p:nvPr userDrawn="1"/>
        </p:nvSpPr>
        <p:spPr>
          <a:xfrm>
            <a:off x="84224" y="84221"/>
            <a:ext cx="8975555" cy="6649817"/>
          </a:xfrm>
          <a:prstGeom prst="roundRect">
            <a:avLst>
              <a:gd name="adj" fmla="val 2765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08B80-D4A0-3548-B9B8-BE81C52EC421}" type="datetimeFigureOut">
              <a:rPr lang="en-GB" smtClean="0"/>
              <a:pPr/>
              <a:t>10/05/2018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9DC77-15E7-A540-8773-3C582D5B9B4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ounded Rectangle 6"/>
          <p:cNvSpPr/>
          <p:nvPr userDrawn="1"/>
        </p:nvSpPr>
        <p:spPr>
          <a:xfrm>
            <a:off x="84224" y="84221"/>
            <a:ext cx="8975555" cy="6649817"/>
          </a:xfrm>
          <a:prstGeom prst="roundRect">
            <a:avLst>
              <a:gd name="adj" fmla="val 2765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08B80-D4A0-3548-B9B8-BE81C52EC421}" type="datetimeFigureOut">
              <a:rPr lang="en-GB" smtClean="0"/>
              <a:pPr/>
              <a:t>10/05/2018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69DC77-15E7-A540-8773-3C582D5B9B4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5712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3E9B33E-6537-984D-B1BC-C366166A7D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51" y="179018"/>
            <a:ext cx="8804068" cy="6559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942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53093" y="2257226"/>
            <a:ext cx="2694872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ea typeface="Nanum Brush Script" charset="-127"/>
                <a:cs typeface="Nanum Brush Script" charset="-127"/>
              </a:rPr>
              <a:t>Edexcel GCSE Genetics</a:t>
            </a:r>
            <a:endParaRPr lang="en-GB" sz="2800" dirty="0">
              <a:ea typeface="Nanum Brush Script" charset="-127"/>
              <a:cs typeface="Nanum Brush Script" charset="-127"/>
            </a:endParaRPr>
          </a:p>
          <a:p>
            <a:pPr algn="ctr"/>
            <a:r>
              <a:rPr lang="en-GB" sz="2800" dirty="0">
                <a:ea typeface="Nanum Brush Script" charset="-127"/>
                <a:cs typeface="Nanum Brush Script" charset="-127"/>
              </a:rPr>
              <a:t> </a:t>
            </a:r>
            <a:r>
              <a:rPr lang="en-GB" sz="7200" b="1" dirty="0">
                <a:solidFill>
                  <a:schemeClr val="accent2">
                    <a:lumMod val="75000"/>
                  </a:schemeClr>
                </a:solidFill>
                <a:ea typeface="Nanum Brush Script" charset="-127"/>
                <a:cs typeface="Nanum Brush Script" charset="-127"/>
              </a:rPr>
              <a:t>T</a:t>
            </a:r>
            <a:r>
              <a:rPr lang="en-GB" sz="4400" dirty="0">
                <a:ea typeface="Nanum Brush Script" charset="-127"/>
                <a:cs typeface="Nanum Brush Script" charset="-127"/>
              </a:rPr>
              <a:t>hink</a:t>
            </a:r>
            <a:r>
              <a:rPr lang="en-GB" sz="4800" dirty="0">
                <a:solidFill>
                  <a:schemeClr val="accent2">
                    <a:lumMod val="75000"/>
                  </a:schemeClr>
                </a:solidFill>
                <a:ea typeface="Nanum Brush Script" charset="-127"/>
                <a:cs typeface="Nanum Brush Script" charset="-127"/>
              </a:rPr>
              <a:t>IT</a:t>
            </a:r>
            <a:r>
              <a:rPr lang="en-GB" sz="4400" dirty="0">
                <a:ea typeface="Nanum Brush Script" charset="-127"/>
                <a:cs typeface="Nanum Brush Script" charset="-127"/>
              </a:rPr>
              <a:t>!</a:t>
            </a:r>
          </a:p>
          <a:p>
            <a:pPr algn="ctr"/>
            <a:r>
              <a:rPr lang="en-GB" sz="4400" dirty="0">
                <a:ea typeface="Nanum Brush Script" charset="-127"/>
                <a:cs typeface="Nanum Brush Script" charset="-127"/>
              </a:rPr>
              <a:t> 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1041" y="152724"/>
            <a:ext cx="2875672" cy="201897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200" dirty="0">
                <a:latin typeface="Chalkduster" charset="0"/>
                <a:ea typeface="Chalkduster" charset="0"/>
                <a:cs typeface="Chalkduster" charset="0"/>
              </a:rPr>
              <a:t>Section name:</a:t>
            </a: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153222" y="152725"/>
            <a:ext cx="2926990" cy="201897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100" b="1" dirty="0">
                <a:ea typeface="Chalkduster" charset="0"/>
                <a:cs typeface="Chalkduster" charset="0"/>
              </a:rPr>
              <a:t>Reproduction: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 Compare the process for making sperm to that for an embryo developing.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Explain why it is beneficial for fungi to reproduce both sexually and asexually.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Holly trees are either male or female. Cucumber plants have male flowers and female flowers on the same plant. What are the benefits of these arrangements?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Does sexual or asexual reproduction “save” endangered species? Discuss.</a:t>
            </a:r>
          </a:p>
          <a:p>
            <a:pPr marL="171450" indent="-171450"/>
            <a:endParaRPr lang="en-GB" sz="1100" dirty="0">
              <a:ea typeface="Chalkduster" charset="0"/>
              <a:cs typeface="Chalkduster" charset="0"/>
            </a:endParaRPr>
          </a:p>
          <a:p>
            <a:pPr marL="171450" indent="-171450"/>
            <a:endParaRPr lang="en-GB" sz="1100" dirty="0">
              <a:ea typeface="Chalkduster" charset="0"/>
              <a:cs typeface="Chalkduster" charset="0"/>
            </a:endParaRPr>
          </a:p>
          <a:p>
            <a:endParaRPr lang="en-GB" sz="1200" dirty="0">
              <a:ea typeface="Chalkduster" charset="0"/>
              <a:cs typeface="Chalkduster" charset="0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121041" y="2234553"/>
            <a:ext cx="2886402" cy="237092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100" b="1" dirty="0">
                <a:ea typeface="Chalkduster" charset="0"/>
                <a:cs typeface="Chalkduster" charset="0"/>
              </a:rPr>
              <a:t>Inheritance continued: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Two black guinea pigs were interbred and produced eight offspring. Two were brown and six were black. Which coat colour allele is dominant?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Haemophilia is a sex linked disease. The faulty allele is found on the X chromosome but the disease is more common in males. Explain why.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What does monohybrid mean?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A gardener crossed a red flowering plant with a white flowering plant. Some offspring had pink flowers. Explain.</a:t>
            </a: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6131771" y="4684294"/>
            <a:ext cx="2875672" cy="2013783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100" b="1" dirty="0">
                <a:ea typeface="Chalkduster" charset="0"/>
                <a:cs typeface="Chalkduster" charset="0"/>
              </a:rPr>
              <a:t>Mutation: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b="1" dirty="0">
                <a:ea typeface="Chalkduster" charset="0"/>
                <a:cs typeface="Chalkduster" charset="0"/>
              </a:rPr>
              <a:t> </a:t>
            </a:r>
            <a:r>
              <a:rPr lang="en-GB" sz="1100" dirty="0">
                <a:ea typeface="Chalkduster" charset="0"/>
                <a:cs typeface="Chalkduster" charset="0"/>
              </a:rPr>
              <a:t>Why do most genetic variations have no effect on the phenotype?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Research two examples of where a single mutation significantly affects the phenotype. 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Find out about epigenetics and use your research to explain why cells on the retina don’t have hairs?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45556" y="4684294"/>
            <a:ext cx="2934656" cy="2009677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marL="171450" indent="-171450"/>
            <a:r>
              <a:rPr lang="en-GB" sz="1100" b="1" dirty="0">
                <a:ea typeface="Chalkduster" charset="0"/>
                <a:cs typeface="Chalkduster" charset="0"/>
              </a:rPr>
              <a:t>DNA and meiosis: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Discuss the ways in which the structure of DNA allows it to carry out its functions.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Describe how to extract DNA from a strawberry and explain what each stage of the method is needed for.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Use </a:t>
            </a:r>
            <a:r>
              <a:rPr lang="en-GB" sz="1100" dirty="0" err="1">
                <a:ea typeface="Chalkduster" charset="0"/>
                <a:cs typeface="Chalkduster" charset="0"/>
              </a:rPr>
              <a:t>plasticine</a:t>
            </a:r>
            <a:r>
              <a:rPr lang="en-GB" sz="1100" dirty="0">
                <a:ea typeface="Chalkduster" charset="0"/>
                <a:cs typeface="Chalkduster" charset="0"/>
              </a:rPr>
              <a:t> to make a model of meiotic cell division and then describe the stages to your partner.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Compare mitosis and meiosis in a poster.</a:t>
            </a:r>
          </a:p>
          <a:p>
            <a:endParaRPr lang="en-GB" sz="1200" dirty="0">
              <a:ea typeface="Chalkduster" charset="0"/>
              <a:cs typeface="Chalkduster" charset="0"/>
            </a:endParaRPr>
          </a:p>
          <a:p>
            <a:endParaRPr lang="en-GB" sz="1200" dirty="0">
              <a:ea typeface="Chalkduster" charset="0"/>
              <a:cs typeface="Chalkduster" charset="0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3193290" y="4684293"/>
            <a:ext cx="2861220" cy="200301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100" b="1" dirty="0">
                <a:ea typeface="Chalkduster" charset="0"/>
                <a:cs typeface="Chalkduster" charset="0"/>
              </a:rPr>
              <a:t>Mendel: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Research and write a magazine article based upon the life of Gregor Mendel and his observations which lead to his unofficial naming as the father of genetics.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Produce a glossary of all the key words used in genetics. Use these to construct a crossword.</a:t>
            </a:r>
          </a:p>
          <a:p>
            <a:pPr marL="171450" indent="-171450"/>
            <a:endParaRPr lang="en-GB" sz="1100" dirty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  <a:p>
            <a:pPr>
              <a:buFont typeface="Arial" pitchFamily="34" charset="0"/>
              <a:buChar char="•"/>
            </a:pPr>
            <a:endParaRPr lang="en-GB" sz="1200" dirty="0">
              <a:ea typeface="Chalkduster" charset="0"/>
              <a:cs typeface="Chalkduster" charset="0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153222" y="2234553"/>
            <a:ext cx="2921202" cy="237092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marL="171450" indent="-171450"/>
            <a:r>
              <a:rPr lang="en-GB" sz="1100" b="1" dirty="0">
                <a:ea typeface="Chalkduster" charset="0"/>
                <a:cs typeface="Chalkduster" charset="0"/>
              </a:rPr>
              <a:t>Protein synthesis</a:t>
            </a:r>
            <a:r>
              <a:rPr lang="en-GB" sz="1100" dirty="0">
                <a:ea typeface="Chalkduster" charset="0"/>
                <a:cs typeface="Chalkduster" charset="0"/>
              </a:rPr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Compare and contrast the roles of messenger RNA and transfer RNA.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Without mutations there would be no evolution. Discuss this statement.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How is the information on DNA transferred to ribosomes?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Draw a flow diagram to illustrate the stages in protein synthesis. Explain the chart to your partner.</a:t>
            </a: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  <a:p>
            <a:endParaRPr lang="en-GB" sz="1100" dirty="0">
              <a:ea typeface="Chalkduster" charset="0"/>
              <a:cs typeface="Chalkduster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3161206" y="152724"/>
            <a:ext cx="2893304" cy="20818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100" b="1" dirty="0">
                <a:ea typeface="Chalkduster" charset="0"/>
                <a:cs typeface="Chalkduster" charset="0"/>
              </a:rPr>
              <a:t>DNA and the genome: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What was Rosalind Frank’s contribution to our understanding of inheritance?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Why is knowing about human migration patterns in the past of importance?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If only 2% of the human genome contains information regarding the formation </a:t>
            </a:r>
            <a:r>
              <a:rPr lang="en-GB" sz="1100">
                <a:ea typeface="Chalkduster" charset="0"/>
                <a:cs typeface="Chalkduster" charset="0"/>
              </a:rPr>
              <a:t>of proteins, </a:t>
            </a:r>
            <a:r>
              <a:rPr lang="en-GB" sz="1100" dirty="0">
                <a:ea typeface="Chalkduster" charset="0"/>
                <a:cs typeface="Chalkduster" charset="0"/>
              </a:rPr>
              <a:t>what is all the rest for?</a:t>
            </a: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501683" y="4409852"/>
            <a:ext cx="218026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/>
              <a:t>© Copyright The PiXL Club Ltd, 2017</a:t>
            </a:r>
            <a:endParaRPr lang="en-US" sz="1000"/>
          </a:p>
        </p:txBody>
      </p:sp>
      <p:sp>
        <p:nvSpPr>
          <p:cNvPr id="12" name="Rounded Rectangle 11"/>
          <p:cNvSpPr/>
          <p:nvPr/>
        </p:nvSpPr>
        <p:spPr>
          <a:xfrm>
            <a:off x="6118173" y="158482"/>
            <a:ext cx="2875672" cy="201897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100" b="1" dirty="0">
                <a:ea typeface="Chalkduster" charset="0"/>
                <a:cs typeface="Chalkduster" charset="0"/>
              </a:rPr>
              <a:t>Genetic inheritance</a:t>
            </a:r>
            <a:r>
              <a:rPr lang="en-GB" sz="1100" dirty="0">
                <a:ea typeface="Chalkduster" charset="0"/>
                <a:cs typeface="Chalkduster" charset="0"/>
              </a:rPr>
              <a:t>: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Cells in mature testes divide continually to produce sperm. Why do no two sperm carry the same genetic information?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 If a colour blind man married a normal sighted woman none of their offspring would be colour blind. But if one of his daughters marries a normal sighted man the chances are that half of their sons will be colour blind. Explain this.</a:t>
            </a:r>
          </a:p>
          <a:p>
            <a:pPr marL="171450" indent="-171450"/>
            <a:endParaRPr lang="en-GB" sz="1100" dirty="0">
              <a:ea typeface="Chalkduster" charset="0"/>
              <a:cs typeface="Chalkdust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1778573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 THINKI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 THINKIT" id="{999C12DA-BDAB-614A-AF3B-CC505B52B3A9}" vid="{2545354F-674C-8E45-97A2-0D9EB86DC1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THINKIT</Template>
  <TotalTime>464</TotalTime>
  <Words>518</Words>
  <Application>Microsoft Macintosh PowerPoint</Application>
  <PresentationFormat>On-screen Show (4:3)</PresentationFormat>
  <Paragraphs>48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Nanum Brush Script</vt:lpstr>
      <vt:lpstr>Arial</vt:lpstr>
      <vt:lpstr>Calibri</vt:lpstr>
      <vt:lpstr>Calibri Light</vt:lpstr>
      <vt:lpstr>Chalkduster</vt:lpstr>
      <vt:lpstr>TEMPLATE THINKIT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16.0012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Amanda Clegg</dc:creator>
  <cp:lastModifiedBy>Amanda Fleck</cp:lastModifiedBy>
  <cp:revision>29</cp:revision>
  <cp:lastPrinted>2017-02-15T18:44:41Z</cp:lastPrinted>
  <dcterms:created xsi:type="dcterms:W3CDTF">2017-08-02T21:08:49Z</dcterms:created>
  <dcterms:modified xsi:type="dcterms:W3CDTF">2018-05-10T15:40:21Z</dcterms:modified>
</cp:coreProperties>
</file>