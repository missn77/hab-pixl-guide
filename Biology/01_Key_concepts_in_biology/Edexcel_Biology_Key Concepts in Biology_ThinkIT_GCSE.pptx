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7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59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C58160-BA0A-3240-AD26-B53DC1A40223}"/>
              </a:ext>
            </a:extLst>
          </p:cNvPr>
          <p:cNvGrpSpPr/>
          <p:nvPr/>
        </p:nvGrpSpPr>
        <p:grpSpPr>
          <a:xfrm>
            <a:off x="84224" y="194504"/>
            <a:ext cx="8816706" cy="6539534"/>
            <a:chOff x="84224" y="194504"/>
            <a:chExt cx="8816706" cy="6539534"/>
          </a:xfrm>
        </p:grpSpPr>
        <p:sp>
          <p:nvSpPr>
            <p:cNvPr id="48" name="TextBox 47"/>
            <p:cNvSpPr txBox="1"/>
            <p:nvPr/>
          </p:nvSpPr>
          <p:spPr>
            <a:xfrm>
              <a:off x="84224" y="6480122"/>
              <a:ext cx="21802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© Copyright The PiXL Club Ltd, 2017</a:t>
              </a:r>
              <a:endParaRPr lang="en-US" sz="1000" dirty="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238755" y="276045"/>
              <a:ext cx="2927140" cy="3352800"/>
              <a:chOff x="238755" y="276045"/>
              <a:chExt cx="2927140" cy="335280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38755" y="276045"/>
                <a:ext cx="2927140" cy="3352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" name="Freeform 7"/>
              <p:cNvSpPr/>
              <p:nvPr/>
            </p:nvSpPr>
            <p:spPr>
              <a:xfrm>
                <a:off x="2070344" y="690113"/>
                <a:ext cx="339785" cy="1186850"/>
              </a:xfrm>
              <a:custGeom>
                <a:avLst/>
                <a:gdLst>
                  <a:gd name="connsiteX0" fmla="*/ 0 w 350808"/>
                  <a:gd name="connsiteY0" fmla="*/ 1078302 h 1295399"/>
                  <a:gd name="connsiteX1" fmla="*/ 267419 w 350808"/>
                  <a:gd name="connsiteY1" fmla="*/ 1190445 h 1295399"/>
                  <a:gd name="connsiteX2" fmla="*/ 327804 w 350808"/>
                  <a:gd name="connsiteY2" fmla="*/ 448574 h 1295399"/>
                  <a:gd name="connsiteX3" fmla="*/ 129397 w 350808"/>
                  <a:gd name="connsiteY3" fmla="*/ 293298 h 1295399"/>
                  <a:gd name="connsiteX4" fmla="*/ 120770 w 350808"/>
                  <a:gd name="connsiteY4" fmla="*/ 0 h 1295399"/>
                  <a:gd name="connsiteX5" fmla="*/ 120770 w 350808"/>
                  <a:gd name="connsiteY5" fmla="*/ 0 h 1295399"/>
                  <a:gd name="connsiteX0" fmla="*/ 0 w 339785"/>
                  <a:gd name="connsiteY0" fmla="*/ 1078302 h 1186850"/>
                  <a:gd name="connsiteX1" fmla="*/ 201283 w 339785"/>
                  <a:gd name="connsiteY1" fmla="*/ 1059612 h 1186850"/>
                  <a:gd name="connsiteX2" fmla="*/ 327804 w 339785"/>
                  <a:gd name="connsiteY2" fmla="*/ 448574 h 1186850"/>
                  <a:gd name="connsiteX3" fmla="*/ 129397 w 339785"/>
                  <a:gd name="connsiteY3" fmla="*/ 293298 h 1186850"/>
                  <a:gd name="connsiteX4" fmla="*/ 120770 w 339785"/>
                  <a:gd name="connsiteY4" fmla="*/ 0 h 1186850"/>
                  <a:gd name="connsiteX5" fmla="*/ 120770 w 339785"/>
                  <a:gd name="connsiteY5" fmla="*/ 0 h 118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9785" h="1186850">
                    <a:moveTo>
                      <a:pt x="0" y="1078302"/>
                    </a:moveTo>
                    <a:cubicBezTo>
                      <a:pt x="106392" y="1186850"/>
                      <a:pt x="146649" y="1164566"/>
                      <a:pt x="201283" y="1059612"/>
                    </a:cubicBezTo>
                    <a:cubicBezTo>
                      <a:pt x="255917" y="954658"/>
                      <a:pt x="339785" y="576293"/>
                      <a:pt x="327804" y="448574"/>
                    </a:cubicBezTo>
                    <a:cubicBezTo>
                      <a:pt x="315823" y="320855"/>
                      <a:pt x="163903" y="368060"/>
                      <a:pt x="129397" y="293298"/>
                    </a:cubicBezTo>
                    <a:cubicBezTo>
                      <a:pt x="94891" y="218536"/>
                      <a:pt x="120770" y="0"/>
                      <a:pt x="120770" y="0"/>
                    </a:cubicBezTo>
                    <a:lnTo>
                      <a:pt x="120770" y="0"/>
                    </a:lnTo>
                  </a:path>
                </a:pathLst>
              </a:cu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6687" y="3777382"/>
              <a:ext cx="2438400" cy="258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665832" y="4999318"/>
              <a:ext cx="1000125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2890911" y="2563637"/>
              <a:ext cx="3200399" cy="15081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>
                  <a:ea typeface="Nanum Brush Script" charset="-127"/>
                  <a:cs typeface="Nanum Brush Script" charset="-127"/>
                </a:rPr>
                <a:t>Edexcel GCSE Key Concepts in Biology</a:t>
              </a:r>
            </a:p>
            <a:p>
              <a:pPr algn="ctr"/>
              <a:r>
                <a:rPr lang="en-GB" sz="4400" b="1" dirty="0">
                  <a:solidFill>
                    <a:schemeClr val="accent2">
                      <a:lumMod val="75000"/>
                    </a:schemeClr>
                  </a:solidFill>
                  <a:ea typeface="Nanum Brush Script" charset="-127"/>
                  <a:cs typeface="Nanum Brush Script" charset="-127"/>
                </a:rPr>
                <a:t>T</a:t>
              </a:r>
              <a:r>
                <a:rPr lang="en-GB" sz="3200" dirty="0">
                  <a:ea typeface="Nanum Brush Script" charset="-127"/>
                  <a:cs typeface="Nanum Brush Script" charset="-127"/>
                </a:rPr>
                <a:t>hink</a:t>
              </a:r>
              <a:r>
                <a:rPr lang="en-GB" sz="3600" dirty="0">
                  <a:solidFill>
                    <a:schemeClr val="accent2">
                      <a:lumMod val="75000"/>
                    </a:schemeClr>
                  </a:solidFill>
                  <a:ea typeface="Nanum Brush Script" charset="-127"/>
                  <a:cs typeface="Nanum Brush Script" charset="-127"/>
                </a:rPr>
                <a:t>IT</a:t>
              </a:r>
              <a:r>
                <a:rPr lang="en-GB" sz="3200" dirty="0">
                  <a:ea typeface="Nanum Brush Script" charset="-127"/>
                  <a:cs typeface="Nanum Brush Script" charset="-127"/>
                </a:rPr>
                <a:t>! </a:t>
              </a:r>
            </a:p>
          </p:txBody>
        </p:sp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248399" y="3175508"/>
              <a:ext cx="2428875" cy="923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855817" y="194504"/>
              <a:ext cx="3045113" cy="2856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1" name="Group 20"/>
            <p:cNvGrpSpPr/>
            <p:nvPr/>
          </p:nvGrpSpPr>
          <p:grpSpPr>
            <a:xfrm rot="18734757">
              <a:off x="3411984" y="792759"/>
              <a:ext cx="2093285" cy="962563"/>
              <a:chOff x="3341298" y="463317"/>
              <a:chExt cx="2093285" cy="962563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3341298" y="463317"/>
                <a:ext cx="2093285" cy="962563"/>
                <a:chOff x="3332672" y="566829"/>
                <a:chExt cx="2093285" cy="962563"/>
              </a:xfrm>
            </p:grpSpPr>
            <p:pic>
              <p:nvPicPr>
                <p:cNvPr id="1032" name="Picture 8"/>
                <p:cNvPicPr>
                  <a:picLocks noChangeAspect="1" noChangeArrowheads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3332672" y="566829"/>
                  <a:ext cx="2093285" cy="96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" name="Oval 16"/>
                <p:cNvSpPr/>
                <p:nvPr/>
              </p:nvSpPr>
              <p:spPr>
                <a:xfrm>
                  <a:off x="3582846" y="914401"/>
                  <a:ext cx="200725" cy="267419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sp>
            <p:nvSpPr>
              <p:cNvPr id="19" name="Oval 18"/>
              <p:cNvSpPr/>
              <p:nvPr/>
            </p:nvSpPr>
            <p:spPr>
              <a:xfrm flipH="1">
                <a:off x="5124093" y="720310"/>
                <a:ext cx="175102" cy="18115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035020" y="4390256"/>
              <a:ext cx="1289471" cy="16707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6072005" y="6061022"/>
              <a:ext cx="2828925" cy="419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958208" y="4436769"/>
              <a:ext cx="2952750" cy="1809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Rounded Rectangle 25"/>
            <p:cNvSpPr/>
            <p:nvPr/>
          </p:nvSpPr>
          <p:spPr>
            <a:xfrm>
              <a:off x="3792197" y="4263327"/>
              <a:ext cx="451999" cy="735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ounded Rectangle 26"/>
            <p:cNvSpPr/>
            <p:nvPr/>
          </p:nvSpPr>
          <p:spPr>
            <a:xfrm rot="5400000" flipH="1">
              <a:off x="6619654" y="4185622"/>
              <a:ext cx="213600" cy="36900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Curved Up Arrow 27"/>
            <p:cNvSpPr/>
            <p:nvPr/>
          </p:nvSpPr>
          <p:spPr>
            <a:xfrm rot="10800000">
              <a:off x="6576451" y="4263327"/>
              <a:ext cx="868143" cy="317301"/>
            </a:xfrm>
            <a:prstGeom prst="curvedUp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0345" y="2248600"/>
            <a:ext cx="26948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</a:t>
            </a:r>
          </a:p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Key Concepts in Biology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r>
              <a:rPr lang="en-GB" sz="7200" b="1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T</a:t>
            </a:r>
            <a:r>
              <a:rPr lang="en-GB" sz="4400" dirty="0">
                <a:ea typeface="Nanum Brush Script" charset="-127"/>
                <a:cs typeface="Nanum Brush Script" charset="-127"/>
              </a:rPr>
              <a:t>hink</a:t>
            </a:r>
            <a:r>
              <a:rPr lang="en-GB" sz="4800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IT</a:t>
            </a:r>
            <a:r>
              <a:rPr lang="en-GB" sz="4400" dirty="0">
                <a:ea typeface="Nanum Brush Script" charset="-127"/>
                <a:cs typeface="Nanum Brush Script" charset="-127"/>
              </a:rPr>
              <a:t>!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06266" y="15814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Osmosis: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Which part of a plant cell is fully permeable and which is partially permeable?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can plasmolysis be brought about?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Prize pumpkin growers sometimes inject a concentrated sugar solution into the pumpkin. Explain why. Do you think this is cheating?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Does the potato chip in the osmosis investigation have to be raw?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Section name: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Section name: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dirty="0">
                <a:ea typeface="Chalkduster" charset="0"/>
                <a:cs typeface="Chalkduster" charset="0"/>
              </a:rPr>
              <a:t>	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In the term calorimetry what is the derived meaning of ‘calor’ and ‘metry’?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How is calorimetry used in the real world?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Research the case study of a man called Alexis St Martin. How did his treatment move forward knowledge of enzymes and the human digestion system?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8399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Enzymes continued: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is an immobilised enzyme?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are chocolates made that have runny centres?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causes some people to be lactose intolerant?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Is it an economical advantage to use biological washing powder instead of a non-biological type?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do enzyme experiments often include the use of a buffer solution?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200" dirty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Section name: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45556" y="2283838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Specialised cells: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much bigger is the human egg cell than a human sperm cell? Why?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is the difference between bacterial chromosomal DNA and plasmid DNA?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to your neighbour the definition of haploid and diploid.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Describe how a sperm cell is able to penetrate the egg cell membrane.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conditions must be carefully controlled in an IVF lab to maximise the chance fertilisation occurs and the resulting cell is not damaged in any way?</a:t>
            </a:r>
          </a:p>
          <a:p>
            <a:endParaRPr lang="en-GB" sz="1100" dirty="0">
              <a:latin typeface="Chalkduster" charset="0"/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49518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Core </a:t>
            </a:r>
            <a:r>
              <a:rPr lang="en-GB" sz="1100" b="1" dirty="0" err="1">
                <a:ea typeface="Chalkduster" charset="0"/>
                <a:cs typeface="Chalkduster" charset="0"/>
              </a:rPr>
              <a:t>practicals</a:t>
            </a:r>
            <a:r>
              <a:rPr lang="en-GB" sz="1100" b="1" dirty="0"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do scientists calculate the percentage change in mass when analysing the results of the osmosis in potato chips practical?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 old potatoes make better chips? Discuss your ideas.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Is osmosis the same as diffusion?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are the limitations of the food test experiments?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08707" y="4418478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61848" y="150548"/>
            <a:ext cx="2918364" cy="2080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Cell structure: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the sub-cellular structures of eukaryotic and prokaryotic cells.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how the main sub-cellular structures are related to their function.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the size of eukaryotic and prokaryotic cells and discuss relative size of the sub-cellular structures.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Find typical sizes for several structures within cells and quote the sizes using standard form.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84664" y="4648345"/>
            <a:ext cx="2861220" cy="2038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Microscopy: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Discuss the structure and function of the light and electron microscope.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the cell structures that can be seen by the light and electron microscope and discuss the resolution of each instrument.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/>
              <a:t>Explain why the development of the electron microscope was important.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/>
              <a:t>Explain how to use a light microscope to observe and measure cheek cells.</a:t>
            </a:r>
          </a:p>
          <a:p>
            <a:pPr marL="171450" indent="-171450">
              <a:buFont typeface="Arial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endParaRPr lang="en-GB" sz="1050" dirty="0">
              <a:ea typeface="Chalkduster" charset="0"/>
              <a:cs typeface="Chalkduster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89013" y="2243179"/>
            <a:ext cx="2919600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Digestive enzymes: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Enzyme action is affected by pH and temperature. Explain why this is determined by the 3D protein structure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History shows evidence of pre-mastication which is where mothers chew food before giving it to their babies. Suggest why mothers may have done this.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a 10</a:t>
            </a:r>
            <a:r>
              <a:rPr lang="en-GB" sz="1100" dirty="0">
                <a:ea typeface="Chalkduster" charset="0"/>
                <a:cs typeface="Chalkduster" charset="0"/>
                <a:sym typeface="Symbol"/>
              </a:rPr>
              <a:t>C rise in temperature may result in a doubling of the rate of an enzyme controlled reaction prior to the enzyme becoming denatured.</a:t>
            </a:r>
            <a:endParaRPr lang="en-GB" sz="1100" dirty="0"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THINK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513</TotalTime>
  <Words>491</Words>
  <Application>Microsoft Macintosh PowerPoint</Application>
  <PresentationFormat>On-screen Show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Nanum Brush Script</vt:lpstr>
      <vt:lpstr>Arial</vt:lpstr>
      <vt:lpstr>Calibri</vt:lpstr>
      <vt:lpstr>Calibri Light</vt:lpstr>
      <vt:lpstr>Chalkduster</vt:lpstr>
      <vt:lpstr>Symbol</vt:lpstr>
      <vt:lpstr>TEMPLATE THINKIT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Clegg</dc:creator>
  <cp:lastModifiedBy>Amanda Fleck</cp:lastModifiedBy>
  <cp:revision>47</cp:revision>
  <cp:lastPrinted>2017-02-15T18:44:41Z</cp:lastPrinted>
  <dcterms:created xsi:type="dcterms:W3CDTF">2017-05-28T15:13:02Z</dcterms:created>
  <dcterms:modified xsi:type="dcterms:W3CDTF">2018-05-10T14:48:28Z</dcterms:modified>
</cp:coreProperties>
</file>