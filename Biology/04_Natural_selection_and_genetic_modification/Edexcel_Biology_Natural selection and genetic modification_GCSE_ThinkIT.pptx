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4"/>
  </p:notesMasterIdLst>
  <p:sldIdLst>
    <p:sldId id="256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cki Pugh" initials="VP" lastIdx="1" clrIdx="0">
    <p:extLst>
      <p:ext uri="{19B8F6BF-5375-455C-9EA6-DF929625EA0E}">
        <p15:presenceInfo xmlns:p15="http://schemas.microsoft.com/office/powerpoint/2012/main" userId="fb86ba5f6b82553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21"/>
    <p:restoredTop sz="95833"/>
  </p:normalViewPr>
  <p:slideViewPr>
    <p:cSldViewPr snapToGrid="0" snapToObjects="1">
      <p:cViewPr varScale="1">
        <p:scale>
          <a:sx n="107" d="100"/>
          <a:sy n="107" d="100"/>
        </p:scale>
        <p:origin x="2056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05-04T20:10:44.995" idx="1">
    <p:pos x="3381" y="3546"/>
    <p:text>This is unfinished?</p:text>
    <p:extLst>
      <p:ext uri="{C676402C-5697-4E1C-873F-D02D1690AC5C}">
        <p15:threadingInfo xmlns:p15="http://schemas.microsoft.com/office/powerpoint/2012/main" timeZoneBias="-6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00B4FC-DE72-B04E-881B-39948BCD13FE}" type="datetimeFigureOut">
              <a:rPr lang="en-GB" smtClean="0"/>
              <a:pPr/>
              <a:t>10/05/2018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FD04F4-2695-714D-9F3D-51394D3EE3A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1387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D04F4-2695-714D-9F3D-51394D3EE3A0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1562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D04F4-2695-714D-9F3D-51394D3EE3A0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0119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8B80-D4A0-3548-B9B8-BE81C52EC421}" type="datetimeFigureOut">
              <a:rPr lang="en-GB" smtClean="0"/>
              <a:pPr/>
              <a:t>10/05/2018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DC77-15E7-A540-8773-3C582D5B9B4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Rounded Rectangle 7"/>
          <p:cNvSpPr/>
          <p:nvPr userDrawn="1"/>
        </p:nvSpPr>
        <p:spPr>
          <a:xfrm>
            <a:off x="84224" y="84221"/>
            <a:ext cx="8975555" cy="6649817"/>
          </a:xfrm>
          <a:prstGeom prst="roundRect">
            <a:avLst>
              <a:gd name="adj" fmla="val 27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8B80-D4A0-3548-B9B8-BE81C52EC421}" type="datetimeFigureOut">
              <a:rPr lang="en-GB" smtClean="0"/>
              <a:pPr/>
              <a:t>10/05/2018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DC77-15E7-A540-8773-3C582D5B9B4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Rounded Rectangle 6"/>
          <p:cNvSpPr/>
          <p:nvPr userDrawn="1"/>
        </p:nvSpPr>
        <p:spPr>
          <a:xfrm>
            <a:off x="84224" y="84221"/>
            <a:ext cx="8975555" cy="6649817"/>
          </a:xfrm>
          <a:prstGeom prst="roundRect">
            <a:avLst>
              <a:gd name="adj" fmla="val 27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08B80-D4A0-3548-B9B8-BE81C52EC421}" type="datetimeFigureOut">
              <a:rPr lang="en-GB" smtClean="0"/>
              <a:pPr/>
              <a:t>10/05/2018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9DC77-15E7-A540-8773-3C582D5B9B4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5712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09C93E9-A030-2147-BE64-6D701458F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47" y="391588"/>
            <a:ext cx="8640294" cy="6075391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497942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0345" y="2265852"/>
            <a:ext cx="2694872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ea typeface="Nanum Brush Script" charset="-127"/>
                <a:cs typeface="Nanum Brush Script" charset="-127"/>
              </a:rPr>
              <a:t>Edexcel</a:t>
            </a:r>
          </a:p>
          <a:p>
            <a:pPr algn="ctr"/>
            <a:r>
              <a:rPr lang="en-GB" sz="2000" b="1" dirty="0">
                <a:ea typeface="Nanum Brush Script" charset="-127"/>
                <a:cs typeface="Nanum Brush Script" charset="-127"/>
              </a:rPr>
              <a:t>GCSE Natural selection and genetic modification.</a:t>
            </a:r>
            <a:endParaRPr lang="en-GB" sz="2000" dirty="0">
              <a:ea typeface="Nanum Brush Script" charset="-127"/>
              <a:cs typeface="Nanum Brush Script" charset="-127"/>
            </a:endParaRPr>
          </a:p>
          <a:p>
            <a:pPr algn="ctr"/>
            <a:r>
              <a:rPr lang="en-GB" sz="2800" dirty="0">
                <a:latin typeface="Nanum Brush Script" charset="-127"/>
                <a:ea typeface="Nanum Brush Script" charset="-127"/>
                <a:cs typeface="Nanum Brush Script" charset="-127"/>
              </a:rPr>
              <a:t> </a:t>
            </a:r>
            <a:r>
              <a:rPr lang="en-GB" sz="7200" b="1" dirty="0">
                <a:solidFill>
                  <a:schemeClr val="accent2">
                    <a:lumMod val="75000"/>
                  </a:schemeClr>
                </a:solidFill>
                <a:latin typeface="Nanum Brush Script" charset="-127"/>
                <a:ea typeface="Nanum Brush Script" charset="-127"/>
                <a:cs typeface="Nanum Brush Script" charset="-127"/>
              </a:rPr>
              <a:t>T</a:t>
            </a:r>
            <a:r>
              <a:rPr lang="en-GB" sz="4400" dirty="0">
                <a:latin typeface="Nanum Brush Script" charset="-127"/>
                <a:ea typeface="Nanum Brush Script" charset="-127"/>
                <a:cs typeface="Nanum Brush Script" charset="-127"/>
              </a:rPr>
              <a:t>hink</a:t>
            </a:r>
            <a:r>
              <a:rPr lang="en-GB" sz="4800" dirty="0">
                <a:solidFill>
                  <a:schemeClr val="accent2">
                    <a:lumMod val="75000"/>
                  </a:schemeClr>
                </a:solidFill>
                <a:latin typeface="Nanum Brush Script" charset="-127"/>
                <a:ea typeface="Nanum Brush Script" charset="-127"/>
                <a:cs typeface="Nanum Brush Script" charset="-127"/>
              </a:rPr>
              <a:t>IT</a:t>
            </a:r>
            <a:r>
              <a:rPr lang="en-GB" sz="4400" dirty="0">
                <a:latin typeface="Nanum Brush Script" charset="-127"/>
                <a:ea typeface="Nanum Brush Script" charset="-127"/>
                <a:cs typeface="Nanum Brush Script" charset="-127"/>
              </a:rPr>
              <a:t>! 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1041" y="152724"/>
            <a:ext cx="2875672" cy="201897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100" b="1" dirty="0">
                <a:ea typeface="Chalkduster" charset="0"/>
                <a:cs typeface="Chalkduster" charset="0"/>
              </a:rPr>
              <a:t>Classification: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Compare the method of classification set up by Linnaeus to that proposed by Woese?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If Woese’s three domain system was adopted, would the binomial naming system need to be redone? Explain your decision.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Do newly discovered animals have to be killed in order to be accurately categorised?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53222" y="152725"/>
            <a:ext cx="2926990" cy="201897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200" dirty="0">
                <a:latin typeface="Chalkduster" charset="0"/>
                <a:ea typeface="Chalkduster" charset="0"/>
                <a:cs typeface="Chalkduster" charset="0"/>
              </a:rPr>
              <a:t>Community and factors:</a:t>
            </a: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endParaRPr lang="en-GB" sz="1200" dirty="0">
              <a:ea typeface="Chalkduster" charset="0"/>
              <a:cs typeface="Chalkduster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121041" y="2234553"/>
            <a:ext cx="2886402" cy="237092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GB" sz="1200" dirty="0">
              <a:latin typeface="Chalkduster" charset="0"/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Genetic engineering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21041" y="4684293"/>
            <a:ext cx="2875672" cy="201378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marL="171450" indent="-171450"/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139768" y="4697287"/>
            <a:ext cx="2934656" cy="200967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GB" sz="1200" dirty="0">
              <a:ea typeface="Chalkduster" charset="0"/>
              <a:cs typeface="Chalkduster" charset="0"/>
            </a:endParaRPr>
          </a:p>
          <a:p>
            <a:endParaRPr lang="en-GB" sz="1200" dirty="0">
              <a:ea typeface="Chalkduster" charset="0"/>
              <a:cs typeface="Chalkduster" charset="0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193290" y="4684293"/>
            <a:ext cx="2861220" cy="200301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100" b="1" dirty="0">
                <a:ea typeface="Chalkduster" charset="0"/>
                <a:cs typeface="Chalkduster" charset="0"/>
              </a:rPr>
              <a:t>Genetic engineering continued: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Describe advantages and disadvantages of using named genetically modified crops.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 Research how</a:t>
            </a:r>
            <a:r>
              <a:rPr lang="en-GB" sz="1050" i="1" dirty="0">
                <a:ea typeface="Chalkduster" charset="0"/>
                <a:cs typeface="Chalkduster" charset="0"/>
              </a:rPr>
              <a:t> Fusarium </a:t>
            </a:r>
            <a:r>
              <a:rPr lang="en-GB" sz="1050" dirty="0">
                <a:ea typeface="Chalkduster" charset="0"/>
                <a:cs typeface="Chalkduster" charset="0"/>
              </a:rPr>
              <a:t>can be used to produce large quantities of food.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Produce a scientific poster which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Develop and analyse a questionnaire which assesses the understanding of people about genetic engineering and selective breeding. Develop a scientific  poster to rectify misconceptions.</a:t>
            </a:r>
          </a:p>
          <a:p>
            <a:pPr marL="171450" indent="-171450">
              <a:buFont typeface="Arial" charset="0"/>
              <a:buChar char="•"/>
            </a:pPr>
            <a:endParaRPr lang="en-GB" sz="105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050" dirty="0">
              <a:ea typeface="Chalkduster" charset="0"/>
              <a:cs typeface="Chalkduster" charset="0"/>
            </a:endParaRPr>
          </a:p>
          <a:p>
            <a:endParaRPr lang="en-GB" sz="1100" b="1" dirty="0">
              <a:ea typeface="Chalkduster" charset="0"/>
              <a:cs typeface="Chalkduster" charset="0"/>
            </a:endParaRPr>
          </a:p>
          <a:p>
            <a:endParaRPr lang="en-GB" sz="1100" b="1" dirty="0">
              <a:ea typeface="Chalkduster" charset="0"/>
              <a:cs typeface="Chalkduster" charset="0"/>
            </a:endParaRPr>
          </a:p>
          <a:p>
            <a:endParaRPr lang="en-GB" sz="1100" b="1" dirty="0">
              <a:ea typeface="Chalkduster" charset="0"/>
              <a:cs typeface="Chalkduster" charset="0"/>
            </a:endParaRPr>
          </a:p>
          <a:p>
            <a:endParaRPr lang="en-GB" sz="1200" b="1" dirty="0">
              <a:ea typeface="Chalkduster" charset="0"/>
              <a:cs typeface="Chalkduster" charset="0"/>
            </a:endParaRPr>
          </a:p>
          <a:p>
            <a:pPr>
              <a:buFont typeface="Arial" pitchFamily="34" charset="0"/>
              <a:buChar char="•"/>
            </a:pPr>
            <a:endParaRPr lang="en-GB" sz="1200" b="1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endParaRPr lang="en-GB" sz="1200" dirty="0">
              <a:ea typeface="Chalkduster" charset="0"/>
              <a:cs typeface="Chalkduster" charset="0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153222" y="2234553"/>
            <a:ext cx="2921202" cy="237092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100" b="1" dirty="0">
                <a:ea typeface="Chalkduster" charset="0"/>
                <a:cs typeface="Chalkduster" charset="0"/>
              </a:rPr>
              <a:t>Antibiotic resistance: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Suggest why antibiotics become less effective at treating a disease if they are used too often.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Why was the development of antibiotics so important for the theory of evolution?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How do antibiotic resistant bacteria in a chicken’s gut spread to people?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Why are pharmaceutical companies not developing lots of new antibiotics?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What does MRSA stand for? Why are people in hospital most at risk when 1 in 30 people have it on their skin?</a:t>
            </a:r>
          </a:p>
          <a:p>
            <a:pPr marL="171450" indent="-171450"/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3161206" y="152724"/>
            <a:ext cx="2893304" cy="20818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100" b="1" dirty="0">
                <a:ea typeface="Chalkduster" charset="0"/>
                <a:cs typeface="Chalkduster" charset="0"/>
              </a:rPr>
              <a:t>Fossils: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 Why is fossil evidence unreliable?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Does the theory of evolution stand up if fossil evidence was not available?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Make a list of 10 animals (not studied) with pentadactyl limbs. Describe the different uses of these bones.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The Irish Elk was thought to be identical to the European reindeer. How could this be proved or disproved? Why might the Irish Elk have such huge antlers?</a:t>
            </a: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501683" y="4409852"/>
            <a:ext cx="21802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© Copyright The PiXL Club Ltd, 2017</a:t>
            </a:r>
            <a:endParaRPr lang="en-US" sz="1000" dirty="0"/>
          </a:p>
        </p:txBody>
      </p:sp>
      <p:sp>
        <p:nvSpPr>
          <p:cNvPr id="19" name="Rounded Rectangle 18"/>
          <p:cNvSpPr/>
          <p:nvPr/>
        </p:nvSpPr>
        <p:spPr>
          <a:xfrm>
            <a:off x="153222" y="152725"/>
            <a:ext cx="2926990" cy="2018975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tIns="0" rtlCol="0" anchor="t"/>
          <a:lstStyle/>
          <a:p>
            <a:pPr marL="171450" indent="-171450"/>
            <a:r>
              <a:rPr lang="en-GB" sz="1100" b="1" dirty="0">
                <a:ea typeface="Chalkduster" charset="0"/>
                <a:cs typeface="Chalkduster" charset="0"/>
              </a:rPr>
              <a:t>Scientists: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How did Wallace’s ideas about evolution differ to those of Darwin? Would our understanding be different if Wallace had published his ideas first?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Why do you think the theory of evolution by natural selection is on the GCSE syllabus? How is it relevant to your life?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Who was Leakey and why was his family important in regards the theory of human evolution?</a:t>
            </a:r>
          </a:p>
          <a:p>
            <a:pPr marL="171450" indent="-171450">
              <a:buFont typeface="Arial" pitchFamily="34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pitchFamily="34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pitchFamily="34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39768" y="4680035"/>
            <a:ext cx="2934656" cy="2009677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100" b="1" dirty="0">
                <a:ea typeface="Chalkduster" charset="0"/>
                <a:cs typeface="Chalkduster" charset="0"/>
              </a:rPr>
              <a:t>Natural selection: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Are adaptation and natural selection the same thing?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Explain the term ‘survival of the fittest’ in relation to a plant.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Modern birds have bones which have lots of air spaces inside them. Why is this a survival advantage? 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Why do very few mutations bring about a change in the phenotype despite the fact mutations are occurring continuously?</a:t>
            </a:r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126799" y="4672799"/>
            <a:ext cx="2875672" cy="201378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100" b="1" dirty="0">
                <a:ea typeface="Chalkduster" charset="0"/>
                <a:cs typeface="Chalkduster" charset="0"/>
              </a:rPr>
              <a:t>Selective breeding: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Is selective breeding a better description than artificial selection? Explain.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Why does wild wheat not yield as much seed as a modern wheat crop?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If humans used selective breeding to remove certain traits from our farm animals e.g. fatty meat – what is the point of Rare Breeds farms?</a:t>
            </a:r>
          </a:p>
          <a:p>
            <a:pPr marL="171450" indent="-171450">
              <a:buFont typeface="Arial" charset="0"/>
              <a:buChar char="•"/>
            </a:pPr>
            <a:endParaRPr lang="en-GB" sz="105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21041" y="2234555"/>
            <a:ext cx="2886402" cy="237092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100" b="1" dirty="0">
                <a:ea typeface="Chalkduster" charset="0"/>
                <a:cs typeface="Chalkduster" charset="0"/>
              </a:rPr>
              <a:t>Genetic engineering: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If you could choose to modify the genome of the human race with any gene from another organism, what would it be and why? 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How could we make ‘designer milk’?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What is the economic benefit of embryo transplants in farm animals? How do you feel about this technique? Discuss with your partner.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050" dirty="0">
                <a:ea typeface="Chalkduster" charset="0"/>
                <a:cs typeface="Chalkduster" charset="0"/>
              </a:rPr>
              <a:t>Make a 3D model to show the main stages of genetic engineering including the use of restriction enzymes, ligase and vectors.</a:t>
            </a:r>
          </a:p>
          <a:p>
            <a:pPr marL="171450" indent="-171450"/>
            <a:endParaRPr lang="en-GB" sz="1050" dirty="0">
              <a:ea typeface="Chalkduster" charset="0"/>
              <a:cs typeface="Chalkduster" charset="0"/>
            </a:endParaRPr>
          </a:p>
          <a:p>
            <a:pPr marL="171450" indent="-171450"/>
            <a:endParaRPr lang="en-GB" sz="105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05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endParaRPr lang="en-GB" sz="1200" dirty="0">
              <a:ea typeface="Chalkduster" charset="0"/>
              <a:cs typeface="Chalkdust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778573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THINKI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THINKIT" id="{999C12DA-BDAB-614A-AF3B-CC505B52B3A9}" vid="{2545354F-674C-8E45-97A2-0D9EB86DC1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THINKIT</Template>
  <TotalTime>741</TotalTime>
  <Words>580</Words>
  <Application>Microsoft Macintosh PowerPoint</Application>
  <PresentationFormat>On-screen Show (4:3)</PresentationFormat>
  <Paragraphs>61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Nanum Brush Script</vt:lpstr>
      <vt:lpstr>Arial</vt:lpstr>
      <vt:lpstr>Calibri</vt:lpstr>
      <vt:lpstr>Calibri Light</vt:lpstr>
      <vt:lpstr>Chalkduster</vt:lpstr>
      <vt:lpstr>TEMPLATE THINKIT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16.0012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Amanda Clegg</dc:creator>
  <cp:lastModifiedBy>Amanda Fleck</cp:lastModifiedBy>
  <cp:revision>107</cp:revision>
  <cp:lastPrinted>2017-02-15T18:44:41Z</cp:lastPrinted>
  <dcterms:created xsi:type="dcterms:W3CDTF">2018-04-18T12:49:43Z</dcterms:created>
  <dcterms:modified xsi:type="dcterms:W3CDTF">2018-05-10T15:44:06Z</dcterms:modified>
</cp:coreProperties>
</file>