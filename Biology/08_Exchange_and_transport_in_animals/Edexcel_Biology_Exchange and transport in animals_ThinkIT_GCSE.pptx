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4"/>
  </p:notesMasterIdLst>
  <p:sldIdLst>
    <p:sldId id="256" r:id="rId2"/>
    <p:sldId id="258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manda Clegg" initials="AKC" lastIdx="4" clrIdx="0"/>
  <p:cmAuthor id="1" name="Tracy Barrett" initials="TB" lastIdx="3" clrIdx="1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67"/>
    <p:restoredTop sz="95062"/>
  </p:normalViewPr>
  <p:slideViewPr>
    <p:cSldViewPr snapToGrid="0" snapToObjects="1">
      <p:cViewPr varScale="1">
        <p:scale>
          <a:sx n="106" d="100"/>
          <a:sy n="106" d="100"/>
        </p:scale>
        <p:origin x="688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00B4FC-DE72-B04E-881B-39948BCD13FE}" type="datetimeFigureOut">
              <a:rPr lang="en-GB" smtClean="0"/>
              <a:pPr/>
              <a:t>10/05/2018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FD04F4-2695-714D-9F3D-51394D3EE3A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1387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D04F4-2695-714D-9F3D-51394D3EE3A0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15625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D04F4-2695-714D-9F3D-51394D3EE3A0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0119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8B80-D4A0-3548-B9B8-BE81C52EC421}" type="datetimeFigureOut">
              <a:rPr lang="en-GB" smtClean="0"/>
              <a:pPr/>
              <a:t>10/05/2018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DC77-15E7-A540-8773-3C582D5B9B4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Rounded Rectangle 7"/>
          <p:cNvSpPr/>
          <p:nvPr userDrawn="1"/>
        </p:nvSpPr>
        <p:spPr>
          <a:xfrm>
            <a:off x="84224" y="84221"/>
            <a:ext cx="8975555" cy="6649817"/>
          </a:xfrm>
          <a:prstGeom prst="roundRect">
            <a:avLst>
              <a:gd name="adj" fmla="val 276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8B80-D4A0-3548-B9B8-BE81C52EC421}" type="datetimeFigureOut">
              <a:rPr lang="en-GB" smtClean="0"/>
              <a:pPr/>
              <a:t>10/05/2018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DC77-15E7-A540-8773-3C582D5B9B4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Rounded Rectangle 6"/>
          <p:cNvSpPr/>
          <p:nvPr userDrawn="1"/>
        </p:nvSpPr>
        <p:spPr>
          <a:xfrm>
            <a:off x="84224" y="84221"/>
            <a:ext cx="8975555" cy="6649817"/>
          </a:xfrm>
          <a:prstGeom prst="roundRect">
            <a:avLst>
              <a:gd name="adj" fmla="val 276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08B80-D4A0-3548-B9B8-BE81C52EC421}" type="datetimeFigureOut">
              <a:rPr lang="en-GB" smtClean="0"/>
              <a:pPr/>
              <a:t>10/05/2018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9DC77-15E7-A540-8773-3C582D5B9B4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5712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6CCFA24-F60E-5D46-B92F-CF4AC29A2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79" y="146050"/>
            <a:ext cx="8661400" cy="656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942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29171" y="2545676"/>
            <a:ext cx="32303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ea typeface="Nanum Brush Script" charset="-127"/>
                <a:cs typeface="Nanum Brush Script" charset="-127"/>
              </a:rPr>
              <a:t>Edexcel GCSE </a:t>
            </a:r>
          </a:p>
          <a:p>
            <a:pPr algn="ctr"/>
            <a:r>
              <a:rPr lang="en-GB" sz="2000" b="1" dirty="0">
                <a:ea typeface="Nanum Brush Script" charset="-127"/>
                <a:cs typeface="Nanum Brush Script" charset="-127"/>
              </a:rPr>
              <a:t>Exchange and transport in animals </a:t>
            </a:r>
            <a:endParaRPr lang="en-GB" sz="2000" dirty="0">
              <a:ea typeface="Nanum Brush Script" charset="-127"/>
              <a:cs typeface="Nanum Brush Script" charset="-127"/>
            </a:endParaRPr>
          </a:p>
          <a:p>
            <a:pPr algn="ctr"/>
            <a:r>
              <a:rPr lang="en-GB" sz="2000" dirty="0">
                <a:ea typeface="Nanum Brush Script" charset="-127"/>
                <a:cs typeface="Nanum Brush Script" charset="-127"/>
              </a:rPr>
              <a:t> </a:t>
            </a:r>
            <a:r>
              <a:rPr lang="en-GB" sz="6000" b="1" dirty="0">
                <a:solidFill>
                  <a:schemeClr val="accent2">
                    <a:lumMod val="75000"/>
                  </a:schemeClr>
                </a:solidFill>
                <a:ea typeface="Nanum Brush Script" charset="-127"/>
                <a:cs typeface="Nanum Brush Script" charset="-127"/>
              </a:rPr>
              <a:t>T</a:t>
            </a:r>
            <a:r>
              <a:rPr lang="en-GB" sz="3600" dirty="0">
                <a:ea typeface="Nanum Brush Script" charset="-127"/>
                <a:cs typeface="Nanum Brush Script" charset="-127"/>
              </a:rPr>
              <a:t>hink</a:t>
            </a:r>
            <a:r>
              <a:rPr lang="en-GB" sz="4000" dirty="0">
                <a:solidFill>
                  <a:schemeClr val="accent2">
                    <a:lumMod val="75000"/>
                  </a:schemeClr>
                </a:solidFill>
                <a:ea typeface="Nanum Brush Script" charset="-127"/>
                <a:cs typeface="Nanum Brush Script" charset="-127"/>
              </a:rPr>
              <a:t>IT</a:t>
            </a:r>
            <a:r>
              <a:rPr lang="en-GB" sz="3600" dirty="0">
                <a:ea typeface="Nanum Brush Script" charset="-127"/>
                <a:cs typeface="Nanum Brush Script" charset="-127"/>
              </a:rPr>
              <a:t>! 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1041" y="152725"/>
            <a:ext cx="2875672" cy="2081828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200" b="1" dirty="0">
                <a:ea typeface="Chalkduster" charset="0"/>
                <a:cs typeface="Chalkduster" charset="0"/>
              </a:rPr>
              <a:t>Coronary heart disease: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en-GB" sz="1100" dirty="0">
                <a:ea typeface="Chalkduster" charset="0"/>
                <a:cs typeface="Chalkduster" charset="0"/>
              </a:rPr>
              <a:t>Compare and contrast the use of stents and statins to treat coronary heart disease.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en-GB" sz="1100" dirty="0">
                <a:ea typeface="Chalkduster" charset="0"/>
                <a:cs typeface="Chalkduster" charset="0"/>
              </a:rPr>
              <a:t>Evaluate the use of mechanical and biological heart valves as a way of treating heart disease.  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en-GB" sz="1100" dirty="0">
                <a:ea typeface="Chalkduster" charset="0"/>
                <a:cs typeface="Chalkduster" charset="0"/>
              </a:rPr>
              <a:t>For severe heart failure, a heart transplant or artificial heart are two options available. Suggest the advantages and disadvantages of both. 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53222" y="152725"/>
            <a:ext cx="2926990" cy="2081828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GB" sz="120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endParaRPr lang="en-GB" sz="1200" dirty="0">
              <a:ea typeface="Chalkduster" charset="0"/>
              <a:cs typeface="Chalkduster" charset="0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148939" y="2338085"/>
            <a:ext cx="2858504" cy="226739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148939" y="4684294"/>
            <a:ext cx="2875672" cy="1956728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145555" y="4684294"/>
            <a:ext cx="2981203" cy="200967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200" b="1" dirty="0">
                <a:ea typeface="Chalkduster" charset="0"/>
                <a:cs typeface="Chalkduster" charset="0"/>
              </a:rPr>
              <a:t>Blood vessels and blood: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Describe the route through the body of an oxygen molecule in the air to a muscle cell in the hand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First aid books note that a cut to an artery is more severe than a cut to a vein. Suggest why and describe what difference you may see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Anaemia is a decrease in the total amount of red blood cells in the blood. Describe and explain the symptoms of anaemia </a:t>
            </a:r>
          </a:p>
          <a:p>
            <a:pPr marL="171450" indent="-171450">
              <a:buFont typeface="Arial" charset="0"/>
              <a:buChar char="•"/>
            </a:pPr>
            <a:endParaRPr lang="en-GB" sz="1200" dirty="0">
              <a:ea typeface="Chalkduster" charset="0"/>
              <a:cs typeface="Chalkduster" charset="0"/>
            </a:endParaRPr>
          </a:p>
          <a:p>
            <a:endParaRPr lang="en-GB" sz="1200" dirty="0">
              <a:ea typeface="Chalkduster" charset="0"/>
              <a:cs typeface="Chalkduster" charset="0"/>
            </a:endParaRPr>
          </a:p>
          <a:p>
            <a:endParaRPr lang="en-GB" sz="1200" dirty="0">
              <a:ea typeface="Chalkduster" charset="0"/>
              <a:cs typeface="Chalkduster" charset="0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210513" y="4693356"/>
            <a:ext cx="2861220" cy="200061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GB" sz="110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b="1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endParaRPr lang="en-GB" sz="1200" dirty="0">
              <a:ea typeface="Chalkduster" charset="0"/>
              <a:cs typeface="Chalkduster" charset="0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153222" y="2355841"/>
            <a:ext cx="3007984" cy="226739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200" b="1" dirty="0">
                <a:ea typeface="Chalkduster" charset="0"/>
                <a:cs typeface="Chalkduster" charset="0"/>
              </a:rPr>
              <a:t>Response to exercise: 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What differences might we see in heart rate, breath volume, lactic acid production and breathing rate between an athlete and an unfit person before, during and after vigorous exercise?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A scientist claimed that they could identify cell type by counting the number of mitochondria present. Why might mitochondria number in cells vary?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 Decide if you think ‘aerobics’ is a good or  bad name for a popular type of exercise 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161206" y="152723"/>
            <a:ext cx="2893304" cy="218536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200" b="1" dirty="0">
                <a:ea typeface="Chalkduster" charset="0"/>
                <a:cs typeface="Chalkduster" charset="0"/>
              </a:rPr>
              <a:t>The heart: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Explain why the left ventricle has a more muscular wall than any of the other chambers.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Cardiac muscle contains up to 35% mitochondria whereas other muscles contain around 2%. Suggest why this is needed for normal heart functioning.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Explain the effects on the heart of regular exercise.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Where in the heart is the pace maker? Explain its function. </a:t>
            </a: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endParaRPr lang="en-GB" sz="1200" dirty="0">
              <a:ea typeface="Chalkduster" charset="0"/>
              <a:cs typeface="Chalkduster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564939" y="4260346"/>
            <a:ext cx="21802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© Copyright The PiXL Club Ltd, 2017</a:t>
            </a:r>
            <a:endParaRPr lang="en-US" sz="1000" dirty="0"/>
          </a:p>
        </p:txBody>
      </p:sp>
      <p:sp>
        <p:nvSpPr>
          <p:cNvPr id="12" name="Rounded Rectangle 11"/>
          <p:cNvSpPr/>
          <p:nvPr/>
        </p:nvSpPr>
        <p:spPr>
          <a:xfrm>
            <a:off x="153222" y="126091"/>
            <a:ext cx="2926990" cy="218536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200" b="1" dirty="0">
                <a:ea typeface="Chalkduster" charset="0"/>
                <a:cs typeface="Chalkduster" charset="0"/>
              </a:rPr>
              <a:t>Transport in cells: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50" dirty="0">
                <a:ea typeface="Chalkduster" charset="0"/>
                <a:cs typeface="Chalkduster" charset="0"/>
              </a:rPr>
              <a:t>Suggest how the human respiratory system is adapted to increase the rate of oxygen transport.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50" dirty="0">
                <a:ea typeface="Chalkduster" charset="0"/>
                <a:cs typeface="Chalkduster" charset="0"/>
              </a:rPr>
              <a:t>An amoeba is a single celled organism. Explain why it is easier for an amoeba to gain its oxygen and glucose for respiration, than it is for the cells of a human.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50" dirty="0">
                <a:ea typeface="Chalkduster" charset="0"/>
                <a:cs typeface="Chalkduster" charset="0"/>
              </a:rPr>
              <a:t>When a patient is dehydrated they are put on a saline drip containing ions and water. Suggest why they aren’t given water.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50" dirty="0">
                <a:ea typeface="Chalkduster" charset="0"/>
                <a:cs typeface="Chalkduster" charset="0"/>
              </a:rPr>
              <a:t>Compare alveoli to fish gills. </a:t>
            </a:r>
          </a:p>
          <a:p>
            <a:pPr marL="171450" indent="-171450"/>
            <a:endParaRPr lang="en-GB" sz="1050" dirty="0">
              <a:ea typeface="Chalkduster" charset="0"/>
              <a:cs typeface="Chalkduster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071733" y="2293695"/>
            <a:ext cx="2935710" cy="232953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t" anchorCtr="0"/>
          <a:lstStyle/>
          <a:p>
            <a:r>
              <a:rPr lang="en-GB" sz="1200" b="1" dirty="0">
                <a:ea typeface="Chalkduster" charset="0"/>
                <a:cs typeface="Chalkduster" charset="0"/>
              </a:rPr>
              <a:t> Respiration: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Discuss this statement – ‘All living things respire’.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Can respiration be artificial?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Tissues and organs which bring about breathing are part of the ‘respiratory system’. Why is this confusing?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How can mammals respire underwater? Can a root hair cell respire underground? Explain.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Compare aerobic and anaerobic respiration in a Venn diagram.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85268" y="4693356"/>
            <a:ext cx="2880000" cy="200061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36000" tIns="0" rIns="36000" bIns="0" rtlCol="0" anchor="t" anchorCtr="0"/>
          <a:lstStyle/>
          <a:p>
            <a:r>
              <a:rPr lang="en-GB" sz="1200" b="1" dirty="0">
                <a:ea typeface="Chalkduster" charset="0"/>
                <a:cs typeface="Chalkduster" charset="0"/>
              </a:rPr>
              <a:t>Aerobic respiration: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Experiments which involve the oxidation of glucose are often explosive. Explain how aerobic respiration is controlled inside a cell to prevent an explosion.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Suggest why aerobic respiration occurs in the mitochondria yet anaerobic respiration occurs in the cytoplasm of a cell.</a:t>
            </a:r>
          </a:p>
          <a:p>
            <a:pPr marL="171450" indent="-171450"/>
            <a:endParaRPr lang="en-GB" sz="1200" dirty="0">
              <a:ea typeface="Chalkduster" charset="0"/>
              <a:cs typeface="Chalkduster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19512" y="4693356"/>
            <a:ext cx="2916000" cy="1940498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tIns="0" rIns="108000" bIns="72000" rtlCol="0" anchor="t" anchorCtr="0"/>
          <a:lstStyle/>
          <a:p>
            <a:r>
              <a:rPr lang="en-GB" sz="1200" b="1" dirty="0">
                <a:ea typeface="Chalkduster" charset="0"/>
                <a:cs typeface="Chalkduster" charset="0"/>
              </a:rPr>
              <a:t>Anaerobic respiration: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Explain why a plant may die if it is overwatered.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What would life be like if yeast had never existed?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Explain why anaerobic respiration is less efficient than aerobic respiration.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When a loaf of bread is cut there is evidence that bubbles were once present. What caused these bubbles?</a:t>
            </a:r>
          </a:p>
          <a:p>
            <a:pPr marL="171450" indent="-171450"/>
            <a:endParaRPr lang="en-GB" sz="110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1778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 THINKIT" id="{999C12DA-BDAB-614A-AF3B-CC505B52B3A9}" vid="{2545354F-674C-8E45-97A2-0D9EB86DC1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THINKIT</Template>
  <TotalTime>288</TotalTime>
  <Words>561</Words>
  <Application>Microsoft Macintosh PowerPoint</Application>
  <PresentationFormat>On-screen Show (4:3)</PresentationFormat>
  <Paragraphs>52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Nanum Brush Script</vt:lpstr>
      <vt:lpstr>Arial</vt:lpstr>
      <vt:lpstr>Calibri</vt:lpstr>
      <vt:lpstr>Calibri Light</vt:lpstr>
      <vt:lpstr>Chalkduster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16.0012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Amanda Fleck</dc:creator>
  <cp:lastModifiedBy>Amanda Fleck</cp:lastModifiedBy>
  <cp:revision>39</cp:revision>
  <cp:lastPrinted>2017-02-15T18:44:41Z</cp:lastPrinted>
  <dcterms:created xsi:type="dcterms:W3CDTF">2017-08-03T09:26:15Z</dcterms:created>
  <dcterms:modified xsi:type="dcterms:W3CDTF">2018-05-10T17:56:17Z</dcterms:modified>
</cp:coreProperties>
</file>