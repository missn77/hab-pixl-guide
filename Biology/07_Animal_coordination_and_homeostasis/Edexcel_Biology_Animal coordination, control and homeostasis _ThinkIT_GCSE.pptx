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00"/>
    <p:restoredTop sz="95216"/>
  </p:normalViewPr>
  <p:slideViewPr>
    <p:cSldViewPr snapToGrid="0" snapToObjects="1">
      <p:cViewPr>
        <p:scale>
          <a:sx n="90" d="100"/>
          <a:sy n="90" d="100"/>
        </p:scale>
        <p:origin x="1288" y="5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00B4FC-DE72-B04E-881B-39948BCD13FE}" type="datetimeFigureOut">
              <a:rPr lang="en-GB" smtClean="0"/>
              <a:pPr/>
              <a:t>10/05/2018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FD04F4-2695-714D-9F3D-51394D3EE3A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1387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D04F4-2695-714D-9F3D-51394D3EE3A0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1562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8B80-D4A0-3548-B9B8-BE81C52EC421}" type="datetimeFigureOut">
              <a:rPr lang="en-GB" smtClean="0"/>
              <a:pPr/>
              <a:t>10/05/2018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DC77-15E7-A540-8773-3C582D5B9B4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Rounded Rectangle 7"/>
          <p:cNvSpPr/>
          <p:nvPr userDrawn="1"/>
        </p:nvSpPr>
        <p:spPr>
          <a:xfrm>
            <a:off x="84224" y="84221"/>
            <a:ext cx="8975555" cy="6649817"/>
          </a:xfrm>
          <a:prstGeom prst="roundRect">
            <a:avLst>
              <a:gd name="adj" fmla="val 276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8B80-D4A0-3548-B9B8-BE81C52EC421}" type="datetimeFigureOut">
              <a:rPr lang="en-GB" smtClean="0"/>
              <a:pPr/>
              <a:t>10/05/2018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DC77-15E7-A540-8773-3C582D5B9B4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Rounded Rectangle 6"/>
          <p:cNvSpPr/>
          <p:nvPr userDrawn="1"/>
        </p:nvSpPr>
        <p:spPr>
          <a:xfrm>
            <a:off x="84224" y="84221"/>
            <a:ext cx="8975555" cy="6649817"/>
          </a:xfrm>
          <a:prstGeom prst="roundRect">
            <a:avLst>
              <a:gd name="adj" fmla="val 276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08B80-D4A0-3548-B9B8-BE81C52EC421}" type="datetimeFigureOut">
              <a:rPr lang="en-GB" smtClean="0"/>
              <a:pPr/>
              <a:t>10/05/2018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9DC77-15E7-A540-8773-3C582D5B9B4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5712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2D6B363-1820-D746-9F46-1645FFCE96F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694" b="4292"/>
          <a:stretch/>
        </p:blipFill>
        <p:spPr>
          <a:xfrm>
            <a:off x="197561" y="356468"/>
            <a:ext cx="8746414" cy="6315795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497942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687F773-8BD8-D54A-BEAB-CDD236BBF497}"/>
              </a:ext>
            </a:extLst>
          </p:cNvPr>
          <p:cNvSpPr/>
          <p:nvPr/>
        </p:nvSpPr>
        <p:spPr>
          <a:xfrm>
            <a:off x="84224" y="84221"/>
            <a:ext cx="8975555" cy="6649817"/>
          </a:xfrm>
          <a:prstGeom prst="roundRect">
            <a:avLst>
              <a:gd name="adj" fmla="val 276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743851-3067-2441-82A7-2D31CA1659F1}"/>
              </a:ext>
            </a:extLst>
          </p:cNvPr>
          <p:cNvSpPr txBox="1"/>
          <p:nvPr/>
        </p:nvSpPr>
        <p:spPr>
          <a:xfrm>
            <a:off x="3052117" y="2451644"/>
            <a:ext cx="3068924" cy="2200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300" dirty="0">
                <a:ea typeface="Nanum Brush Script" charset="-127"/>
                <a:cs typeface="Nanum Brush Script" charset="-127"/>
              </a:rPr>
              <a:t>Edexcel GCSE </a:t>
            </a:r>
          </a:p>
          <a:p>
            <a:pPr algn="ctr"/>
            <a:r>
              <a:rPr lang="en-GB" sz="2000" dirty="0">
                <a:ea typeface="Nanum Brush Script" charset="-127"/>
                <a:cs typeface="Nanum Brush Script" charset="-127"/>
              </a:rPr>
              <a:t>Animal coordination, control and homeostasis.</a:t>
            </a:r>
          </a:p>
          <a:p>
            <a:pPr algn="ctr"/>
            <a:r>
              <a:rPr lang="en-GB" sz="5400" b="1" dirty="0">
                <a:solidFill>
                  <a:schemeClr val="accent2">
                    <a:lumMod val="75000"/>
                  </a:schemeClr>
                </a:solidFill>
                <a:ea typeface="Nanum Brush Script" charset="-127"/>
                <a:cs typeface="Nanum Brush Script" charset="-127"/>
              </a:rPr>
              <a:t>T</a:t>
            </a:r>
            <a:r>
              <a:rPr lang="en-GB" sz="3200" dirty="0">
                <a:ea typeface="Nanum Brush Script" charset="-127"/>
                <a:cs typeface="Nanum Brush Script" charset="-127"/>
              </a:rPr>
              <a:t>hink</a:t>
            </a:r>
            <a:r>
              <a:rPr lang="en-GB" sz="3600" dirty="0">
                <a:solidFill>
                  <a:schemeClr val="accent2">
                    <a:lumMod val="75000"/>
                  </a:schemeClr>
                </a:solidFill>
                <a:ea typeface="Nanum Brush Script" charset="-127"/>
                <a:cs typeface="Nanum Brush Script" charset="-127"/>
              </a:rPr>
              <a:t>IT</a:t>
            </a:r>
            <a:r>
              <a:rPr lang="en-GB" sz="3200" dirty="0">
                <a:ea typeface="Nanum Brush Script" charset="-127"/>
                <a:cs typeface="Nanum Brush Script" charset="-127"/>
              </a:rPr>
              <a:t>! </a:t>
            </a:r>
          </a:p>
          <a:p>
            <a:endParaRPr lang="en-GB" sz="2000" b="1" dirty="0">
              <a:solidFill>
                <a:schemeClr val="accent2">
                  <a:lumMod val="50000"/>
                </a:schemeClr>
              </a:solidFill>
              <a:ea typeface="Nanum Brush Script" charset="-127"/>
              <a:cs typeface="Nanum Brush Script" charset="-12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A4A6AB8-31BF-5846-A835-53F64E6886F4}"/>
              </a:ext>
            </a:extLst>
          </p:cNvPr>
          <p:cNvSpPr/>
          <p:nvPr/>
        </p:nvSpPr>
        <p:spPr>
          <a:xfrm>
            <a:off x="6121041" y="174492"/>
            <a:ext cx="2875672" cy="2151448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000" b="1" dirty="0">
                <a:ea typeface="Chalkduster" charset="0"/>
                <a:cs typeface="Chalkduster" charset="0"/>
              </a:rPr>
              <a:t>Control of blood glucose: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How does the formation of glycogen in liver and muscle cells leads to a lowering of blood glucose concentration.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Diabetes mellitus is the full name for diabetes. </a:t>
            </a:r>
            <a:r>
              <a:rPr lang="en-GB" sz="1000">
                <a:ea typeface="Chalkduster" charset="0"/>
                <a:cs typeface="Chalkduster" charset="0"/>
              </a:rPr>
              <a:t>Diabetes means </a:t>
            </a:r>
            <a:r>
              <a:rPr lang="en-GB" sz="1000" dirty="0">
                <a:ea typeface="Chalkduster" charset="0"/>
                <a:cs typeface="Chalkduster" charset="0"/>
              </a:rPr>
              <a:t>siphon (people with diabetes urinate more) and mellitus means sweet (the urine of a diabetic tastes sweet). Explain these symptoms.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Glucagonoma is a tumour that develops in the pancreas and causes excess glucagon to be released into the blood. What would some of the symptoms of this disease be? 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F6556B2-46C1-0949-853E-3FB791171CEA}"/>
              </a:ext>
            </a:extLst>
          </p:cNvPr>
          <p:cNvSpPr/>
          <p:nvPr/>
        </p:nvSpPr>
        <p:spPr>
          <a:xfrm>
            <a:off x="153222" y="174493"/>
            <a:ext cx="2926990" cy="215144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000" b="1" dirty="0">
                <a:ea typeface="Chalkduster" charset="0"/>
                <a:cs typeface="Chalkduster" charset="0"/>
              </a:rPr>
              <a:t>Homeostasis: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Tobacco smoke contains nicotine and carbon monoxide. These chemicals both disrupt homeostasis. Discuss how.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Graves disease is a disease that causes the thyroid to produce too much thyroxine. Discuss how this can effect homeostasis. 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The control of breathing involves monitoring the dissolved carbon dioxide levels in the blood and not the oxygen levels. Suggest why breathing rate is controlled by carbon dioxide receptors.</a:t>
            </a:r>
          </a:p>
          <a:p>
            <a:endParaRPr lang="en-GB" sz="1000" dirty="0">
              <a:ea typeface="Chalkduster" charset="0"/>
              <a:cs typeface="Chalkduster" charset="0"/>
            </a:endParaRPr>
          </a:p>
          <a:p>
            <a:endParaRPr lang="en-GB" sz="1000" dirty="0">
              <a:ea typeface="Chalkduster" charset="0"/>
              <a:cs typeface="Chalkduster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FFBEFCC-0BE8-5843-8CB9-04DFE56478C1}"/>
              </a:ext>
            </a:extLst>
          </p:cNvPr>
          <p:cNvSpPr/>
          <p:nvPr/>
        </p:nvSpPr>
        <p:spPr>
          <a:xfrm>
            <a:off x="6106463" y="2388792"/>
            <a:ext cx="2900980" cy="207419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000" b="1" dirty="0">
                <a:ea typeface="Chalkduster" charset="0"/>
                <a:cs typeface="Chalkduster" charset="0"/>
              </a:rPr>
              <a:t>Water and nitrogen balance (biology only):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With reference to ADH, explain the effect of the following on urine production: a. drinking four large cups of water, b. eating a large bag of salty crisp, c. playing a tennis match on a hot day. 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Explain how excess protein in the diet is processed and excreted by the body.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Alcohol suppresses the production of ADH and ecstasy (MDMA) stimulates ADH production. Explain how these two drugs can affect water balance in the body. </a:t>
            </a:r>
          </a:p>
          <a:p>
            <a:pPr marL="171450" indent="-171450">
              <a:buFont typeface="Arial" charset="0"/>
              <a:buChar char="•"/>
            </a:pPr>
            <a:endParaRPr lang="en-GB" sz="100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00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000" dirty="0">
              <a:ea typeface="Chalkduster" charset="0"/>
              <a:cs typeface="Chalkduster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73A8A3C-5DE7-1A48-BF18-13BBF28DA088}"/>
              </a:ext>
            </a:extLst>
          </p:cNvPr>
          <p:cNvSpPr/>
          <p:nvPr/>
        </p:nvSpPr>
        <p:spPr>
          <a:xfrm>
            <a:off x="6106463" y="4525839"/>
            <a:ext cx="2900980" cy="216146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000" b="1" dirty="0">
                <a:ea typeface="Chalkduster" charset="0"/>
                <a:cs typeface="Chalkduster" charset="0"/>
              </a:rPr>
              <a:t>Kidney failure: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What is the science behind dialysis?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Design a working model kidney using visking tubing.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Can kidney failure be prevented? Explain.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Compare the advantages and disadvantages of kidney dialysis versus a kidney transplant.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Can we survive with one functioning kidney?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Would you donate a kidney to a close friend if you could? Explain the pros and cons of doing this.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815DBCD-91F3-544E-94ED-88B56253FA4E}"/>
              </a:ext>
            </a:extLst>
          </p:cNvPr>
          <p:cNvSpPr/>
          <p:nvPr/>
        </p:nvSpPr>
        <p:spPr>
          <a:xfrm>
            <a:off x="145556" y="4525838"/>
            <a:ext cx="2934656" cy="216146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000" b="1" dirty="0">
                <a:ea typeface="Chalkduster" charset="0"/>
                <a:cs typeface="Chalkduster" charset="0"/>
              </a:rPr>
              <a:t>Metabolism: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‘Enzymes are important in the metabolism of a muscle cell’. Explain what this statement means.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Under what conditions in the body would glycogen be converted back to glucose?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 A student stated that carbohydrates are the basis of all lipids and proteins. Do you agree with this? Explain your answer.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Draw a diagram to show the difference between glucose and glycogen.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Name the process that converts glucose to glycogen.</a:t>
            </a:r>
          </a:p>
          <a:p>
            <a:pPr marL="171450" indent="-171450">
              <a:buFont typeface="Arial" charset="0"/>
              <a:buChar char="•"/>
            </a:pPr>
            <a:endParaRPr lang="en-GB" sz="1000" dirty="0">
              <a:ea typeface="Chalkduster" charset="0"/>
              <a:cs typeface="Chalkduster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4953533-1C7C-174A-90F1-3ACDA02A9848}"/>
              </a:ext>
            </a:extLst>
          </p:cNvPr>
          <p:cNvSpPr/>
          <p:nvPr/>
        </p:nvSpPr>
        <p:spPr>
          <a:xfrm>
            <a:off x="3161206" y="4536487"/>
            <a:ext cx="2893304" cy="215081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000" b="1" dirty="0">
                <a:ea typeface="Chalkduster" charset="0"/>
                <a:cs typeface="Chalkduster" charset="0"/>
              </a:rPr>
              <a:t>Human reproduction: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Explain the interactions of FSH, oestrogen, LH and progesterone, in the control of the menstrual cycle.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Discuss the role of hormones in fertility treatment.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Discuss the social and ethical issues associated with IVF treatments.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Oral contraceptive - ‘the pill’ contains mainly oestrogen. Discuss how ‘the pill’ prevents pregnancy. 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Explain why progesterone continues to be produced throughout pregnancy.</a:t>
            </a:r>
          </a:p>
          <a:p>
            <a:pPr marL="171450" indent="-171450">
              <a:buFont typeface="Arial" charset="0"/>
              <a:buChar char="•"/>
            </a:pPr>
            <a:endParaRPr lang="en-GB" sz="100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000" dirty="0">
              <a:ea typeface="Chalkduster" charset="0"/>
              <a:cs typeface="Chalkduster" charset="0"/>
            </a:endParaRPr>
          </a:p>
          <a:p>
            <a:endParaRPr lang="en-GB" sz="1000" dirty="0">
              <a:ea typeface="Chalkduster" charset="0"/>
              <a:cs typeface="Chalkduster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3A33BCC-01CC-294C-95BA-9FBBF1551C9E}"/>
              </a:ext>
            </a:extLst>
          </p:cNvPr>
          <p:cNvSpPr/>
          <p:nvPr/>
        </p:nvSpPr>
        <p:spPr>
          <a:xfrm>
            <a:off x="125127" y="2388792"/>
            <a:ext cx="2926990" cy="207419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sz="1000" b="1" dirty="0">
              <a:ea typeface="Chalkduster" charset="0"/>
              <a:cs typeface="Chalkduster" charset="0"/>
            </a:endParaRPr>
          </a:p>
          <a:p>
            <a:r>
              <a:rPr lang="en-US" sz="1000" b="1" dirty="0">
                <a:ea typeface="Chalkduster" charset="0"/>
                <a:cs typeface="Chalkduster" charset="0"/>
              </a:rPr>
              <a:t>Negative feedback:</a:t>
            </a:r>
          </a:p>
          <a:p>
            <a:pPr marL="171450" indent="-171450">
              <a:buFont typeface="Arial" charset="0"/>
              <a:buChar char="•"/>
            </a:pPr>
            <a:r>
              <a:rPr lang="en-US" sz="1000" dirty="0">
                <a:ea typeface="Chalkduster" charset="0"/>
                <a:cs typeface="Chalkduster" charset="0"/>
              </a:rPr>
              <a:t>Compare the negative feedback system which happens in a thermostatically controlled room and the thermoregulatory system in the human body.</a:t>
            </a:r>
          </a:p>
          <a:p>
            <a:pPr marL="171450" indent="-171450">
              <a:buFont typeface="Arial" charset="0"/>
              <a:buChar char="•"/>
            </a:pPr>
            <a:r>
              <a:rPr lang="en-US" sz="1000" dirty="0">
                <a:ea typeface="Chalkduster" charset="0"/>
                <a:cs typeface="Chalkduster" charset="0"/>
              </a:rPr>
              <a:t>Find an example of positive feedback in the human body and explain this to a friend. </a:t>
            </a:r>
          </a:p>
          <a:p>
            <a:pPr marL="171450" indent="-171450">
              <a:buFont typeface="Arial" charset="0"/>
              <a:buChar char="•"/>
            </a:pPr>
            <a:r>
              <a:rPr lang="en-US" sz="1000" dirty="0">
                <a:ea typeface="Chalkduster" charset="0"/>
                <a:cs typeface="Chalkduster" charset="0"/>
              </a:rPr>
              <a:t>Does a positive feedback system always end up being controlled by negative feedback ultimately? Explain your answer.</a:t>
            </a:r>
          </a:p>
          <a:p>
            <a:pPr marL="171450" indent="-171450">
              <a:buFont typeface="Arial" charset="0"/>
              <a:buChar char="•"/>
            </a:pPr>
            <a:endParaRPr lang="en-US" sz="1000" dirty="0">
              <a:ea typeface="Chalkduster" charset="0"/>
              <a:cs typeface="Chalkduster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50799DE-CB25-2945-8535-BC8D757245BC}"/>
              </a:ext>
            </a:extLst>
          </p:cNvPr>
          <p:cNvSpPr/>
          <p:nvPr/>
        </p:nvSpPr>
        <p:spPr>
          <a:xfrm>
            <a:off x="3161206" y="174491"/>
            <a:ext cx="2893304" cy="229139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000" b="1" dirty="0">
                <a:ea typeface="Chalkduster" charset="0"/>
                <a:cs typeface="Chalkduster" charset="0"/>
              </a:rPr>
              <a:t>Hormonal control: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Explain why the ‘pituitary gland’ is often referred to as the master gland.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Explain how glucagon interacts with insulin in a negative feedback cycle to control blood glucose levels in the body.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Compare and contrast Type 1 and Type 2 diabetes. 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Explain the difference between negative and positive feedback giving examples of each in the human body. 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Why is adrenalin often call the ‘fight or flight’ hormone. </a:t>
            </a:r>
          </a:p>
          <a:p>
            <a:pPr marL="171450" indent="-171450">
              <a:buFont typeface="Arial" charset="0"/>
              <a:buChar char="•"/>
            </a:pPr>
            <a:endParaRPr lang="en-GB" sz="1000" dirty="0">
              <a:ea typeface="Chalkduster" charset="0"/>
              <a:cs typeface="Chalkduster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C9DFB0-C041-564E-832B-ACB753C97F7F}"/>
              </a:ext>
            </a:extLst>
          </p:cNvPr>
          <p:cNvSpPr txBox="1"/>
          <p:nvPr/>
        </p:nvSpPr>
        <p:spPr>
          <a:xfrm>
            <a:off x="3481868" y="4209070"/>
            <a:ext cx="21802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© Copyright The PiXL Club Ltd, 2017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231339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THINKIT" id="{999C12DA-BDAB-614A-AF3B-CC505B52B3A9}" vid="{2545354F-674C-8E45-97A2-0D9EB86DC1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THINKIT</Template>
  <TotalTime>1408</TotalTime>
  <Words>642</Words>
  <Application>Microsoft Macintosh PowerPoint</Application>
  <PresentationFormat>On-screen Show (4:3)</PresentationFormat>
  <Paragraphs>49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Nanum Brush Script</vt:lpstr>
      <vt:lpstr>Arial</vt:lpstr>
      <vt:lpstr>Calibri</vt:lpstr>
      <vt:lpstr>Calibri Light</vt:lpstr>
      <vt:lpstr>Chalkduster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16.0012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Kerry Rolaston</dc:creator>
  <cp:lastModifiedBy>Amanda Fleck</cp:lastModifiedBy>
  <cp:revision>43</cp:revision>
  <cp:lastPrinted>2017-02-15T18:44:41Z</cp:lastPrinted>
  <dcterms:created xsi:type="dcterms:W3CDTF">2017-12-14T11:43:54Z</dcterms:created>
  <dcterms:modified xsi:type="dcterms:W3CDTF">2018-05-10T17:48:07Z</dcterms:modified>
</cp:coreProperties>
</file>