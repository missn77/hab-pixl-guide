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4"/>
  </p:notesMasterIdLst>
  <p:sldIdLst>
    <p:sldId id="256" r:id="rId2"/>
    <p:sldId id="258" r:id="rId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cki Pugh" initials="VP" lastIdx="1" clrIdx="0">
    <p:extLst>
      <p:ext uri="{19B8F6BF-5375-455C-9EA6-DF929625EA0E}">
        <p15:presenceInfo xmlns:p15="http://schemas.microsoft.com/office/powerpoint/2012/main" userId="fb86ba5f6b82553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76"/>
    <p:restoredTop sz="95833"/>
  </p:normalViewPr>
  <p:slideViewPr>
    <p:cSldViewPr snapToGrid="0" snapToObjects="1">
      <p:cViewPr varScale="1">
        <p:scale>
          <a:sx n="107" d="100"/>
          <a:sy n="107" d="100"/>
        </p:scale>
        <p:origin x="856" y="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notesMaster" Target="notesMasters/notesMaster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00B4FC-DE72-B04E-881B-39948BCD13FE}" type="datetimeFigureOut">
              <a:rPr lang="en-GB" smtClean="0"/>
              <a:pPr/>
              <a:t>10/05/2018</a:t>
            </a:fld>
            <a:endParaRPr lang="en-GB"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FD04F4-2695-714D-9F3D-51394D3EE3A0}" type="slidenum">
              <a:rPr lang="en-GB" smtClean="0"/>
              <a:pPr/>
              <a:t>‹#›</a:t>
            </a:fld>
            <a:endParaRPr lang="en-GB" dirty="0"/>
          </a:p>
        </p:txBody>
      </p:sp>
    </p:spTree>
    <p:extLst>
      <p:ext uri="{BB962C8B-B14F-4D97-AF65-F5344CB8AC3E}">
        <p14:creationId xmlns:p14="http://schemas.microsoft.com/office/powerpoint/2010/main" val="811387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7FD04F4-2695-714D-9F3D-51394D3EE3A0}" type="slidenum">
              <a:rPr lang="en-GB" smtClean="0"/>
              <a:pPr/>
              <a:t>1</a:t>
            </a:fld>
            <a:endParaRPr lang="en-GB" dirty="0"/>
          </a:p>
        </p:txBody>
      </p:sp>
    </p:spTree>
    <p:extLst>
      <p:ext uri="{BB962C8B-B14F-4D97-AF65-F5344CB8AC3E}">
        <p14:creationId xmlns:p14="http://schemas.microsoft.com/office/powerpoint/2010/main" val="471562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7FD04F4-2695-714D-9F3D-51394D3EE3A0}" type="slidenum">
              <a:rPr lang="en-GB" smtClean="0"/>
              <a:pPr/>
              <a:t>2</a:t>
            </a:fld>
            <a:endParaRPr lang="en-GB" dirty="0"/>
          </a:p>
        </p:txBody>
      </p:sp>
    </p:spTree>
    <p:extLst>
      <p:ext uri="{BB962C8B-B14F-4D97-AF65-F5344CB8AC3E}">
        <p14:creationId xmlns:p14="http://schemas.microsoft.com/office/powerpoint/2010/main" val="760119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1808B80-D4A0-3548-B9B8-BE81C52EC421}" type="datetimeFigureOut">
              <a:rPr lang="en-GB" smtClean="0"/>
              <a:pPr/>
              <a:t>10/05/2018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8C69DC77-15E7-A540-8773-3C582D5B9B40}" type="slidenum">
              <a:rPr lang="en-GB" smtClean="0"/>
              <a:pPr/>
              <a:t>‹#›</a:t>
            </a:fld>
            <a:endParaRPr lang="en-GB" dirty="0"/>
          </a:p>
        </p:txBody>
      </p:sp>
      <p:sp>
        <p:nvSpPr>
          <p:cNvPr id="8" name="Rounded Rectangle 7"/>
          <p:cNvSpPr/>
          <p:nvPr userDrawn="1"/>
        </p:nvSpPr>
        <p:spPr>
          <a:xfrm>
            <a:off x="84224" y="84221"/>
            <a:ext cx="8975555" cy="6649817"/>
          </a:xfrm>
          <a:prstGeom prst="roundRect">
            <a:avLst>
              <a:gd name="adj" fmla="val 276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1808B80-D4A0-3548-B9B8-BE81C52EC421}" type="datetimeFigureOut">
              <a:rPr lang="en-GB" smtClean="0"/>
              <a:pPr/>
              <a:t>10/05/2018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8C69DC77-15E7-A540-8773-3C582D5B9B40}" type="slidenum">
              <a:rPr lang="en-GB" smtClean="0"/>
              <a:pPr/>
              <a:t>‹#›</a:t>
            </a:fld>
            <a:endParaRPr lang="en-GB" dirty="0"/>
          </a:p>
        </p:txBody>
      </p:sp>
      <p:sp>
        <p:nvSpPr>
          <p:cNvPr id="7" name="Rounded Rectangle 6"/>
          <p:cNvSpPr/>
          <p:nvPr userDrawn="1"/>
        </p:nvSpPr>
        <p:spPr>
          <a:xfrm>
            <a:off x="84224" y="84221"/>
            <a:ext cx="8975555" cy="6649817"/>
          </a:xfrm>
          <a:prstGeom prst="roundRect">
            <a:avLst>
              <a:gd name="adj" fmla="val 276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1808B80-D4A0-3548-B9B8-BE81C52EC421}" type="datetimeFigureOut">
              <a:rPr lang="en-GB" smtClean="0"/>
              <a:pPr/>
              <a:t>10/05/2018</a:t>
            </a:fld>
            <a:endParaRPr lang="en-GB"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C69DC77-15E7-A540-8773-3C582D5B9B40}" type="slidenum">
              <a:rPr lang="en-GB" smtClean="0"/>
              <a:pPr/>
              <a:t>‹#›</a:t>
            </a:fld>
            <a:endParaRPr lang="en-GB" dirty="0"/>
          </a:p>
        </p:txBody>
      </p:sp>
    </p:spTree>
    <p:extLst>
      <p:ext uri="{BB962C8B-B14F-4D97-AF65-F5344CB8AC3E}">
        <p14:creationId xmlns:p14="http://schemas.microsoft.com/office/powerpoint/2010/main" val="985712741"/>
      </p:ext>
    </p:extLst>
  </p:cSld>
  <p:clrMap bg1="lt1" tx1="dk1" bg2="lt2" tx2="dk2" accent1="accent1" accent2="accent2" accent3="accent3" accent4="accent4" accent5="accent5" accent6="accent6" hlink="hlink" folHlink="folHlink"/>
  <p:sldLayoutIdLst>
    <p:sldLayoutId id="2147483685" r:id="rId1"/>
    <p:sldLayoutId id="2147483686"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F551E8-106A-C74D-9B1D-0586F32E1EC2}"/>
              </a:ext>
            </a:extLst>
          </p:cNvPr>
          <p:cNvPicPr>
            <a:picLocks noChangeAspect="1"/>
          </p:cNvPicPr>
          <p:nvPr/>
        </p:nvPicPr>
        <p:blipFill>
          <a:blip r:embed="rId3"/>
          <a:stretch>
            <a:fillRect/>
          </a:stretch>
        </p:blipFill>
        <p:spPr>
          <a:xfrm>
            <a:off x="294689" y="249381"/>
            <a:ext cx="8484557" cy="6477990"/>
          </a:xfrm>
          <a:prstGeom prst="rect">
            <a:avLst/>
          </a:prstGeom>
        </p:spPr>
      </p:pic>
    </p:spTree>
    <p:extLst>
      <p:ext uri="{BB962C8B-B14F-4D97-AF65-F5344CB8AC3E}">
        <p14:creationId xmlns:p14="http://schemas.microsoft.com/office/powerpoint/2010/main" val="497942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4" name="TextBox 3"/>
          <p:cNvSpPr txBox="1"/>
          <p:nvPr/>
        </p:nvSpPr>
        <p:spPr>
          <a:xfrm>
            <a:off x="3276464" y="2450519"/>
            <a:ext cx="2694872" cy="1938992"/>
          </a:xfrm>
          <a:prstGeom prst="rect">
            <a:avLst/>
          </a:prstGeom>
          <a:noFill/>
        </p:spPr>
        <p:txBody>
          <a:bodyPr wrap="square" rtlCol="0" anchor="ctr" anchorCtr="0">
            <a:spAutoFit/>
          </a:bodyPr>
          <a:lstStyle/>
          <a:p>
            <a:pPr algn="ctr"/>
            <a:r>
              <a:rPr lang="en-GB" sz="2000" b="1" dirty="0">
                <a:ea typeface="Nanum Brush Script" charset="-127"/>
                <a:cs typeface="Nanum Brush Script" charset="-127"/>
              </a:rPr>
              <a:t>Edexcel GCSE Plant structures and their functions</a:t>
            </a:r>
            <a:endParaRPr lang="en-GB" sz="2000" dirty="0">
              <a:ea typeface="Nanum Brush Script" charset="-127"/>
              <a:cs typeface="Nanum Brush Script" charset="-127"/>
            </a:endParaRPr>
          </a:p>
          <a:p>
            <a:pPr algn="ctr"/>
            <a:r>
              <a:rPr lang="en-GB" sz="2800" dirty="0">
                <a:latin typeface="Nanum Brush Script" charset="-127"/>
                <a:ea typeface="Nanum Brush Script" charset="-127"/>
                <a:cs typeface="Nanum Brush Script" charset="-127"/>
              </a:rPr>
              <a:t> </a:t>
            </a:r>
            <a:r>
              <a:rPr lang="en-GB" sz="6000" b="1" dirty="0">
                <a:solidFill>
                  <a:schemeClr val="accent2">
                    <a:lumMod val="75000"/>
                  </a:schemeClr>
                </a:solidFill>
                <a:ea typeface="Nanum Brush Script" charset="-127"/>
                <a:cs typeface="Nanum Brush Script" charset="-127"/>
              </a:rPr>
              <a:t>T</a:t>
            </a:r>
            <a:r>
              <a:rPr lang="en-GB" sz="3600" dirty="0">
                <a:ea typeface="Nanum Brush Script" charset="-127"/>
                <a:cs typeface="Nanum Brush Script" charset="-127"/>
              </a:rPr>
              <a:t>hink</a:t>
            </a:r>
            <a:r>
              <a:rPr lang="en-GB" sz="4000" dirty="0">
                <a:solidFill>
                  <a:schemeClr val="accent2">
                    <a:lumMod val="75000"/>
                  </a:schemeClr>
                </a:solidFill>
                <a:ea typeface="Nanum Brush Script" charset="-127"/>
                <a:cs typeface="Nanum Brush Script" charset="-127"/>
              </a:rPr>
              <a:t>IT</a:t>
            </a:r>
            <a:r>
              <a:rPr lang="en-GB" sz="3600" dirty="0">
                <a:ea typeface="Nanum Brush Script" charset="-127"/>
                <a:cs typeface="Nanum Brush Script" charset="-127"/>
              </a:rPr>
              <a:t>! </a:t>
            </a:r>
            <a:endParaRPr lang="en-GB" sz="4400" dirty="0">
              <a:ea typeface="Nanum Brush Script" charset="-127"/>
              <a:cs typeface="Nanum Brush Script" charset="-127"/>
            </a:endParaRPr>
          </a:p>
        </p:txBody>
      </p:sp>
      <p:sp>
        <p:nvSpPr>
          <p:cNvPr id="39" name="Rounded Rectangle 38"/>
          <p:cNvSpPr/>
          <p:nvPr/>
        </p:nvSpPr>
        <p:spPr>
          <a:xfrm>
            <a:off x="6121041" y="152724"/>
            <a:ext cx="2875672" cy="2018976"/>
          </a:xfrm>
          <a:prstGeom prst="roundRect">
            <a:avLst/>
          </a:prstGeom>
        </p:spPr>
        <p:style>
          <a:lnRef idx="2">
            <a:schemeClr val="accent2"/>
          </a:lnRef>
          <a:fillRef idx="1">
            <a:schemeClr val="lt1"/>
          </a:fillRef>
          <a:effectRef idx="0">
            <a:schemeClr val="accent2"/>
          </a:effectRef>
          <a:fontRef idx="minor">
            <a:schemeClr val="dk1"/>
          </a:fontRef>
        </p:style>
        <p:txBody>
          <a:bodyPr rtlCol="0" anchor="t"/>
          <a:lstStyle/>
          <a:p>
            <a:pPr marL="171450" indent="-171450">
              <a:buFont typeface="Arial" charset="0"/>
              <a:buChar char="•"/>
            </a:pPr>
            <a:endParaRPr lang="en-GB" sz="1100" dirty="0">
              <a:ea typeface="Chalkduster" charset="0"/>
              <a:cs typeface="Chalkduster" charset="0"/>
            </a:endParaRPr>
          </a:p>
        </p:txBody>
      </p:sp>
      <p:sp>
        <p:nvSpPr>
          <p:cNvPr id="42" name="Rounded Rectangle 41"/>
          <p:cNvSpPr/>
          <p:nvPr/>
        </p:nvSpPr>
        <p:spPr>
          <a:xfrm>
            <a:off x="153222" y="152725"/>
            <a:ext cx="2926990" cy="2018976"/>
          </a:xfrm>
          <a:prstGeom prst="roundRect">
            <a:avLst/>
          </a:prstGeom>
        </p:spPr>
        <p:style>
          <a:lnRef idx="2">
            <a:schemeClr val="accent2"/>
          </a:lnRef>
          <a:fillRef idx="1">
            <a:schemeClr val="lt1"/>
          </a:fillRef>
          <a:effectRef idx="0">
            <a:schemeClr val="accent2"/>
          </a:effectRef>
          <a:fontRef idx="minor">
            <a:schemeClr val="dk1"/>
          </a:fontRef>
        </p:style>
        <p:txBody>
          <a:bodyPr rtlCol="0" anchor="t"/>
          <a:lstStyle/>
          <a:p>
            <a:r>
              <a:rPr lang="en-GB" sz="1200" dirty="0">
                <a:latin typeface="Chalkduster" charset="0"/>
                <a:ea typeface="Chalkduster" charset="0"/>
                <a:cs typeface="Chalkduster" charset="0"/>
              </a:rPr>
              <a:t>Community and factors:</a:t>
            </a:r>
          </a:p>
          <a:p>
            <a:pPr marL="171450" indent="-171450">
              <a:buFont typeface="Arial" charset="0"/>
              <a:buChar char="•"/>
            </a:pPr>
            <a:endParaRPr lang="en-GB" sz="1100" dirty="0">
              <a:ea typeface="Chalkduster" charset="0"/>
              <a:cs typeface="Chalkduster" charset="0"/>
            </a:endParaRPr>
          </a:p>
          <a:p>
            <a:endParaRPr lang="en-GB" sz="1200" dirty="0">
              <a:ea typeface="Chalkduster" charset="0"/>
              <a:cs typeface="Chalkduster" charset="0"/>
            </a:endParaRPr>
          </a:p>
        </p:txBody>
      </p:sp>
      <p:sp>
        <p:nvSpPr>
          <p:cNvPr id="44" name="Rounded Rectangle 43"/>
          <p:cNvSpPr/>
          <p:nvPr/>
        </p:nvSpPr>
        <p:spPr>
          <a:xfrm>
            <a:off x="6121041" y="4684293"/>
            <a:ext cx="2875672" cy="2013783"/>
          </a:xfrm>
          <a:prstGeom prst="roundRect">
            <a:avLst/>
          </a:prstGeom>
        </p:spPr>
        <p:style>
          <a:lnRef idx="2">
            <a:schemeClr val="accent2"/>
          </a:lnRef>
          <a:fillRef idx="1">
            <a:schemeClr val="lt1"/>
          </a:fillRef>
          <a:effectRef idx="0">
            <a:schemeClr val="accent2"/>
          </a:effectRef>
          <a:fontRef idx="minor">
            <a:schemeClr val="dk1"/>
          </a:fontRef>
        </p:style>
        <p:txBody>
          <a:bodyPr rtlCol="0" anchor="t"/>
          <a:lstStyle/>
          <a:p>
            <a:r>
              <a:rPr lang="en-GB" sz="1200" dirty="0">
                <a:latin typeface="Chalkduster" charset="0"/>
                <a:ea typeface="Chalkduster" charset="0"/>
                <a:cs typeface="Chalkduster" charset="0"/>
              </a:rPr>
              <a:t>:</a:t>
            </a:r>
          </a:p>
          <a:p>
            <a:pPr marL="171450" indent="-171450">
              <a:buFont typeface="Arial" charset="0"/>
              <a:buChar char="•"/>
            </a:pPr>
            <a:endParaRPr lang="en-GB" sz="1100" dirty="0">
              <a:ea typeface="Chalkduster" charset="0"/>
              <a:cs typeface="Chalkduster" charset="0"/>
            </a:endParaRPr>
          </a:p>
        </p:txBody>
      </p:sp>
      <p:sp>
        <p:nvSpPr>
          <p:cNvPr id="45" name="Rounded Rectangle 44"/>
          <p:cNvSpPr/>
          <p:nvPr/>
        </p:nvSpPr>
        <p:spPr>
          <a:xfrm>
            <a:off x="145556" y="4684294"/>
            <a:ext cx="2934656" cy="2009677"/>
          </a:xfrm>
          <a:prstGeom prst="roundRect">
            <a:avLst/>
          </a:prstGeom>
        </p:spPr>
        <p:style>
          <a:lnRef idx="2">
            <a:schemeClr val="accent2"/>
          </a:lnRef>
          <a:fillRef idx="1">
            <a:schemeClr val="lt1"/>
          </a:fillRef>
          <a:effectRef idx="0">
            <a:schemeClr val="accent2"/>
          </a:effectRef>
          <a:fontRef idx="minor">
            <a:schemeClr val="dk1"/>
          </a:fontRef>
        </p:style>
        <p:txBody>
          <a:bodyPr rtlCol="0" anchor="t"/>
          <a:lstStyle/>
          <a:p>
            <a:r>
              <a:rPr lang="en-GB" sz="1200" dirty="0">
                <a:latin typeface="Chalkduster" charset="0"/>
                <a:ea typeface="Chalkduster" charset="0"/>
                <a:cs typeface="Chalkduster" charset="0"/>
              </a:rPr>
              <a:t>:</a:t>
            </a:r>
          </a:p>
          <a:p>
            <a:pPr marL="171450" indent="-171450">
              <a:buFont typeface="Arial" charset="0"/>
              <a:buChar char="•"/>
            </a:pPr>
            <a:endParaRPr lang="en-GB" sz="1200" dirty="0">
              <a:ea typeface="Chalkduster" charset="0"/>
              <a:cs typeface="Chalkduster" charset="0"/>
            </a:endParaRPr>
          </a:p>
          <a:p>
            <a:endParaRPr lang="en-GB" sz="1200" dirty="0">
              <a:ea typeface="Chalkduster" charset="0"/>
              <a:cs typeface="Chalkduster" charset="0"/>
            </a:endParaRPr>
          </a:p>
          <a:p>
            <a:endParaRPr lang="en-GB" sz="1200" dirty="0">
              <a:ea typeface="Chalkduster" charset="0"/>
              <a:cs typeface="Chalkduster" charset="0"/>
            </a:endParaRPr>
          </a:p>
        </p:txBody>
      </p:sp>
      <p:sp>
        <p:nvSpPr>
          <p:cNvPr id="46" name="Rounded Rectangle 45"/>
          <p:cNvSpPr/>
          <p:nvPr/>
        </p:nvSpPr>
        <p:spPr>
          <a:xfrm>
            <a:off x="3193290" y="4684293"/>
            <a:ext cx="2861220" cy="2003012"/>
          </a:xfrm>
          <a:prstGeom prst="roundRect">
            <a:avLst/>
          </a:prstGeom>
          <a:solidFill>
            <a:schemeClr val="accent2">
              <a:lumMod val="20000"/>
              <a:lumOff val="80000"/>
            </a:schemeClr>
          </a:solidFill>
          <a:ln>
            <a:solidFill>
              <a:schemeClr val="accent2">
                <a:lumMod val="50000"/>
              </a:schemeClr>
            </a:solidFill>
          </a:ln>
        </p:spPr>
        <p:style>
          <a:lnRef idx="2">
            <a:schemeClr val="accent2"/>
          </a:lnRef>
          <a:fillRef idx="1">
            <a:schemeClr val="lt1"/>
          </a:fillRef>
          <a:effectRef idx="0">
            <a:schemeClr val="accent2"/>
          </a:effectRef>
          <a:fontRef idx="minor">
            <a:schemeClr val="dk1"/>
          </a:fontRef>
        </p:style>
        <p:txBody>
          <a:bodyPr rtlCol="0" anchor="t"/>
          <a:lstStyle/>
          <a:p>
            <a:r>
              <a:rPr lang="en-GB" sz="1200" dirty="0">
                <a:latin typeface="Chalkduster" charset="0"/>
                <a:ea typeface="Chalkduster" charset="0"/>
                <a:cs typeface="Chalkduster" charset="0"/>
              </a:rPr>
              <a:t>:</a:t>
            </a:r>
          </a:p>
          <a:p>
            <a:pPr marL="171450" indent="-171450">
              <a:buFont typeface="Arial" charset="0"/>
              <a:buChar char="•"/>
            </a:pPr>
            <a:endParaRPr lang="en-GB" sz="1100" dirty="0">
              <a:ea typeface="Chalkduster" charset="0"/>
              <a:cs typeface="Chalkduster" charset="0"/>
            </a:endParaRPr>
          </a:p>
          <a:p>
            <a:endParaRPr lang="en-GB" sz="1200" dirty="0">
              <a:ea typeface="Chalkduster" charset="0"/>
              <a:cs typeface="Chalkduster" charset="0"/>
            </a:endParaRPr>
          </a:p>
        </p:txBody>
      </p:sp>
      <p:sp>
        <p:nvSpPr>
          <p:cNvPr id="47" name="Rounded Rectangle 46"/>
          <p:cNvSpPr/>
          <p:nvPr/>
        </p:nvSpPr>
        <p:spPr>
          <a:xfrm>
            <a:off x="153222" y="2234553"/>
            <a:ext cx="2921202" cy="2370924"/>
          </a:xfrm>
          <a:prstGeom prst="roundRect">
            <a:avLst/>
          </a:prstGeom>
          <a:solidFill>
            <a:schemeClr val="accent2">
              <a:lumMod val="20000"/>
              <a:lumOff val="80000"/>
            </a:schemeClr>
          </a:solidFill>
          <a:ln>
            <a:solidFill>
              <a:schemeClr val="accent2">
                <a:lumMod val="50000"/>
              </a:schemeClr>
            </a:solidFill>
          </a:ln>
        </p:spPr>
        <p:style>
          <a:lnRef idx="2">
            <a:schemeClr val="accent2"/>
          </a:lnRef>
          <a:fillRef idx="1">
            <a:schemeClr val="lt1"/>
          </a:fillRef>
          <a:effectRef idx="0">
            <a:schemeClr val="accent2"/>
          </a:effectRef>
          <a:fontRef idx="minor">
            <a:schemeClr val="dk1"/>
          </a:fontRef>
        </p:style>
        <p:txBody>
          <a:bodyPr rtlCol="0" anchor="t"/>
          <a:lstStyle/>
          <a:p>
            <a:r>
              <a:rPr lang="en-GB" sz="1200" dirty="0">
                <a:latin typeface="Chalkduster" charset="0"/>
                <a:ea typeface="Chalkduster" charset="0"/>
                <a:cs typeface="Chalkduster" charset="0"/>
              </a:rPr>
              <a:t>:</a:t>
            </a:r>
          </a:p>
        </p:txBody>
      </p:sp>
      <p:sp>
        <p:nvSpPr>
          <p:cNvPr id="48" name="Rounded Rectangle 47"/>
          <p:cNvSpPr/>
          <p:nvPr/>
        </p:nvSpPr>
        <p:spPr>
          <a:xfrm>
            <a:off x="3143954" y="152724"/>
            <a:ext cx="2893304" cy="2081830"/>
          </a:xfrm>
          <a:prstGeom prst="roundRect">
            <a:avLst/>
          </a:prstGeom>
          <a:solidFill>
            <a:schemeClr val="accent2">
              <a:lumMod val="20000"/>
              <a:lumOff val="80000"/>
            </a:schemeClr>
          </a:solidFill>
          <a:ln>
            <a:solidFill>
              <a:schemeClr val="accent2">
                <a:lumMod val="50000"/>
              </a:schemeClr>
            </a:solidFill>
          </a:ln>
        </p:spPr>
        <p:style>
          <a:lnRef idx="2">
            <a:schemeClr val="accent2"/>
          </a:lnRef>
          <a:fillRef idx="1">
            <a:schemeClr val="lt1"/>
          </a:fillRef>
          <a:effectRef idx="0">
            <a:schemeClr val="accent2"/>
          </a:effectRef>
          <a:fontRef idx="minor">
            <a:schemeClr val="dk1"/>
          </a:fontRef>
        </p:style>
        <p:txBody>
          <a:bodyPr rtlCol="0" anchor="t"/>
          <a:lstStyle/>
          <a:p>
            <a:r>
              <a:rPr lang="en-GB" sz="1200" b="1" dirty="0">
                <a:ea typeface="Chalkduster" charset="0"/>
                <a:cs typeface="Chalkduster" charset="0"/>
              </a:rPr>
              <a:t>Core practical:</a:t>
            </a:r>
          </a:p>
          <a:p>
            <a:pPr marL="180975" lvl="1" indent="-180975">
              <a:buFont typeface="Arial" pitchFamily="34" charset="0"/>
              <a:buChar char="•"/>
            </a:pPr>
            <a:r>
              <a:rPr lang="en-GB" sz="1200" b="1" dirty="0">
                <a:ea typeface="Chalkduster" charset="0"/>
                <a:cs typeface="Chalkduster" charset="0"/>
              </a:rPr>
              <a:t> </a:t>
            </a:r>
            <a:r>
              <a:rPr lang="en-GB" sz="1100" dirty="0">
                <a:ea typeface="Chalkduster" charset="0"/>
                <a:cs typeface="Chalkduster" charset="0"/>
              </a:rPr>
              <a:t>Plan an experiment to investigate how  different wavelengths of light affect photosynthesis in water plants.</a:t>
            </a:r>
          </a:p>
          <a:p>
            <a:pPr marL="180975" lvl="1" indent="-180975">
              <a:buFont typeface="Arial" pitchFamily="34" charset="0"/>
              <a:buChar char="•"/>
            </a:pPr>
            <a:r>
              <a:rPr lang="en-GB" sz="1100" dirty="0">
                <a:ea typeface="Chalkduster" charset="0"/>
                <a:cs typeface="Chalkduster" charset="0"/>
              </a:rPr>
              <a:t>It has been suggested that LED lamps would be better to use for shining on the water plant than a normal light bulb lamp. Suggest why.</a:t>
            </a:r>
          </a:p>
          <a:p>
            <a:pPr marL="180975" lvl="1" indent="-180975">
              <a:buFont typeface="Arial" pitchFamily="34" charset="0"/>
              <a:buChar char="•"/>
            </a:pPr>
            <a:r>
              <a:rPr lang="en-GB" sz="1100" dirty="0">
                <a:ea typeface="Chalkduster" charset="0"/>
                <a:cs typeface="Chalkduster" charset="0"/>
              </a:rPr>
              <a:t>How can you  investigate the effect of light intensity on photosynthesis on a terrestrial plant?</a:t>
            </a:r>
          </a:p>
          <a:p>
            <a:pPr>
              <a:buFont typeface="Arial" pitchFamily="34" charset="0"/>
              <a:buChar char="•"/>
            </a:pPr>
            <a:endParaRPr lang="en-GB" sz="1100" dirty="0">
              <a:ea typeface="Chalkduster" charset="0"/>
              <a:cs typeface="Chalkduster" charset="0"/>
            </a:endParaRPr>
          </a:p>
          <a:p>
            <a:endParaRPr lang="en-GB" sz="1200" dirty="0">
              <a:latin typeface="Chalkduster" charset="0"/>
              <a:ea typeface="Chalkduster" charset="0"/>
              <a:cs typeface="Chalkduster" charset="0"/>
            </a:endParaRPr>
          </a:p>
          <a:p>
            <a:pPr marL="171450" indent="-171450">
              <a:buFont typeface="Arial" charset="0"/>
              <a:buChar char="•"/>
            </a:pPr>
            <a:endParaRPr lang="en-GB" sz="1100" dirty="0">
              <a:ea typeface="Chalkduster" charset="0"/>
              <a:cs typeface="Chalkduster" charset="0"/>
            </a:endParaRPr>
          </a:p>
          <a:p>
            <a:pPr marL="171450" indent="-171450">
              <a:buFont typeface="Arial" charset="0"/>
              <a:buChar char="•"/>
            </a:pPr>
            <a:endParaRPr lang="en-GB" sz="1100" dirty="0">
              <a:ea typeface="Chalkduster" charset="0"/>
              <a:cs typeface="Chalkduster" charset="0"/>
            </a:endParaRPr>
          </a:p>
          <a:p>
            <a:pPr marL="171450" indent="-171450">
              <a:buFont typeface="Arial" charset="0"/>
              <a:buChar char="•"/>
            </a:pPr>
            <a:endParaRPr lang="en-GB" sz="1100" dirty="0">
              <a:ea typeface="Chalkduster" charset="0"/>
              <a:cs typeface="Chalkduster" charset="0"/>
            </a:endParaRPr>
          </a:p>
        </p:txBody>
      </p:sp>
      <p:sp>
        <p:nvSpPr>
          <p:cNvPr id="49" name="TextBox 48"/>
          <p:cNvSpPr txBox="1"/>
          <p:nvPr/>
        </p:nvSpPr>
        <p:spPr>
          <a:xfrm>
            <a:off x="3587947" y="4320122"/>
            <a:ext cx="2180266" cy="253916"/>
          </a:xfrm>
          <a:prstGeom prst="rect">
            <a:avLst/>
          </a:prstGeom>
          <a:noFill/>
        </p:spPr>
        <p:txBody>
          <a:bodyPr wrap="square" rtlCol="0">
            <a:spAutoFit/>
          </a:bodyPr>
          <a:lstStyle/>
          <a:p>
            <a:r>
              <a:rPr lang="en-GB" sz="1000" dirty="0"/>
              <a:t>© Copyright The PiXL Club Ltd, 2017</a:t>
            </a:r>
            <a:endParaRPr lang="en-US" sz="1000" dirty="0"/>
          </a:p>
        </p:txBody>
      </p:sp>
      <p:sp>
        <p:nvSpPr>
          <p:cNvPr id="19" name="Rounded Rectangle 18"/>
          <p:cNvSpPr/>
          <p:nvPr/>
        </p:nvSpPr>
        <p:spPr>
          <a:xfrm>
            <a:off x="153222" y="152725"/>
            <a:ext cx="2926990" cy="2018975"/>
          </a:xfrm>
          <a:prstGeom prst="roundRect">
            <a:avLst/>
          </a:prstGeom>
          <a:solidFill>
            <a:schemeClr val="bg1"/>
          </a:solidFill>
          <a:ln>
            <a:solidFill>
              <a:schemeClr val="accent2">
                <a:lumMod val="50000"/>
              </a:schemeClr>
            </a:solidFill>
          </a:ln>
        </p:spPr>
        <p:style>
          <a:lnRef idx="2">
            <a:schemeClr val="accent2"/>
          </a:lnRef>
          <a:fillRef idx="1">
            <a:schemeClr val="lt1"/>
          </a:fillRef>
          <a:effectRef idx="0">
            <a:schemeClr val="accent2"/>
          </a:effectRef>
          <a:fontRef idx="minor">
            <a:schemeClr val="dk1"/>
          </a:fontRef>
        </p:style>
        <p:txBody>
          <a:bodyPr tIns="0" rtlCol="0" anchor="t"/>
          <a:lstStyle/>
          <a:p>
            <a:pPr marL="171450" indent="-171450"/>
            <a:endParaRPr lang="en-GB" sz="1050" dirty="0">
              <a:ea typeface="Chalkduster" charset="0"/>
              <a:cs typeface="Chalkduster" charset="0"/>
            </a:endParaRPr>
          </a:p>
        </p:txBody>
      </p:sp>
      <p:sp>
        <p:nvSpPr>
          <p:cNvPr id="16" name="Rounded Rectangle 15"/>
          <p:cNvSpPr/>
          <p:nvPr/>
        </p:nvSpPr>
        <p:spPr>
          <a:xfrm>
            <a:off x="6037258" y="2265853"/>
            <a:ext cx="2962742" cy="2191287"/>
          </a:xfrm>
          <a:prstGeom prst="roundRect">
            <a:avLst/>
          </a:prstGeom>
          <a:solidFill>
            <a:schemeClr val="accent2">
              <a:lumMod val="20000"/>
              <a:lumOff val="80000"/>
            </a:schemeClr>
          </a:solidFill>
          <a:ln>
            <a:solidFill>
              <a:schemeClr val="accent2">
                <a:lumMod val="50000"/>
              </a:schemeClr>
            </a:solidFill>
          </a:ln>
        </p:spPr>
        <p:style>
          <a:lnRef idx="2">
            <a:schemeClr val="accent2"/>
          </a:lnRef>
          <a:fillRef idx="1">
            <a:schemeClr val="lt1"/>
          </a:fillRef>
          <a:effectRef idx="0">
            <a:schemeClr val="accent2"/>
          </a:effectRef>
          <a:fontRef idx="minor">
            <a:schemeClr val="dk1"/>
          </a:fontRef>
        </p:style>
        <p:txBody>
          <a:bodyPr rIns="0" rtlCol="0" anchor="t" anchorCtr="0"/>
          <a:lstStyle/>
          <a:p>
            <a:endParaRPr lang="en-GB" sz="1100" dirty="0">
              <a:ea typeface="Chalkduster" charset="0"/>
              <a:cs typeface="Chalkduster" charset="0"/>
            </a:endParaRPr>
          </a:p>
          <a:p>
            <a:pPr marL="171450" indent="-171450">
              <a:buFont typeface="Arial" charset="0"/>
              <a:buChar char="•"/>
            </a:pPr>
            <a:endParaRPr lang="en-GB" sz="1100" dirty="0">
              <a:ea typeface="Chalkduster" charset="0"/>
              <a:cs typeface="Chalkduster" charset="0"/>
            </a:endParaRPr>
          </a:p>
          <a:p>
            <a:pPr marL="171450" indent="-171450"/>
            <a:endParaRPr lang="en-GB" sz="1100" dirty="0">
              <a:ea typeface="Chalkduster" charset="0"/>
              <a:cs typeface="Chalkduster" charset="0"/>
            </a:endParaRPr>
          </a:p>
          <a:p>
            <a:pPr>
              <a:buFont typeface="Arial" pitchFamily="34" charset="0"/>
              <a:buChar char="•"/>
            </a:pPr>
            <a:endParaRPr lang="en-GB" sz="1100" dirty="0">
              <a:ea typeface="Chalkduster" charset="0"/>
              <a:cs typeface="Chalkduster" charset="0"/>
            </a:endParaRPr>
          </a:p>
          <a:p>
            <a:pPr>
              <a:buFont typeface="Arial" pitchFamily="34" charset="0"/>
              <a:buChar char="•"/>
            </a:pPr>
            <a:endParaRPr lang="en-GB" sz="1100" dirty="0">
              <a:ea typeface="Chalkduster" charset="0"/>
              <a:cs typeface="Chalkduster" charset="0"/>
            </a:endParaRPr>
          </a:p>
          <a:p>
            <a:pPr>
              <a:buFont typeface="Arial" pitchFamily="34" charset="0"/>
              <a:buChar char="•"/>
            </a:pPr>
            <a:endParaRPr lang="en-GB" sz="1200" dirty="0">
              <a:latin typeface="Chalkduster" charset="0"/>
              <a:ea typeface="Chalkduster" charset="0"/>
              <a:cs typeface="Chalkduster" charset="0"/>
            </a:endParaRPr>
          </a:p>
          <a:p>
            <a:pPr marL="171450" indent="-171450">
              <a:buFont typeface="Arial" charset="0"/>
              <a:buChar char="•"/>
            </a:pPr>
            <a:endParaRPr lang="en-GB" sz="1100" dirty="0">
              <a:ea typeface="Chalkduster" charset="0"/>
              <a:cs typeface="Chalkduster" charset="0"/>
            </a:endParaRPr>
          </a:p>
        </p:txBody>
      </p:sp>
      <p:sp>
        <p:nvSpPr>
          <p:cNvPr id="17" name="Rounded Rectangle 16"/>
          <p:cNvSpPr/>
          <p:nvPr/>
        </p:nvSpPr>
        <p:spPr>
          <a:xfrm>
            <a:off x="144648" y="4674908"/>
            <a:ext cx="2934656" cy="2016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endParaRPr lang="en-GB" sz="1100" dirty="0">
              <a:ea typeface="Chalkduster" charset="0"/>
              <a:cs typeface="Chalkduster" charset="0"/>
            </a:endParaRPr>
          </a:p>
        </p:txBody>
      </p:sp>
      <p:sp>
        <p:nvSpPr>
          <p:cNvPr id="18" name="Rounded Rectangle 17"/>
          <p:cNvSpPr/>
          <p:nvPr/>
        </p:nvSpPr>
        <p:spPr>
          <a:xfrm>
            <a:off x="3116271" y="4674908"/>
            <a:ext cx="2929613" cy="2059130"/>
          </a:xfrm>
          <a:prstGeom prst="roundRect">
            <a:avLst/>
          </a:prstGeom>
          <a:solidFill>
            <a:schemeClr val="accent2">
              <a:lumMod val="20000"/>
              <a:lumOff val="80000"/>
            </a:schemeClr>
          </a:solidFill>
          <a:ln>
            <a:solidFill>
              <a:schemeClr val="accent2">
                <a:lumMod val="50000"/>
              </a:schemeClr>
            </a:solidFill>
          </a:ln>
        </p:spPr>
        <p:style>
          <a:lnRef idx="2">
            <a:schemeClr val="accent2"/>
          </a:lnRef>
          <a:fillRef idx="1">
            <a:schemeClr val="lt1"/>
          </a:fillRef>
          <a:effectRef idx="0">
            <a:schemeClr val="accent2"/>
          </a:effectRef>
          <a:fontRef idx="minor">
            <a:schemeClr val="dk1"/>
          </a:fontRef>
        </p:style>
        <p:txBody>
          <a:bodyPr lIns="72000" tIns="108000" rIns="36000" bIns="36000" rtlCol="0" anchor="ctr"/>
          <a:lstStyle/>
          <a:p>
            <a:r>
              <a:rPr lang="en-GB" sz="1200" b="1" dirty="0">
                <a:ea typeface="Chalkduster" charset="0"/>
                <a:cs typeface="Chalkduster" charset="0"/>
              </a:rPr>
              <a:t>Commercial uses:</a:t>
            </a:r>
          </a:p>
          <a:p>
            <a:pPr marL="171450" indent="-171450">
              <a:buFont typeface="Arial" charset="0"/>
              <a:buChar char="•"/>
            </a:pPr>
            <a:r>
              <a:rPr lang="en-GB" sz="1100" dirty="0">
                <a:ea typeface="Chalkduster" charset="0"/>
                <a:cs typeface="Chalkduster" charset="0"/>
              </a:rPr>
              <a:t>How are seedless grapes produced and why is this necessary?</a:t>
            </a:r>
          </a:p>
          <a:p>
            <a:pPr marL="171450" indent="-171450">
              <a:buFont typeface="Arial" charset="0"/>
              <a:buChar char="•"/>
            </a:pPr>
            <a:r>
              <a:rPr lang="en-GB" sz="1100" dirty="0">
                <a:ea typeface="Chalkduster" charset="0"/>
                <a:cs typeface="Chalkduster" charset="0"/>
              </a:rPr>
              <a:t>Does this treatment affect food security? Explain your answer.</a:t>
            </a:r>
          </a:p>
          <a:p>
            <a:pPr marL="171450" indent="-171450">
              <a:buFont typeface="Arial" charset="0"/>
              <a:buChar char="•"/>
            </a:pPr>
            <a:r>
              <a:rPr lang="en-GB" sz="1100" dirty="0">
                <a:ea typeface="Chalkduster" charset="0"/>
                <a:cs typeface="Chalkduster" charset="0"/>
              </a:rPr>
              <a:t>Auxins promote growth so why are they also used as weedkillers?</a:t>
            </a:r>
          </a:p>
          <a:p>
            <a:pPr marL="171450" indent="-171450">
              <a:buFont typeface="Arial" charset="0"/>
              <a:buChar char="•"/>
            </a:pPr>
            <a:r>
              <a:rPr lang="en-GB" sz="1100" dirty="0">
                <a:ea typeface="Chalkduster" charset="0"/>
                <a:cs typeface="Chalkduster" charset="0"/>
              </a:rPr>
              <a:t>Research a plant that lives in extreme conditions. Explain how it is adapted to survive.</a:t>
            </a:r>
          </a:p>
          <a:p>
            <a:endParaRPr lang="en-GB" sz="1100" dirty="0">
              <a:ea typeface="Chalkduster" charset="0"/>
              <a:cs typeface="Chalkduster" charset="0"/>
            </a:endParaRPr>
          </a:p>
        </p:txBody>
      </p:sp>
      <p:sp>
        <p:nvSpPr>
          <p:cNvPr id="20" name="Rounded Rectangle 19"/>
          <p:cNvSpPr/>
          <p:nvPr/>
        </p:nvSpPr>
        <p:spPr>
          <a:xfrm>
            <a:off x="6121041" y="4680000"/>
            <a:ext cx="2886401" cy="2016000"/>
          </a:xfrm>
          <a:prstGeom prst="roundRect">
            <a:avLst/>
          </a:prstGeom>
        </p:spPr>
        <p:style>
          <a:lnRef idx="2">
            <a:schemeClr val="accent2"/>
          </a:lnRef>
          <a:fillRef idx="1">
            <a:schemeClr val="lt1"/>
          </a:fillRef>
          <a:effectRef idx="0">
            <a:schemeClr val="accent2"/>
          </a:effectRef>
          <a:fontRef idx="minor">
            <a:schemeClr val="dk1"/>
          </a:fontRef>
        </p:style>
        <p:txBody>
          <a:bodyPr lIns="72000" tIns="0" rtlCol="0" anchor="t" anchorCtr="0"/>
          <a:lstStyle/>
          <a:p>
            <a:pPr marL="171450" indent="-171450"/>
            <a:endParaRPr lang="en-GB" sz="1100" dirty="0">
              <a:ea typeface="Chalkduster" charset="0"/>
              <a:cs typeface="Chalkduster" charset="0"/>
            </a:endParaRPr>
          </a:p>
          <a:p>
            <a:pPr marL="171450" indent="-171450">
              <a:buFont typeface="Arial" charset="0"/>
              <a:buChar char="•"/>
            </a:pPr>
            <a:endParaRPr lang="en-GB" sz="1100" dirty="0">
              <a:ea typeface="Chalkduster" charset="0"/>
              <a:cs typeface="Chalkduster" charset="0"/>
            </a:endParaRPr>
          </a:p>
        </p:txBody>
      </p:sp>
      <p:sp>
        <p:nvSpPr>
          <p:cNvPr id="21" name="Rounded Rectangle 20"/>
          <p:cNvSpPr/>
          <p:nvPr/>
        </p:nvSpPr>
        <p:spPr>
          <a:xfrm>
            <a:off x="153222" y="2234553"/>
            <a:ext cx="3096000" cy="2376000"/>
          </a:xfrm>
          <a:prstGeom prst="roundRect">
            <a:avLst>
              <a:gd name="adj" fmla="val 15464"/>
            </a:avLst>
          </a:prstGeom>
          <a:solidFill>
            <a:schemeClr val="accent2">
              <a:lumMod val="20000"/>
              <a:lumOff val="80000"/>
            </a:schemeClr>
          </a:solidFill>
          <a:ln>
            <a:solidFill>
              <a:schemeClr val="accent2">
                <a:lumMod val="50000"/>
              </a:schemeClr>
            </a:solidFill>
          </a:ln>
        </p:spPr>
        <p:style>
          <a:lnRef idx="2">
            <a:schemeClr val="accent2"/>
          </a:lnRef>
          <a:fillRef idx="1">
            <a:schemeClr val="lt1"/>
          </a:fillRef>
          <a:effectRef idx="0">
            <a:schemeClr val="accent2"/>
          </a:effectRef>
          <a:fontRef idx="minor">
            <a:schemeClr val="dk1"/>
          </a:fontRef>
        </p:style>
        <p:txBody>
          <a:bodyPr lIns="36000" tIns="0" rIns="72000" bIns="0" rtlCol="0" anchor="t" anchorCtr="1"/>
          <a:lstStyle/>
          <a:p>
            <a:pPr marL="171450" indent="-171450"/>
            <a:r>
              <a:rPr lang="en-US" sz="1200" b="1" dirty="0">
                <a:ea typeface="Chalkduster" charset="0"/>
                <a:cs typeface="Chalkduster" charset="0"/>
              </a:rPr>
              <a:t>	Transpiration experiment:</a:t>
            </a:r>
          </a:p>
          <a:p>
            <a:pPr marL="171450" indent="-171450"/>
            <a:r>
              <a:rPr lang="en-US" sz="1100" dirty="0">
                <a:ea typeface="Chalkduster" charset="0"/>
                <a:cs typeface="Chalkduster" charset="0"/>
              </a:rPr>
              <a:t>	A student took four leaves from a healthy well watered plant. He covered one leaf in vaseline on the top and bottom surface, one leaf was covered with vaseline on the top surface and one leaf was covered on the lower surface. One leaf was left untreated. He weighed each leaf and then suspended them on a washing line with pegs for 24 hours at room temperature.</a:t>
            </a:r>
          </a:p>
          <a:p>
            <a:pPr marL="171450" indent="-171450"/>
            <a:r>
              <a:rPr lang="en-US" sz="1100" dirty="0">
                <a:ea typeface="Chalkduster" charset="0"/>
                <a:cs typeface="Chalkduster" charset="0"/>
              </a:rPr>
              <a:t>	Suggest what he would find the next day when he reweighed each leaf and explain why.</a:t>
            </a:r>
            <a:endParaRPr lang="en-US" sz="1200" dirty="0">
              <a:ea typeface="Chalkduster" charset="0"/>
              <a:cs typeface="Chalkduster" charset="0"/>
            </a:endParaRPr>
          </a:p>
        </p:txBody>
      </p:sp>
      <p:sp>
        <p:nvSpPr>
          <p:cNvPr id="23" name="Rounded Rectangle 22">
            <a:extLst>
              <a:ext uri="{FF2B5EF4-FFF2-40B4-BE49-F238E27FC236}">
                <a16:creationId xmlns:a16="http://schemas.microsoft.com/office/drawing/2014/main" id="{C73A8A3C-5DE7-1A48-BF18-13BBF28DA088}"/>
              </a:ext>
            </a:extLst>
          </p:cNvPr>
          <p:cNvSpPr/>
          <p:nvPr/>
        </p:nvSpPr>
        <p:spPr>
          <a:xfrm>
            <a:off x="6106463" y="4525839"/>
            <a:ext cx="2900980" cy="2161466"/>
          </a:xfrm>
          <a:prstGeom prst="roundRect">
            <a:avLst/>
          </a:prstGeom>
        </p:spPr>
        <p:style>
          <a:lnRef idx="2">
            <a:schemeClr val="accent2"/>
          </a:lnRef>
          <a:fillRef idx="1">
            <a:schemeClr val="lt1"/>
          </a:fillRef>
          <a:effectRef idx="0">
            <a:schemeClr val="accent2"/>
          </a:effectRef>
          <a:fontRef idx="minor">
            <a:schemeClr val="dk1"/>
          </a:fontRef>
        </p:style>
        <p:txBody>
          <a:bodyPr rtlCol="0" anchor="t"/>
          <a:lstStyle/>
          <a:p>
            <a:r>
              <a:rPr lang="en-GB" sz="1200" b="1" dirty="0">
                <a:ea typeface="Chalkduster" charset="0"/>
                <a:cs typeface="Chalkduster" charset="0"/>
              </a:rPr>
              <a:t>Plant hormones (biology only):</a:t>
            </a:r>
          </a:p>
          <a:p>
            <a:pPr marL="171450" indent="-171450">
              <a:buFont typeface="Arial" charset="0"/>
              <a:buChar char="•"/>
            </a:pPr>
            <a:r>
              <a:rPr lang="en-GB" sz="1100" dirty="0">
                <a:ea typeface="Chalkduster" charset="0"/>
                <a:cs typeface="Chalkduster" charset="0"/>
              </a:rPr>
              <a:t>Explain why shoots grow away from gravity and roots grow towards gravity. </a:t>
            </a:r>
          </a:p>
          <a:p>
            <a:pPr marL="171450" indent="-171450">
              <a:buFont typeface="Arial" charset="0"/>
              <a:buChar char="•"/>
            </a:pPr>
            <a:r>
              <a:rPr lang="en-GB" sz="1100" dirty="0">
                <a:ea typeface="Chalkduster" charset="0"/>
                <a:cs typeface="Chalkduster" charset="0"/>
              </a:rPr>
              <a:t>In cold climates farmers soak seeds in gibberellins. Suggest why.</a:t>
            </a:r>
          </a:p>
          <a:p>
            <a:pPr marL="171450" indent="-171450">
              <a:buFont typeface="Arial" charset="0"/>
              <a:buChar char="•"/>
            </a:pPr>
            <a:r>
              <a:rPr lang="en-GB" sz="1100" dirty="0">
                <a:ea typeface="Chalkduster" charset="0"/>
                <a:cs typeface="Chalkduster" charset="0"/>
              </a:rPr>
              <a:t>Some people say that to ripen green tomatoes you can put them in a bag with a ripe banana. Explain why.</a:t>
            </a:r>
          </a:p>
          <a:p>
            <a:pPr marL="171450" indent="-171450">
              <a:buFont typeface="Arial" charset="0"/>
              <a:buChar char="•"/>
            </a:pPr>
            <a:r>
              <a:rPr lang="en-GB" sz="1100" dirty="0">
                <a:ea typeface="Chalkduster" charset="0"/>
                <a:cs typeface="Chalkduster" charset="0"/>
              </a:rPr>
              <a:t>A bean seedling is growing upright in soil. Suggest what would happen if it was laid on its side in the soil and the tips of the roots and shoots were cut off.  </a:t>
            </a:r>
          </a:p>
        </p:txBody>
      </p:sp>
      <p:sp>
        <p:nvSpPr>
          <p:cNvPr id="24" name="Rounded Rectangle 23"/>
          <p:cNvSpPr/>
          <p:nvPr/>
        </p:nvSpPr>
        <p:spPr>
          <a:xfrm>
            <a:off x="144648" y="4649790"/>
            <a:ext cx="2934656" cy="2048286"/>
          </a:xfrm>
          <a:prstGeom prst="roundRect">
            <a:avLst/>
          </a:prstGeom>
        </p:spPr>
        <p:style>
          <a:lnRef idx="2">
            <a:schemeClr val="accent2"/>
          </a:lnRef>
          <a:fillRef idx="1">
            <a:schemeClr val="lt1"/>
          </a:fillRef>
          <a:effectRef idx="0">
            <a:schemeClr val="accent2"/>
          </a:effectRef>
          <a:fontRef idx="minor">
            <a:schemeClr val="dk1"/>
          </a:fontRef>
        </p:style>
        <p:txBody>
          <a:bodyPr rtlCol="0" anchor="t"/>
          <a:lstStyle/>
          <a:p>
            <a:r>
              <a:rPr lang="en-US" sz="1200" b="1" dirty="0"/>
              <a:t>Plant tissues, organs and systems</a:t>
            </a:r>
            <a:r>
              <a:rPr lang="en-GB" sz="1200" b="1" dirty="0">
                <a:ea typeface="Chalkduster" charset="0"/>
                <a:cs typeface="Chalkduster" charset="0"/>
              </a:rPr>
              <a:t>:</a:t>
            </a:r>
          </a:p>
          <a:p>
            <a:pPr marL="171450" indent="-171450">
              <a:buFont typeface="Arial" charset="0"/>
              <a:buChar char="•"/>
            </a:pPr>
            <a:r>
              <a:rPr lang="en-GB" sz="1100" dirty="0">
                <a:ea typeface="Chalkduster" charset="0"/>
                <a:cs typeface="Chalkduster" charset="0"/>
              </a:rPr>
              <a:t>Explain how plant tissues work together within a plant organism.</a:t>
            </a:r>
          </a:p>
          <a:p>
            <a:pPr marL="171450" indent="-171450">
              <a:buFont typeface="Arial" charset="0"/>
              <a:buChar char="•"/>
            </a:pPr>
            <a:r>
              <a:rPr lang="en-GB" sz="1100" dirty="0">
                <a:ea typeface="Chalkduster" charset="0"/>
                <a:cs typeface="Chalkduster" charset="0"/>
              </a:rPr>
              <a:t>Explain how phloem and xylem are adapted to their functions. </a:t>
            </a:r>
          </a:p>
          <a:p>
            <a:pPr marL="171450" indent="-171450">
              <a:buFont typeface="Arial" charset="0"/>
              <a:buChar char="•"/>
            </a:pPr>
            <a:r>
              <a:rPr lang="en-GB" sz="1100" dirty="0">
                <a:ea typeface="Chalkduster" charset="0"/>
                <a:cs typeface="Chalkduster" charset="0"/>
              </a:rPr>
              <a:t>Explain how a plants transport system is dependent on environmental conditions.</a:t>
            </a:r>
          </a:p>
          <a:p>
            <a:pPr marL="171450" indent="-171450">
              <a:buFont typeface="Arial" charset="0"/>
              <a:buChar char="•"/>
            </a:pPr>
            <a:r>
              <a:rPr lang="en-GB" sz="1100" dirty="0">
                <a:ea typeface="Chalkduster" charset="0"/>
                <a:cs typeface="Chalkduster" charset="0"/>
              </a:rPr>
              <a:t>Explain how gas exchange in plants is affected by the water content of leaves.</a:t>
            </a:r>
          </a:p>
          <a:p>
            <a:pPr marL="171450" indent="-171450">
              <a:buFont typeface="Arial" charset="0"/>
              <a:buChar char="•"/>
            </a:pPr>
            <a:r>
              <a:rPr lang="en-GB" sz="1100" dirty="0">
                <a:ea typeface="Chalkduster" charset="0"/>
                <a:cs typeface="Chalkduster" charset="0"/>
              </a:rPr>
              <a:t>If xylem is dead how does a plant grow taller?</a:t>
            </a:r>
          </a:p>
          <a:p>
            <a:pPr marL="171450" indent="-171450">
              <a:buFont typeface="Arial" charset="0"/>
              <a:buChar char="•"/>
            </a:pPr>
            <a:endParaRPr lang="en-GB" sz="1100" dirty="0">
              <a:ea typeface="Chalkduster" charset="0"/>
              <a:cs typeface="Chalkduster" charset="0"/>
            </a:endParaRPr>
          </a:p>
        </p:txBody>
      </p:sp>
      <p:sp>
        <p:nvSpPr>
          <p:cNvPr id="25" name="Rounded Rectangle 24"/>
          <p:cNvSpPr/>
          <p:nvPr/>
        </p:nvSpPr>
        <p:spPr>
          <a:xfrm>
            <a:off x="6084000" y="161252"/>
            <a:ext cx="2916000" cy="2016000"/>
          </a:xfrm>
          <a:prstGeom prst="roundRect">
            <a:avLst/>
          </a:prstGeom>
        </p:spPr>
        <p:style>
          <a:lnRef idx="2">
            <a:schemeClr val="accent2"/>
          </a:lnRef>
          <a:fillRef idx="1">
            <a:schemeClr val="lt1"/>
          </a:fillRef>
          <a:effectRef idx="0">
            <a:schemeClr val="accent2"/>
          </a:effectRef>
          <a:fontRef idx="minor">
            <a:schemeClr val="dk1"/>
          </a:fontRef>
        </p:style>
        <p:txBody>
          <a:bodyPr lIns="72000" tIns="0" rIns="36000" bIns="0" rtlCol="0" anchor="ctr" anchorCtr="0"/>
          <a:lstStyle/>
          <a:p>
            <a:r>
              <a:rPr lang="en-GB" sz="1200" b="1" dirty="0">
                <a:ea typeface="Chalkduster" charset="0"/>
                <a:cs typeface="Chalkduster" charset="0"/>
              </a:rPr>
              <a:t>Use of glucose from photosynthesis:</a:t>
            </a:r>
          </a:p>
          <a:p>
            <a:pPr marL="171450" indent="-171450">
              <a:buFont typeface="Arial" charset="0"/>
              <a:buChar char="•"/>
            </a:pPr>
            <a:r>
              <a:rPr lang="en-GB" sz="1100" dirty="0">
                <a:solidFill>
                  <a:schemeClr val="tx1"/>
                </a:solidFill>
                <a:ea typeface="Chalkduster" charset="0"/>
                <a:cs typeface="Chalkduster" charset="0"/>
              </a:rPr>
              <a:t>What percentage of a glucose molecule is made from carbon?</a:t>
            </a:r>
          </a:p>
          <a:p>
            <a:pPr marL="171450" indent="-171450">
              <a:buFont typeface="Arial" charset="0"/>
              <a:buChar char="•"/>
            </a:pPr>
            <a:r>
              <a:rPr lang="en-GB" sz="1100" dirty="0">
                <a:solidFill>
                  <a:schemeClr val="tx1"/>
                </a:solidFill>
                <a:ea typeface="Chalkduster" charset="0"/>
                <a:cs typeface="Chalkduster" charset="0"/>
              </a:rPr>
              <a:t>How do seedlings grow underground before photosynthesis can happen?</a:t>
            </a:r>
          </a:p>
          <a:p>
            <a:pPr marL="171450" indent="-171450">
              <a:buFont typeface="Arial" charset="0"/>
              <a:buChar char="•"/>
            </a:pPr>
            <a:r>
              <a:rPr lang="en-GB" sz="1100" dirty="0">
                <a:solidFill>
                  <a:schemeClr val="tx1"/>
                </a:solidFill>
                <a:ea typeface="Chalkduster" charset="0"/>
                <a:cs typeface="Chalkduster" charset="0"/>
              </a:rPr>
              <a:t>Design a method to extract oil from  sunflower seeds. Why is oil present?</a:t>
            </a:r>
          </a:p>
          <a:p>
            <a:pPr marL="171450" indent="-171450">
              <a:buFont typeface="Arial" charset="0"/>
              <a:buChar char="•"/>
            </a:pPr>
            <a:r>
              <a:rPr lang="en-GB" sz="1100" dirty="0">
                <a:solidFill>
                  <a:schemeClr val="tx1"/>
                </a:solidFill>
                <a:ea typeface="Chalkduster" charset="0"/>
                <a:cs typeface="Chalkduster" charset="0"/>
              </a:rPr>
              <a:t>How can we investigate that variegated leaves produce less glucose?</a:t>
            </a:r>
          </a:p>
          <a:p>
            <a:pPr marL="171450" indent="-171450">
              <a:buFont typeface="Arial" charset="0"/>
              <a:buChar char="•"/>
            </a:pPr>
            <a:r>
              <a:rPr lang="en-GB" sz="1100" dirty="0">
                <a:solidFill>
                  <a:schemeClr val="tx1"/>
                </a:solidFill>
                <a:ea typeface="Chalkduster" charset="0"/>
                <a:cs typeface="Chalkduster" charset="0"/>
              </a:rPr>
              <a:t>Iodine solution turns black when dripped onto paper. Explain why.</a:t>
            </a:r>
            <a:endParaRPr lang="en-GB" sz="1100" dirty="0">
              <a:ea typeface="Chalkduster" charset="0"/>
              <a:cs typeface="Chalkduster" charset="0"/>
            </a:endParaRPr>
          </a:p>
        </p:txBody>
      </p:sp>
      <p:sp>
        <p:nvSpPr>
          <p:cNvPr id="26" name="Rounded Rectangle 25"/>
          <p:cNvSpPr/>
          <p:nvPr/>
        </p:nvSpPr>
        <p:spPr>
          <a:xfrm>
            <a:off x="161252" y="161252"/>
            <a:ext cx="2916000" cy="2016000"/>
          </a:xfrm>
          <a:prstGeom prst="roundRect">
            <a:avLst/>
          </a:prstGeom>
        </p:spPr>
        <p:style>
          <a:lnRef idx="2">
            <a:schemeClr val="accent2"/>
          </a:lnRef>
          <a:fillRef idx="1">
            <a:schemeClr val="lt1"/>
          </a:fillRef>
          <a:effectRef idx="0">
            <a:schemeClr val="accent2"/>
          </a:effectRef>
          <a:fontRef idx="minor">
            <a:schemeClr val="dk1"/>
          </a:fontRef>
        </p:style>
        <p:txBody>
          <a:bodyPr rtlCol="0" anchor="t" anchorCtr="0"/>
          <a:lstStyle/>
          <a:p>
            <a:r>
              <a:rPr lang="en-GB" sz="1200" b="1" dirty="0">
                <a:ea typeface="Chalkduster" charset="0"/>
                <a:cs typeface="Chalkduster" charset="0"/>
              </a:rPr>
              <a:t>Photosynthetic reaction:</a:t>
            </a:r>
          </a:p>
          <a:p>
            <a:pPr marL="171450" indent="-171450">
              <a:buFont typeface="Arial" pitchFamily="34" charset="0"/>
              <a:buChar char="•"/>
            </a:pPr>
            <a:r>
              <a:rPr lang="en-GB" sz="1100" dirty="0">
                <a:solidFill>
                  <a:schemeClr val="tx1"/>
                </a:solidFill>
                <a:ea typeface="Chalkduster" charset="0"/>
                <a:cs typeface="Chalkduster" charset="0"/>
              </a:rPr>
              <a:t>Discuss which organelle is more important to a plant - mitochondria or chloroplasts?</a:t>
            </a:r>
          </a:p>
          <a:p>
            <a:pPr marL="171450" indent="-171450">
              <a:buFont typeface="Arial" pitchFamily="34" charset="0"/>
              <a:buChar char="•"/>
            </a:pPr>
            <a:r>
              <a:rPr lang="en-GB" sz="1100" dirty="0">
                <a:ea typeface="Chalkduster" charset="0"/>
                <a:cs typeface="Chalkduster" charset="0"/>
              </a:rPr>
              <a:t>Why is water not normally classed as a limiting factor of photosynthesis? </a:t>
            </a:r>
          </a:p>
          <a:p>
            <a:pPr marL="171450" indent="-171450">
              <a:buFont typeface="Arial" pitchFamily="34" charset="0"/>
              <a:buChar char="•"/>
            </a:pPr>
            <a:r>
              <a:rPr lang="en-GB" sz="1100" dirty="0">
                <a:ea typeface="Chalkduster" charset="0"/>
                <a:cs typeface="Chalkduster" charset="0"/>
              </a:rPr>
              <a:t>Justify why oxygen is a waste product of photosynthesis.</a:t>
            </a:r>
          </a:p>
          <a:p>
            <a:pPr marL="171450" indent="-171450">
              <a:buFont typeface="Arial" pitchFamily="34" charset="0"/>
              <a:buChar char="•"/>
            </a:pPr>
            <a:r>
              <a:rPr lang="en-GB" sz="1100" dirty="0">
                <a:ea typeface="Chalkduster" charset="0"/>
                <a:cs typeface="Chalkduster" charset="0"/>
              </a:rPr>
              <a:t>Why do conifers and pine trees grow in a cone shape?</a:t>
            </a:r>
          </a:p>
          <a:p>
            <a:pPr marL="171450" indent="-171450"/>
            <a:endParaRPr lang="en-GB" sz="1200" dirty="0">
              <a:ea typeface="Chalkduster" charset="0"/>
              <a:cs typeface="Chalkduster" charset="0"/>
            </a:endParaRPr>
          </a:p>
        </p:txBody>
      </p:sp>
      <p:sp>
        <p:nvSpPr>
          <p:cNvPr id="27" name="Rounded Rectangle 26"/>
          <p:cNvSpPr/>
          <p:nvPr/>
        </p:nvSpPr>
        <p:spPr>
          <a:xfrm>
            <a:off x="6037258" y="2215050"/>
            <a:ext cx="2972642" cy="2242090"/>
          </a:xfrm>
          <a:prstGeom prst="roundRect">
            <a:avLst/>
          </a:prstGeom>
          <a:solidFill>
            <a:schemeClr val="accent2">
              <a:lumMod val="20000"/>
              <a:lumOff val="80000"/>
            </a:schemeClr>
          </a:solidFill>
          <a:ln>
            <a:solidFill>
              <a:schemeClr val="accent2">
                <a:lumMod val="50000"/>
              </a:schemeClr>
            </a:solidFill>
          </a:ln>
        </p:spPr>
        <p:style>
          <a:lnRef idx="2">
            <a:schemeClr val="accent2"/>
          </a:lnRef>
          <a:fillRef idx="1">
            <a:schemeClr val="lt1"/>
          </a:fillRef>
          <a:effectRef idx="0">
            <a:schemeClr val="accent2"/>
          </a:effectRef>
          <a:fontRef idx="minor">
            <a:schemeClr val="dk1"/>
          </a:fontRef>
        </p:style>
        <p:txBody>
          <a:bodyPr lIns="36000" tIns="0" rIns="36000" bIns="0" rtlCol="0" anchor="t" anchorCtr="0"/>
          <a:lstStyle/>
          <a:p>
            <a:r>
              <a:rPr lang="en-GB" sz="1200" b="1" dirty="0">
                <a:ea typeface="Chalkduster" charset="0"/>
                <a:cs typeface="Chalkduster" charset="0"/>
              </a:rPr>
              <a:t>Rate of photosynthesis:</a:t>
            </a:r>
          </a:p>
          <a:p>
            <a:pPr marL="171450" indent="-171450">
              <a:buFont typeface="Arial" charset="0"/>
              <a:buChar char="•"/>
            </a:pPr>
            <a:r>
              <a:rPr lang="en-GB" sz="1100" dirty="0">
                <a:ea typeface="Chalkduster" charset="0"/>
                <a:cs typeface="Chalkduster" charset="0"/>
              </a:rPr>
              <a:t>Discuss whether photosynthesis occurring on land or under water produces most oxygen. </a:t>
            </a:r>
          </a:p>
          <a:p>
            <a:pPr marL="171450" indent="-171450">
              <a:buFont typeface="Arial" charset="0"/>
              <a:buChar char="•"/>
            </a:pPr>
            <a:r>
              <a:rPr lang="en-GB" sz="1100" dirty="0">
                <a:solidFill>
                  <a:schemeClr val="tx1"/>
                </a:solidFill>
                <a:ea typeface="Chalkduster" charset="0"/>
                <a:cs typeface="Chalkduster" charset="0"/>
              </a:rPr>
              <a:t>Do leaves in the middle of a tree photosynthesise as efficiently as those at the top and closer to the sun? Explain.</a:t>
            </a:r>
          </a:p>
          <a:p>
            <a:pPr marL="171450" indent="-171450">
              <a:buFont typeface="Arial" charset="0"/>
              <a:buChar char="•"/>
            </a:pPr>
            <a:r>
              <a:rPr lang="en-GB" sz="1100" dirty="0">
                <a:solidFill>
                  <a:schemeClr val="tx1"/>
                </a:solidFill>
                <a:ea typeface="Chalkduster" charset="0"/>
                <a:cs typeface="Chalkduster" charset="0"/>
              </a:rPr>
              <a:t>If all the cells in a leaf contained chloroplasts wouldn’t photosynthesis be more effective?</a:t>
            </a:r>
          </a:p>
          <a:p>
            <a:pPr marL="171450" indent="-171450">
              <a:buFont typeface="Arial" charset="0"/>
              <a:buChar char="•"/>
            </a:pPr>
            <a:r>
              <a:rPr lang="en-GB" sz="1100" dirty="0">
                <a:solidFill>
                  <a:schemeClr val="tx1"/>
                </a:solidFill>
                <a:ea typeface="Chalkduster" charset="0"/>
                <a:cs typeface="Chalkduster" charset="0"/>
              </a:rPr>
              <a:t>Can a plant photosynthesise in moonlight?</a:t>
            </a:r>
          </a:p>
          <a:p>
            <a:pPr marL="171450" indent="-171450"/>
            <a:endParaRPr lang="en-GB" sz="1200" dirty="0">
              <a:solidFill>
                <a:schemeClr val="tx1"/>
              </a:solidFill>
              <a:ea typeface="Chalkduster" charset="0"/>
              <a:cs typeface="Chalkduster" charset="0"/>
            </a:endParaRPr>
          </a:p>
          <a:p>
            <a:pPr marL="171450" indent="-171450"/>
            <a:endParaRPr lang="en-GB" sz="1100" dirty="0">
              <a:solidFill>
                <a:schemeClr val="tx1"/>
              </a:solidFill>
              <a:ea typeface="Chalkduster" charset="0"/>
              <a:cs typeface="Chalkduster" charset="0"/>
            </a:endParaRPr>
          </a:p>
          <a:p>
            <a:pPr marL="171450" indent="-171450">
              <a:buFont typeface="Arial" charset="0"/>
              <a:buChar char="•"/>
            </a:pPr>
            <a:endParaRPr lang="en-GB" sz="1100" dirty="0">
              <a:ea typeface="Chalkduster" charset="0"/>
              <a:cs typeface="Chalkduster" charset="0"/>
            </a:endParaRPr>
          </a:p>
        </p:txBody>
      </p:sp>
    </p:spTree>
    <p:extLst>
      <p:ext uri="{BB962C8B-B14F-4D97-AF65-F5344CB8AC3E}">
        <p14:creationId xmlns:p14="http://schemas.microsoft.com/office/powerpoint/2010/main" val="1231778573"/>
      </p:ext>
    </p:extLst>
  </p:cSld>
  <p:clrMapOvr>
    <a:masterClrMapping/>
  </p:clrMapOvr>
</p:sld>
</file>

<file path=ppt/theme/theme1.xml><?xml version="1.0" encoding="utf-8"?>
<a:theme xmlns:a="http://schemas.openxmlformats.org/drawingml/2006/main" name="TEMPLATE THINKI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THINKIT" id="{999C12DA-BDAB-614A-AF3B-CC505B52B3A9}" vid="{2545354F-674C-8E45-97A2-0D9EB86DC1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 THINKIT</Template>
  <TotalTime>772</TotalTime>
  <Words>482</Words>
  <Application>Microsoft Macintosh PowerPoint</Application>
  <PresentationFormat>On-screen Show (4:3)</PresentationFormat>
  <Paragraphs>59</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Nanum Brush Script</vt:lpstr>
      <vt:lpstr>Arial</vt:lpstr>
      <vt:lpstr>Calibri</vt:lpstr>
      <vt:lpstr>Calibri Light</vt:lpstr>
      <vt:lpstr>Chalkduster</vt:lpstr>
      <vt:lpstr>TEMPLATE THINKIT</vt:lpstr>
      <vt:lpstr>PowerPoint Presentation</vt:lpstr>
      <vt:lpstr>PowerPoint Presentation</vt:lpstr>
    </vt:vector>
  </TitlesOfParts>
  <LinksUpToDate>false</LinksUpToDate>
  <SharedDoc>false</SharedDoc>
  <HyperlinksChanged>false</HyperlinksChanged>
  <AppVersion>16.0012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Amanda Clegg</dc:creator>
  <cp:lastModifiedBy>Amanda Fleck</cp:lastModifiedBy>
  <cp:revision>109</cp:revision>
  <cp:lastPrinted>2017-02-15T18:44:41Z</cp:lastPrinted>
  <dcterms:created xsi:type="dcterms:W3CDTF">2018-04-18T12:49:43Z</dcterms:created>
  <dcterms:modified xsi:type="dcterms:W3CDTF">2018-05-10T16:07:37Z</dcterms:modified>
</cp:coreProperties>
</file>