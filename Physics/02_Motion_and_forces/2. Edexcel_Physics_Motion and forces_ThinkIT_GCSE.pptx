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4"/>
  </p:notesMasterIdLst>
  <p:sldIdLst>
    <p:sldId id="259" r:id="rId2"/>
    <p:sldId id="258" r:id="rId3"/>
  </p:sldIdLst>
  <p:sldSz cx="9144000" cy="6858000" type="screen4x3"/>
  <p:notesSz cx="6858000" cy="994568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rek Davies" initials="DD" lastIdx="1" clrIdx="0">
    <p:extLst/>
  </p:cmAuthor>
  <p:cmAuthor id="2" name="Andy Austin" initials="AA"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416"/>
    <p:restoredTop sz="95062"/>
  </p:normalViewPr>
  <p:slideViewPr>
    <p:cSldViewPr snapToGrid="0" snapToObjects="1">
      <p:cViewPr varScale="1">
        <p:scale>
          <a:sx n="106" d="100"/>
          <a:sy n="106" d="100"/>
        </p:scale>
        <p:origin x="173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commentAuthors" Target="commentAuthors.xml"/><Relationship Id="rId4" Type="http://schemas.openxmlformats.org/officeDocument/2006/relationships/notesMaster" Target="notesMasters/notesMaster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99012"/>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99012"/>
          </a:xfrm>
          <a:prstGeom prst="rect">
            <a:avLst/>
          </a:prstGeom>
        </p:spPr>
        <p:txBody>
          <a:bodyPr vert="horz" lIns="91440" tIns="45720" rIns="91440" bIns="45720" rtlCol="0"/>
          <a:lstStyle>
            <a:lvl1pPr algn="r">
              <a:defRPr sz="1200"/>
            </a:lvl1pPr>
          </a:lstStyle>
          <a:p>
            <a:fld id="{8E00B4FC-DE72-B04E-881B-39948BCD13FE}" type="datetimeFigureOut">
              <a:rPr lang="en-GB" smtClean="0"/>
              <a:t>20/08/2018</a:t>
            </a:fld>
            <a:endParaRPr lang="en-GB"/>
          </a:p>
        </p:txBody>
      </p:sp>
      <p:sp>
        <p:nvSpPr>
          <p:cNvPr id="4" name="Slide Image Placeholder 3"/>
          <p:cNvSpPr>
            <a:spLocks noGrp="1" noRot="1" noChangeAspect="1"/>
          </p:cNvSpPr>
          <p:nvPr>
            <p:ph type="sldImg" idx="2"/>
          </p:nvPr>
        </p:nvSpPr>
        <p:spPr>
          <a:xfrm>
            <a:off x="1190625" y="1243013"/>
            <a:ext cx="4476750" cy="335756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786362"/>
            <a:ext cx="5486400" cy="391611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46678"/>
            <a:ext cx="2971800" cy="499011"/>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9446678"/>
            <a:ext cx="2971800" cy="499011"/>
          </a:xfrm>
          <a:prstGeom prst="rect">
            <a:avLst/>
          </a:prstGeom>
        </p:spPr>
        <p:txBody>
          <a:bodyPr vert="horz" lIns="91440" tIns="45720" rIns="91440" bIns="45720" rtlCol="0" anchor="b"/>
          <a:lstStyle>
            <a:lvl1pPr algn="r">
              <a:defRPr sz="1200"/>
            </a:lvl1pPr>
          </a:lstStyle>
          <a:p>
            <a:fld id="{C7FD04F4-2695-714D-9F3D-51394D3EE3A0}" type="slidenum">
              <a:rPr lang="en-GB" smtClean="0"/>
              <a:t>‹#›</a:t>
            </a:fld>
            <a:endParaRPr lang="en-GB"/>
          </a:p>
        </p:txBody>
      </p:sp>
    </p:spTree>
    <p:extLst>
      <p:ext uri="{BB962C8B-B14F-4D97-AF65-F5344CB8AC3E}">
        <p14:creationId xmlns:p14="http://schemas.microsoft.com/office/powerpoint/2010/main" val="811387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C7FD04F4-2695-714D-9F3D-51394D3EE3A0}" type="slidenum">
              <a:rPr lang="en-GB" smtClean="0"/>
              <a:t>2</a:t>
            </a:fld>
            <a:endParaRPr lang="en-GB"/>
          </a:p>
        </p:txBody>
      </p:sp>
    </p:spTree>
    <p:extLst>
      <p:ext uri="{BB962C8B-B14F-4D97-AF65-F5344CB8AC3E}">
        <p14:creationId xmlns:p14="http://schemas.microsoft.com/office/powerpoint/2010/main" val="7601193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1808B80-D4A0-3548-B9B8-BE81C52EC421}" type="datetimeFigureOut">
              <a:rPr lang="en-GB" smtClean="0"/>
              <a:t>20/08/2018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C69DC77-15E7-A540-8773-3C582D5B9B40}" type="slidenum">
              <a:rPr lang="en-GB" smtClean="0"/>
              <a:t>‹#›</a:t>
            </a:fld>
            <a:endParaRPr lang="en-GB"/>
          </a:p>
        </p:txBody>
      </p:sp>
      <p:sp>
        <p:nvSpPr>
          <p:cNvPr id="8" name="Rounded Rectangle 7"/>
          <p:cNvSpPr/>
          <p:nvPr userDrawn="1"/>
        </p:nvSpPr>
        <p:spPr>
          <a:xfrm>
            <a:off x="84224" y="84221"/>
            <a:ext cx="8975555" cy="6649817"/>
          </a:xfrm>
          <a:prstGeom prst="roundRect">
            <a:avLst>
              <a:gd name="adj" fmla="val 276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GB"/>
          </a:p>
        </p:txBody>
      </p:sp>
      <p:sp>
        <p:nvSpPr>
          <p:cNvPr id="3" name="Content Placeholder 2"/>
          <p:cNvSpPr>
            <a:spLocks noGrp="1"/>
          </p:cNvSpPr>
          <p:nvPr>
            <p:ph idx="1"/>
          </p:nvPr>
        </p:nvSpPr>
        <p:spPr>
          <a:xfrm>
            <a:off x="628650" y="1825625"/>
            <a:ext cx="78867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1808B80-D4A0-3548-B9B8-BE81C52EC421}" type="datetimeFigureOut">
              <a:rPr lang="en-GB" smtClean="0"/>
              <a:t>20/08/2018</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8C69DC77-15E7-A540-8773-3C582D5B9B40}" type="slidenum">
              <a:rPr lang="en-GB" smtClean="0"/>
              <a:t>‹#›</a:t>
            </a:fld>
            <a:endParaRPr lang="en-GB"/>
          </a:p>
        </p:txBody>
      </p:sp>
      <p:sp>
        <p:nvSpPr>
          <p:cNvPr id="7" name="Rounded Rectangle 6"/>
          <p:cNvSpPr/>
          <p:nvPr userDrawn="1"/>
        </p:nvSpPr>
        <p:spPr>
          <a:xfrm>
            <a:off x="84224" y="84221"/>
            <a:ext cx="8975555" cy="6649817"/>
          </a:xfrm>
          <a:prstGeom prst="roundRect">
            <a:avLst>
              <a:gd name="adj" fmla="val 276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91808B80-D4A0-3548-B9B8-BE81C52EC421}" type="datetimeFigureOut">
              <a:rPr lang="en-GB" smtClean="0"/>
              <a:t>20/08/2018</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C69DC77-15E7-A540-8773-3C582D5B9B40}" type="slidenum">
              <a:rPr lang="en-GB" smtClean="0"/>
              <a:t>‹#›</a:t>
            </a:fld>
            <a:endParaRPr lang="en-GB"/>
          </a:p>
        </p:txBody>
      </p:sp>
    </p:spTree>
    <p:extLst>
      <p:ext uri="{BB962C8B-B14F-4D97-AF65-F5344CB8AC3E}">
        <p14:creationId xmlns:p14="http://schemas.microsoft.com/office/powerpoint/2010/main" val="985712741"/>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BACA275B-D878-5A4C-A55A-9E94DDF7F357}"/>
              </a:ext>
            </a:extLst>
          </p:cNvPr>
          <p:cNvPicPr>
            <a:picLocks noChangeAspect="1"/>
          </p:cNvPicPr>
          <p:nvPr/>
        </p:nvPicPr>
        <p:blipFill>
          <a:blip r:embed="rId2"/>
          <a:stretch>
            <a:fillRect/>
          </a:stretch>
        </p:blipFill>
        <p:spPr>
          <a:xfrm>
            <a:off x="95250" y="158750"/>
            <a:ext cx="8953500" cy="6540500"/>
          </a:xfrm>
          <a:prstGeom prst="rect">
            <a:avLst/>
          </a:prstGeom>
        </p:spPr>
      </p:pic>
    </p:spTree>
    <p:extLst>
      <p:ext uri="{BB962C8B-B14F-4D97-AF65-F5344CB8AC3E}">
        <p14:creationId xmlns:p14="http://schemas.microsoft.com/office/powerpoint/2010/main" val="1889922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39" name="Rounded Rectangle 38"/>
          <p:cNvSpPr/>
          <p:nvPr/>
        </p:nvSpPr>
        <p:spPr>
          <a:xfrm>
            <a:off x="3356672" y="4966487"/>
            <a:ext cx="5606532" cy="1709195"/>
          </a:xfrm>
          <a:prstGeom prst="round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t"/>
          <a:lstStyle/>
          <a:p>
            <a:r>
              <a:rPr lang="en-GB" sz="1100" b="1" dirty="0"/>
              <a:t>Stopping Distance:</a:t>
            </a:r>
          </a:p>
          <a:p>
            <a:endParaRPr lang="en-GB" sz="1100" b="1" dirty="0"/>
          </a:p>
          <a:p>
            <a:pPr marL="171450" indent="-171450">
              <a:buFont typeface="Arial" panose="020B0604020202020204" pitchFamily="34" charset="0"/>
              <a:buChar char="•"/>
            </a:pPr>
            <a:r>
              <a:rPr lang="en-GB" sz="1100" dirty="0"/>
              <a:t>The stopping distances in the highway code were written in the 1970’s.  Discuss how the design of cars since the 1970’s will have changed the stopping distances from the stated values.</a:t>
            </a:r>
          </a:p>
          <a:p>
            <a:pPr marL="171450" indent="-171450">
              <a:buFont typeface="Arial" panose="020B0604020202020204" pitchFamily="34" charset="0"/>
              <a:buChar char="•"/>
            </a:pPr>
            <a:r>
              <a:rPr lang="en-GB" sz="1100" dirty="0"/>
              <a:t>Distractions when driving causes crashes.  Discuss the reasons why people still use their mobile phones when driving, when mobile phone use was responsible for 492 crashes in 2014 alone.</a:t>
            </a:r>
          </a:p>
        </p:txBody>
      </p:sp>
      <p:sp>
        <p:nvSpPr>
          <p:cNvPr id="44" name="Rounded Rectangle 43"/>
          <p:cNvSpPr/>
          <p:nvPr/>
        </p:nvSpPr>
        <p:spPr>
          <a:xfrm>
            <a:off x="6253220" y="2615555"/>
            <a:ext cx="2712993" cy="2260111"/>
          </a:xfrm>
          <a:prstGeom prst="roundRect">
            <a:avLst/>
          </a:prstGeom>
        </p:spPr>
        <p:style>
          <a:lnRef idx="2">
            <a:schemeClr val="accent2"/>
          </a:lnRef>
          <a:fillRef idx="1">
            <a:schemeClr val="lt1"/>
          </a:fillRef>
          <a:effectRef idx="0">
            <a:schemeClr val="accent2"/>
          </a:effectRef>
          <a:fontRef idx="minor">
            <a:schemeClr val="dk1"/>
          </a:fontRef>
        </p:style>
        <p:txBody>
          <a:bodyPr rtlCol="0" anchor="t"/>
          <a:lstStyle/>
          <a:p>
            <a:r>
              <a:rPr lang="en-GB" sz="1100" b="1" dirty="0"/>
              <a:t>Vehicle Safety:</a:t>
            </a:r>
          </a:p>
          <a:p>
            <a:pPr marL="171450" indent="-171450">
              <a:buFont typeface="Arial" charset="0"/>
              <a:buChar char="•"/>
            </a:pPr>
            <a:r>
              <a:rPr lang="en-GB" sz="1100" dirty="0"/>
              <a:t>Motorcyclists are 35 times more likely to die in a crash compared to car drivers.  Motorcycle crash helmets do help prevent injuries.  Explain how crash helmets reduce injuries in terms of momentum.</a:t>
            </a:r>
          </a:p>
          <a:p>
            <a:pPr marL="171450" indent="-171450">
              <a:buFont typeface="Arial" charset="0"/>
              <a:buChar char="•"/>
            </a:pPr>
            <a:r>
              <a:rPr lang="en-GB" sz="1100" dirty="0"/>
              <a:t>Google recently developed a sticky car paint that will hold a pedestrian that has been hit.  Discuss the advantages and disadvantages of this sticky paint.</a:t>
            </a:r>
          </a:p>
        </p:txBody>
      </p:sp>
      <p:sp>
        <p:nvSpPr>
          <p:cNvPr id="45" name="Rounded Rectangle 44"/>
          <p:cNvSpPr/>
          <p:nvPr/>
        </p:nvSpPr>
        <p:spPr>
          <a:xfrm>
            <a:off x="6230042" y="141817"/>
            <a:ext cx="2759351" cy="2377841"/>
          </a:xfrm>
          <a:prstGeom prst="roundRect">
            <a:avLst/>
          </a:prstGeom>
          <a:solidFill>
            <a:schemeClr val="accent2">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t"/>
          <a:lstStyle/>
          <a:p>
            <a:r>
              <a:rPr lang="en-GB" sz="1100" b="1" dirty="0"/>
              <a:t>Work Done:</a:t>
            </a:r>
          </a:p>
          <a:p>
            <a:pPr marL="171450" indent="-171450">
              <a:buFont typeface="Arial" charset="0"/>
              <a:buChar char="•"/>
            </a:pPr>
            <a:r>
              <a:rPr lang="en-GB" sz="1100" dirty="0"/>
              <a:t>The American unit of work done is the foot-pound force.  The S.I. unit for work done is the joule, J.  Find out how to convert from the S.I. unit to the non-standard American unit.</a:t>
            </a:r>
          </a:p>
          <a:p>
            <a:pPr marL="171450" indent="-171450">
              <a:buFont typeface="Arial" charset="0"/>
              <a:buChar char="•"/>
            </a:pPr>
            <a:r>
              <a:rPr lang="en-GB" sz="1100" dirty="0"/>
              <a:t>The space shuttle enters the Earth’s atmosphere at 17,500 mph.  On re-entry the temperature of the space shuttle will exceed 1500 ℃.  Find out why the temperature of the space shuttle gets so high on re-entry.</a:t>
            </a:r>
          </a:p>
          <a:p>
            <a:pPr marL="171450" indent="-171450">
              <a:buFont typeface="Arial" charset="0"/>
              <a:buChar char="•"/>
            </a:pPr>
            <a:endParaRPr lang="en-GB" sz="1100" dirty="0"/>
          </a:p>
        </p:txBody>
      </p:sp>
      <p:sp>
        <p:nvSpPr>
          <p:cNvPr id="47" name="Rounded Rectangle 46"/>
          <p:cNvSpPr/>
          <p:nvPr/>
        </p:nvSpPr>
        <p:spPr>
          <a:xfrm>
            <a:off x="3312757" y="140574"/>
            <a:ext cx="2779520" cy="2364984"/>
          </a:xfrm>
          <a:prstGeom prst="roundRect">
            <a:avLst/>
          </a:prstGeom>
          <a:ln/>
        </p:spPr>
        <p:style>
          <a:lnRef idx="2">
            <a:schemeClr val="accent2"/>
          </a:lnRef>
          <a:fillRef idx="1">
            <a:schemeClr val="lt1"/>
          </a:fillRef>
          <a:effectRef idx="0">
            <a:schemeClr val="accent2"/>
          </a:effectRef>
          <a:fontRef idx="minor">
            <a:schemeClr val="dk1"/>
          </a:fontRef>
        </p:style>
        <p:txBody>
          <a:bodyPr rtlCol="0" anchor="t"/>
          <a:lstStyle/>
          <a:p>
            <a:r>
              <a:rPr lang="en-GB" sz="1100" b="1" dirty="0"/>
              <a:t>Weight:</a:t>
            </a:r>
          </a:p>
          <a:p>
            <a:pPr marL="171450" indent="-171450">
              <a:buFont typeface="Arial" charset="0"/>
              <a:buChar char="•"/>
            </a:pPr>
            <a:r>
              <a:rPr lang="en-GB" sz="1100" dirty="0"/>
              <a:t>Find out how your weight would differ if you measured it at different point across the Earth’s surface.</a:t>
            </a:r>
          </a:p>
          <a:p>
            <a:pPr marL="171450" indent="-171450">
              <a:buFont typeface="Arial" charset="0"/>
              <a:buChar char="•"/>
            </a:pPr>
            <a:r>
              <a:rPr lang="en-GB" sz="1100" dirty="0"/>
              <a:t>Explain to the person next to you the difference between weight and mass.</a:t>
            </a:r>
          </a:p>
          <a:p>
            <a:pPr marL="171450" indent="-171450">
              <a:buFont typeface="Arial" charset="0"/>
              <a:buChar char="•"/>
            </a:pPr>
            <a:r>
              <a:rPr lang="en-GB" sz="1100" dirty="0"/>
              <a:t>Jupiter is approximately 11 times the diameter of the Earth.  The gravitational field strength of Jupiter is only 2.5 times greater than that of Earth.  Find out why there gravitational field strength of Jupiter is not 11 times greater.</a:t>
            </a:r>
          </a:p>
        </p:txBody>
      </p:sp>
      <p:sp>
        <p:nvSpPr>
          <p:cNvPr id="49" name="TextBox 48"/>
          <p:cNvSpPr txBox="1"/>
          <p:nvPr/>
        </p:nvSpPr>
        <p:spPr>
          <a:xfrm>
            <a:off x="3577331" y="3983938"/>
            <a:ext cx="2180266" cy="253916"/>
          </a:xfrm>
          <a:prstGeom prst="rect">
            <a:avLst/>
          </a:prstGeom>
          <a:noFill/>
        </p:spPr>
        <p:txBody>
          <a:bodyPr wrap="square" rtlCol="0">
            <a:spAutoFit/>
          </a:bodyPr>
          <a:lstStyle/>
          <a:p>
            <a:r>
              <a:rPr lang="en-GB" sz="1050" dirty="0"/>
              <a:t>© Copyright The PiXL Club Ltd, 2017</a:t>
            </a:r>
            <a:endParaRPr lang="en-US" sz="1050" dirty="0"/>
          </a:p>
        </p:txBody>
      </p:sp>
      <p:pic>
        <p:nvPicPr>
          <p:cNvPr id="2" name="Picture 1">
            <a:extLst>
              <a:ext uri="{FF2B5EF4-FFF2-40B4-BE49-F238E27FC236}">
                <a16:creationId xmlns:a16="http://schemas.microsoft.com/office/drawing/2014/main" id="{4CECFA7A-2350-A148-B565-3F03326BA9C0}"/>
              </a:ext>
            </a:extLst>
          </p:cNvPr>
          <p:cNvPicPr>
            <a:picLocks noChangeAspect="1"/>
          </p:cNvPicPr>
          <p:nvPr/>
        </p:nvPicPr>
        <p:blipFill>
          <a:blip r:embed="rId3"/>
          <a:stretch>
            <a:fillRect/>
          </a:stretch>
        </p:blipFill>
        <p:spPr>
          <a:xfrm>
            <a:off x="3174991" y="2676333"/>
            <a:ext cx="2984947" cy="1307605"/>
          </a:xfrm>
          <a:prstGeom prst="rect">
            <a:avLst/>
          </a:prstGeom>
        </p:spPr>
      </p:pic>
      <p:sp>
        <p:nvSpPr>
          <p:cNvPr id="8" name="Rounded Rectangle 7">
            <a:extLst>
              <a:ext uri="{FF2B5EF4-FFF2-40B4-BE49-F238E27FC236}">
                <a16:creationId xmlns:a16="http://schemas.microsoft.com/office/drawing/2014/main" id="{8ACD0C3C-C1F2-6343-88D4-7345E6D09272}"/>
              </a:ext>
            </a:extLst>
          </p:cNvPr>
          <p:cNvSpPr/>
          <p:nvPr/>
        </p:nvSpPr>
        <p:spPr>
          <a:xfrm>
            <a:off x="187778" y="144426"/>
            <a:ext cx="2987214" cy="2371417"/>
          </a:xfrm>
          <a:prstGeom prst="roundRect">
            <a:avLst/>
          </a:prstGeom>
          <a:solidFill>
            <a:schemeClr val="accent2">
              <a:lumMod val="20000"/>
              <a:lumOff val="80000"/>
            </a:schemeClr>
          </a:solidFill>
          <a:ln>
            <a:solidFill>
              <a:schemeClr val="accent2">
                <a:lumMod val="50000"/>
              </a:schemeClr>
            </a:solidFill>
          </a:ln>
        </p:spPr>
        <p:style>
          <a:lnRef idx="2">
            <a:schemeClr val="accent2"/>
          </a:lnRef>
          <a:fillRef idx="1">
            <a:schemeClr val="lt1"/>
          </a:fillRef>
          <a:effectRef idx="0">
            <a:schemeClr val="accent2"/>
          </a:effectRef>
          <a:fontRef idx="minor">
            <a:schemeClr val="dk1"/>
          </a:fontRef>
        </p:style>
        <p:txBody>
          <a:bodyPr rtlCol="0" anchor="t"/>
          <a:lstStyle/>
          <a:p>
            <a:r>
              <a:rPr lang="en-GB" sz="1100" b="1" dirty="0"/>
              <a:t>Scalar and vector quantities:</a:t>
            </a:r>
          </a:p>
          <a:p>
            <a:pPr marL="171450" indent="-171450">
              <a:buFont typeface="Arial" panose="020B0604020202020204" pitchFamily="34" charset="0"/>
              <a:buChar char="•"/>
            </a:pPr>
            <a:r>
              <a:rPr lang="en-GB" sz="1100" dirty="0"/>
              <a:t>Explain the similarities and differences between scalar and vector quantities.</a:t>
            </a:r>
          </a:p>
          <a:p>
            <a:pPr marL="171450" indent="-171450">
              <a:buFont typeface="Arial" panose="020B0604020202020204" pitchFamily="34" charset="0"/>
              <a:buChar char="•"/>
            </a:pPr>
            <a:r>
              <a:rPr lang="en-GB" sz="1100" dirty="0"/>
              <a:t>James travels on the M25 from Junction 25 at Enfield to Junction 8 towards Sutton. Explain the journey in terms of distance and displacement.</a:t>
            </a:r>
          </a:p>
          <a:p>
            <a:pPr marL="171450" indent="-171450">
              <a:buFont typeface="Arial" panose="020B0604020202020204" pitchFamily="34" charset="0"/>
              <a:buChar char="•"/>
            </a:pPr>
            <a:r>
              <a:rPr lang="en-GB" sz="1100" dirty="0"/>
              <a:t>Explain the difference between speed and velocity.</a:t>
            </a:r>
          </a:p>
          <a:p>
            <a:pPr marL="171450" indent="-171450">
              <a:buFont typeface="Arial" panose="020B0604020202020204" pitchFamily="34" charset="0"/>
              <a:buChar char="•"/>
            </a:pPr>
            <a:r>
              <a:rPr lang="en-GB" sz="1100" dirty="0"/>
              <a:t>A velodrome is a race used in professional cycling. Explain how the speed and velocity of a cyclist changes during a race. </a:t>
            </a:r>
          </a:p>
        </p:txBody>
      </p:sp>
      <p:sp>
        <p:nvSpPr>
          <p:cNvPr id="9" name="Rounded Rectangle 8">
            <a:extLst>
              <a:ext uri="{FF2B5EF4-FFF2-40B4-BE49-F238E27FC236}">
                <a16:creationId xmlns:a16="http://schemas.microsoft.com/office/drawing/2014/main" id="{39740C2F-D351-5540-919F-CF89A89F724D}"/>
              </a:ext>
            </a:extLst>
          </p:cNvPr>
          <p:cNvSpPr/>
          <p:nvPr/>
        </p:nvSpPr>
        <p:spPr>
          <a:xfrm>
            <a:off x="198191" y="2649954"/>
            <a:ext cx="2976799" cy="4051535"/>
          </a:xfrm>
          <a:prstGeom prst="roundRect">
            <a:avLst/>
          </a:prstGeom>
        </p:spPr>
        <p:style>
          <a:lnRef idx="2">
            <a:schemeClr val="accent2"/>
          </a:lnRef>
          <a:fillRef idx="1">
            <a:schemeClr val="lt1"/>
          </a:fillRef>
          <a:effectRef idx="0">
            <a:schemeClr val="accent2"/>
          </a:effectRef>
          <a:fontRef idx="minor">
            <a:schemeClr val="dk1"/>
          </a:fontRef>
        </p:style>
        <p:txBody>
          <a:bodyPr rtlCol="0" anchor="t"/>
          <a:lstStyle/>
          <a:p>
            <a:r>
              <a:rPr lang="en-GB" sz="1100" b="1" dirty="0"/>
              <a:t>Forces and motion:</a:t>
            </a:r>
          </a:p>
          <a:p>
            <a:pPr marL="171450" indent="-171450">
              <a:buFont typeface="Arial" charset="0"/>
              <a:buChar char="•"/>
            </a:pPr>
            <a:r>
              <a:rPr lang="en-GB" sz="1100" dirty="0"/>
              <a:t>A skydiver jumps out of a plane.</a:t>
            </a:r>
          </a:p>
          <a:p>
            <a:r>
              <a:rPr lang="en-GB" sz="1100" dirty="0"/>
              <a:t>The speed of the skydiver changes with time throughout the skydive.</a:t>
            </a:r>
          </a:p>
          <a:p>
            <a:r>
              <a:rPr lang="en-GB" sz="1100" dirty="0"/>
              <a:t>Figure 1 shows how the speed of the skydiver changes with time as he falls. </a:t>
            </a:r>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endParaRPr lang="en-GB" sz="1100" dirty="0"/>
          </a:p>
          <a:p>
            <a:r>
              <a:rPr lang="en-GB" sz="1100" dirty="0"/>
              <a:t>Describe fully the motion of the skydiver as they fall from Point A to Point F. In your answer you should calculate the acceleration at each stage.</a:t>
            </a:r>
          </a:p>
          <a:p>
            <a:endParaRPr lang="en-GB" sz="1100" dirty="0"/>
          </a:p>
          <a:p>
            <a:endParaRPr lang="en-GB" sz="1100" dirty="0"/>
          </a:p>
          <a:p>
            <a:pPr marL="171450" indent="-171450">
              <a:buFont typeface="Arial" charset="0"/>
              <a:buChar char="•"/>
            </a:pPr>
            <a:endParaRPr lang="en-GB" sz="1100" dirty="0"/>
          </a:p>
        </p:txBody>
      </p:sp>
      <p:pic>
        <p:nvPicPr>
          <p:cNvPr id="3" name="Picture 2">
            <a:extLst>
              <a:ext uri="{FF2B5EF4-FFF2-40B4-BE49-F238E27FC236}">
                <a16:creationId xmlns:a16="http://schemas.microsoft.com/office/drawing/2014/main" id="{20AC2114-C013-FB45-B69E-F62420734014}"/>
              </a:ext>
            </a:extLst>
          </p:cNvPr>
          <p:cNvPicPr>
            <a:picLocks noChangeAspect="1"/>
          </p:cNvPicPr>
          <p:nvPr/>
        </p:nvPicPr>
        <p:blipFill>
          <a:blip r:embed="rId4"/>
          <a:stretch>
            <a:fillRect/>
          </a:stretch>
        </p:blipFill>
        <p:spPr>
          <a:xfrm>
            <a:off x="736525" y="4052936"/>
            <a:ext cx="1838234" cy="1689405"/>
          </a:xfrm>
          <a:prstGeom prst="rect">
            <a:avLst/>
          </a:prstGeom>
        </p:spPr>
      </p:pic>
    </p:spTree>
    <p:extLst>
      <p:ext uri="{BB962C8B-B14F-4D97-AF65-F5344CB8AC3E}">
        <p14:creationId xmlns:p14="http://schemas.microsoft.com/office/powerpoint/2010/main" val="1231778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MPLATE THINKIT" id="{999C12DA-BDAB-614A-AF3B-CC505B52B3A9}" vid="{2545354F-674C-8E45-97A2-0D9EB86DC1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 THINKIT</Template>
  <TotalTime>5995</TotalTime>
  <Words>448</Words>
  <Application>Microsoft Macintosh PowerPoint</Application>
  <PresentationFormat>On-screen Show (4:3)</PresentationFormat>
  <Paragraphs>39</Paragraphs>
  <Slides>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16.0015</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Derek Davies</dc:creator>
  <cp:lastModifiedBy>Amanda Fleck</cp:lastModifiedBy>
  <cp:revision>82</cp:revision>
  <cp:lastPrinted>2017-07-02T10:37:01Z</cp:lastPrinted>
  <dcterms:created xsi:type="dcterms:W3CDTF">2017-06-16T15:08:11Z</dcterms:created>
  <dcterms:modified xsi:type="dcterms:W3CDTF">2018-08-20T10:30:31Z</dcterms:modified>
</cp:coreProperties>
</file>