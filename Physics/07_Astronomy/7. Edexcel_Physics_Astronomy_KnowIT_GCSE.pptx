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38"/>
  </p:notesMasterIdLst>
  <p:sldIdLst>
    <p:sldId id="256" r:id="rId3"/>
    <p:sldId id="281" r:id="rId4"/>
    <p:sldId id="314" r:id="rId5"/>
    <p:sldId id="282" r:id="rId6"/>
    <p:sldId id="486" r:id="rId7"/>
    <p:sldId id="283" r:id="rId8"/>
    <p:sldId id="295" r:id="rId9"/>
    <p:sldId id="378" r:id="rId10"/>
    <p:sldId id="376" r:id="rId11"/>
    <p:sldId id="330" r:id="rId12"/>
    <p:sldId id="395" r:id="rId13"/>
    <p:sldId id="398" r:id="rId14"/>
    <p:sldId id="399" r:id="rId15"/>
    <p:sldId id="425" r:id="rId16"/>
    <p:sldId id="487" r:id="rId17"/>
    <p:sldId id="488" r:id="rId18"/>
    <p:sldId id="489" r:id="rId19"/>
    <p:sldId id="472" r:id="rId20"/>
    <p:sldId id="490" r:id="rId21"/>
    <p:sldId id="401" r:id="rId22"/>
    <p:sldId id="356" r:id="rId23"/>
    <p:sldId id="357" r:id="rId24"/>
    <p:sldId id="400" r:id="rId25"/>
    <p:sldId id="375" r:id="rId26"/>
    <p:sldId id="377" r:id="rId27"/>
    <p:sldId id="476" r:id="rId28"/>
    <p:sldId id="491" r:id="rId29"/>
    <p:sldId id="492" r:id="rId30"/>
    <p:sldId id="493" r:id="rId31"/>
    <p:sldId id="494" r:id="rId32"/>
    <p:sldId id="477" r:id="rId33"/>
    <p:sldId id="389" r:id="rId34"/>
    <p:sldId id="390" r:id="rId35"/>
    <p:sldId id="391" r:id="rId36"/>
    <p:sldId id="40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extLst/>
  </p:cmAuthor>
  <p:cmAuthor id="2" name="Microsoft Office User" initials="Office [2]" lastIdx="1" clrIdx="1">
    <p:extLst/>
  </p:cmAuthor>
  <p:cmAuthor id="3" name="Microsoft Office User" initials="Office [3]" lastIdx="1" clrIdx="2">
    <p:extLst/>
  </p:cmAuthor>
  <p:cmAuthor id="4" name="Microsoft Office User" initials="Office [4]" lastIdx="1" clrIdx="3">
    <p:extLst/>
  </p:cmAuthor>
  <p:cmAuthor id="5" name="Microsoft Office User" initials="Office [5]" lastIdx="1" clrIdx="4">
    <p:extLst/>
  </p:cmAuthor>
  <p:cmAuthor id="6" name="Microsoft Office User" initials="Office [6]" lastIdx="1" clrIdx="5">
    <p:extLst/>
  </p:cmAuthor>
  <p:cmAuthor id="7" name="Microsoft Office User" initials="Office [7]" lastIdx="1" clrIdx="6">
    <p:extLst/>
  </p:cmAuthor>
  <p:cmAuthor id="8" name="Microsoft Office User" initials="Office [8]" lastIdx="1" clrIdx="7">
    <p:extLst/>
  </p:cmAuthor>
  <p:cmAuthor id="9" name="Microsoft Office User" initials="Office [9]" lastIdx="1" clrIdx="8">
    <p:extLst/>
  </p:cmAuthor>
  <p:cmAuthor id="10" name="Microsoft Office User" initials="Office [10]" lastIdx="1" clrIdx="9">
    <p:extLst/>
  </p:cmAuthor>
  <p:cmAuthor id="11" name="Microsoft Office User" initials="Office [11]" lastIdx="1" clrIdx="10">
    <p:extLst/>
  </p:cmAuthor>
  <p:cmAuthor id="12" name="Microsoft Office User" initials="Office [12]" lastIdx="1" clrIdx="11">
    <p:extLst/>
  </p:cmAuthor>
  <p:cmAuthor id="13" name="Microsoft Office User" initials="Office [13]" lastIdx="1" clrIdx="12">
    <p:extLst/>
  </p:cmAuthor>
  <p:cmAuthor id="14" name="Microsoft Office User" initials="Office [14]" lastIdx="1" clrIdx="13">
    <p:extLst/>
  </p:cmAuthor>
  <p:cmAuthor id="15" name="Microsoft Office User" initials="Office [15]" lastIdx="1" clrIdx="14">
    <p:extLst/>
  </p:cmAuthor>
  <p:cmAuthor id="16" name="Microsoft Office User" initials="Office [16]" lastIdx="1" clrIdx="15">
    <p:extLst/>
  </p:cmAuthor>
  <p:cmAuthor id="17" name="Microsoft Office User" initials="Office [17]" lastIdx="1" clrIdx="16">
    <p:extLst/>
  </p:cmAuthor>
  <p:cmAuthor id="18" name="Microsoft Office User" initials="Office [18]" lastIdx="1" clrIdx="17">
    <p:extLst/>
  </p:cmAuthor>
  <p:cmAuthor id="19" name="Microsoft Office User" initials="Office [19]" lastIdx="1" clrIdx="18">
    <p:extLst/>
  </p:cmAuthor>
  <p:cmAuthor id="20" name="Microsoft Office User" initials="Office [20]" lastIdx="1" clrIdx="19">
    <p:extLst/>
  </p:cmAuthor>
  <p:cmAuthor id="21" name="Microsoft Office User" initials="Office [21]" lastIdx="1" clrIdx="20">
    <p:extLst/>
  </p:cmAuthor>
  <p:cmAuthor id="22" name="Microsoft Office User" initials="Office [22]" lastIdx="1" clrIdx="21">
    <p:extLst/>
  </p:cmAuthor>
  <p:cmAuthor id="23" name="Microsoft Office User" initials="Office [23]" lastIdx="1" clrIdx="22">
    <p:extLst/>
  </p:cmAuthor>
  <p:cmAuthor id="24" name="Microsoft Office User" initials="Office [24]" lastIdx="1" clrIdx="23">
    <p:extLst/>
  </p:cmAuthor>
  <p:cmAuthor id="25" name="Microsoft Office User" initials="Office [25]" lastIdx="1" clrIdx="24">
    <p:extLst/>
  </p:cmAuthor>
  <p:cmAuthor id="26" name="Microsoft Office User" initials="Office [26]" lastIdx="1" clrIdx="25">
    <p:extLst/>
  </p:cmAuthor>
  <p:cmAuthor id="27" name="Microsoft Office User" initials="Office [27]" lastIdx="1" clrIdx="26">
    <p:extLst/>
  </p:cmAuthor>
  <p:cmAuthor id="28" name="Microsoft Office User" initials="Office [28]" lastIdx="1" clrIdx="27">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29" autoAdjust="0"/>
    <p:restoredTop sz="94136" autoAdjust="0"/>
  </p:normalViewPr>
  <p:slideViewPr>
    <p:cSldViewPr>
      <p:cViewPr varScale="1">
        <p:scale>
          <a:sx n="92" d="100"/>
          <a:sy n="92" d="100"/>
        </p:scale>
        <p:origin x="176" y="46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8/28/18</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3337447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2110891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3010220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dirty="0"/>
          </a:p>
        </p:txBody>
      </p:sp>
    </p:spTree>
    <p:extLst>
      <p:ext uri="{BB962C8B-B14F-4D97-AF65-F5344CB8AC3E}">
        <p14:creationId xmlns:p14="http://schemas.microsoft.com/office/powerpoint/2010/main" val="155902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2182171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dirty="0"/>
          </a:p>
        </p:txBody>
      </p:sp>
    </p:spTree>
    <p:extLst>
      <p:ext uri="{BB962C8B-B14F-4D97-AF65-F5344CB8AC3E}">
        <p14:creationId xmlns:p14="http://schemas.microsoft.com/office/powerpoint/2010/main" val="2362506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dirty="0"/>
          </a:p>
        </p:txBody>
      </p:sp>
    </p:spTree>
    <p:extLst>
      <p:ext uri="{BB962C8B-B14F-4D97-AF65-F5344CB8AC3E}">
        <p14:creationId xmlns:p14="http://schemas.microsoft.com/office/powerpoint/2010/main" val="2588537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dirty="0"/>
          </a:p>
        </p:txBody>
      </p:sp>
    </p:spTree>
    <p:extLst>
      <p:ext uri="{BB962C8B-B14F-4D97-AF65-F5344CB8AC3E}">
        <p14:creationId xmlns:p14="http://schemas.microsoft.com/office/powerpoint/2010/main" val="1332867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23</a:t>
            </a:fld>
            <a:endParaRPr lang="en-US" dirty="0"/>
          </a:p>
        </p:txBody>
      </p:sp>
    </p:spTree>
    <p:extLst>
      <p:ext uri="{BB962C8B-B14F-4D97-AF65-F5344CB8AC3E}">
        <p14:creationId xmlns:p14="http://schemas.microsoft.com/office/powerpoint/2010/main" val="4055701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dirty="0"/>
          </a:p>
        </p:txBody>
      </p:sp>
    </p:spTree>
    <p:extLst>
      <p:ext uri="{BB962C8B-B14F-4D97-AF65-F5344CB8AC3E}">
        <p14:creationId xmlns:p14="http://schemas.microsoft.com/office/powerpoint/2010/main" val="2670641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2314327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dirty="0"/>
          </a:p>
        </p:txBody>
      </p:sp>
    </p:spTree>
    <p:extLst>
      <p:ext uri="{BB962C8B-B14F-4D97-AF65-F5344CB8AC3E}">
        <p14:creationId xmlns:p14="http://schemas.microsoft.com/office/powerpoint/2010/main" val="667335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dirty="0"/>
          </a:p>
        </p:txBody>
      </p:sp>
    </p:spTree>
    <p:extLst>
      <p:ext uri="{BB962C8B-B14F-4D97-AF65-F5344CB8AC3E}">
        <p14:creationId xmlns:p14="http://schemas.microsoft.com/office/powerpoint/2010/main" val="2486598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dirty="0"/>
          </a:p>
        </p:txBody>
      </p:sp>
    </p:spTree>
    <p:extLst>
      <p:ext uri="{BB962C8B-B14F-4D97-AF65-F5344CB8AC3E}">
        <p14:creationId xmlns:p14="http://schemas.microsoft.com/office/powerpoint/2010/main" val="4196135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dirty="0"/>
          </a:p>
        </p:txBody>
      </p:sp>
    </p:spTree>
    <p:extLst>
      <p:ext uri="{BB962C8B-B14F-4D97-AF65-F5344CB8AC3E}">
        <p14:creationId xmlns:p14="http://schemas.microsoft.com/office/powerpoint/2010/main" val="19298196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3214172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dirty="0"/>
          </a:p>
        </p:txBody>
      </p:sp>
    </p:spTree>
    <p:extLst>
      <p:ext uri="{BB962C8B-B14F-4D97-AF65-F5344CB8AC3E}">
        <p14:creationId xmlns:p14="http://schemas.microsoft.com/office/powerpoint/2010/main" val="1682123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28/08/2018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28/08/2018</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3.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gif"/><Relationship Id="rId5" Type="http://schemas.openxmlformats.org/officeDocument/2006/relationships/image" Target="../media/image19.png"/><Relationship Id="rId4" Type="http://schemas.openxmlformats.org/officeDocument/2006/relationships/image" Target="../media/image18.gif"/></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xmlns="">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3234732"/>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Physics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 Edexcel Astronomy (Physics only)</a:t>
            </a: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r"/>
            <a:r>
              <a:rPr lang="en-GB" b="1" dirty="0">
                <a:solidFill>
                  <a:schemeClr val="accent6"/>
                </a:solidFill>
              </a:rPr>
              <a:t>												Overview </a:t>
            </a:r>
            <a:br>
              <a:rPr lang="en-GB" b="1" dirty="0">
                <a:solidFill>
                  <a:schemeClr val="accent6"/>
                </a:solidFill>
              </a:rPr>
            </a:br>
            <a:r>
              <a:rPr lang="en-GB" b="1" dirty="0">
                <a:solidFill>
                  <a:schemeClr val="accent6"/>
                </a:solidFill>
              </a:rPr>
              <a:t>		Edexcel Topic 7 </a:t>
            </a:r>
          </a:p>
        </p:txBody>
      </p:sp>
      <p:sp>
        <p:nvSpPr>
          <p:cNvPr id="5" name="TextBox 4">
            <a:extLst>
              <a:ext uri="{FF2B5EF4-FFF2-40B4-BE49-F238E27FC236}">
                <a16:creationId xmlns:a16="http://schemas.microsoft.com/office/drawing/2014/main" id="{33337A62-5225-6D44-A752-1048728B8B19}"/>
              </a:ext>
            </a:extLst>
          </p:cNvPr>
          <p:cNvSpPr txBox="1"/>
          <p:nvPr/>
        </p:nvSpPr>
        <p:spPr>
          <a:xfrm>
            <a:off x="179512" y="1412776"/>
            <a:ext cx="4511460" cy="3693319"/>
          </a:xfrm>
          <a:prstGeom prst="rect">
            <a:avLst/>
          </a:prstGeom>
          <a:noFill/>
        </p:spPr>
        <p:txBody>
          <a:bodyPr wrap="square" rtlCol="0">
            <a:spAutoFit/>
          </a:bodyPr>
          <a:lstStyle/>
          <a:p>
            <a:pPr marL="0" lvl="1"/>
            <a:r>
              <a:rPr lang="en-US" sz="2800" b="1" dirty="0"/>
              <a:t>Astronomy</a:t>
            </a:r>
          </a:p>
          <a:p>
            <a:pPr marL="0" lvl="1"/>
            <a:r>
              <a:rPr lang="en-US" sz="2400" b="1" dirty="0">
                <a:solidFill>
                  <a:schemeClr val="tx1">
                    <a:lumMod val="85000"/>
                    <a:lumOff val="15000"/>
                  </a:schemeClr>
                </a:solidFill>
              </a:rPr>
              <a:t>Part 1</a:t>
            </a:r>
          </a:p>
          <a:p>
            <a:pPr marL="342900" lvl="1" indent="-342900">
              <a:buFont typeface="Arial" panose="020B0604020202020204" pitchFamily="34" charset="0"/>
              <a:buChar char="•"/>
            </a:pPr>
            <a:r>
              <a:rPr lang="en-US" sz="2400" b="1" dirty="0">
                <a:solidFill>
                  <a:schemeClr val="tx1">
                    <a:lumMod val="85000"/>
                    <a:lumOff val="15000"/>
                  </a:schemeClr>
                </a:solidFill>
              </a:rPr>
              <a:t>Solar system</a:t>
            </a:r>
          </a:p>
          <a:p>
            <a:pPr marL="342900" lvl="1" indent="-342900">
              <a:buFont typeface="Arial" panose="020B0604020202020204" pitchFamily="34" charset="0"/>
              <a:buChar char="•"/>
            </a:pPr>
            <a:r>
              <a:rPr lang="en-US" sz="2400" b="1" dirty="0">
                <a:solidFill>
                  <a:schemeClr val="tx1">
                    <a:lumMod val="85000"/>
                    <a:lumOff val="15000"/>
                  </a:schemeClr>
                </a:solidFill>
              </a:rPr>
              <a:t>Gravity and orbits</a:t>
            </a:r>
          </a:p>
          <a:p>
            <a:pPr marL="342900" lvl="1" indent="-342900">
              <a:buFont typeface="Arial" panose="020B0604020202020204" pitchFamily="34" charset="0"/>
              <a:buChar char="•"/>
            </a:pPr>
            <a:endParaRPr lang="en-US" sz="2400" b="1" dirty="0">
              <a:solidFill>
                <a:schemeClr val="tx1">
                  <a:lumMod val="85000"/>
                  <a:lumOff val="15000"/>
                </a:schemeClr>
              </a:solidFill>
            </a:endParaRPr>
          </a:p>
          <a:p>
            <a:pPr marL="0" lvl="1"/>
            <a:r>
              <a:rPr lang="en-US" sz="2400" b="1" dirty="0">
                <a:solidFill>
                  <a:schemeClr val="tx1">
                    <a:lumMod val="85000"/>
                    <a:lumOff val="15000"/>
                  </a:schemeClr>
                </a:solidFill>
              </a:rPr>
              <a:t>Part 2</a:t>
            </a:r>
          </a:p>
          <a:p>
            <a:pPr marL="342900" lvl="1" indent="-342900">
              <a:buFont typeface="Arial" panose="020B0604020202020204" pitchFamily="34" charset="0"/>
              <a:buChar char="•"/>
            </a:pPr>
            <a:r>
              <a:rPr lang="en-US" sz="2400" b="1" dirty="0">
                <a:solidFill>
                  <a:schemeClr val="tx1">
                    <a:lumMod val="85000"/>
                    <a:lumOff val="15000"/>
                  </a:schemeClr>
                </a:solidFill>
              </a:rPr>
              <a:t>Origin of the universe</a:t>
            </a:r>
          </a:p>
          <a:p>
            <a:pPr marL="342900" lvl="1" indent="-342900">
              <a:buFont typeface="Arial" panose="020B0604020202020204" pitchFamily="34" charset="0"/>
              <a:buChar char="•"/>
            </a:pPr>
            <a:r>
              <a:rPr lang="en-US" sz="2400" b="1" dirty="0">
                <a:solidFill>
                  <a:schemeClr val="tx1">
                    <a:lumMod val="85000"/>
                    <a:lumOff val="15000"/>
                  </a:schemeClr>
                </a:solidFill>
              </a:rPr>
              <a:t>Redshift</a:t>
            </a:r>
          </a:p>
          <a:p>
            <a:pPr marL="342900" lvl="1" indent="-342900">
              <a:buFont typeface="Arial" panose="020B0604020202020204" pitchFamily="34" charset="0"/>
              <a:buChar char="•"/>
            </a:pPr>
            <a:r>
              <a:rPr lang="en-US" sz="2400" b="1" dirty="0">
                <a:solidFill>
                  <a:schemeClr val="tx1">
                    <a:lumMod val="85000"/>
                    <a:lumOff val="15000"/>
                  </a:schemeClr>
                </a:solidFill>
              </a:rPr>
              <a:t>Life cycle of stars</a:t>
            </a:r>
          </a:p>
          <a:p>
            <a:pPr marL="0" lvl="1"/>
            <a:endParaRPr lang="en-US" sz="1400" b="1" dirty="0">
              <a:solidFill>
                <a:schemeClr val="tx1">
                  <a:lumMod val="85000"/>
                  <a:lumOff val="15000"/>
                </a:schemeClr>
              </a:solidFill>
            </a:endParaRPr>
          </a:p>
        </p:txBody>
      </p:sp>
      <p:pic>
        <p:nvPicPr>
          <p:cNvPr id="6" name="Picture 5">
            <a:extLst>
              <a:ext uri="{FF2B5EF4-FFF2-40B4-BE49-F238E27FC236}">
                <a16:creationId xmlns:a16="http://schemas.microsoft.com/office/drawing/2014/main" id="{D2AA6E16-D560-7E4E-A583-53AD1D98C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3968" y="1035944"/>
            <a:ext cx="4201508" cy="5390614"/>
          </a:xfrm>
          <a:prstGeom prst="rect">
            <a:avLst/>
          </a:prstGeom>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3730600" cy="5570756"/>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Part 1</a:t>
            </a:r>
          </a:p>
          <a:p>
            <a:endParaRPr lang="en-GB" sz="3200" b="1" dirty="0">
              <a:solidFill>
                <a:schemeClr val="tx1">
                  <a:lumMod val="50000"/>
                  <a:lumOff val="50000"/>
                </a:schemeClr>
              </a:solidFill>
            </a:endParaRPr>
          </a:p>
          <a:p>
            <a:pPr marL="457200" indent="-457200">
              <a:buFont typeface="Arial" panose="020B0604020202020204" pitchFamily="34" charset="0"/>
              <a:buChar char="•"/>
            </a:pPr>
            <a:r>
              <a:rPr lang="en-GB" sz="2000" b="1" dirty="0">
                <a:solidFill>
                  <a:schemeClr val="tx1">
                    <a:lumMod val="50000"/>
                    <a:lumOff val="50000"/>
                  </a:schemeClr>
                </a:solidFill>
              </a:rPr>
              <a:t>Solar system</a:t>
            </a:r>
          </a:p>
          <a:p>
            <a:pPr marL="457200" indent="-457200">
              <a:buFont typeface="Arial" panose="020B0604020202020204" pitchFamily="34" charset="0"/>
              <a:buChar char="•"/>
            </a:pPr>
            <a:r>
              <a:rPr lang="en-GB" sz="2000" b="1" dirty="0">
                <a:solidFill>
                  <a:schemeClr val="tx1">
                    <a:lumMod val="50000"/>
                    <a:lumOff val="50000"/>
                  </a:schemeClr>
                </a:solidFill>
              </a:rPr>
              <a:t>Gravity and orbits</a:t>
            </a:r>
          </a:p>
          <a:p>
            <a:pPr marL="457200" indent="-457200">
              <a:buFont typeface="Arial" panose="020B0604020202020204" pitchFamily="34" charset="0"/>
              <a:buChar char="•"/>
            </a:pPr>
            <a:endParaRPr lang="en-GB" sz="2000" b="1" dirty="0">
              <a:solidFill>
                <a:schemeClr val="tx1">
                  <a:lumMod val="50000"/>
                  <a:lumOff val="50000"/>
                </a:schemeClr>
              </a:solidFill>
            </a:endParaRPr>
          </a:p>
          <a:p>
            <a:endParaRPr lang="en-GB" sz="3200" b="1" dirty="0">
              <a:solidFill>
                <a:schemeClr val="tx1">
                  <a:lumMod val="50000"/>
                  <a:lumOff val="50000"/>
                </a:schemeClr>
              </a:solidFill>
            </a:endParaRPr>
          </a:p>
          <a:p>
            <a:pPr marL="342900" lvl="1" indent="-342900">
              <a:buFont typeface="Arial" panose="020B0604020202020204" pitchFamily="34" charset="0"/>
              <a:buChar char="•"/>
            </a:pPr>
            <a:endParaRPr lang="en-US" sz="2000" b="1" dirty="0">
              <a:solidFill>
                <a:schemeClr val="tx1">
                  <a:lumMod val="50000"/>
                  <a:lumOff val="50000"/>
                </a:schemeClr>
              </a:solidFill>
            </a:endParaRPr>
          </a:p>
          <a:p>
            <a:endParaRPr lang="en-GB" dirty="0"/>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3059832" y="0"/>
            <a:ext cx="6120680" cy="6525344"/>
          </a:xfrm>
          <a:prstGeom prst="rect">
            <a:avLst/>
          </a:prstGeom>
        </p:spPr>
      </p:pic>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3200" b="1" dirty="0">
                <a:solidFill>
                  <a:schemeClr val="accent6">
                    <a:lumMod val="75000"/>
                  </a:schemeClr>
                </a:solidFill>
                <a:latin typeface="+mn-lt"/>
              </a:rPr>
              <a:t>													Weight and mass</a:t>
            </a:r>
            <a:endParaRPr lang="en-GB" sz="3200" b="1" dirty="0">
              <a:solidFill>
                <a:schemeClr val="accent6">
                  <a:lumMod val="75000"/>
                </a:schemeClr>
              </a:solidFill>
              <a:latin typeface="+mn-lt"/>
            </a:endParaRPr>
          </a:p>
        </p:txBody>
      </p:sp>
      <p:sp>
        <p:nvSpPr>
          <p:cNvPr id="7" name="Rectangle 6">
            <a:extLst>
              <a:ext uri="{FF2B5EF4-FFF2-40B4-BE49-F238E27FC236}">
                <a16:creationId xmlns:a16="http://schemas.microsoft.com/office/drawing/2014/main" id="{503B26D1-74E3-D842-9912-0A3869F38157}"/>
              </a:ext>
            </a:extLst>
          </p:cNvPr>
          <p:cNvSpPr/>
          <p:nvPr/>
        </p:nvSpPr>
        <p:spPr>
          <a:xfrm>
            <a:off x="5724128" y="1931606"/>
            <a:ext cx="3157569" cy="7078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GB" sz="2000" b="1" dirty="0"/>
              <a:t>On Earth gravitational field strength (g) = 10 N/kg)</a:t>
            </a:r>
            <a:endParaRPr lang="en-GB" sz="2000" b="1" dirty="0">
              <a:effectLst/>
            </a:endParaRPr>
          </a:p>
        </p:txBody>
      </p:sp>
      <p:sp>
        <p:nvSpPr>
          <p:cNvPr id="9" name="Rectangle 8">
            <a:extLst>
              <a:ext uri="{FF2B5EF4-FFF2-40B4-BE49-F238E27FC236}">
                <a16:creationId xmlns:a16="http://schemas.microsoft.com/office/drawing/2014/main" id="{7EB0421D-D0FA-CD45-BFB7-1D432452EC12}"/>
              </a:ext>
            </a:extLst>
          </p:cNvPr>
          <p:cNvSpPr/>
          <p:nvPr/>
        </p:nvSpPr>
        <p:spPr>
          <a:xfrm>
            <a:off x="81535" y="2300232"/>
            <a:ext cx="9062465" cy="1508105"/>
          </a:xfrm>
          <a:prstGeom prst="rect">
            <a:avLst/>
          </a:prstGeom>
        </p:spPr>
        <p:txBody>
          <a:bodyPr wrap="square">
            <a:spAutoFit/>
          </a:bodyPr>
          <a:lstStyle/>
          <a:p>
            <a:r>
              <a:rPr lang="en-GB" sz="2400" dirty="0"/>
              <a:t>Recall and use the equation:</a:t>
            </a:r>
          </a:p>
          <a:p>
            <a:endParaRPr lang="en-GB" sz="1000" dirty="0"/>
          </a:p>
          <a:p>
            <a:pPr algn="ctr"/>
            <a:r>
              <a:rPr lang="en-GB" sz="2400" b="1" dirty="0">
                <a:solidFill>
                  <a:schemeClr val="accent6">
                    <a:lumMod val="75000"/>
                  </a:schemeClr>
                </a:solidFill>
              </a:rPr>
              <a:t>weight (N) = mass (kg) × gravitational field strength (N/kg)</a:t>
            </a:r>
          </a:p>
          <a:p>
            <a:pPr algn="ctr"/>
            <a:endParaRPr lang="en-GB" sz="1000" b="1" dirty="0">
              <a:solidFill>
                <a:schemeClr val="accent6">
                  <a:lumMod val="75000"/>
                </a:schemeClr>
              </a:solidFill>
            </a:endParaRPr>
          </a:p>
          <a:p>
            <a:pPr algn="ctr"/>
            <a:r>
              <a:rPr lang="en-GB" sz="2400" b="1" dirty="0">
                <a:solidFill>
                  <a:schemeClr val="accent6">
                    <a:lumMod val="75000"/>
                  </a:schemeClr>
                </a:solidFill>
              </a:rPr>
              <a:t>W = m × g</a:t>
            </a:r>
            <a:endParaRPr lang="en-GB" sz="2400" b="1" dirty="0">
              <a:solidFill>
                <a:schemeClr val="accent6">
                  <a:lumMod val="75000"/>
                </a:schemeClr>
              </a:solidFill>
              <a:effectLst/>
            </a:endParaRPr>
          </a:p>
        </p:txBody>
      </p:sp>
      <p:sp>
        <p:nvSpPr>
          <p:cNvPr id="10" name="Rectangle 9">
            <a:extLst>
              <a:ext uri="{FF2B5EF4-FFF2-40B4-BE49-F238E27FC236}">
                <a16:creationId xmlns:a16="http://schemas.microsoft.com/office/drawing/2014/main" id="{65370393-E229-0E47-BD14-71B10E2ED13A}"/>
              </a:ext>
            </a:extLst>
          </p:cNvPr>
          <p:cNvSpPr/>
          <p:nvPr/>
        </p:nvSpPr>
        <p:spPr>
          <a:xfrm>
            <a:off x="81535" y="3852555"/>
            <a:ext cx="8863457" cy="2677656"/>
          </a:xfrm>
          <a:prstGeom prst="rect">
            <a:avLst/>
          </a:prstGeom>
        </p:spPr>
        <p:txBody>
          <a:bodyPr wrap="square">
            <a:spAutoFit/>
          </a:bodyPr>
          <a:lstStyle/>
          <a:p>
            <a:r>
              <a:rPr lang="en-US" sz="2400" b="1" dirty="0"/>
              <a:t>On Earth this means that a one kilogram mass would have a weight of 10 N.  </a:t>
            </a:r>
          </a:p>
          <a:p>
            <a:endParaRPr lang="en-US" sz="2400" b="1" dirty="0"/>
          </a:p>
          <a:p>
            <a:r>
              <a:rPr lang="en-US" sz="2400" b="1" dirty="0"/>
              <a:t>The value of the gravitational field strength will depend on where you are.  On the Moon your weight will be approximately one sixth of your weight on Earth.</a:t>
            </a:r>
          </a:p>
          <a:p>
            <a:endParaRPr lang="en-US" sz="2400" b="1" dirty="0"/>
          </a:p>
        </p:txBody>
      </p:sp>
      <p:sp>
        <p:nvSpPr>
          <p:cNvPr id="11" name="Rectangle 10">
            <a:extLst>
              <a:ext uri="{FF2B5EF4-FFF2-40B4-BE49-F238E27FC236}">
                <a16:creationId xmlns:a16="http://schemas.microsoft.com/office/drawing/2014/main" id="{EA0F79ED-9C53-B841-BB1C-99A97C83492B}"/>
              </a:ext>
            </a:extLst>
          </p:cNvPr>
          <p:cNvSpPr/>
          <p:nvPr/>
        </p:nvSpPr>
        <p:spPr>
          <a:xfrm>
            <a:off x="112031" y="764704"/>
            <a:ext cx="8832961" cy="1384995"/>
          </a:xfrm>
          <a:prstGeom prst="rect">
            <a:avLst/>
          </a:prstGeom>
        </p:spPr>
        <p:txBody>
          <a:bodyPr wrap="square">
            <a:spAutoFit/>
          </a:bodyPr>
          <a:lstStyle/>
          <a:p>
            <a:r>
              <a:rPr lang="en-GB" sz="2400" b="1" dirty="0">
                <a:solidFill>
                  <a:srgbClr val="333333"/>
                </a:solidFill>
              </a:rPr>
              <a:t>Weight and mass</a:t>
            </a:r>
          </a:p>
          <a:p>
            <a:pPr marL="342900" indent="-342900">
              <a:buFont typeface="Arial" panose="020B0604020202020204" pitchFamily="34" charset="0"/>
              <a:buChar char="•"/>
            </a:pPr>
            <a:r>
              <a:rPr lang="en-GB" sz="2000" b="1" dirty="0">
                <a:solidFill>
                  <a:srgbClr val="333333"/>
                </a:solidFill>
              </a:rPr>
              <a:t>Weight is not the same as mass. Mass is a measure of how much ”stuff” or matter there is in an object. Weight is a force acting on that matter. </a:t>
            </a:r>
          </a:p>
          <a:p>
            <a:pPr marL="342900" indent="-342900">
              <a:buFont typeface="Arial" panose="020B0604020202020204" pitchFamily="34" charset="0"/>
              <a:buChar char="•"/>
            </a:pPr>
            <a:r>
              <a:rPr lang="en-GB" sz="2000" b="1" dirty="0">
                <a:solidFill>
                  <a:srgbClr val="333333"/>
                </a:solidFill>
              </a:rPr>
              <a:t>Weight is the result of gravity</a:t>
            </a:r>
            <a:r>
              <a:rPr lang="en-GB" sz="2000" dirty="0">
                <a:solidFill>
                  <a:srgbClr val="333333"/>
                </a:solidFill>
              </a:rPr>
              <a:t>. </a:t>
            </a:r>
          </a:p>
        </p:txBody>
      </p:sp>
    </p:spTree>
    <p:extLst>
      <p:ext uri="{BB962C8B-B14F-4D97-AF65-F5344CB8AC3E}">
        <p14:creationId xmlns:p14="http://schemas.microsoft.com/office/powerpoint/2010/main" val="425901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3200" b="1" dirty="0">
                <a:solidFill>
                  <a:schemeClr val="accent6">
                    <a:lumMod val="75000"/>
                  </a:schemeClr>
                </a:solidFill>
                <a:latin typeface="+mn-lt"/>
              </a:rPr>
              <a:t>													Our solar system</a:t>
            </a:r>
            <a:endParaRPr lang="en-GB" sz="3200" b="1" dirty="0">
              <a:solidFill>
                <a:schemeClr val="accent6">
                  <a:lumMod val="75000"/>
                </a:schemeClr>
              </a:solidFill>
              <a:latin typeface="+mn-lt"/>
            </a:endParaRPr>
          </a:p>
        </p:txBody>
      </p:sp>
      <p:sp>
        <p:nvSpPr>
          <p:cNvPr id="3" name="TextBox 2">
            <a:extLst>
              <a:ext uri="{FF2B5EF4-FFF2-40B4-BE49-F238E27FC236}">
                <a16:creationId xmlns:a16="http://schemas.microsoft.com/office/drawing/2014/main" id="{FAB18EE7-66D4-4C13-BBFC-01F53C75ED9B}"/>
              </a:ext>
            </a:extLst>
          </p:cNvPr>
          <p:cNvSpPr txBox="1"/>
          <p:nvPr/>
        </p:nvSpPr>
        <p:spPr>
          <a:xfrm>
            <a:off x="251520" y="832970"/>
            <a:ext cx="8576930" cy="954107"/>
          </a:xfrm>
          <a:prstGeom prst="rect">
            <a:avLst/>
          </a:prstGeom>
          <a:solidFill>
            <a:schemeClr val="accent6">
              <a:lumMod val="60000"/>
              <a:lumOff val="40000"/>
            </a:schemeClr>
          </a:solidFill>
        </p:spPr>
        <p:txBody>
          <a:bodyPr wrap="square" rtlCol="0">
            <a:spAutoFit/>
          </a:bodyPr>
          <a:lstStyle/>
          <a:p>
            <a:pPr algn="ctr"/>
            <a:r>
              <a:rPr lang="en-GB" sz="2800" dirty="0"/>
              <a:t>Our </a:t>
            </a:r>
            <a:r>
              <a:rPr lang="en-GB" sz="2800" b="1" dirty="0"/>
              <a:t>solar system </a:t>
            </a:r>
            <a:r>
              <a:rPr lang="en-GB" sz="2800" dirty="0"/>
              <a:t>is a small part of a </a:t>
            </a:r>
            <a:r>
              <a:rPr lang="en-GB" sz="2800" b="1" dirty="0"/>
              <a:t>galaxy</a:t>
            </a:r>
            <a:r>
              <a:rPr lang="en-GB" sz="2800" dirty="0"/>
              <a:t> called the </a:t>
            </a:r>
            <a:r>
              <a:rPr lang="en-GB" sz="2800" b="1" dirty="0"/>
              <a:t>Milky Way</a:t>
            </a:r>
            <a:r>
              <a:rPr lang="en-GB" sz="2800" dirty="0"/>
              <a:t>.</a:t>
            </a:r>
          </a:p>
        </p:txBody>
      </p:sp>
      <p:pic>
        <p:nvPicPr>
          <p:cNvPr id="5" name="Picture 4">
            <a:extLst>
              <a:ext uri="{FF2B5EF4-FFF2-40B4-BE49-F238E27FC236}">
                <a16:creationId xmlns:a16="http://schemas.microsoft.com/office/drawing/2014/main" id="{BE3C62AA-3402-4602-9FEF-B7BD6789D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060848"/>
            <a:ext cx="3597797" cy="2862322"/>
          </a:xfrm>
          <a:prstGeom prst="rect">
            <a:avLst/>
          </a:prstGeom>
        </p:spPr>
      </p:pic>
      <p:sp>
        <p:nvSpPr>
          <p:cNvPr id="6" name="TextBox 5">
            <a:extLst>
              <a:ext uri="{FF2B5EF4-FFF2-40B4-BE49-F238E27FC236}">
                <a16:creationId xmlns:a16="http://schemas.microsoft.com/office/drawing/2014/main" id="{0DEA745D-0B4A-4116-AC6C-A4C32201F398}"/>
              </a:ext>
            </a:extLst>
          </p:cNvPr>
          <p:cNvSpPr txBox="1"/>
          <p:nvPr/>
        </p:nvSpPr>
        <p:spPr>
          <a:xfrm>
            <a:off x="4003913" y="1915559"/>
            <a:ext cx="4824536" cy="3416320"/>
          </a:xfrm>
          <a:prstGeom prst="rect">
            <a:avLst/>
          </a:prstGeom>
          <a:noFill/>
          <a:ln w="25400">
            <a:solidFill>
              <a:schemeClr val="accent6">
                <a:lumMod val="75000"/>
              </a:schemeClr>
            </a:solidFill>
          </a:ln>
        </p:spPr>
        <p:txBody>
          <a:bodyPr wrap="square" rtlCol="0">
            <a:spAutoFit/>
          </a:bodyPr>
          <a:lstStyle/>
          <a:p>
            <a:r>
              <a:rPr lang="en-GB" sz="2400" dirty="0"/>
              <a:t>Our star (</a:t>
            </a:r>
            <a:r>
              <a:rPr lang="en-GB" sz="2400" b="1" dirty="0">
                <a:solidFill>
                  <a:schemeClr val="accent6">
                    <a:lumMod val="75000"/>
                  </a:schemeClr>
                </a:solidFill>
              </a:rPr>
              <a:t>The Sun</a:t>
            </a:r>
            <a:r>
              <a:rPr lang="en-GB" sz="2400" dirty="0"/>
              <a:t>) is just one of approximately 300 000 000 000 stars in our galaxy. The whole </a:t>
            </a:r>
            <a:r>
              <a:rPr lang="en-GB" sz="2400" b="1" dirty="0">
                <a:solidFill>
                  <a:schemeClr val="accent6">
                    <a:lumMod val="75000"/>
                  </a:schemeClr>
                </a:solidFill>
              </a:rPr>
              <a:t>solar system </a:t>
            </a:r>
            <a:r>
              <a:rPr lang="en-GB" sz="2400" dirty="0"/>
              <a:t>is too small to see on this picture of the Milky Way.</a:t>
            </a:r>
          </a:p>
          <a:p>
            <a:endParaRPr lang="en-GB" sz="2400" dirty="0"/>
          </a:p>
          <a:p>
            <a:r>
              <a:rPr lang="en-GB" sz="2400" dirty="0"/>
              <a:t>There is thought to be a massive </a:t>
            </a:r>
            <a:r>
              <a:rPr lang="en-GB" sz="2400" b="1" dirty="0">
                <a:solidFill>
                  <a:schemeClr val="accent6">
                    <a:lumMod val="75000"/>
                  </a:schemeClr>
                </a:solidFill>
              </a:rPr>
              <a:t>black hole </a:t>
            </a:r>
            <a:r>
              <a:rPr lang="en-GB" sz="2400" dirty="0"/>
              <a:t>at the centre of the Milky Way.</a:t>
            </a:r>
          </a:p>
        </p:txBody>
      </p:sp>
      <p:sp>
        <p:nvSpPr>
          <p:cNvPr id="8" name="TextBox 7">
            <a:extLst>
              <a:ext uri="{FF2B5EF4-FFF2-40B4-BE49-F238E27FC236}">
                <a16:creationId xmlns:a16="http://schemas.microsoft.com/office/drawing/2014/main" id="{2F36CD5C-1951-475F-BE8F-6505FD597408}"/>
              </a:ext>
            </a:extLst>
          </p:cNvPr>
          <p:cNvSpPr txBox="1"/>
          <p:nvPr/>
        </p:nvSpPr>
        <p:spPr>
          <a:xfrm>
            <a:off x="251520" y="5540498"/>
            <a:ext cx="8576929" cy="830997"/>
          </a:xfrm>
          <a:prstGeom prst="rect">
            <a:avLst/>
          </a:prstGeom>
          <a:solidFill>
            <a:schemeClr val="accent6">
              <a:lumMod val="60000"/>
              <a:lumOff val="40000"/>
            </a:schemeClr>
          </a:solidFill>
          <a:ln>
            <a:solidFill>
              <a:schemeClr val="accent6">
                <a:lumMod val="75000"/>
              </a:schemeClr>
            </a:solidFill>
          </a:ln>
        </p:spPr>
        <p:txBody>
          <a:bodyPr wrap="square" rtlCol="0">
            <a:spAutoFit/>
          </a:bodyPr>
          <a:lstStyle/>
          <a:p>
            <a:pPr algn="ctr"/>
            <a:r>
              <a:rPr lang="en-GB" sz="2400" dirty="0"/>
              <a:t>The </a:t>
            </a:r>
            <a:r>
              <a:rPr lang="en-GB" sz="2400" b="1" dirty="0"/>
              <a:t>Universe</a:t>
            </a:r>
            <a:r>
              <a:rPr lang="en-GB" sz="2400" dirty="0"/>
              <a:t> is thought to have formed about </a:t>
            </a:r>
            <a:r>
              <a:rPr lang="en-GB" sz="2400" b="1" dirty="0"/>
              <a:t>13.7 billion years </a:t>
            </a:r>
            <a:r>
              <a:rPr lang="en-GB" sz="2400" dirty="0"/>
              <a:t>ago. The </a:t>
            </a:r>
            <a:r>
              <a:rPr lang="en-GB" sz="2400" b="1" dirty="0"/>
              <a:t>solar system </a:t>
            </a:r>
            <a:r>
              <a:rPr lang="en-GB" sz="2400" dirty="0"/>
              <a:t>formed around </a:t>
            </a:r>
            <a:r>
              <a:rPr lang="en-GB" sz="2400" b="1" dirty="0"/>
              <a:t>4.6 billion years </a:t>
            </a:r>
            <a:r>
              <a:rPr lang="en-GB" sz="2400" dirty="0"/>
              <a:t>ago.</a:t>
            </a:r>
          </a:p>
        </p:txBody>
      </p:sp>
    </p:spTree>
    <p:extLst>
      <p:ext uri="{BB962C8B-B14F-4D97-AF65-F5344CB8AC3E}">
        <p14:creationId xmlns:p14="http://schemas.microsoft.com/office/powerpoint/2010/main" val="377348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116632"/>
            <a:ext cx="8748464" cy="585033"/>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lumMod val="75000"/>
                  </a:schemeClr>
                </a:solidFill>
              </a:rPr>
              <a:t>Our solar system</a:t>
            </a:r>
            <a:endParaRPr lang="en-GB" sz="2400" b="1" dirty="0">
              <a:solidFill>
                <a:schemeClr val="accent6"/>
              </a:solidFill>
            </a:endParaRPr>
          </a:p>
        </p:txBody>
      </p:sp>
      <p:sp>
        <p:nvSpPr>
          <p:cNvPr id="3" name="TextBox 2">
            <a:extLst>
              <a:ext uri="{FF2B5EF4-FFF2-40B4-BE49-F238E27FC236}">
                <a16:creationId xmlns:a16="http://schemas.microsoft.com/office/drawing/2014/main" id="{5C78E54C-5587-402A-ABBB-F279111F206C}"/>
              </a:ext>
            </a:extLst>
          </p:cNvPr>
          <p:cNvSpPr txBox="1"/>
          <p:nvPr/>
        </p:nvSpPr>
        <p:spPr>
          <a:xfrm>
            <a:off x="395536" y="720959"/>
            <a:ext cx="8496944" cy="400110"/>
          </a:xfrm>
          <a:prstGeom prst="rect">
            <a:avLst/>
          </a:prstGeom>
          <a:noFill/>
          <a:ln>
            <a:noFill/>
          </a:ln>
        </p:spPr>
        <p:txBody>
          <a:bodyPr wrap="square" rtlCol="0">
            <a:spAutoFit/>
          </a:bodyPr>
          <a:lstStyle/>
          <a:p>
            <a:pPr algn="ctr"/>
            <a:r>
              <a:rPr lang="en-GB" sz="2000" dirty="0"/>
              <a:t>The </a:t>
            </a:r>
            <a:r>
              <a:rPr lang="en-GB" sz="2000" b="1" dirty="0">
                <a:solidFill>
                  <a:schemeClr val="accent6">
                    <a:lumMod val="75000"/>
                  </a:schemeClr>
                </a:solidFill>
              </a:rPr>
              <a:t>solar system </a:t>
            </a:r>
            <a:r>
              <a:rPr lang="en-GB" sz="2000" dirty="0"/>
              <a:t>is any object that is bound by </a:t>
            </a:r>
            <a:r>
              <a:rPr lang="en-GB" sz="2000" b="1" dirty="0">
                <a:solidFill>
                  <a:schemeClr val="accent6">
                    <a:lumMod val="75000"/>
                  </a:schemeClr>
                </a:solidFill>
              </a:rPr>
              <a:t>gravity</a:t>
            </a:r>
            <a:r>
              <a:rPr lang="en-GB" sz="2000" b="1" dirty="0"/>
              <a:t> </a:t>
            </a:r>
            <a:r>
              <a:rPr lang="en-GB" sz="2000" dirty="0"/>
              <a:t>to a</a:t>
            </a:r>
            <a:r>
              <a:rPr lang="en-GB" sz="2000" b="1" dirty="0"/>
              <a:t> </a:t>
            </a:r>
            <a:r>
              <a:rPr lang="en-GB" sz="2000" b="1" dirty="0">
                <a:solidFill>
                  <a:schemeClr val="accent6">
                    <a:lumMod val="75000"/>
                  </a:schemeClr>
                </a:solidFill>
              </a:rPr>
              <a:t>Sun</a:t>
            </a:r>
            <a:r>
              <a:rPr lang="en-GB" sz="2000" dirty="0"/>
              <a:t>. </a:t>
            </a:r>
            <a:endParaRPr lang="en-GB" sz="2000" dirty="0">
              <a:solidFill>
                <a:schemeClr val="accent6">
                  <a:lumMod val="75000"/>
                </a:schemeClr>
              </a:solidFill>
            </a:endParaRPr>
          </a:p>
        </p:txBody>
      </p:sp>
      <p:pic>
        <p:nvPicPr>
          <p:cNvPr id="5" name="Picture 4">
            <a:extLst>
              <a:ext uri="{FF2B5EF4-FFF2-40B4-BE49-F238E27FC236}">
                <a16:creationId xmlns:a16="http://schemas.microsoft.com/office/drawing/2014/main" id="{67B33B98-8325-4B74-A740-EC7E11336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6241" y="1155687"/>
            <a:ext cx="5387054" cy="3306935"/>
          </a:xfrm>
          <a:prstGeom prst="rect">
            <a:avLst/>
          </a:prstGeom>
        </p:spPr>
      </p:pic>
      <p:sp>
        <p:nvSpPr>
          <p:cNvPr id="7" name="TextBox 6">
            <a:extLst>
              <a:ext uri="{FF2B5EF4-FFF2-40B4-BE49-F238E27FC236}">
                <a16:creationId xmlns:a16="http://schemas.microsoft.com/office/drawing/2014/main" id="{F81E779B-FC7F-4240-9758-39E2F101E6E3}"/>
              </a:ext>
            </a:extLst>
          </p:cNvPr>
          <p:cNvSpPr txBox="1"/>
          <p:nvPr/>
        </p:nvSpPr>
        <p:spPr>
          <a:xfrm>
            <a:off x="179512" y="4554868"/>
            <a:ext cx="4320480" cy="1938992"/>
          </a:xfrm>
          <a:prstGeom prst="rect">
            <a:avLst/>
          </a:prstGeom>
          <a:noFill/>
          <a:ln w="25400">
            <a:solidFill>
              <a:schemeClr val="accent6">
                <a:lumMod val="75000"/>
              </a:schemeClr>
            </a:solidFill>
          </a:ln>
        </p:spPr>
        <p:txBody>
          <a:bodyPr wrap="square" rtlCol="0">
            <a:spAutoFit/>
          </a:bodyPr>
          <a:lstStyle/>
          <a:p>
            <a:r>
              <a:rPr lang="en-GB" sz="2000" dirty="0"/>
              <a:t>Our solar system there is:</a:t>
            </a:r>
          </a:p>
          <a:p>
            <a:pPr marL="342900" indent="-342900">
              <a:buFont typeface="Arial" panose="020B0604020202020204" pitchFamily="34" charset="0"/>
              <a:buChar char="•"/>
            </a:pPr>
            <a:r>
              <a:rPr lang="en-GB" sz="2000" b="1" dirty="0">
                <a:solidFill>
                  <a:schemeClr val="accent6">
                    <a:lumMod val="75000"/>
                  </a:schemeClr>
                </a:solidFill>
              </a:rPr>
              <a:t>one star </a:t>
            </a:r>
            <a:r>
              <a:rPr lang="en-GB" sz="2000" dirty="0"/>
              <a:t>– </a:t>
            </a:r>
            <a:r>
              <a:rPr lang="en-GB" sz="2000" b="1" dirty="0">
                <a:solidFill>
                  <a:schemeClr val="accent6">
                    <a:lumMod val="75000"/>
                  </a:schemeClr>
                </a:solidFill>
              </a:rPr>
              <a:t>the Sun</a:t>
            </a:r>
            <a:r>
              <a:rPr lang="en-GB" sz="2000" dirty="0"/>
              <a:t> </a:t>
            </a:r>
          </a:p>
          <a:p>
            <a:pPr marL="342900" indent="-342900">
              <a:buFont typeface="Arial" panose="020B0604020202020204" pitchFamily="34" charset="0"/>
              <a:buChar char="•"/>
            </a:pPr>
            <a:r>
              <a:rPr lang="en-GB" sz="2000" b="1" dirty="0">
                <a:solidFill>
                  <a:schemeClr val="accent6">
                    <a:lumMod val="75000"/>
                  </a:schemeClr>
                </a:solidFill>
              </a:rPr>
              <a:t>eight planets</a:t>
            </a:r>
          </a:p>
          <a:p>
            <a:pPr marL="342900" indent="-342900">
              <a:buFont typeface="Arial" panose="020B0604020202020204" pitchFamily="34" charset="0"/>
              <a:buChar char="•"/>
            </a:pPr>
            <a:r>
              <a:rPr lang="en-GB" sz="2000" b="1" dirty="0">
                <a:solidFill>
                  <a:schemeClr val="accent6">
                    <a:lumMod val="75000"/>
                  </a:schemeClr>
                </a:solidFill>
              </a:rPr>
              <a:t>dwarf planets </a:t>
            </a:r>
          </a:p>
          <a:p>
            <a:pPr marL="342900" indent="-342900">
              <a:buFont typeface="Arial" panose="020B0604020202020204" pitchFamily="34" charset="0"/>
              <a:buChar char="•"/>
            </a:pPr>
            <a:r>
              <a:rPr lang="en-GB" sz="2000" b="1" dirty="0">
                <a:solidFill>
                  <a:schemeClr val="accent6">
                    <a:lumMod val="75000"/>
                  </a:schemeClr>
                </a:solidFill>
              </a:rPr>
              <a:t>natural satellites </a:t>
            </a:r>
            <a:r>
              <a:rPr lang="en-GB" sz="2000" dirty="0"/>
              <a:t>called </a:t>
            </a:r>
            <a:r>
              <a:rPr lang="en-GB" sz="2000" b="1" dirty="0">
                <a:solidFill>
                  <a:schemeClr val="accent6">
                    <a:lumMod val="75000"/>
                  </a:schemeClr>
                </a:solidFill>
              </a:rPr>
              <a:t>moons</a:t>
            </a:r>
            <a:r>
              <a:rPr lang="en-GB" sz="2000" dirty="0"/>
              <a:t> that orbit planets.</a:t>
            </a:r>
          </a:p>
        </p:txBody>
      </p:sp>
      <p:sp>
        <p:nvSpPr>
          <p:cNvPr id="8" name="TextBox 7">
            <a:extLst>
              <a:ext uri="{FF2B5EF4-FFF2-40B4-BE49-F238E27FC236}">
                <a16:creationId xmlns:a16="http://schemas.microsoft.com/office/drawing/2014/main" id="{1751EED4-72F2-42DC-A352-D06849E859F6}"/>
              </a:ext>
            </a:extLst>
          </p:cNvPr>
          <p:cNvSpPr txBox="1"/>
          <p:nvPr/>
        </p:nvSpPr>
        <p:spPr>
          <a:xfrm>
            <a:off x="4644008" y="4565445"/>
            <a:ext cx="4379574" cy="1938992"/>
          </a:xfrm>
          <a:prstGeom prst="rect">
            <a:avLst/>
          </a:prstGeom>
          <a:noFill/>
          <a:ln w="25400">
            <a:solidFill>
              <a:schemeClr val="accent6">
                <a:lumMod val="75000"/>
              </a:schemeClr>
            </a:solidFill>
          </a:ln>
        </p:spPr>
        <p:txBody>
          <a:bodyPr wrap="square" rtlCol="0">
            <a:spAutoFit/>
          </a:bodyPr>
          <a:lstStyle/>
          <a:p>
            <a:r>
              <a:rPr lang="en-GB" sz="2000" dirty="0"/>
              <a:t>Other objects include:</a:t>
            </a:r>
          </a:p>
          <a:p>
            <a:pPr marL="342900" indent="-342900">
              <a:buFont typeface="Arial" panose="020B0604020202020204" pitchFamily="34" charset="0"/>
              <a:buChar char="•"/>
            </a:pPr>
            <a:r>
              <a:rPr lang="en-GB" sz="2000" b="1" dirty="0">
                <a:solidFill>
                  <a:schemeClr val="accent6">
                    <a:lumMod val="75000"/>
                  </a:schemeClr>
                </a:solidFill>
              </a:rPr>
              <a:t>Comets</a:t>
            </a:r>
          </a:p>
          <a:p>
            <a:pPr marL="342900" indent="-342900">
              <a:buFont typeface="Arial" panose="020B0604020202020204" pitchFamily="34" charset="0"/>
              <a:buChar char="•"/>
            </a:pPr>
            <a:r>
              <a:rPr lang="en-GB" sz="2000" b="1" dirty="0">
                <a:solidFill>
                  <a:schemeClr val="accent6">
                    <a:lumMod val="75000"/>
                  </a:schemeClr>
                </a:solidFill>
              </a:rPr>
              <a:t>Asteroids</a:t>
            </a:r>
          </a:p>
          <a:p>
            <a:pPr marL="342900" indent="-342900">
              <a:buFont typeface="Arial" panose="020B0604020202020204" pitchFamily="34" charset="0"/>
              <a:buChar char="•"/>
            </a:pPr>
            <a:r>
              <a:rPr lang="en-GB" sz="2000" b="1" dirty="0">
                <a:solidFill>
                  <a:schemeClr val="accent6">
                    <a:lumMod val="75000"/>
                  </a:schemeClr>
                </a:solidFill>
              </a:rPr>
              <a:t>Satellites</a:t>
            </a:r>
          </a:p>
          <a:p>
            <a:r>
              <a:rPr lang="en-GB" sz="2000" dirty="0"/>
              <a:t>Dust, ice and rocks make up the remaining mass.</a:t>
            </a:r>
          </a:p>
        </p:txBody>
      </p:sp>
    </p:spTree>
    <p:extLst>
      <p:ext uri="{BB962C8B-B14F-4D97-AF65-F5344CB8AC3E}">
        <p14:creationId xmlns:p14="http://schemas.microsoft.com/office/powerpoint/2010/main" val="403649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lumMod val="75000"/>
                  </a:schemeClr>
                </a:solidFill>
              </a:rPr>
              <a:t>							Formation of the sun and solar system</a:t>
            </a:r>
            <a:endParaRPr lang="en-GB" sz="2400" b="1" dirty="0">
              <a:solidFill>
                <a:schemeClr val="accent6">
                  <a:lumMod val="75000"/>
                </a:schemeClr>
              </a:solidFill>
            </a:endParaRPr>
          </a:p>
        </p:txBody>
      </p:sp>
      <p:pic>
        <p:nvPicPr>
          <p:cNvPr id="6" name="Picture 5">
            <a:extLst>
              <a:ext uri="{FF2B5EF4-FFF2-40B4-BE49-F238E27FC236}">
                <a16:creationId xmlns:a16="http://schemas.microsoft.com/office/drawing/2014/main" id="{A928B0FD-2177-4FA3-87A2-8550D1BF1C75}"/>
              </a:ext>
            </a:extLst>
          </p:cNvPr>
          <p:cNvPicPr>
            <a:picLocks noChangeAspect="1"/>
          </p:cNvPicPr>
          <p:nvPr/>
        </p:nvPicPr>
        <p:blipFill rotWithShape="1">
          <a:blip r:embed="rId2">
            <a:extLst>
              <a:ext uri="{28A0092B-C50C-407E-A947-70E740481C1C}">
                <a14:useLocalDpi xmlns:a14="http://schemas.microsoft.com/office/drawing/2010/main" val="0"/>
              </a:ext>
            </a:extLst>
          </a:blip>
          <a:srcRect l="2751" t="4059" r="6530" b="2937"/>
          <a:stretch/>
        </p:blipFill>
        <p:spPr>
          <a:xfrm>
            <a:off x="615364" y="1118349"/>
            <a:ext cx="3039952" cy="5256584"/>
          </a:xfrm>
          <a:prstGeom prst="rect">
            <a:avLst/>
          </a:prstGeom>
        </p:spPr>
      </p:pic>
      <p:sp>
        <p:nvSpPr>
          <p:cNvPr id="7" name="TextBox 6">
            <a:extLst>
              <a:ext uri="{FF2B5EF4-FFF2-40B4-BE49-F238E27FC236}">
                <a16:creationId xmlns:a16="http://schemas.microsoft.com/office/drawing/2014/main" id="{0A148142-FCF2-43D2-8057-446EE30476C9}"/>
              </a:ext>
            </a:extLst>
          </p:cNvPr>
          <p:cNvSpPr txBox="1"/>
          <p:nvPr/>
        </p:nvSpPr>
        <p:spPr>
          <a:xfrm>
            <a:off x="3995936" y="1118349"/>
            <a:ext cx="4680520" cy="5262979"/>
          </a:xfrm>
          <a:prstGeom prst="rect">
            <a:avLst/>
          </a:prstGeom>
          <a:noFill/>
          <a:ln w="25400">
            <a:solidFill>
              <a:schemeClr val="accent6">
                <a:lumMod val="75000"/>
              </a:schemeClr>
            </a:solidFill>
          </a:ln>
        </p:spPr>
        <p:txBody>
          <a:bodyPr wrap="square" rtlCol="0">
            <a:spAutoFit/>
          </a:bodyPr>
          <a:lstStyle/>
          <a:p>
            <a:pPr marL="457200" indent="-457200">
              <a:buAutoNum type="alphaLcParenBoth"/>
            </a:pPr>
            <a:r>
              <a:rPr lang="en-GB" sz="2400" dirty="0"/>
              <a:t>The universe contains ‘clumps’ of </a:t>
            </a:r>
            <a:r>
              <a:rPr lang="en-GB" sz="2400" b="1" dirty="0">
                <a:solidFill>
                  <a:schemeClr val="accent6">
                    <a:lumMod val="75000"/>
                  </a:schemeClr>
                </a:solidFill>
              </a:rPr>
              <a:t>dust and gas </a:t>
            </a:r>
            <a:r>
              <a:rPr lang="en-GB" sz="2400" dirty="0"/>
              <a:t>each called a </a:t>
            </a:r>
            <a:r>
              <a:rPr lang="en-GB" sz="2400" b="1" dirty="0">
                <a:solidFill>
                  <a:schemeClr val="accent6">
                    <a:lumMod val="75000"/>
                  </a:schemeClr>
                </a:solidFill>
              </a:rPr>
              <a:t>nebula</a:t>
            </a:r>
            <a:r>
              <a:rPr lang="en-GB" sz="2400" dirty="0"/>
              <a:t>.</a:t>
            </a:r>
          </a:p>
          <a:p>
            <a:pPr marL="457200" indent="-457200">
              <a:buAutoNum type="alphaLcParenBoth"/>
            </a:pPr>
            <a:r>
              <a:rPr lang="en-GB" sz="2400" b="1" dirty="0">
                <a:solidFill>
                  <a:schemeClr val="accent6">
                    <a:lumMod val="75000"/>
                  </a:schemeClr>
                </a:solidFill>
              </a:rPr>
              <a:t>Gravitational attraction </a:t>
            </a:r>
            <a:r>
              <a:rPr lang="en-GB" sz="2400" dirty="0"/>
              <a:t>pulls this dust and gas together.</a:t>
            </a:r>
          </a:p>
          <a:p>
            <a:pPr marL="457200" indent="-457200">
              <a:buAutoNum type="alphaLcParenBoth"/>
            </a:pPr>
            <a:r>
              <a:rPr lang="en-GB" sz="2400" dirty="0"/>
              <a:t>Forming the Sun (a star).</a:t>
            </a:r>
          </a:p>
          <a:p>
            <a:pPr marL="457200" indent="-457200">
              <a:buAutoNum type="alphaLcParenBoth"/>
            </a:pPr>
            <a:r>
              <a:rPr lang="en-GB" sz="2400" b="1" dirty="0">
                <a:solidFill>
                  <a:schemeClr val="accent6">
                    <a:lumMod val="75000"/>
                  </a:schemeClr>
                </a:solidFill>
              </a:rPr>
              <a:t>Fusion reactions </a:t>
            </a:r>
            <a:r>
              <a:rPr lang="en-GB" sz="2400" dirty="0"/>
              <a:t>lead to an </a:t>
            </a:r>
            <a:r>
              <a:rPr lang="en-GB" sz="2400" b="1" dirty="0">
                <a:solidFill>
                  <a:schemeClr val="accent6">
                    <a:lumMod val="75000"/>
                  </a:schemeClr>
                </a:solidFill>
              </a:rPr>
              <a:t>equilibrium</a:t>
            </a:r>
            <a:r>
              <a:rPr lang="en-GB" sz="2400" dirty="0"/>
              <a:t> between the </a:t>
            </a:r>
            <a:r>
              <a:rPr lang="en-GB" sz="2400" b="1" dirty="0">
                <a:solidFill>
                  <a:schemeClr val="accent6">
                    <a:lumMod val="75000"/>
                  </a:schemeClr>
                </a:solidFill>
              </a:rPr>
              <a:t>gravitational collapse </a:t>
            </a:r>
            <a:r>
              <a:rPr lang="en-GB" sz="2400" dirty="0"/>
              <a:t>of the star and the </a:t>
            </a:r>
            <a:r>
              <a:rPr lang="en-GB" sz="2400" b="1" dirty="0">
                <a:solidFill>
                  <a:schemeClr val="accent6">
                    <a:lumMod val="75000"/>
                  </a:schemeClr>
                </a:solidFill>
              </a:rPr>
              <a:t>expansion</a:t>
            </a:r>
            <a:r>
              <a:rPr lang="en-GB" sz="2400" dirty="0"/>
              <a:t> of a star due to fusion energy. </a:t>
            </a:r>
          </a:p>
          <a:p>
            <a:pPr marL="457200" indent="-457200">
              <a:buAutoNum type="alphaLcParenBoth"/>
            </a:pPr>
            <a:r>
              <a:rPr lang="en-GB" sz="2400" dirty="0"/>
              <a:t>The remaining parts of the solar system form from the remaining dust and gas.</a:t>
            </a:r>
          </a:p>
        </p:txBody>
      </p:sp>
    </p:spTree>
    <p:extLst>
      <p:ext uri="{BB962C8B-B14F-4D97-AF65-F5344CB8AC3E}">
        <p14:creationId xmlns:p14="http://schemas.microsoft.com/office/powerpoint/2010/main" val="1448870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lumMod val="75000"/>
                  </a:schemeClr>
                </a:solidFill>
              </a:rPr>
              <a:t>							Orbits and speed</a:t>
            </a:r>
            <a:endParaRPr lang="en-GB" sz="2400" b="1" dirty="0">
              <a:solidFill>
                <a:schemeClr val="accent6">
                  <a:lumMod val="75000"/>
                </a:schemeClr>
              </a:solidFill>
            </a:endParaRPr>
          </a:p>
        </p:txBody>
      </p:sp>
      <p:pic>
        <p:nvPicPr>
          <p:cNvPr id="8" name="Picture 7">
            <a:extLst>
              <a:ext uri="{FF2B5EF4-FFF2-40B4-BE49-F238E27FC236}">
                <a16:creationId xmlns:a16="http://schemas.microsoft.com/office/drawing/2014/main" id="{D178D947-D7FC-409C-A67E-66090268B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61" y="695776"/>
            <a:ext cx="4686519" cy="2048972"/>
          </a:xfrm>
          <a:prstGeom prst="rect">
            <a:avLst/>
          </a:prstGeom>
        </p:spPr>
      </p:pic>
      <p:sp>
        <p:nvSpPr>
          <p:cNvPr id="9" name="TextBox 8">
            <a:extLst>
              <a:ext uri="{FF2B5EF4-FFF2-40B4-BE49-F238E27FC236}">
                <a16:creationId xmlns:a16="http://schemas.microsoft.com/office/drawing/2014/main" id="{3DCBAFDC-7C44-4C5E-B56A-F0813628B180}"/>
              </a:ext>
            </a:extLst>
          </p:cNvPr>
          <p:cNvSpPr txBox="1"/>
          <p:nvPr/>
        </p:nvSpPr>
        <p:spPr>
          <a:xfrm>
            <a:off x="2282492" y="1415173"/>
            <a:ext cx="504056" cy="307777"/>
          </a:xfrm>
          <a:prstGeom prst="rect">
            <a:avLst/>
          </a:prstGeom>
          <a:noFill/>
        </p:spPr>
        <p:txBody>
          <a:bodyPr wrap="square" rtlCol="0">
            <a:spAutoFit/>
          </a:bodyPr>
          <a:lstStyle/>
          <a:p>
            <a:r>
              <a:rPr lang="en-GB" sz="1400" dirty="0"/>
              <a:t>Sun</a:t>
            </a:r>
          </a:p>
        </p:txBody>
      </p:sp>
      <p:sp>
        <p:nvSpPr>
          <p:cNvPr id="10" name="Arrow: Right 9">
            <a:extLst>
              <a:ext uri="{FF2B5EF4-FFF2-40B4-BE49-F238E27FC236}">
                <a16:creationId xmlns:a16="http://schemas.microsoft.com/office/drawing/2014/main" id="{062A99D3-FAA5-4006-954C-52D0C132324E}"/>
              </a:ext>
            </a:extLst>
          </p:cNvPr>
          <p:cNvSpPr/>
          <p:nvPr/>
        </p:nvSpPr>
        <p:spPr>
          <a:xfrm>
            <a:off x="1115616" y="1569061"/>
            <a:ext cx="792088" cy="151201"/>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1" name="Arrow: Right 10">
            <a:extLst>
              <a:ext uri="{FF2B5EF4-FFF2-40B4-BE49-F238E27FC236}">
                <a16:creationId xmlns:a16="http://schemas.microsoft.com/office/drawing/2014/main" id="{4BA95C2F-988F-4A95-938E-7E8AB79265B1}"/>
              </a:ext>
            </a:extLst>
          </p:cNvPr>
          <p:cNvSpPr/>
          <p:nvPr/>
        </p:nvSpPr>
        <p:spPr>
          <a:xfrm rot="10800000">
            <a:off x="3205590" y="1569061"/>
            <a:ext cx="792088" cy="151201"/>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1849A6C6-4DFD-4E64-BE1A-4DBE668B8115}"/>
              </a:ext>
            </a:extLst>
          </p:cNvPr>
          <p:cNvSpPr txBox="1"/>
          <p:nvPr/>
        </p:nvSpPr>
        <p:spPr>
          <a:xfrm>
            <a:off x="1187624" y="1314267"/>
            <a:ext cx="720080" cy="276999"/>
          </a:xfrm>
          <a:prstGeom prst="rect">
            <a:avLst/>
          </a:prstGeom>
          <a:noFill/>
        </p:spPr>
        <p:txBody>
          <a:bodyPr wrap="square" rtlCol="0">
            <a:spAutoFit/>
          </a:bodyPr>
          <a:lstStyle/>
          <a:p>
            <a:r>
              <a:rPr lang="en-GB" sz="1200" dirty="0"/>
              <a:t>Gravity</a:t>
            </a:r>
          </a:p>
        </p:txBody>
      </p:sp>
      <p:sp>
        <p:nvSpPr>
          <p:cNvPr id="13" name="TextBox 12">
            <a:extLst>
              <a:ext uri="{FF2B5EF4-FFF2-40B4-BE49-F238E27FC236}">
                <a16:creationId xmlns:a16="http://schemas.microsoft.com/office/drawing/2014/main" id="{6E01B705-045F-44A8-BAEC-3E937E5183CD}"/>
              </a:ext>
            </a:extLst>
          </p:cNvPr>
          <p:cNvSpPr txBox="1"/>
          <p:nvPr/>
        </p:nvSpPr>
        <p:spPr>
          <a:xfrm>
            <a:off x="4716016" y="902244"/>
            <a:ext cx="4176464" cy="1631216"/>
          </a:xfrm>
          <a:prstGeom prst="rect">
            <a:avLst/>
          </a:prstGeom>
          <a:noFill/>
        </p:spPr>
        <p:txBody>
          <a:bodyPr wrap="square" rtlCol="0">
            <a:spAutoFit/>
          </a:bodyPr>
          <a:lstStyle/>
          <a:p>
            <a:r>
              <a:rPr lang="en-GB" sz="2000" b="1" dirty="0">
                <a:solidFill>
                  <a:schemeClr val="accent6">
                    <a:lumMod val="75000"/>
                  </a:schemeClr>
                </a:solidFill>
              </a:rPr>
              <a:t>Gravity</a:t>
            </a:r>
            <a:r>
              <a:rPr lang="en-GB" sz="2000" dirty="0"/>
              <a:t> pulls the Earth (and other planets) towards the sun. The planet is effectively “falling” towards the sun but is travelling fast enough so that it constantly misses falling into the sun.</a:t>
            </a:r>
          </a:p>
        </p:txBody>
      </p:sp>
      <p:pic>
        <p:nvPicPr>
          <p:cNvPr id="4" name="Picture 3">
            <a:extLst>
              <a:ext uri="{FF2B5EF4-FFF2-40B4-BE49-F238E27FC236}">
                <a16:creationId xmlns:a16="http://schemas.microsoft.com/office/drawing/2014/main" id="{38ABBA26-B09D-4C46-B5AA-830789FCB3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8" y="2743009"/>
            <a:ext cx="2664296" cy="2015984"/>
          </a:xfrm>
          <a:prstGeom prst="rect">
            <a:avLst/>
          </a:prstGeom>
        </p:spPr>
      </p:pic>
      <p:sp>
        <p:nvSpPr>
          <p:cNvPr id="5" name="TextBox 4">
            <a:extLst>
              <a:ext uri="{FF2B5EF4-FFF2-40B4-BE49-F238E27FC236}">
                <a16:creationId xmlns:a16="http://schemas.microsoft.com/office/drawing/2014/main" id="{87049C22-BFF0-4A3B-B5CE-BEDC2A158EB8}"/>
              </a:ext>
            </a:extLst>
          </p:cNvPr>
          <p:cNvSpPr txBox="1"/>
          <p:nvPr/>
        </p:nvSpPr>
        <p:spPr>
          <a:xfrm>
            <a:off x="446288" y="2784235"/>
            <a:ext cx="4680520" cy="1938992"/>
          </a:xfrm>
          <a:prstGeom prst="rect">
            <a:avLst/>
          </a:prstGeom>
          <a:noFill/>
        </p:spPr>
        <p:txBody>
          <a:bodyPr wrap="square" rtlCol="0">
            <a:spAutoFit/>
          </a:bodyPr>
          <a:lstStyle/>
          <a:p>
            <a:r>
              <a:rPr lang="en-GB" sz="2000" dirty="0"/>
              <a:t>This is like a cannon firing a cannonball at just the right speed so it does not escape into space or fall down to Earth.</a:t>
            </a:r>
          </a:p>
          <a:p>
            <a:r>
              <a:rPr lang="en-GB" sz="2000" dirty="0"/>
              <a:t>This is how planets, moons and artificial satellites remain in orbit around larger objects in space. </a:t>
            </a:r>
          </a:p>
        </p:txBody>
      </p:sp>
      <p:sp>
        <p:nvSpPr>
          <p:cNvPr id="3" name="TextBox 2">
            <a:extLst>
              <a:ext uri="{FF2B5EF4-FFF2-40B4-BE49-F238E27FC236}">
                <a16:creationId xmlns:a16="http://schemas.microsoft.com/office/drawing/2014/main" id="{A2C77694-7D57-4603-9C46-BFB9FE5E4E51}"/>
              </a:ext>
            </a:extLst>
          </p:cNvPr>
          <p:cNvSpPr txBox="1"/>
          <p:nvPr/>
        </p:nvSpPr>
        <p:spPr>
          <a:xfrm>
            <a:off x="388801" y="4968542"/>
            <a:ext cx="8390370" cy="1323439"/>
          </a:xfrm>
          <a:prstGeom prst="rect">
            <a:avLst/>
          </a:prstGeom>
          <a:noFill/>
          <a:ln w="25400">
            <a:solidFill>
              <a:schemeClr val="accent6">
                <a:lumMod val="75000"/>
              </a:schemeClr>
            </a:solidFill>
          </a:ln>
        </p:spPr>
        <p:txBody>
          <a:bodyPr wrap="square" rtlCol="0">
            <a:spAutoFit/>
          </a:bodyPr>
          <a:lstStyle/>
          <a:p>
            <a:pPr algn="ctr"/>
            <a:r>
              <a:rPr lang="en-GB" sz="2000" dirty="0"/>
              <a:t>The force of </a:t>
            </a:r>
            <a:r>
              <a:rPr lang="en-GB" sz="2000" b="1" dirty="0">
                <a:solidFill>
                  <a:schemeClr val="accent6">
                    <a:lumMod val="75000"/>
                  </a:schemeClr>
                </a:solidFill>
              </a:rPr>
              <a:t>gravity increases </a:t>
            </a:r>
            <a:r>
              <a:rPr lang="en-GB" sz="2000" dirty="0"/>
              <a:t>the </a:t>
            </a:r>
            <a:r>
              <a:rPr lang="en-GB" sz="2000" b="1" dirty="0">
                <a:solidFill>
                  <a:schemeClr val="accent6">
                    <a:lumMod val="75000"/>
                  </a:schemeClr>
                </a:solidFill>
              </a:rPr>
              <a:t>closer an object </a:t>
            </a:r>
            <a:r>
              <a:rPr lang="en-GB" sz="2000" dirty="0"/>
              <a:t>orbits. To avoid being pulled into the sun, a planet must be travelling faster, the closer it is to the sun.</a:t>
            </a:r>
          </a:p>
          <a:p>
            <a:pPr algn="ctr"/>
            <a:r>
              <a:rPr lang="en-GB" sz="2000" dirty="0"/>
              <a:t>This is why </a:t>
            </a:r>
            <a:r>
              <a:rPr lang="en-GB" sz="2000" b="1" dirty="0">
                <a:solidFill>
                  <a:schemeClr val="accent6">
                    <a:lumMod val="75000"/>
                  </a:schemeClr>
                </a:solidFill>
              </a:rPr>
              <a:t>Mercury’s </a:t>
            </a:r>
            <a:r>
              <a:rPr lang="en-GB" sz="2000" dirty="0"/>
              <a:t>orbit of the sun takes </a:t>
            </a:r>
            <a:r>
              <a:rPr lang="en-GB" sz="2000" b="1" dirty="0">
                <a:solidFill>
                  <a:schemeClr val="accent6">
                    <a:lumMod val="75000"/>
                  </a:schemeClr>
                </a:solidFill>
              </a:rPr>
              <a:t>3 Earth months </a:t>
            </a:r>
            <a:r>
              <a:rPr lang="en-GB" sz="2000" dirty="0"/>
              <a:t>whereas it takes</a:t>
            </a:r>
            <a:r>
              <a:rPr lang="en-GB" sz="2000" b="1" dirty="0">
                <a:solidFill>
                  <a:schemeClr val="accent6">
                    <a:lumMod val="75000"/>
                  </a:schemeClr>
                </a:solidFill>
              </a:rPr>
              <a:t> Neptune 165 Earth years </a:t>
            </a:r>
            <a:r>
              <a:rPr lang="en-GB" sz="2000" dirty="0"/>
              <a:t>to orbit the sun.</a:t>
            </a:r>
          </a:p>
        </p:txBody>
      </p:sp>
    </p:spTree>
    <p:extLst>
      <p:ext uri="{BB962C8B-B14F-4D97-AF65-F5344CB8AC3E}">
        <p14:creationId xmlns:p14="http://schemas.microsoft.com/office/powerpoint/2010/main" val="2879598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800" b="1" dirty="0">
                <a:solidFill>
                  <a:schemeClr val="accent6"/>
                </a:solidFill>
              </a:rPr>
              <a:t>							Orbits and speed</a:t>
            </a:r>
            <a:endParaRPr lang="en-GB" sz="2800" b="1" dirty="0">
              <a:solidFill>
                <a:schemeClr val="accent6"/>
              </a:solidFill>
            </a:endParaRPr>
          </a:p>
        </p:txBody>
      </p:sp>
      <p:sp>
        <p:nvSpPr>
          <p:cNvPr id="5" name="TextBox 4">
            <a:extLst>
              <a:ext uri="{FF2B5EF4-FFF2-40B4-BE49-F238E27FC236}">
                <a16:creationId xmlns:a16="http://schemas.microsoft.com/office/drawing/2014/main" id="{5EB2EA7E-CBF1-4F7D-ABD9-0C7F8FDE1907}"/>
              </a:ext>
            </a:extLst>
          </p:cNvPr>
          <p:cNvSpPr txBox="1"/>
          <p:nvPr/>
        </p:nvSpPr>
        <p:spPr>
          <a:xfrm>
            <a:off x="251520" y="762670"/>
            <a:ext cx="8496944" cy="2308324"/>
          </a:xfrm>
          <a:prstGeom prst="rect">
            <a:avLst/>
          </a:prstGeom>
          <a:noFill/>
        </p:spPr>
        <p:txBody>
          <a:bodyPr wrap="square" rtlCol="0">
            <a:spAutoFit/>
          </a:bodyPr>
          <a:lstStyle/>
          <a:p>
            <a:r>
              <a:rPr lang="en-GB" sz="2400" dirty="0"/>
              <a:t>In a perfectly circular orbit, a body will travel at </a:t>
            </a:r>
            <a:r>
              <a:rPr lang="en-GB" sz="2400" b="1" dirty="0">
                <a:solidFill>
                  <a:schemeClr val="accent6">
                    <a:lumMod val="75000"/>
                  </a:schemeClr>
                </a:solidFill>
              </a:rPr>
              <a:t>constant speed </a:t>
            </a:r>
            <a:r>
              <a:rPr lang="en-GB" sz="2400" dirty="0"/>
              <a:t>to maintain  its orbital distance.</a:t>
            </a:r>
          </a:p>
          <a:p>
            <a:r>
              <a:rPr lang="en-GB" sz="2400" dirty="0"/>
              <a:t>However, </a:t>
            </a:r>
            <a:r>
              <a:rPr lang="en-GB" sz="2400" dirty="0">
                <a:solidFill>
                  <a:schemeClr val="accent6">
                    <a:lumMod val="75000"/>
                  </a:schemeClr>
                </a:solidFill>
              </a:rPr>
              <a:t>gravity</a:t>
            </a:r>
            <a:r>
              <a:rPr lang="en-GB" sz="2400" dirty="0"/>
              <a:t> is constantly </a:t>
            </a:r>
            <a:r>
              <a:rPr lang="en-GB" sz="2400" b="1" dirty="0">
                <a:solidFill>
                  <a:schemeClr val="accent6">
                    <a:lumMod val="75000"/>
                  </a:schemeClr>
                </a:solidFill>
              </a:rPr>
              <a:t>changing </a:t>
            </a:r>
            <a:r>
              <a:rPr lang="en-GB" sz="2400" dirty="0"/>
              <a:t>the </a:t>
            </a:r>
            <a:r>
              <a:rPr lang="en-GB" sz="2400" b="1" dirty="0">
                <a:solidFill>
                  <a:schemeClr val="accent6">
                    <a:lumMod val="75000"/>
                  </a:schemeClr>
                </a:solidFill>
              </a:rPr>
              <a:t>direction</a:t>
            </a:r>
            <a:r>
              <a:rPr lang="en-GB" sz="2400" dirty="0"/>
              <a:t> of the body. As velocity depends on speed and direction, the </a:t>
            </a:r>
            <a:r>
              <a:rPr lang="en-GB" sz="2400" b="1" dirty="0">
                <a:solidFill>
                  <a:schemeClr val="accent6">
                    <a:lumMod val="75000"/>
                  </a:schemeClr>
                </a:solidFill>
              </a:rPr>
              <a:t>velocity </a:t>
            </a:r>
            <a:r>
              <a:rPr lang="en-GB" sz="2400" dirty="0"/>
              <a:t>is constantly </a:t>
            </a:r>
            <a:r>
              <a:rPr lang="en-GB" sz="2400" b="1" dirty="0">
                <a:solidFill>
                  <a:schemeClr val="accent6">
                    <a:lumMod val="75000"/>
                  </a:schemeClr>
                </a:solidFill>
              </a:rPr>
              <a:t>changin</a:t>
            </a:r>
            <a:r>
              <a:rPr lang="en-GB" sz="2400" dirty="0">
                <a:solidFill>
                  <a:schemeClr val="accent6">
                    <a:lumMod val="75000"/>
                  </a:schemeClr>
                </a:solidFill>
              </a:rPr>
              <a:t>g </a:t>
            </a:r>
            <a:r>
              <a:rPr lang="en-GB" sz="2400" dirty="0"/>
              <a:t>even though</a:t>
            </a:r>
            <a:r>
              <a:rPr lang="en-GB" sz="2400" b="1" dirty="0">
                <a:solidFill>
                  <a:schemeClr val="accent6">
                    <a:lumMod val="75000"/>
                  </a:schemeClr>
                </a:solidFill>
              </a:rPr>
              <a:t> speed </a:t>
            </a:r>
            <a:r>
              <a:rPr lang="en-GB" sz="2400" dirty="0"/>
              <a:t>remains the </a:t>
            </a:r>
            <a:r>
              <a:rPr lang="en-GB" sz="2400" b="1" dirty="0">
                <a:solidFill>
                  <a:schemeClr val="accent6">
                    <a:lumMod val="75000"/>
                  </a:schemeClr>
                </a:solidFill>
              </a:rPr>
              <a:t>same</a:t>
            </a:r>
            <a:r>
              <a:rPr lang="en-GB" sz="2400" dirty="0"/>
              <a:t>. </a:t>
            </a:r>
          </a:p>
          <a:p>
            <a:r>
              <a:rPr lang="en-GB" sz="2400" dirty="0"/>
              <a:t>This applies to planets, moons and satellites. </a:t>
            </a:r>
          </a:p>
        </p:txBody>
      </p:sp>
      <p:pic>
        <p:nvPicPr>
          <p:cNvPr id="8" name="Picture 7">
            <a:extLst>
              <a:ext uri="{FF2B5EF4-FFF2-40B4-BE49-F238E27FC236}">
                <a16:creationId xmlns:a16="http://schemas.microsoft.com/office/drawing/2014/main" id="{B5BB6892-687A-4C5B-A5EF-4647358C1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864" y="3140968"/>
            <a:ext cx="3214437" cy="2304256"/>
          </a:xfrm>
          <a:prstGeom prst="rect">
            <a:avLst/>
          </a:prstGeom>
        </p:spPr>
      </p:pic>
      <p:sp>
        <p:nvSpPr>
          <p:cNvPr id="9" name="TextBox 8">
            <a:extLst>
              <a:ext uri="{FF2B5EF4-FFF2-40B4-BE49-F238E27FC236}">
                <a16:creationId xmlns:a16="http://schemas.microsoft.com/office/drawing/2014/main" id="{8FFA2B2E-C5B9-4D05-94C6-38CE815C2F4B}"/>
              </a:ext>
            </a:extLst>
          </p:cNvPr>
          <p:cNvSpPr txBox="1"/>
          <p:nvPr/>
        </p:nvSpPr>
        <p:spPr>
          <a:xfrm>
            <a:off x="480864" y="5661248"/>
            <a:ext cx="8280920" cy="830997"/>
          </a:xfrm>
          <a:prstGeom prst="rect">
            <a:avLst/>
          </a:prstGeom>
          <a:solidFill>
            <a:schemeClr val="bg1"/>
          </a:solidFill>
        </p:spPr>
        <p:txBody>
          <a:bodyPr wrap="square" rtlCol="0">
            <a:spAutoFit/>
          </a:bodyPr>
          <a:lstStyle/>
          <a:p>
            <a:r>
              <a:rPr lang="en-GB" sz="2400" b="1" dirty="0">
                <a:solidFill>
                  <a:schemeClr val="accent6">
                    <a:lumMod val="75000"/>
                  </a:schemeClr>
                </a:solidFill>
              </a:rPr>
              <a:t>Planets velocity is in a straight line. Gravity causes body to change direction so velocity must be changing</a:t>
            </a:r>
          </a:p>
        </p:txBody>
      </p:sp>
    </p:spTree>
    <p:extLst>
      <p:ext uri="{BB962C8B-B14F-4D97-AF65-F5344CB8AC3E}">
        <p14:creationId xmlns:p14="http://schemas.microsoft.com/office/powerpoint/2010/main" val="1154472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5" name="TextBox 4">
            <a:extLst>
              <a:ext uri="{FF2B5EF4-FFF2-40B4-BE49-F238E27FC236}">
                <a16:creationId xmlns:a16="http://schemas.microsoft.com/office/drawing/2014/main" id="{C15E985B-AD00-0C4D-8C8C-AFC94711FB22}"/>
              </a:ext>
            </a:extLst>
          </p:cNvPr>
          <p:cNvSpPr txBox="1"/>
          <p:nvPr/>
        </p:nvSpPr>
        <p:spPr>
          <a:xfrm>
            <a:off x="0" y="980728"/>
            <a:ext cx="4716016" cy="5139869"/>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pPr lvl="0"/>
            <a:r>
              <a:rPr lang="en-GB" sz="3200" b="1" dirty="0">
                <a:solidFill>
                  <a:prstClr val="black">
                    <a:lumMod val="50000"/>
                    <a:lumOff val="50000"/>
                  </a:prstClr>
                </a:solidFill>
              </a:rPr>
              <a:t>Part 1</a:t>
            </a:r>
          </a:p>
          <a:p>
            <a:pPr lvl="0"/>
            <a:endParaRPr lang="en-GB" sz="3200" b="1" dirty="0">
              <a:solidFill>
                <a:prstClr val="black">
                  <a:lumMod val="50000"/>
                  <a:lumOff val="50000"/>
                </a:prstClr>
              </a:solidFill>
            </a:endParaRPr>
          </a:p>
          <a:p>
            <a:pPr marL="457200" lvl="0" indent="-457200">
              <a:buFont typeface="Arial" panose="020B0604020202020204" pitchFamily="34" charset="0"/>
              <a:buChar char="•"/>
            </a:pPr>
            <a:r>
              <a:rPr lang="en-GB" sz="2000" b="1" dirty="0">
                <a:solidFill>
                  <a:prstClr val="black">
                    <a:lumMod val="50000"/>
                    <a:lumOff val="50000"/>
                  </a:prstClr>
                </a:solidFill>
              </a:rPr>
              <a:t>Solar system</a:t>
            </a:r>
          </a:p>
          <a:p>
            <a:pPr marL="457200" lvl="0" indent="-457200">
              <a:buFont typeface="Arial" panose="020B0604020202020204" pitchFamily="34" charset="0"/>
              <a:buChar char="•"/>
            </a:pPr>
            <a:r>
              <a:rPr lang="en-GB" sz="2000" b="1" dirty="0">
                <a:solidFill>
                  <a:prstClr val="black">
                    <a:lumMod val="50000"/>
                    <a:lumOff val="50000"/>
                  </a:prstClr>
                </a:solidFill>
              </a:rPr>
              <a:t>Gravity and orbits</a:t>
            </a:r>
          </a:p>
          <a:p>
            <a:pPr marL="342900" lvl="1" indent="-342900">
              <a:buFont typeface="Arial" panose="020B0604020202020204" pitchFamily="34" charset="0"/>
              <a:buChar char="•"/>
            </a:pPr>
            <a:endParaRPr lang="en-US" sz="2000" b="1" dirty="0">
              <a:solidFill>
                <a:schemeClr val="tx1">
                  <a:lumMod val="50000"/>
                  <a:lumOff val="50000"/>
                </a:schemeClr>
              </a:solidFill>
            </a:endParaRPr>
          </a:p>
          <a:p>
            <a:pPr marL="457200" lvl="0" indent="-457200">
              <a:buFont typeface="Arial" panose="020B0604020202020204" pitchFamily="34" charset="0"/>
              <a:buChar char="•"/>
            </a:pPr>
            <a:endParaRPr lang="en-GB" sz="3200" b="1" dirty="0">
              <a:solidFill>
                <a:prstClr val="black">
                  <a:lumMod val="50000"/>
                  <a:lumOff val="50000"/>
                </a:prstClr>
              </a:solidFill>
            </a:endParaRPr>
          </a:p>
          <a:p>
            <a:endParaRPr lang="en-GB" sz="2800" dirty="0">
              <a:solidFill>
                <a:schemeClr val="tx1">
                  <a:lumMod val="50000"/>
                  <a:lumOff val="50000"/>
                </a:schemeClr>
              </a:solidFill>
            </a:endParaRPr>
          </a:p>
          <a:p>
            <a:endParaRPr lang="en-GB" dirty="0"/>
          </a:p>
        </p:txBody>
      </p:sp>
      <p:pic>
        <p:nvPicPr>
          <p:cNvPr id="7" name="Picture 6">
            <a:extLst>
              <a:ext uri="{FF2B5EF4-FFF2-40B4-BE49-F238E27FC236}">
                <a16:creationId xmlns:a16="http://schemas.microsoft.com/office/drawing/2014/main" id="{77B06173-6924-A848-BBB9-ACFA8BD8CED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921545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6681" y="0"/>
            <a:ext cx="8280920" cy="657041"/>
          </a:xfrm>
        </p:spPr>
        <p:txBody>
          <a:bodyPr>
            <a:noAutofit/>
          </a:bodyPr>
          <a:lstStyle/>
          <a:p>
            <a:pPr marL="342900" lvl="1" algn="r" defTabSz="342900" rtl="0"/>
            <a:r>
              <a:rPr kumimoji="0" lang="en-US" sz="2000" b="1" i="0" u="none" strike="noStrike" kern="0" cap="none" spc="0" normalizeH="0" baseline="0" noProof="0" dirty="0">
                <a:ln>
                  <a:noFill/>
                </a:ln>
                <a:solidFill>
                  <a:srgbClr val="F79646">
                    <a:lumMod val="75000"/>
                  </a:srgbClr>
                </a:solidFill>
                <a:effectLst/>
                <a:uLnTx/>
                <a:uFillTx/>
              </a:rPr>
              <a:t>Part 1</a:t>
            </a:r>
            <a:r>
              <a:rPr kumimoji="0" lang="en-US" sz="2400" b="1" i="0" u="none" strike="noStrike" kern="0" cap="none" spc="0" normalizeH="0" baseline="0" noProof="0" dirty="0">
                <a:ln>
                  <a:noFill/>
                </a:ln>
                <a:solidFill>
                  <a:srgbClr val="F79646"/>
                </a:solidFill>
                <a:effectLst/>
                <a:uLnTx/>
                <a:uFillTx/>
              </a:rPr>
              <a:t>– </a:t>
            </a:r>
            <a:r>
              <a:rPr lang="en-US" sz="2400" b="1" kern="1200" dirty="0">
                <a:solidFill>
                  <a:prstClr val="black"/>
                </a:solidFill>
                <a:latin typeface="Calibri"/>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611560" y="802524"/>
            <a:ext cx="7704856"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228600" y="802524"/>
            <a:ext cx="8915400" cy="5262979"/>
          </a:xfrm>
          <a:prstGeom prst="rect">
            <a:avLst/>
          </a:prstGeom>
          <a:noFill/>
        </p:spPr>
        <p:txBody>
          <a:bodyPr wrap="square" lIns="108000" rtlCol="0">
            <a:spAutoFit/>
          </a:bodyPr>
          <a:lstStyle/>
          <a:p>
            <a:pPr marL="457200" indent="-457200">
              <a:buAutoNum type="arabicPeriod"/>
            </a:pPr>
            <a:r>
              <a:rPr lang="en-GB" sz="2400" dirty="0"/>
              <a:t>Name the star in our solar system.</a:t>
            </a:r>
          </a:p>
          <a:p>
            <a:pPr marL="457200" indent="-457200">
              <a:buAutoNum type="arabicPeriod"/>
            </a:pPr>
            <a:endParaRPr lang="en-GB" sz="2400" dirty="0"/>
          </a:p>
          <a:p>
            <a:pPr marL="457200" indent="-457200">
              <a:buAutoNum type="arabicPeriod"/>
            </a:pPr>
            <a:r>
              <a:rPr lang="en-GB" sz="2400" dirty="0"/>
              <a:t>How many planets in our solar system?</a:t>
            </a:r>
          </a:p>
          <a:p>
            <a:pPr marL="457200" indent="-457200">
              <a:buAutoNum type="arabicPeriod"/>
            </a:pPr>
            <a:endParaRPr lang="en-GB" sz="2400" dirty="0"/>
          </a:p>
          <a:p>
            <a:pPr marL="457200" indent="-457200">
              <a:buAutoNum type="arabicPeriod"/>
            </a:pPr>
            <a:r>
              <a:rPr lang="en-GB" sz="2400" dirty="0"/>
              <a:t>What is the difference between a moon and a dwarf planet?</a:t>
            </a:r>
          </a:p>
          <a:p>
            <a:pPr marL="457200" indent="-457200">
              <a:buAutoNum type="arabicPeriod"/>
            </a:pPr>
            <a:endParaRPr lang="en-GB" sz="2400" dirty="0"/>
          </a:p>
          <a:p>
            <a:pPr marL="457200" indent="-457200">
              <a:buAutoNum type="arabicPeriod"/>
            </a:pPr>
            <a:r>
              <a:rPr lang="en-GB" sz="2400" dirty="0"/>
              <a:t>What do we call the natural satellites in the solar system?</a:t>
            </a:r>
          </a:p>
          <a:p>
            <a:pPr marL="457200" indent="-457200">
              <a:buAutoNum type="arabicPeriod"/>
            </a:pPr>
            <a:endParaRPr lang="en-GB" sz="2400" dirty="0"/>
          </a:p>
          <a:p>
            <a:pPr marL="457200" indent="-457200">
              <a:buAutoNum type="arabicPeriod"/>
            </a:pPr>
            <a:r>
              <a:rPr lang="en-GB" sz="2400" dirty="0"/>
              <a:t>Name the galaxy our solar system is part of.</a:t>
            </a:r>
          </a:p>
          <a:p>
            <a:pPr marL="457200" indent="-457200">
              <a:buAutoNum type="arabicPeriod"/>
            </a:pPr>
            <a:endParaRPr lang="en-GB" sz="2400" dirty="0"/>
          </a:p>
          <a:p>
            <a:pPr marL="457200" indent="-457200">
              <a:buAutoNum type="arabicPeriod"/>
            </a:pPr>
            <a:r>
              <a:rPr lang="en-GB" sz="2400" dirty="0"/>
              <a:t>How was the sun formed, and what caused this to happen?</a:t>
            </a:r>
          </a:p>
          <a:p>
            <a:pPr marL="457200" lvl="0" indent="-457200">
              <a:buFont typeface="+mj-lt"/>
              <a:buAutoNum type="arabicPeriod" startAt="7"/>
            </a:pPr>
            <a:endParaRPr lang="en-GB" sz="2400" dirty="0">
              <a:solidFill>
                <a:prstClr val="black"/>
              </a:solidFill>
            </a:endParaRPr>
          </a:p>
          <a:p>
            <a:pPr marL="457200" lvl="0" indent="-457200">
              <a:buFont typeface="+mj-lt"/>
              <a:buAutoNum type="arabicPeriod" startAt="7"/>
            </a:pPr>
            <a:r>
              <a:rPr lang="en-GB" sz="2400" dirty="0">
                <a:solidFill>
                  <a:prstClr val="black"/>
                </a:solidFill>
              </a:rPr>
              <a:t>List the major bodies found in the solar system.</a:t>
            </a:r>
          </a:p>
          <a:p>
            <a:pPr lvl="1"/>
            <a:endParaRPr lang="en-GB" sz="2400" b="1" dirty="0">
              <a:solidFill>
                <a:srgbClr val="00B050"/>
              </a:solidFill>
            </a:endParaRPr>
          </a:p>
        </p:txBody>
      </p:sp>
    </p:spTree>
    <p:extLst>
      <p:ext uri="{BB962C8B-B14F-4D97-AF65-F5344CB8AC3E}">
        <p14:creationId xmlns:p14="http://schemas.microsoft.com/office/powerpoint/2010/main" val="193031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7812"/>
            <a:ext cx="8532440" cy="657041"/>
          </a:xfrm>
        </p:spPr>
        <p:txBody>
          <a:bodyPr>
            <a:noAutofit/>
          </a:bodyPr>
          <a:lstStyle/>
          <a:p>
            <a:pPr marL="342900" lvl="1" algn="r" defTabSz="342900" rtl="0">
              <a:spcBef>
                <a:spcPct val="20000"/>
              </a:spcBef>
            </a:pPr>
            <a:r>
              <a:rPr kumimoji="0" lang="en-US" sz="2000" b="1" i="0" u="none" strike="noStrike" kern="0" cap="none" spc="0" normalizeH="0" baseline="0" noProof="0" dirty="0">
                <a:ln>
                  <a:noFill/>
                </a:ln>
                <a:solidFill>
                  <a:srgbClr val="F79646">
                    <a:lumMod val="75000"/>
                  </a:srgbClr>
                </a:solidFill>
                <a:effectLst/>
                <a:uLnTx/>
                <a:uFillTx/>
              </a:rPr>
              <a:t>Part 1</a:t>
            </a:r>
            <a:r>
              <a:rPr kumimoji="0" lang="en-US" sz="2400" b="1" i="0" u="none" strike="noStrike" kern="0" cap="none" spc="0" normalizeH="0" baseline="0" noProof="0" dirty="0">
                <a:ln>
                  <a:noFill/>
                </a:ln>
                <a:solidFill>
                  <a:srgbClr val="F79646"/>
                </a:solidFill>
                <a:effectLst/>
                <a:uLnTx/>
                <a:uFillTx/>
              </a:rPr>
              <a:t>– </a:t>
            </a:r>
            <a:r>
              <a:rPr lang="en-US" sz="2400" b="1" kern="1200" dirty="0">
                <a:solidFill>
                  <a:prstClr val="black"/>
                </a:solidFill>
                <a:latin typeface="Calibri"/>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777046"/>
            <a:ext cx="8766313" cy="1569660"/>
          </a:xfrm>
          <a:prstGeom prst="rect">
            <a:avLst/>
          </a:prstGeom>
          <a:noFill/>
          <a:ln>
            <a:noFill/>
          </a:ln>
        </p:spPr>
        <p:txBody>
          <a:bodyPr wrap="square" rtlCol="0">
            <a:spAutoFit/>
          </a:bodyPr>
          <a:lstStyle/>
          <a:p>
            <a:r>
              <a:rPr lang="en-GB" sz="2400" dirty="0"/>
              <a:t>8.  The international space station takes 92 mins to orbit the Earth.  </a:t>
            </a:r>
          </a:p>
          <a:p>
            <a:r>
              <a:rPr lang="en-GB" sz="2400" dirty="0"/>
              <a:t>     The Moon takes 27.3 days to orbit the Earth. Explain why these</a:t>
            </a:r>
          </a:p>
          <a:p>
            <a:r>
              <a:rPr lang="en-GB" sz="2400" dirty="0"/>
              <a:t>     orbital times are different. </a:t>
            </a:r>
          </a:p>
          <a:p>
            <a:endParaRPr lang="en-GB" sz="2400" dirty="0"/>
          </a:p>
        </p:txBody>
      </p:sp>
    </p:spTree>
    <p:extLst>
      <p:ext uri="{BB962C8B-B14F-4D97-AF65-F5344CB8AC3E}">
        <p14:creationId xmlns:p14="http://schemas.microsoft.com/office/powerpoint/2010/main" val="253269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D1B996E-333B-4EAE-8AD2-17D40F7E16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4634" y="4149080"/>
            <a:ext cx="2191317" cy="1597557"/>
          </a:xfrm>
          <a:prstGeom prst="rect">
            <a:avLst/>
          </a:prstGeom>
        </p:spPr>
      </p:pic>
      <p:sp>
        <p:nvSpPr>
          <p:cNvPr id="2" name="Title 1"/>
          <p:cNvSpPr>
            <a:spLocks noGrp="1"/>
          </p:cNvSpPr>
          <p:nvPr>
            <p:ph type="ctrTitle"/>
          </p:nvPr>
        </p:nvSpPr>
        <p:spPr>
          <a:xfrm>
            <a:off x="1195632" y="74782"/>
            <a:ext cx="7956376" cy="657041"/>
          </a:xfrm>
        </p:spPr>
        <p:txBody>
          <a:bodyPr>
            <a:noAutofit/>
          </a:bodyPr>
          <a:lstStyle/>
          <a:p>
            <a:pPr marL="342900" lvl="1" algn="r" defTabSz="342900" rtl="0">
              <a:spcBef>
                <a:spcPct val="20000"/>
              </a:spcBef>
            </a:pPr>
            <a:r>
              <a:rPr kumimoji="0" lang="en-US" sz="2000" b="1" i="0" u="none" strike="noStrike" kern="0" cap="none" spc="0" normalizeH="0" baseline="0" noProof="0" dirty="0">
                <a:ln>
                  <a:noFill/>
                </a:ln>
                <a:solidFill>
                  <a:srgbClr val="F79646">
                    <a:lumMod val="75000"/>
                  </a:srgbClr>
                </a:solidFill>
                <a:effectLst/>
                <a:uLnTx/>
                <a:uFillTx/>
              </a:rPr>
              <a:t>Part 1</a:t>
            </a:r>
            <a:r>
              <a:rPr kumimoji="0" lang="en-US" sz="2400" b="1" i="0" u="none" strike="noStrike" kern="0" cap="none" spc="0" normalizeH="0" baseline="0" noProof="0" dirty="0">
                <a:ln>
                  <a:noFill/>
                </a:ln>
                <a:solidFill>
                  <a:srgbClr val="F79646"/>
                </a:solidFill>
                <a:effectLst/>
                <a:uLnTx/>
                <a:uFillTx/>
              </a:rPr>
              <a:t>– </a:t>
            </a:r>
            <a:r>
              <a:rPr lang="en-US" sz="2400" b="1" kern="1200" dirty="0">
                <a:solidFill>
                  <a:prstClr val="black"/>
                </a:solidFill>
                <a:latin typeface="Calibri"/>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246184" y="802524"/>
            <a:ext cx="8915400" cy="3785652"/>
          </a:xfrm>
          <a:prstGeom prst="rect">
            <a:avLst/>
          </a:prstGeom>
          <a:noFill/>
        </p:spPr>
        <p:txBody>
          <a:bodyPr wrap="square" rtlCol="0">
            <a:spAutoFit/>
          </a:bodyPr>
          <a:lstStyle/>
          <a:p>
            <a:r>
              <a:rPr lang="en-GB" sz="2400" dirty="0"/>
              <a:t>9.    The diagram shows a satellite orbiting the Earth.</a:t>
            </a:r>
          </a:p>
          <a:p>
            <a:r>
              <a:rPr lang="en-GB" sz="2400" dirty="0"/>
              <a:t>       Explain how the Earth’s gravity can result in the</a:t>
            </a:r>
          </a:p>
          <a:p>
            <a:r>
              <a:rPr lang="en-GB" sz="2400" dirty="0"/>
              <a:t>       satellites velocity changing but not its speed.</a:t>
            </a:r>
          </a:p>
          <a:p>
            <a:endParaRPr lang="en-GB" sz="2400" dirty="0"/>
          </a:p>
          <a:p>
            <a:endParaRPr lang="en-GB" sz="2400" dirty="0"/>
          </a:p>
          <a:p>
            <a:endParaRPr lang="en-GB" sz="2400" dirty="0"/>
          </a:p>
          <a:p>
            <a:endParaRPr lang="en-GB" sz="2400" dirty="0"/>
          </a:p>
          <a:p>
            <a:endParaRPr lang="en-GB" sz="2400" dirty="0"/>
          </a:p>
          <a:p>
            <a:r>
              <a:rPr lang="en-GB" sz="2400" dirty="0"/>
              <a:t>10. Explain why satellites in a polar orbit must travel at much higher</a:t>
            </a:r>
          </a:p>
          <a:p>
            <a:r>
              <a:rPr lang="en-GB" sz="2400" dirty="0"/>
              <a:t>       speeds than a satellite in a geostationary orbit.</a:t>
            </a:r>
          </a:p>
        </p:txBody>
      </p:sp>
      <p:pic>
        <p:nvPicPr>
          <p:cNvPr id="5" name="Picture 4">
            <a:extLst>
              <a:ext uri="{FF2B5EF4-FFF2-40B4-BE49-F238E27FC236}">
                <a16:creationId xmlns:a16="http://schemas.microsoft.com/office/drawing/2014/main" id="{A061AACA-42FD-40D1-9492-713ACCB3D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5027" y="1125277"/>
            <a:ext cx="2304852" cy="1834992"/>
          </a:xfrm>
          <a:prstGeom prst="rect">
            <a:avLst/>
          </a:prstGeom>
        </p:spPr>
      </p:pic>
    </p:spTree>
    <p:extLst>
      <p:ext uri="{BB962C8B-B14F-4D97-AF65-F5344CB8AC3E}">
        <p14:creationId xmlns:p14="http://schemas.microsoft.com/office/powerpoint/2010/main" val="4064814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968" y="704918"/>
            <a:ext cx="4680520" cy="5257800"/>
          </a:xfrm>
          <a:prstGeom prst="rect">
            <a:avLst/>
          </a:prstGeom>
        </p:spPr>
      </p:pic>
      <p:sp>
        <p:nvSpPr>
          <p:cNvPr id="5" name="TextBox 4">
            <a:extLst>
              <a:ext uri="{FF2B5EF4-FFF2-40B4-BE49-F238E27FC236}">
                <a16:creationId xmlns:a16="http://schemas.microsoft.com/office/drawing/2014/main" id="{C15E985B-AD00-0C4D-8C8C-AFC94711FB22}"/>
              </a:ext>
            </a:extLst>
          </p:cNvPr>
          <p:cNvSpPr txBox="1"/>
          <p:nvPr/>
        </p:nvSpPr>
        <p:spPr>
          <a:xfrm>
            <a:off x="0" y="980728"/>
            <a:ext cx="4716016" cy="544764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pPr lvl="0"/>
            <a:r>
              <a:rPr lang="en-GB" sz="3200" b="1" dirty="0">
                <a:solidFill>
                  <a:prstClr val="black">
                    <a:lumMod val="50000"/>
                    <a:lumOff val="50000"/>
                  </a:prstClr>
                </a:solidFill>
              </a:rPr>
              <a:t>Part 1</a:t>
            </a:r>
          </a:p>
          <a:p>
            <a:pPr lvl="0"/>
            <a:endParaRPr lang="en-GB" sz="3200" b="1" dirty="0">
              <a:solidFill>
                <a:prstClr val="black">
                  <a:lumMod val="50000"/>
                  <a:lumOff val="50000"/>
                </a:prstClr>
              </a:solidFill>
            </a:endParaRPr>
          </a:p>
          <a:p>
            <a:pPr marL="457200" lvl="0" indent="-457200">
              <a:buFont typeface="Arial" panose="020B0604020202020204" pitchFamily="34" charset="0"/>
              <a:buChar char="•"/>
            </a:pPr>
            <a:r>
              <a:rPr lang="en-GB" sz="2000" b="1" dirty="0">
                <a:solidFill>
                  <a:prstClr val="black">
                    <a:lumMod val="50000"/>
                    <a:lumOff val="50000"/>
                  </a:prstClr>
                </a:solidFill>
              </a:rPr>
              <a:t>Solar system</a:t>
            </a:r>
          </a:p>
          <a:p>
            <a:pPr marL="457200" lvl="0" indent="-457200">
              <a:buFont typeface="Arial" panose="020B0604020202020204" pitchFamily="34" charset="0"/>
              <a:buChar char="•"/>
            </a:pPr>
            <a:r>
              <a:rPr lang="en-GB" sz="2000" b="1" dirty="0">
                <a:solidFill>
                  <a:prstClr val="black">
                    <a:lumMod val="50000"/>
                    <a:lumOff val="50000"/>
                  </a:prstClr>
                </a:solidFill>
              </a:rPr>
              <a:t>Gravity and orbits</a:t>
            </a:r>
          </a:p>
          <a:p>
            <a:pPr marL="342900" lvl="1" indent="-342900">
              <a:buFont typeface="Arial" panose="020B0604020202020204" pitchFamily="34" charset="0"/>
              <a:buChar char="•"/>
            </a:pPr>
            <a:endParaRPr lang="en-US" sz="2000" b="1" dirty="0">
              <a:solidFill>
                <a:schemeClr val="tx1">
                  <a:lumMod val="50000"/>
                  <a:lumOff val="50000"/>
                </a:schemeClr>
              </a:solidFill>
            </a:endParaRPr>
          </a:p>
          <a:p>
            <a:pPr marL="457200" lvl="0" indent="-457200">
              <a:buFont typeface="Arial" panose="020B0604020202020204" pitchFamily="34" charset="0"/>
              <a:buChar char="•"/>
            </a:pPr>
            <a:endParaRPr lang="en-GB" sz="3200" b="1" dirty="0">
              <a:solidFill>
                <a:prstClr val="black">
                  <a:lumMod val="50000"/>
                  <a:lumOff val="50000"/>
                </a:prstClr>
              </a:solidFill>
            </a:endParaRPr>
          </a:p>
          <a:p>
            <a:pPr marL="342900" lvl="1" indent="-342900">
              <a:buFont typeface="Arial" panose="020B0604020202020204" pitchFamily="34" charset="0"/>
              <a:buChar char="•"/>
            </a:pPr>
            <a:endParaRPr lang="en-US" sz="2000" b="1" dirty="0">
              <a:solidFill>
                <a:schemeClr val="tx1">
                  <a:lumMod val="50000"/>
                  <a:lumOff val="50000"/>
                </a:schemeClr>
              </a:solidFill>
            </a:endParaRPr>
          </a:p>
          <a:p>
            <a:endParaRPr lang="en-GB" sz="2800"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1780726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6681" y="0"/>
            <a:ext cx="8280920" cy="657041"/>
          </a:xfrm>
        </p:spPr>
        <p:txBody>
          <a:bodyPr>
            <a:noAutofit/>
          </a:bodyPr>
          <a:lstStyle/>
          <a:p>
            <a:pPr marL="342900" lvl="1" algn="r" defTabSz="342900" rtl="0"/>
            <a:r>
              <a:rPr kumimoji="0" lang="en-US" sz="2000" b="1" i="0" u="none" strike="noStrike" kern="0" cap="none" spc="0" normalizeH="0" baseline="0" noProof="0" dirty="0">
                <a:ln>
                  <a:noFill/>
                </a:ln>
                <a:solidFill>
                  <a:srgbClr val="F79646">
                    <a:lumMod val="75000"/>
                  </a:srgbClr>
                </a:solidFill>
                <a:effectLst/>
                <a:uLnTx/>
                <a:uFillTx/>
              </a:rPr>
              <a:t>Part 1</a:t>
            </a:r>
            <a:r>
              <a:rPr kumimoji="0" lang="en-US" sz="2400" b="1" i="0" u="none" strike="noStrike" kern="0" cap="none" spc="0" normalizeH="0" baseline="0" noProof="0" dirty="0">
                <a:ln>
                  <a:noFill/>
                </a:ln>
                <a:solidFill>
                  <a:srgbClr val="F79646"/>
                </a:solidFill>
                <a:effectLst/>
                <a:uLnTx/>
                <a:uFillTx/>
              </a:rPr>
              <a:t>– </a:t>
            </a:r>
            <a:r>
              <a:rPr lang="en-US" sz="2400" b="1" kern="1200" dirty="0">
                <a:solidFill>
                  <a:prstClr val="black"/>
                </a:solidFill>
                <a:latin typeface="Calibri"/>
              </a:rPr>
              <a:t>Answer</a:t>
            </a:r>
            <a:r>
              <a:rPr kumimoji="0" lang="en-US" sz="2400" b="1" i="0" u="none" strike="noStrike" kern="1200" cap="none" spc="0" normalizeH="0" baseline="0" noProof="0" dirty="0">
                <a:ln>
                  <a:noFill/>
                </a:ln>
                <a:solidFill>
                  <a:prstClr val="black"/>
                </a:solidFill>
                <a:effectLst/>
                <a:uLnTx/>
                <a:uFillTx/>
                <a:latin typeface="Calibri"/>
                <a:ea typeface=""/>
                <a:cs typeface="News Gothic MT"/>
              </a:rPr>
              <a:t>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611560" y="802524"/>
            <a:ext cx="7704856"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228600" y="802524"/>
            <a:ext cx="8915400" cy="6001643"/>
          </a:xfrm>
          <a:prstGeom prst="rect">
            <a:avLst/>
          </a:prstGeom>
          <a:noFill/>
        </p:spPr>
        <p:txBody>
          <a:bodyPr wrap="square" lIns="108000" rtlCol="0">
            <a:spAutoFit/>
          </a:bodyPr>
          <a:lstStyle/>
          <a:p>
            <a:pPr marL="457200" indent="-457200">
              <a:buAutoNum type="arabicPeriod"/>
            </a:pPr>
            <a:r>
              <a:rPr lang="en-GB" sz="2400" dirty="0"/>
              <a:t>Name the star in our solar system.</a:t>
            </a:r>
          </a:p>
          <a:p>
            <a:pPr lvl="1"/>
            <a:r>
              <a:rPr lang="en-GB" sz="2400" b="1" dirty="0">
                <a:solidFill>
                  <a:srgbClr val="00B050"/>
                </a:solidFill>
              </a:rPr>
              <a:t>The Sun.</a:t>
            </a:r>
          </a:p>
          <a:p>
            <a:pPr marL="457200" indent="-457200">
              <a:buAutoNum type="arabicPeriod"/>
            </a:pPr>
            <a:r>
              <a:rPr lang="en-GB" sz="2400" dirty="0"/>
              <a:t>How many planets in our solar system?</a:t>
            </a:r>
          </a:p>
          <a:p>
            <a:pPr lvl="1"/>
            <a:r>
              <a:rPr lang="en-GB" sz="2400" b="1" dirty="0">
                <a:solidFill>
                  <a:srgbClr val="00B050"/>
                </a:solidFill>
              </a:rPr>
              <a:t>8</a:t>
            </a:r>
          </a:p>
          <a:p>
            <a:pPr marL="457200" indent="-457200">
              <a:buAutoNum type="arabicPeriod"/>
            </a:pPr>
            <a:r>
              <a:rPr lang="en-GB" sz="2400" dirty="0"/>
              <a:t>What is the difference between a moon and a dwarf planet?</a:t>
            </a:r>
          </a:p>
          <a:p>
            <a:pPr lvl="1"/>
            <a:r>
              <a:rPr lang="en-GB" sz="2400" b="1" dirty="0">
                <a:solidFill>
                  <a:srgbClr val="00B050"/>
                </a:solidFill>
              </a:rPr>
              <a:t>Dwarf planets orbit the sun; moons orbit planets.</a:t>
            </a:r>
          </a:p>
          <a:p>
            <a:pPr marL="457200" indent="-457200">
              <a:buAutoNum type="arabicPeriod"/>
            </a:pPr>
            <a:r>
              <a:rPr lang="en-GB" sz="2400" dirty="0"/>
              <a:t>What do we call the natural satellites in the solar system?</a:t>
            </a:r>
          </a:p>
          <a:p>
            <a:pPr lvl="1"/>
            <a:r>
              <a:rPr lang="en-GB" sz="2400" b="1" dirty="0">
                <a:solidFill>
                  <a:srgbClr val="00B050"/>
                </a:solidFill>
              </a:rPr>
              <a:t>Moons.</a:t>
            </a:r>
          </a:p>
          <a:p>
            <a:pPr marL="457200" indent="-457200">
              <a:buAutoNum type="arabicPeriod"/>
            </a:pPr>
            <a:r>
              <a:rPr lang="en-GB" sz="2400" dirty="0"/>
              <a:t>Name the galaxy our solar system is part of.</a:t>
            </a:r>
          </a:p>
          <a:p>
            <a:pPr lvl="1"/>
            <a:r>
              <a:rPr lang="en-GB" sz="2400" b="1" dirty="0">
                <a:solidFill>
                  <a:srgbClr val="00B050"/>
                </a:solidFill>
              </a:rPr>
              <a:t>The Milky Way.</a:t>
            </a:r>
          </a:p>
          <a:p>
            <a:pPr marL="457200" indent="-457200">
              <a:buAutoNum type="arabicPeriod"/>
            </a:pPr>
            <a:r>
              <a:rPr lang="en-GB" sz="2400" dirty="0"/>
              <a:t>How was the sun formed, and what caused this to happen?</a:t>
            </a:r>
          </a:p>
          <a:p>
            <a:pPr lvl="1"/>
            <a:r>
              <a:rPr lang="en-GB" sz="2400" b="1" dirty="0">
                <a:solidFill>
                  <a:srgbClr val="00B050"/>
                </a:solidFill>
              </a:rPr>
              <a:t>From a cloud of dust and gas (nebula); pulled together by gravitational attraction; causing fusion reactions.</a:t>
            </a:r>
          </a:p>
          <a:p>
            <a:pPr marL="457200" lvl="0" indent="-457200">
              <a:buFont typeface="+mj-lt"/>
              <a:buAutoNum type="arabicPeriod" startAt="7"/>
            </a:pPr>
            <a:r>
              <a:rPr lang="en-GB" sz="2400" dirty="0">
                <a:solidFill>
                  <a:prstClr val="black"/>
                </a:solidFill>
              </a:rPr>
              <a:t>List the major bodies found in the solar system.</a:t>
            </a:r>
          </a:p>
          <a:p>
            <a:pPr lvl="1"/>
            <a:r>
              <a:rPr lang="en-GB" sz="2400" b="1" dirty="0">
                <a:solidFill>
                  <a:srgbClr val="00B050"/>
                </a:solidFill>
              </a:rPr>
              <a:t>Star, planets, dwarf planets, moons, asteroids, comets.</a:t>
            </a:r>
          </a:p>
          <a:p>
            <a:pPr lvl="1"/>
            <a:endParaRPr lang="en-GB" sz="2400" b="1" dirty="0">
              <a:solidFill>
                <a:srgbClr val="00B050"/>
              </a:solidFill>
            </a:endParaRPr>
          </a:p>
        </p:txBody>
      </p:sp>
    </p:spTree>
    <p:extLst>
      <p:ext uri="{BB962C8B-B14F-4D97-AF65-F5344CB8AC3E}">
        <p14:creationId xmlns:p14="http://schemas.microsoft.com/office/powerpoint/2010/main" val="978443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7812"/>
            <a:ext cx="8532440" cy="657041"/>
          </a:xfrm>
        </p:spPr>
        <p:txBody>
          <a:bodyPr>
            <a:noAutofit/>
          </a:bodyPr>
          <a:lstStyle/>
          <a:p>
            <a:pPr marL="342900" lvl="1" algn="r" defTabSz="342900" rtl="0">
              <a:spcBef>
                <a:spcPct val="20000"/>
              </a:spcBef>
            </a:pPr>
            <a:r>
              <a:rPr kumimoji="0" lang="en-US" sz="2000" b="1" i="0" u="none" strike="noStrike" kern="0" cap="none" spc="0" normalizeH="0" baseline="0" noProof="0" dirty="0">
                <a:ln>
                  <a:noFill/>
                </a:ln>
                <a:solidFill>
                  <a:srgbClr val="F79646">
                    <a:lumMod val="75000"/>
                  </a:srgbClr>
                </a:solidFill>
                <a:effectLst/>
                <a:uLnTx/>
                <a:uFillTx/>
              </a:rPr>
              <a:t>Part 1</a:t>
            </a:r>
            <a:r>
              <a:rPr kumimoji="0" lang="en-US" sz="2400" b="1" i="0" u="none" strike="noStrike" kern="0" cap="none" spc="0" normalizeH="0" baseline="0" noProof="0" dirty="0">
                <a:ln>
                  <a:noFill/>
                </a:ln>
                <a:solidFill>
                  <a:srgbClr val="F79646"/>
                </a:solidFill>
                <a:effectLst/>
                <a:uLnTx/>
                <a:uFillTx/>
              </a:rPr>
              <a:t>– </a:t>
            </a:r>
            <a:r>
              <a:rPr kumimoji="0" lang="en-US" sz="2400" b="1" i="0" u="none" strike="noStrike" kern="1200" cap="none" spc="0" normalizeH="0" baseline="0" noProof="0" dirty="0">
                <a:ln>
                  <a:noFill/>
                </a:ln>
                <a:solidFill>
                  <a:prstClr val="black"/>
                </a:solidFill>
                <a:effectLst/>
                <a:uLnTx/>
                <a:uFillTx/>
                <a:latin typeface="Calibri"/>
              </a:rPr>
              <a:t>Answer</a:t>
            </a:r>
            <a:r>
              <a:rPr kumimoji="0" lang="en-US" sz="2400" b="1" i="0" u="none" strike="noStrike" kern="1200" cap="none" spc="0" normalizeH="0" baseline="0" noProof="0" dirty="0">
                <a:ln>
                  <a:noFill/>
                </a:ln>
                <a:solidFill>
                  <a:prstClr val="black"/>
                </a:solidFill>
                <a:effectLst/>
                <a:uLnTx/>
                <a:uFillTx/>
                <a:latin typeface="Calibri"/>
                <a:ea typeface=""/>
                <a:cs typeface="News Gothic MT"/>
              </a:rPr>
              <a:t>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777046"/>
            <a:ext cx="8766313" cy="3416320"/>
          </a:xfrm>
          <a:prstGeom prst="rect">
            <a:avLst/>
          </a:prstGeom>
          <a:noFill/>
          <a:ln>
            <a:noFill/>
          </a:ln>
        </p:spPr>
        <p:txBody>
          <a:bodyPr wrap="square" rtlCol="0">
            <a:spAutoFit/>
          </a:bodyPr>
          <a:lstStyle/>
          <a:p>
            <a:r>
              <a:rPr lang="en-GB" sz="2400" dirty="0"/>
              <a:t>8.  The international space station takes 92 mins to orbit the Earth.  </a:t>
            </a:r>
          </a:p>
          <a:p>
            <a:r>
              <a:rPr lang="en-GB" sz="2400" dirty="0"/>
              <a:t>     The Moon takes 27.3 days to orbit the Earth. Explain why these</a:t>
            </a:r>
          </a:p>
          <a:p>
            <a:r>
              <a:rPr lang="en-GB" sz="2400" dirty="0"/>
              <a:t>     orbital times are different. </a:t>
            </a:r>
          </a:p>
          <a:p>
            <a:endParaRPr lang="en-GB" sz="2400" dirty="0"/>
          </a:p>
          <a:p>
            <a:pPr lvl="1"/>
            <a:r>
              <a:rPr lang="en-GB" sz="2400" b="1" dirty="0">
                <a:solidFill>
                  <a:srgbClr val="00CC5C"/>
                </a:solidFill>
              </a:rPr>
              <a:t>Moon orbits at a much greater distance than the ISS; it is much further away from the Earth. </a:t>
            </a:r>
          </a:p>
          <a:p>
            <a:pPr lvl="1"/>
            <a:r>
              <a:rPr lang="en-GB" sz="2400" b="1" dirty="0">
                <a:solidFill>
                  <a:srgbClr val="00CC5C"/>
                </a:solidFill>
              </a:rPr>
              <a:t>The further from the Earth the lower the gravitational attraction</a:t>
            </a:r>
          </a:p>
          <a:p>
            <a:pPr lvl="1"/>
            <a:r>
              <a:rPr lang="en-GB" sz="2400" b="1" dirty="0">
                <a:solidFill>
                  <a:srgbClr val="00CC5C"/>
                </a:solidFill>
              </a:rPr>
              <a:t>So The Moon travels slower and it takes much longer to orbit the Earth.</a:t>
            </a:r>
          </a:p>
        </p:txBody>
      </p:sp>
    </p:spTree>
    <p:extLst>
      <p:ext uri="{BB962C8B-B14F-4D97-AF65-F5344CB8AC3E}">
        <p14:creationId xmlns:p14="http://schemas.microsoft.com/office/powerpoint/2010/main" val="231773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D1B996E-333B-4EAE-8AD2-17D40F7E16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4634" y="4149080"/>
            <a:ext cx="2191317" cy="1597557"/>
          </a:xfrm>
          <a:prstGeom prst="rect">
            <a:avLst/>
          </a:prstGeom>
        </p:spPr>
      </p:pic>
      <p:sp>
        <p:nvSpPr>
          <p:cNvPr id="2" name="Title 1"/>
          <p:cNvSpPr>
            <a:spLocks noGrp="1"/>
          </p:cNvSpPr>
          <p:nvPr>
            <p:ph type="ctrTitle"/>
          </p:nvPr>
        </p:nvSpPr>
        <p:spPr>
          <a:xfrm>
            <a:off x="1195632" y="74782"/>
            <a:ext cx="7956376" cy="657041"/>
          </a:xfrm>
        </p:spPr>
        <p:txBody>
          <a:bodyPr>
            <a:noAutofit/>
          </a:bodyPr>
          <a:lstStyle/>
          <a:p>
            <a:pPr marL="342900" lvl="1" algn="r" defTabSz="342900" rtl="0">
              <a:spcBef>
                <a:spcPct val="20000"/>
              </a:spcBef>
            </a:pPr>
            <a:r>
              <a:rPr kumimoji="0" lang="en-US" sz="2000" b="1" i="0" u="none" strike="noStrike" kern="0" cap="none" spc="0" normalizeH="0" baseline="0" noProof="0" dirty="0">
                <a:ln>
                  <a:noFill/>
                </a:ln>
                <a:solidFill>
                  <a:srgbClr val="F79646">
                    <a:lumMod val="75000"/>
                  </a:srgbClr>
                </a:solidFill>
                <a:effectLst/>
                <a:uLnTx/>
                <a:uFillTx/>
              </a:rPr>
              <a:t>Part 1</a:t>
            </a:r>
            <a:r>
              <a:rPr kumimoji="0" lang="en-US" sz="2400" b="1" i="0" u="none" strike="noStrike" kern="0" cap="none" spc="0" normalizeH="0" baseline="0" noProof="0" dirty="0">
                <a:ln>
                  <a:noFill/>
                </a:ln>
                <a:solidFill>
                  <a:srgbClr val="F79646"/>
                </a:solidFill>
                <a:effectLst/>
                <a:uLnTx/>
                <a:uFillTx/>
              </a:rPr>
              <a:t>– </a:t>
            </a:r>
            <a:r>
              <a:rPr kumimoji="0" lang="en-US" sz="2400" b="1" i="0" u="none" strike="noStrike" kern="1200" cap="none" spc="0" normalizeH="0" baseline="0" noProof="0" dirty="0">
                <a:ln>
                  <a:noFill/>
                </a:ln>
                <a:solidFill>
                  <a:prstClr val="black"/>
                </a:solidFill>
                <a:effectLst/>
                <a:uLnTx/>
                <a:uFillTx/>
                <a:latin typeface="Calibri"/>
              </a:rPr>
              <a:t>Answer</a:t>
            </a:r>
            <a:r>
              <a:rPr kumimoji="0" lang="en-US" sz="2400" b="1" i="0" u="none" strike="noStrike" kern="1200" cap="none" spc="0" normalizeH="0" baseline="0" noProof="0" dirty="0">
                <a:ln>
                  <a:noFill/>
                </a:ln>
                <a:solidFill>
                  <a:prstClr val="black"/>
                </a:solidFill>
                <a:effectLst/>
                <a:uLnTx/>
                <a:uFillTx/>
                <a:latin typeface="Calibri"/>
                <a:ea typeface=""/>
                <a:cs typeface="News Gothic MT"/>
              </a:rPr>
              <a:t>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246184" y="802524"/>
            <a:ext cx="8915400" cy="5632311"/>
          </a:xfrm>
          <a:prstGeom prst="rect">
            <a:avLst/>
          </a:prstGeom>
          <a:noFill/>
        </p:spPr>
        <p:txBody>
          <a:bodyPr wrap="square" rtlCol="0">
            <a:spAutoFit/>
          </a:bodyPr>
          <a:lstStyle/>
          <a:p>
            <a:r>
              <a:rPr lang="en-GB" sz="2400" dirty="0"/>
              <a:t>9.    The diagram shows a satellite orbiting the Earth.</a:t>
            </a:r>
          </a:p>
          <a:p>
            <a:r>
              <a:rPr lang="en-GB" sz="2400" dirty="0"/>
              <a:t>       Explain how the Earth’s gravity can result in the</a:t>
            </a:r>
          </a:p>
          <a:p>
            <a:r>
              <a:rPr lang="en-GB" sz="2400" dirty="0"/>
              <a:t>       satellites velocity changing but not its speed.</a:t>
            </a:r>
          </a:p>
          <a:p>
            <a:pPr lvl="1"/>
            <a:r>
              <a:rPr lang="en-GB" sz="2400" b="1" dirty="0">
                <a:solidFill>
                  <a:srgbClr val="00CC5C"/>
                </a:solidFill>
              </a:rPr>
              <a:t>In a circular orbit the speed of the satellite </a:t>
            </a:r>
          </a:p>
          <a:p>
            <a:pPr lvl="1"/>
            <a:r>
              <a:rPr lang="en-GB" sz="2400" b="1" dirty="0">
                <a:solidFill>
                  <a:srgbClr val="00CC5C"/>
                </a:solidFill>
              </a:rPr>
              <a:t>remains constant. Velocity is a vector so has </a:t>
            </a:r>
          </a:p>
          <a:p>
            <a:pPr lvl="1"/>
            <a:r>
              <a:rPr lang="en-GB" sz="2400" b="1" dirty="0">
                <a:solidFill>
                  <a:srgbClr val="00CC5C"/>
                </a:solidFill>
              </a:rPr>
              <a:t>size AND direction.</a:t>
            </a:r>
          </a:p>
          <a:p>
            <a:pPr lvl="1"/>
            <a:r>
              <a:rPr lang="en-GB" sz="2400" b="1" dirty="0">
                <a:solidFill>
                  <a:srgbClr val="00CC5C"/>
                </a:solidFill>
              </a:rPr>
              <a:t>As the direction is changing, the velocity </a:t>
            </a:r>
          </a:p>
          <a:p>
            <a:pPr lvl="1"/>
            <a:r>
              <a:rPr lang="en-GB" sz="2400" b="1" dirty="0">
                <a:solidFill>
                  <a:srgbClr val="00CC5C"/>
                </a:solidFill>
              </a:rPr>
              <a:t>must be changing.</a:t>
            </a:r>
            <a:endParaRPr lang="en-GB" sz="2400" dirty="0"/>
          </a:p>
          <a:p>
            <a:r>
              <a:rPr lang="en-GB" sz="2400" dirty="0"/>
              <a:t>10. Explain why satellites in a polar orbit must travel at much higher</a:t>
            </a:r>
          </a:p>
          <a:p>
            <a:r>
              <a:rPr lang="en-GB" sz="2400" dirty="0"/>
              <a:t>       speeds than a satellite in a geostationary orbit.</a:t>
            </a:r>
          </a:p>
          <a:p>
            <a:pPr lvl="1"/>
            <a:r>
              <a:rPr lang="en-GB" sz="2400" b="1" dirty="0">
                <a:solidFill>
                  <a:srgbClr val="00CC5C"/>
                </a:solidFill>
              </a:rPr>
              <a:t>Polar satellite are in a much lower orbit than </a:t>
            </a:r>
          </a:p>
          <a:p>
            <a:pPr lvl="1"/>
            <a:r>
              <a:rPr lang="en-GB" sz="2400" b="1" dirty="0">
                <a:solidFill>
                  <a:srgbClr val="00CC5C"/>
                </a:solidFill>
              </a:rPr>
              <a:t>geostationary satellites. </a:t>
            </a:r>
          </a:p>
          <a:p>
            <a:pPr lvl="1"/>
            <a:r>
              <a:rPr lang="en-GB" sz="2400" b="1" dirty="0">
                <a:solidFill>
                  <a:srgbClr val="00CC5C"/>
                </a:solidFill>
              </a:rPr>
              <a:t>In a lower orbit, gravity has a much stronger </a:t>
            </a:r>
          </a:p>
          <a:p>
            <a:pPr lvl="1"/>
            <a:r>
              <a:rPr lang="en-GB" sz="2400" b="1" dirty="0">
                <a:solidFill>
                  <a:srgbClr val="00CC5C"/>
                </a:solidFill>
              </a:rPr>
              <a:t>influence so the polar satellite must travel much </a:t>
            </a:r>
          </a:p>
          <a:p>
            <a:pPr lvl="1"/>
            <a:r>
              <a:rPr lang="en-GB" sz="2400" b="1" dirty="0">
                <a:solidFill>
                  <a:srgbClr val="00CC5C"/>
                </a:solidFill>
              </a:rPr>
              <a:t>faster to avoid being pulled down to Earth.  </a:t>
            </a:r>
            <a:endParaRPr lang="en-GB" sz="3200" dirty="0"/>
          </a:p>
        </p:txBody>
      </p:sp>
      <p:pic>
        <p:nvPicPr>
          <p:cNvPr id="5" name="Picture 4">
            <a:extLst>
              <a:ext uri="{FF2B5EF4-FFF2-40B4-BE49-F238E27FC236}">
                <a16:creationId xmlns:a16="http://schemas.microsoft.com/office/drawing/2014/main" id="{A061AACA-42FD-40D1-9492-713ACCB3D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5027" y="1125277"/>
            <a:ext cx="2304852" cy="1834992"/>
          </a:xfrm>
          <a:prstGeom prst="rect">
            <a:avLst/>
          </a:prstGeom>
        </p:spPr>
      </p:pic>
    </p:spTree>
    <p:extLst>
      <p:ext uri="{BB962C8B-B14F-4D97-AF65-F5344CB8AC3E}">
        <p14:creationId xmlns:p14="http://schemas.microsoft.com/office/powerpoint/2010/main" val="2557743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3730600" cy="5878532"/>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200" b="1" dirty="0">
                <a:solidFill>
                  <a:schemeClr val="tx1">
                    <a:lumMod val="50000"/>
                    <a:lumOff val="50000"/>
                  </a:schemeClr>
                </a:solidFill>
              </a:rPr>
              <a:t>Part 2</a:t>
            </a:r>
          </a:p>
          <a:p>
            <a:endParaRPr lang="en-GB" sz="3200" b="1" dirty="0">
              <a:solidFill>
                <a:schemeClr val="tx1">
                  <a:lumMod val="50000"/>
                  <a:lumOff val="50000"/>
                </a:schemeClr>
              </a:solidFill>
            </a:endParaRPr>
          </a:p>
          <a:p>
            <a:pPr marL="457200" indent="-457200">
              <a:buFont typeface="Arial" panose="020B0604020202020204" pitchFamily="34" charset="0"/>
              <a:buChar char="•"/>
            </a:pPr>
            <a:r>
              <a:rPr lang="en-GB" sz="2000" b="1" dirty="0">
                <a:solidFill>
                  <a:schemeClr val="tx1">
                    <a:lumMod val="50000"/>
                    <a:lumOff val="50000"/>
                  </a:schemeClr>
                </a:solidFill>
              </a:rPr>
              <a:t>Origin of the universe</a:t>
            </a:r>
          </a:p>
          <a:p>
            <a:pPr marL="457200" indent="-457200">
              <a:buFont typeface="Arial" panose="020B0604020202020204" pitchFamily="34" charset="0"/>
              <a:buChar char="•"/>
            </a:pPr>
            <a:r>
              <a:rPr lang="en-GB" sz="2000" b="1" dirty="0">
                <a:solidFill>
                  <a:schemeClr val="tx1">
                    <a:lumMod val="50000"/>
                    <a:lumOff val="50000"/>
                  </a:schemeClr>
                </a:solidFill>
              </a:rPr>
              <a:t>Redshift</a:t>
            </a:r>
          </a:p>
          <a:p>
            <a:pPr marL="457200" indent="-457200">
              <a:buFont typeface="Arial" panose="020B0604020202020204" pitchFamily="34" charset="0"/>
              <a:buChar char="•"/>
            </a:pPr>
            <a:r>
              <a:rPr lang="en-GB" sz="2000" b="1" dirty="0">
                <a:solidFill>
                  <a:schemeClr val="tx1">
                    <a:lumMod val="50000"/>
                    <a:lumOff val="50000"/>
                  </a:schemeClr>
                </a:solidFill>
              </a:rPr>
              <a:t>Life cycle of stars</a:t>
            </a:r>
          </a:p>
          <a:p>
            <a:pPr marL="457200" indent="-457200">
              <a:buFont typeface="Arial" panose="020B0604020202020204" pitchFamily="34" charset="0"/>
              <a:buChar char="•"/>
            </a:pPr>
            <a:endParaRPr lang="en-GB" sz="2000" b="1" dirty="0">
              <a:solidFill>
                <a:schemeClr val="tx1">
                  <a:lumMod val="50000"/>
                  <a:lumOff val="50000"/>
                </a:schemeClr>
              </a:solidFill>
            </a:endParaRPr>
          </a:p>
          <a:p>
            <a:endParaRPr lang="en-GB" sz="3200" b="1" dirty="0">
              <a:solidFill>
                <a:schemeClr val="tx1">
                  <a:lumMod val="50000"/>
                  <a:lumOff val="50000"/>
                </a:schemeClr>
              </a:solidFill>
            </a:endParaRPr>
          </a:p>
          <a:p>
            <a:pPr marL="342900" lvl="1" indent="-342900">
              <a:buFont typeface="Arial" panose="020B0604020202020204" pitchFamily="34" charset="0"/>
              <a:buChar char="•"/>
            </a:pPr>
            <a:endParaRPr lang="en-US" sz="2000" b="1" dirty="0">
              <a:solidFill>
                <a:schemeClr val="tx1">
                  <a:lumMod val="50000"/>
                  <a:lumOff val="50000"/>
                </a:schemeClr>
              </a:solidFill>
            </a:endParaRPr>
          </a:p>
          <a:p>
            <a:endParaRPr lang="en-GB" dirty="0"/>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3059832" y="0"/>
            <a:ext cx="6120680" cy="6525344"/>
          </a:xfrm>
          <a:prstGeom prst="rect">
            <a:avLst/>
          </a:prstGeom>
        </p:spPr>
      </p:pic>
    </p:spTree>
    <p:extLst>
      <p:ext uri="{BB962C8B-B14F-4D97-AF65-F5344CB8AC3E}">
        <p14:creationId xmlns:p14="http://schemas.microsoft.com/office/powerpoint/2010/main" val="1992662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35655"/>
            <a:ext cx="817240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kumimoji="0" lang="en-US" sz="2800" b="1" i="0" u="none" strike="noStrike" kern="1200" cap="none" spc="0" normalizeH="0" baseline="0" noProof="0" dirty="0">
                <a:ln>
                  <a:noFill/>
                </a:ln>
                <a:solidFill>
                  <a:schemeClr val="accent6">
                    <a:lumMod val="75000"/>
                  </a:schemeClr>
                </a:solidFill>
                <a:effectLst/>
                <a:uLnTx/>
                <a:uFillTx/>
                <a:latin typeface="Calibri"/>
                <a:ea typeface=""/>
                <a:cs typeface="News Gothic MT"/>
              </a:rPr>
              <a:t>Steady state vs the Big Bang</a:t>
            </a:r>
          </a:p>
        </p:txBody>
      </p:sp>
      <p:sp>
        <p:nvSpPr>
          <p:cNvPr id="3" name="TextBox 2">
            <a:extLst>
              <a:ext uri="{FF2B5EF4-FFF2-40B4-BE49-F238E27FC236}">
                <a16:creationId xmlns:a16="http://schemas.microsoft.com/office/drawing/2014/main" id="{9EABB761-3652-447E-A940-F34BEEF30CBA}"/>
              </a:ext>
            </a:extLst>
          </p:cNvPr>
          <p:cNvSpPr txBox="1"/>
          <p:nvPr/>
        </p:nvSpPr>
        <p:spPr>
          <a:xfrm>
            <a:off x="179512" y="836712"/>
            <a:ext cx="8640960" cy="648072"/>
          </a:xfrm>
          <a:prstGeom prst="rect">
            <a:avLst/>
          </a:prstGeom>
          <a:noFill/>
        </p:spPr>
        <p:txBody>
          <a:bodyPr wrap="square" rtlCol="0">
            <a:spAutoFit/>
          </a:bodyPr>
          <a:lstStyle/>
          <a:p>
            <a:endParaRPr lang="en-GB" dirty="0"/>
          </a:p>
        </p:txBody>
      </p:sp>
      <p:graphicFrame>
        <p:nvGraphicFramePr>
          <p:cNvPr id="20" name="Table 19">
            <a:extLst>
              <a:ext uri="{FF2B5EF4-FFF2-40B4-BE49-F238E27FC236}">
                <a16:creationId xmlns:a16="http://schemas.microsoft.com/office/drawing/2014/main" id="{66462562-3E15-8F4B-8770-5A5ED43E969E}"/>
              </a:ext>
            </a:extLst>
          </p:cNvPr>
          <p:cNvGraphicFramePr>
            <a:graphicFrameLocks noGrp="1"/>
          </p:cNvGraphicFramePr>
          <p:nvPr>
            <p:extLst>
              <p:ext uri="{D42A27DB-BD31-4B8C-83A1-F6EECF244321}">
                <p14:modId xmlns:p14="http://schemas.microsoft.com/office/powerpoint/2010/main" val="1740504887"/>
              </p:ext>
            </p:extLst>
          </p:nvPr>
        </p:nvGraphicFramePr>
        <p:xfrm>
          <a:off x="179512" y="3658074"/>
          <a:ext cx="8640960" cy="1554480"/>
        </p:xfrm>
        <a:graphic>
          <a:graphicData uri="http://schemas.openxmlformats.org/drawingml/2006/table">
            <a:tbl>
              <a:tblPr firstRow="1" bandRow="1">
                <a:tableStyleId>{5940675A-B579-460E-94D1-54222C63F5DA}</a:tableStyleId>
              </a:tblPr>
              <a:tblGrid>
                <a:gridCol w="8640960">
                  <a:extLst>
                    <a:ext uri="{9D8B030D-6E8A-4147-A177-3AD203B41FA5}">
                      <a16:colId xmlns:a16="http://schemas.microsoft.com/office/drawing/2014/main" val="2916641091"/>
                    </a:ext>
                  </a:extLst>
                </a:gridCol>
              </a:tblGrid>
              <a:tr h="1276204">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n-GB" sz="2400" b="1" i="0" dirty="0">
                          <a:solidFill>
                            <a:schemeClr val="accent6">
                              <a:lumMod val="75000"/>
                            </a:schemeClr>
                          </a:solidFill>
                        </a:rPr>
                        <a:t>Cosmic Microwave Background</a:t>
                      </a:r>
                      <a:r>
                        <a:rPr lang="en-GB" sz="2400" b="1" i="0" baseline="0" dirty="0">
                          <a:solidFill>
                            <a:schemeClr val="accent6">
                              <a:lumMod val="75000"/>
                            </a:schemeClr>
                          </a:solidFill>
                        </a:rPr>
                        <a:t> radiation (</a:t>
                      </a:r>
                      <a:r>
                        <a:rPr lang="en-GB" sz="2400" b="1" i="0" dirty="0">
                          <a:solidFill>
                            <a:schemeClr val="accent6">
                              <a:lumMod val="75000"/>
                            </a:schemeClr>
                          </a:solidFill>
                        </a:rPr>
                        <a:t>CMBR)</a:t>
                      </a:r>
                    </a:p>
                    <a:p>
                      <a:pPr marL="0" marR="0" indent="0" algn="l" defTabSz="1280160" rtl="0" eaLnBrk="1" fontAlgn="auto" latinLnBrk="0" hangingPunct="1">
                        <a:lnSpc>
                          <a:spcPct val="100000"/>
                        </a:lnSpc>
                        <a:spcBef>
                          <a:spcPts val="0"/>
                        </a:spcBef>
                        <a:spcAft>
                          <a:spcPts val="0"/>
                        </a:spcAft>
                        <a:buClrTx/>
                        <a:buSzTx/>
                        <a:buFontTx/>
                        <a:buNone/>
                        <a:tabLst/>
                        <a:defRPr/>
                      </a:pPr>
                      <a:r>
                        <a:rPr lang="en-GB" sz="2400" b="0" i="0" dirty="0">
                          <a:solidFill>
                            <a:schemeClr val="tx1"/>
                          </a:solidFill>
                        </a:rPr>
                        <a:t>Huge</a:t>
                      </a:r>
                      <a:r>
                        <a:rPr lang="en-GB" sz="2400" b="0" i="0" baseline="0" dirty="0">
                          <a:solidFill>
                            <a:schemeClr val="tx1"/>
                          </a:solidFill>
                        </a:rPr>
                        <a:t> amounts of radiation were released at Big Bang.  As the universe expanded, the wavelength of radiation has increased.  This is detected now as microwave radiation.</a:t>
                      </a:r>
                      <a:endParaRPr lang="en-GB" sz="2400" b="0" i="0" dirty="0">
                        <a:solidFill>
                          <a:schemeClr val="tx1"/>
                        </a:solidFill>
                      </a:endParaRPr>
                    </a:p>
                  </a:txBody>
                  <a:tcPr anchor="ctr"/>
                </a:tc>
                <a:extLst>
                  <a:ext uri="{0D108BD9-81ED-4DB2-BD59-A6C34878D82A}">
                    <a16:rowId xmlns:a16="http://schemas.microsoft.com/office/drawing/2014/main" val="10000"/>
                  </a:ext>
                </a:extLst>
              </a:tr>
            </a:tbl>
          </a:graphicData>
        </a:graphic>
      </p:graphicFrame>
      <p:sp>
        <p:nvSpPr>
          <p:cNvPr id="21" name="Rectangle 20">
            <a:extLst>
              <a:ext uri="{FF2B5EF4-FFF2-40B4-BE49-F238E27FC236}">
                <a16:creationId xmlns:a16="http://schemas.microsoft.com/office/drawing/2014/main" id="{8192B3E1-7F95-654B-A7B3-6C196B545077}"/>
              </a:ext>
            </a:extLst>
          </p:cNvPr>
          <p:cNvSpPr/>
          <p:nvPr/>
        </p:nvSpPr>
        <p:spPr>
          <a:xfrm>
            <a:off x="203176" y="5238786"/>
            <a:ext cx="3216696" cy="1276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b="1" dirty="0">
                <a:solidFill>
                  <a:schemeClr val="accent6">
                    <a:lumMod val="75000"/>
                  </a:schemeClr>
                </a:solidFill>
              </a:rPr>
              <a:t>More evidence supports The Big Bang theory so it is the current accepted model for the origin of the Universe.</a:t>
            </a:r>
          </a:p>
        </p:txBody>
      </p:sp>
      <p:graphicFrame>
        <p:nvGraphicFramePr>
          <p:cNvPr id="22" name="Table 21">
            <a:extLst>
              <a:ext uri="{FF2B5EF4-FFF2-40B4-BE49-F238E27FC236}">
                <a16:creationId xmlns:a16="http://schemas.microsoft.com/office/drawing/2014/main" id="{43F79CC5-B3D1-0A40-B6E0-D674F7869B87}"/>
              </a:ext>
            </a:extLst>
          </p:cNvPr>
          <p:cNvGraphicFramePr>
            <a:graphicFrameLocks noGrp="1"/>
          </p:cNvGraphicFramePr>
          <p:nvPr>
            <p:extLst>
              <p:ext uri="{D42A27DB-BD31-4B8C-83A1-F6EECF244321}">
                <p14:modId xmlns:p14="http://schemas.microsoft.com/office/powerpoint/2010/main" val="2120272545"/>
              </p:ext>
            </p:extLst>
          </p:nvPr>
        </p:nvGraphicFramePr>
        <p:xfrm>
          <a:off x="179512" y="806265"/>
          <a:ext cx="8640960" cy="2743200"/>
        </p:xfrm>
        <a:graphic>
          <a:graphicData uri="http://schemas.openxmlformats.org/drawingml/2006/table">
            <a:tbl>
              <a:tblPr firstRow="1" bandRow="1">
                <a:tableStyleId>{5940675A-B579-460E-94D1-54222C63F5DA}</a:tableStyleId>
              </a:tblPr>
              <a:tblGrid>
                <a:gridCol w="1536742">
                  <a:extLst>
                    <a:ext uri="{9D8B030D-6E8A-4147-A177-3AD203B41FA5}">
                      <a16:colId xmlns:a16="http://schemas.microsoft.com/office/drawing/2014/main" val="20000"/>
                    </a:ext>
                  </a:extLst>
                </a:gridCol>
                <a:gridCol w="7104218">
                  <a:extLst>
                    <a:ext uri="{9D8B030D-6E8A-4147-A177-3AD203B41FA5}">
                      <a16:colId xmlns:a16="http://schemas.microsoft.com/office/drawing/2014/main" val="20001"/>
                    </a:ext>
                  </a:extLst>
                </a:gridCol>
              </a:tblGrid>
              <a:tr h="353413">
                <a:tc>
                  <a:txBody>
                    <a:bodyPr/>
                    <a:lstStyle/>
                    <a:p>
                      <a:pPr marL="0" marR="0" indent="0" algn="l" defTabSz="1280160" rtl="0" eaLnBrk="1" fontAlgn="auto" latinLnBrk="0" hangingPunct="1">
                        <a:lnSpc>
                          <a:spcPct val="100000"/>
                        </a:lnSpc>
                        <a:spcBef>
                          <a:spcPts val="0"/>
                        </a:spcBef>
                        <a:spcAft>
                          <a:spcPts val="0"/>
                        </a:spcAft>
                        <a:buClrTx/>
                        <a:buSzTx/>
                        <a:buFontTx/>
                        <a:buNone/>
                        <a:tabLst/>
                        <a:defRPr/>
                      </a:pPr>
                      <a:r>
                        <a:rPr lang="en-GB" sz="2400" b="1" dirty="0">
                          <a:solidFill>
                            <a:schemeClr val="accent6">
                              <a:lumMod val="75000"/>
                            </a:schemeClr>
                          </a:solidFill>
                        </a:rPr>
                        <a:t>Steady State theory</a:t>
                      </a:r>
                    </a:p>
                  </a:txBody>
                  <a:tcPr anchor="ctr">
                    <a:noFill/>
                  </a:tcPr>
                </a:tc>
                <a:tc>
                  <a:txBody>
                    <a:bodyPr/>
                    <a:lstStyle/>
                    <a:p>
                      <a:pPr marL="342900" indent="-342900" algn="l">
                        <a:buFont typeface="Arial" panose="020B0604020202020204" pitchFamily="34" charset="0"/>
                        <a:buChar char="•"/>
                      </a:pPr>
                      <a:r>
                        <a:rPr lang="en-GB" sz="2400" b="0" i="0" dirty="0">
                          <a:solidFill>
                            <a:schemeClr val="tx1"/>
                          </a:solidFill>
                        </a:rPr>
                        <a:t>The </a:t>
                      </a:r>
                      <a:r>
                        <a:rPr lang="en-GB" sz="2400" b="1" i="0" dirty="0">
                          <a:solidFill>
                            <a:schemeClr val="accent6">
                              <a:lumMod val="75000"/>
                            </a:schemeClr>
                          </a:solidFill>
                        </a:rPr>
                        <a:t>Universe</a:t>
                      </a:r>
                      <a:r>
                        <a:rPr lang="en-GB" sz="2400" b="0" i="0" dirty="0">
                          <a:solidFill>
                            <a:schemeClr val="tx1"/>
                          </a:solidFill>
                        </a:rPr>
                        <a:t> has </a:t>
                      </a:r>
                      <a:r>
                        <a:rPr lang="en-GB" sz="2400" b="1" i="0" dirty="0">
                          <a:solidFill>
                            <a:schemeClr val="accent6">
                              <a:lumMod val="75000"/>
                            </a:schemeClr>
                          </a:solidFill>
                        </a:rPr>
                        <a:t>always existed</a:t>
                      </a:r>
                      <a:r>
                        <a:rPr lang="en-GB" sz="2400" b="1" i="0" baseline="0" dirty="0">
                          <a:solidFill>
                            <a:schemeClr val="accent6">
                              <a:lumMod val="75000"/>
                            </a:schemeClr>
                          </a:solidFill>
                        </a:rPr>
                        <a:t> </a:t>
                      </a:r>
                      <a:r>
                        <a:rPr lang="en-GB" sz="2400" b="0" i="0" baseline="0" dirty="0">
                          <a:solidFill>
                            <a:schemeClr val="tx1"/>
                          </a:solidFill>
                        </a:rPr>
                        <a:t>and is expanding.  </a:t>
                      </a:r>
                    </a:p>
                    <a:p>
                      <a:pPr marL="342900" indent="-342900" algn="l">
                        <a:buFont typeface="Arial" panose="020B0604020202020204" pitchFamily="34" charset="0"/>
                        <a:buChar char="•"/>
                      </a:pPr>
                      <a:r>
                        <a:rPr lang="en-GB" sz="2400" b="1" i="0" baseline="0" dirty="0">
                          <a:solidFill>
                            <a:schemeClr val="accent6">
                              <a:lumMod val="75000"/>
                            </a:schemeClr>
                          </a:solidFill>
                        </a:rPr>
                        <a:t>New matter </a:t>
                      </a:r>
                      <a:r>
                        <a:rPr lang="en-GB" sz="2400" b="0" i="0" baseline="0" dirty="0">
                          <a:solidFill>
                            <a:schemeClr val="tx1"/>
                          </a:solidFill>
                        </a:rPr>
                        <a:t>continuously created as expansion occurs.</a:t>
                      </a:r>
                      <a:r>
                        <a:rPr lang="en-GB" sz="2400" b="0" i="0" dirty="0">
                          <a:solidFill>
                            <a:schemeClr val="tx1"/>
                          </a:solidFill>
                        </a:rPr>
                        <a:t> </a:t>
                      </a:r>
                    </a:p>
                  </a:txBody>
                  <a:tcPr anchor="ctr">
                    <a:noFill/>
                  </a:tcPr>
                </a:tc>
                <a:extLst>
                  <a:ext uri="{0D108BD9-81ED-4DB2-BD59-A6C34878D82A}">
                    <a16:rowId xmlns:a16="http://schemas.microsoft.com/office/drawing/2014/main" val="10000"/>
                  </a:ext>
                </a:extLst>
              </a:tr>
              <a:tr h="371701">
                <a:tc>
                  <a:txBody>
                    <a:bodyPr/>
                    <a:lstStyle/>
                    <a:p>
                      <a:pPr algn="l"/>
                      <a:r>
                        <a:rPr lang="en-GB" sz="2400" b="1" dirty="0">
                          <a:solidFill>
                            <a:schemeClr val="accent6">
                              <a:lumMod val="75000"/>
                            </a:schemeClr>
                          </a:solidFill>
                        </a:rPr>
                        <a:t>Big Bang</a:t>
                      </a:r>
                      <a:r>
                        <a:rPr lang="en-GB" sz="2400" b="1" baseline="0" dirty="0">
                          <a:solidFill>
                            <a:schemeClr val="accent6">
                              <a:lumMod val="75000"/>
                            </a:schemeClr>
                          </a:solidFill>
                        </a:rPr>
                        <a:t> theory </a:t>
                      </a:r>
                      <a:endParaRPr lang="en-GB" sz="2400" b="1" dirty="0">
                        <a:solidFill>
                          <a:schemeClr val="accent6">
                            <a:lumMod val="75000"/>
                          </a:schemeClr>
                        </a:solidFill>
                      </a:endParaRPr>
                    </a:p>
                  </a:txBody>
                  <a:tcPr anchor="ctr">
                    <a:noFill/>
                  </a:tcPr>
                </a:tc>
                <a:tc>
                  <a:txBody>
                    <a:bodyPr/>
                    <a:lstStyle/>
                    <a:p>
                      <a:pPr marL="342900" indent="-342900" algn="l">
                        <a:buFont typeface="Arial" panose="020B0604020202020204" pitchFamily="34" charset="0"/>
                        <a:buChar char="•"/>
                      </a:pPr>
                      <a:r>
                        <a:rPr lang="en-GB" sz="2400" b="0" i="0" dirty="0">
                          <a:solidFill>
                            <a:schemeClr val="tx1"/>
                          </a:solidFill>
                        </a:rPr>
                        <a:t>The whole </a:t>
                      </a:r>
                      <a:r>
                        <a:rPr lang="en-GB" sz="2400" b="1" i="0" dirty="0">
                          <a:solidFill>
                            <a:schemeClr val="accent6">
                              <a:lumMod val="75000"/>
                            </a:schemeClr>
                          </a:solidFill>
                        </a:rPr>
                        <a:t>Universe and all matter </a:t>
                      </a:r>
                      <a:r>
                        <a:rPr lang="en-GB" sz="2400" b="0" i="0" dirty="0">
                          <a:solidFill>
                            <a:schemeClr val="tx1"/>
                          </a:solidFill>
                        </a:rPr>
                        <a:t>started out as a tiny point of energy.  </a:t>
                      </a:r>
                    </a:p>
                    <a:p>
                      <a:pPr marL="342900" indent="-342900" algn="l">
                        <a:buFont typeface="Arial" panose="020B0604020202020204" pitchFamily="34" charset="0"/>
                        <a:buChar char="•"/>
                      </a:pPr>
                      <a:r>
                        <a:rPr lang="en-GB" sz="2400" b="0" i="0" dirty="0">
                          <a:solidFill>
                            <a:schemeClr val="tx1"/>
                          </a:solidFill>
                        </a:rPr>
                        <a:t>The Universe expanded from this point and is still expanding.</a:t>
                      </a:r>
                    </a:p>
                  </a:txBody>
                  <a:tcPr anchor="ctr">
                    <a:noFill/>
                  </a:tcPr>
                </a:tc>
                <a:extLst>
                  <a:ext uri="{0D108BD9-81ED-4DB2-BD59-A6C34878D82A}">
                    <a16:rowId xmlns:a16="http://schemas.microsoft.com/office/drawing/2014/main" val="10001"/>
                  </a:ext>
                </a:extLst>
              </a:tr>
            </a:tbl>
          </a:graphicData>
        </a:graphic>
      </p:graphicFrame>
      <p:graphicFrame>
        <p:nvGraphicFramePr>
          <p:cNvPr id="23" name="Table 22">
            <a:extLst>
              <a:ext uri="{FF2B5EF4-FFF2-40B4-BE49-F238E27FC236}">
                <a16:creationId xmlns:a16="http://schemas.microsoft.com/office/drawing/2014/main" id="{B9919A11-9940-7040-864A-752B23956C47}"/>
              </a:ext>
            </a:extLst>
          </p:cNvPr>
          <p:cNvGraphicFramePr>
            <a:graphicFrameLocks noGrp="1"/>
          </p:cNvGraphicFramePr>
          <p:nvPr>
            <p:extLst>
              <p:ext uri="{D42A27DB-BD31-4B8C-83A1-F6EECF244321}">
                <p14:modId xmlns:p14="http://schemas.microsoft.com/office/powerpoint/2010/main" val="3900252833"/>
              </p:ext>
            </p:extLst>
          </p:nvPr>
        </p:nvGraphicFramePr>
        <p:xfrm>
          <a:off x="3419872" y="5231194"/>
          <a:ext cx="5400600" cy="1188720"/>
        </p:xfrm>
        <a:graphic>
          <a:graphicData uri="http://schemas.openxmlformats.org/drawingml/2006/table">
            <a:tbl>
              <a:tblPr firstRow="1" bandRow="1">
                <a:tableStyleId>{912C8C85-51F0-491E-9774-3900AFEF0FD7}</a:tableStyleId>
              </a:tblPr>
              <a:tblGrid>
                <a:gridCol w="2700300">
                  <a:extLst>
                    <a:ext uri="{9D8B030D-6E8A-4147-A177-3AD203B41FA5}">
                      <a16:colId xmlns:a16="http://schemas.microsoft.com/office/drawing/2014/main" val="20000"/>
                    </a:ext>
                  </a:extLst>
                </a:gridCol>
                <a:gridCol w="2700300">
                  <a:extLst>
                    <a:ext uri="{9D8B030D-6E8A-4147-A177-3AD203B41FA5}">
                      <a16:colId xmlns:a16="http://schemas.microsoft.com/office/drawing/2014/main" val="20001"/>
                    </a:ext>
                  </a:extLst>
                </a:gridCol>
              </a:tblGrid>
              <a:tr h="353413">
                <a:tc gridSpan="2">
                  <a:txBody>
                    <a:bodyPr/>
                    <a:lstStyle/>
                    <a:p>
                      <a:pPr marL="0" marR="0" indent="0" algn="ctr" defTabSz="1280160" rtl="0" eaLnBrk="1" fontAlgn="auto" latinLnBrk="0" hangingPunct="1">
                        <a:lnSpc>
                          <a:spcPct val="100000"/>
                        </a:lnSpc>
                        <a:spcBef>
                          <a:spcPts val="0"/>
                        </a:spcBef>
                        <a:spcAft>
                          <a:spcPts val="0"/>
                        </a:spcAft>
                        <a:buClrTx/>
                        <a:buSzTx/>
                        <a:buFontTx/>
                        <a:buNone/>
                        <a:tabLst/>
                        <a:defRPr/>
                      </a:pPr>
                      <a:r>
                        <a:rPr lang="en-GB" sz="2000" b="1" dirty="0"/>
                        <a:t>Evidence supporting</a:t>
                      </a:r>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ctr" defTabSz="128016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solidFill>
                      <a:schemeClr val="accent2">
                        <a:lumMod val="20000"/>
                        <a:lumOff val="80000"/>
                      </a:schemeClr>
                    </a:solidFill>
                  </a:tcPr>
                </a:tc>
                <a:extLst>
                  <a:ext uri="{0D108BD9-81ED-4DB2-BD59-A6C34878D82A}">
                    <a16:rowId xmlns:a16="http://schemas.microsoft.com/office/drawing/2014/main" val="3118885922"/>
                  </a:ext>
                </a:extLst>
              </a:tr>
              <a:tr h="353413">
                <a:tc>
                  <a:txBody>
                    <a:bodyPr/>
                    <a:lstStyle/>
                    <a:p>
                      <a:pPr marL="0" marR="0" indent="0" algn="ctr" defTabSz="1280160" rtl="0" eaLnBrk="1" fontAlgn="auto" latinLnBrk="0" hangingPunct="1">
                        <a:lnSpc>
                          <a:spcPct val="100000"/>
                        </a:lnSpc>
                        <a:spcBef>
                          <a:spcPts val="0"/>
                        </a:spcBef>
                        <a:spcAft>
                          <a:spcPts val="0"/>
                        </a:spcAft>
                        <a:buClrTx/>
                        <a:buSzTx/>
                        <a:buFontTx/>
                        <a:buNone/>
                        <a:tabLst/>
                        <a:defRPr/>
                      </a:pPr>
                      <a:r>
                        <a:rPr lang="en-GB" sz="2000" b="1" dirty="0"/>
                        <a:t>Steady State theory</a:t>
                      </a:r>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80160" rtl="0" eaLnBrk="1" fontAlgn="auto" latinLnBrk="0" hangingPunct="1">
                        <a:lnSpc>
                          <a:spcPct val="100000"/>
                        </a:lnSpc>
                        <a:spcBef>
                          <a:spcPts val="0"/>
                        </a:spcBef>
                        <a:spcAft>
                          <a:spcPts val="0"/>
                        </a:spcAft>
                        <a:buClrTx/>
                        <a:buSzTx/>
                        <a:buFontTx/>
                        <a:buNone/>
                        <a:tabLst/>
                        <a:defRPr/>
                      </a:pPr>
                      <a:r>
                        <a:rPr lang="en-GB" sz="2000" b="1" dirty="0"/>
                        <a:t>Red-shift</a:t>
                      </a:r>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1701">
                <a:tc>
                  <a:txBody>
                    <a:bodyPr/>
                    <a:lstStyle/>
                    <a:p>
                      <a:pPr algn="ctr"/>
                      <a:r>
                        <a:rPr lang="en-GB" sz="2000" b="1" dirty="0"/>
                        <a:t>Big Bang</a:t>
                      </a:r>
                      <a:r>
                        <a:rPr lang="en-GB" sz="2000" b="1" baseline="0" dirty="0"/>
                        <a:t> theory</a:t>
                      </a:r>
                      <a:endParaRPr lang="en-GB"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80160" rtl="0" eaLnBrk="1" fontAlgn="auto" latinLnBrk="0" hangingPunct="1">
                        <a:lnSpc>
                          <a:spcPct val="100000"/>
                        </a:lnSpc>
                        <a:spcBef>
                          <a:spcPts val="0"/>
                        </a:spcBef>
                        <a:spcAft>
                          <a:spcPts val="0"/>
                        </a:spcAft>
                        <a:buClrTx/>
                        <a:buSzTx/>
                        <a:buFontTx/>
                        <a:buNone/>
                        <a:tabLst/>
                        <a:defRPr/>
                      </a:pPr>
                      <a:r>
                        <a:rPr lang="en-GB" sz="2000" b="1" dirty="0"/>
                        <a:t>Red-shift and CMBR</a:t>
                      </a:r>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79156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35655"/>
            <a:ext cx="817240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kumimoji="0" lang="en-US" sz="2800" b="1" i="0" u="none" strike="noStrike" kern="1200" cap="none" spc="0" normalizeH="0" baseline="0" noProof="0" dirty="0">
                <a:ln>
                  <a:noFill/>
                </a:ln>
                <a:solidFill>
                  <a:schemeClr val="accent6">
                    <a:lumMod val="75000"/>
                  </a:schemeClr>
                </a:solidFill>
                <a:effectLst/>
                <a:uLnTx/>
                <a:uFillTx/>
                <a:latin typeface="Calibri"/>
                <a:ea typeface=""/>
                <a:cs typeface="News Gothic MT"/>
              </a:rPr>
              <a:t>Big Bang theory</a:t>
            </a:r>
          </a:p>
        </p:txBody>
      </p:sp>
      <p:sp>
        <p:nvSpPr>
          <p:cNvPr id="3" name="TextBox 2">
            <a:extLst>
              <a:ext uri="{FF2B5EF4-FFF2-40B4-BE49-F238E27FC236}">
                <a16:creationId xmlns:a16="http://schemas.microsoft.com/office/drawing/2014/main" id="{9EABB761-3652-447E-A940-F34BEEF30CBA}"/>
              </a:ext>
            </a:extLst>
          </p:cNvPr>
          <p:cNvSpPr txBox="1"/>
          <p:nvPr/>
        </p:nvSpPr>
        <p:spPr>
          <a:xfrm>
            <a:off x="179512" y="836712"/>
            <a:ext cx="8640960" cy="648072"/>
          </a:xfrm>
          <a:prstGeom prst="rect">
            <a:avLst/>
          </a:prstGeom>
          <a:noFill/>
        </p:spPr>
        <p:txBody>
          <a:bodyPr wrap="square" rtlCol="0">
            <a:spAutoFit/>
          </a:bodyPr>
          <a:lstStyle/>
          <a:p>
            <a:endParaRPr lang="en-GB" dirty="0"/>
          </a:p>
        </p:txBody>
      </p:sp>
      <p:pic>
        <p:nvPicPr>
          <p:cNvPr id="5" name="Picture 4">
            <a:extLst>
              <a:ext uri="{FF2B5EF4-FFF2-40B4-BE49-F238E27FC236}">
                <a16:creationId xmlns:a16="http://schemas.microsoft.com/office/drawing/2014/main" id="{8E563750-4196-4682-AF8D-4FA23BA3483C}"/>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2411760" y="2440918"/>
            <a:ext cx="3657600" cy="2232248"/>
          </a:xfrm>
          <a:prstGeom prst="rect">
            <a:avLst/>
          </a:prstGeom>
        </p:spPr>
      </p:pic>
      <p:sp>
        <p:nvSpPr>
          <p:cNvPr id="6" name="TextBox 5">
            <a:extLst>
              <a:ext uri="{FF2B5EF4-FFF2-40B4-BE49-F238E27FC236}">
                <a16:creationId xmlns:a16="http://schemas.microsoft.com/office/drawing/2014/main" id="{4B0F0659-F3EB-4F78-9ED3-BE8DC252488C}"/>
              </a:ext>
            </a:extLst>
          </p:cNvPr>
          <p:cNvSpPr txBox="1"/>
          <p:nvPr/>
        </p:nvSpPr>
        <p:spPr>
          <a:xfrm>
            <a:off x="179512" y="801258"/>
            <a:ext cx="8712968" cy="1323439"/>
          </a:xfrm>
          <a:prstGeom prst="rect">
            <a:avLst/>
          </a:prstGeom>
          <a:noFill/>
          <a:ln w="25400">
            <a:solidFill>
              <a:schemeClr val="accent6">
                <a:lumMod val="75000"/>
              </a:schemeClr>
            </a:solidFill>
          </a:ln>
        </p:spPr>
        <p:txBody>
          <a:bodyPr wrap="square" rtlCol="0">
            <a:spAutoFit/>
          </a:bodyPr>
          <a:lstStyle/>
          <a:p>
            <a:r>
              <a:rPr lang="en-GB" sz="2000" dirty="0"/>
              <a:t>Like a balloon expanding, all </a:t>
            </a:r>
            <a:r>
              <a:rPr lang="en-GB" sz="2000" b="1" dirty="0">
                <a:solidFill>
                  <a:schemeClr val="accent6">
                    <a:lumMod val="75000"/>
                  </a:schemeClr>
                </a:solidFill>
              </a:rPr>
              <a:t>galaxies</a:t>
            </a:r>
            <a:r>
              <a:rPr lang="en-GB" sz="2000" dirty="0"/>
              <a:t> are </a:t>
            </a:r>
            <a:r>
              <a:rPr lang="en-GB" sz="2000" b="1" dirty="0">
                <a:solidFill>
                  <a:schemeClr val="accent6">
                    <a:lumMod val="75000"/>
                  </a:schemeClr>
                </a:solidFill>
              </a:rPr>
              <a:t>moving away from each other </a:t>
            </a:r>
            <a:r>
              <a:rPr lang="en-GB" sz="2000" dirty="0"/>
              <a:t>and from a point of origin. Only the fastest moving galaxies would be on the surface of this model. Slower moving galaxies would be on the inside but still moving away from the centre. These observations have provided evidence of an </a:t>
            </a:r>
            <a:r>
              <a:rPr lang="en-GB" sz="2000" b="1" dirty="0">
                <a:solidFill>
                  <a:schemeClr val="accent6">
                    <a:lumMod val="75000"/>
                  </a:schemeClr>
                </a:solidFill>
              </a:rPr>
              <a:t>expanding Universe</a:t>
            </a:r>
            <a:r>
              <a:rPr lang="en-GB" sz="2000" dirty="0"/>
              <a:t>.</a:t>
            </a:r>
          </a:p>
        </p:txBody>
      </p:sp>
      <p:sp>
        <p:nvSpPr>
          <p:cNvPr id="7" name="TextBox 6">
            <a:extLst>
              <a:ext uri="{FF2B5EF4-FFF2-40B4-BE49-F238E27FC236}">
                <a16:creationId xmlns:a16="http://schemas.microsoft.com/office/drawing/2014/main" id="{3C6B190C-DB92-483D-B7C5-08424E54CE2F}"/>
              </a:ext>
            </a:extLst>
          </p:cNvPr>
          <p:cNvSpPr txBox="1"/>
          <p:nvPr/>
        </p:nvSpPr>
        <p:spPr>
          <a:xfrm>
            <a:off x="6119664" y="2341697"/>
            <a:ext cx="1022920" cy="307777"/>
          </a:xfrm>
          <a:prstGeom prst="rect">
            <a:avLst/>
          </a:prstGeom>
          <a:noFill/>
        </p:spPr>
        <p:txBody>
          <a:bodyPr wrap="square" rtlCol="0">
            <a:spAutoFit/>
          </a:bodyPr>
          <a:lstStyle/>
          <a:p>
            <a:r>
              <a:rPr lang="en-GB" sz="1400" b="1" dirty="0"/>
              <a:t>Galaxies</a:t>
            </a:r>
          </a:p>
        </p:txBody>
      </p:sp>
      <p:cxnSp>
        <p:nvCxnSpPr>
          <p:cNvPr id="9" name="Straight Arrow Connector 8">
            <a:extLst>
              <a:ext uri="{FF2B5EF4-FFF2-40B4-BE49-F238E27FC236}">
                <a16:creationId xmlns:a16="http://schemas.microsoft.com/office/drawing/2014/main" id="{A372BD38-64E8-47F4-9E07-9B7C3E569726}"/>
              </a:ext>
            </a:extLst>
          </p:cNvPr>
          <p:cNvCxnSpPr>
            <a:cxnSpLocks/>
          </p:cNvCxnSpPr>
          <p:nvPr/>
        </p:nvCxnSpPr>
        <p:spPr>
          <a:xfrm flipH="1">
            <a:off x="5198368" y="2518741"/>
            <a:ext cx="921296" cy="48982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14CE999-6F3C-41B8-B694-BBDD1CF19D51}"/>
              </a:ext>
            </a:extLst>
          </p:cNvPr>
          <p:cNvCxnSpPr>
            <a:cxnSpLocks/>
          </p:cNvCxnSpPr>
          <p:nvPr/>
        </p:nvCxnSpPr>
        <p:spPr>
          <a:xfrm flipH="1">
            <a:off x="5608712" y="2649474"/>
            <a:ext cx="561256" cy="9495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E70DB9E-BF94-4EA0-9FA4-546CFD0D9B5B}"/>
              </a:ext>
            </a:extLst>
          </p:cNvPr>
          <p:cNvCxnSpPr/>
          <p:nvPr/>
        </p:nvCxnSpPr>
        <p:spPr>
          <a:xfrm flipV="1">
            <a:off x="3141024" y="2501280"/>
            <a:ext cx="0" cy="216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23C6644-7DD5-4673-B845-9BCFEA210765}"/>
              </a:ext>
            </a:extLst>
          </p:cNvPr>
          <p:cNvCxnSpPr>
            <a:cxnSpLocks/>
          </p:cNvCxnSpPr>
          <p:nvPr/>
        </p:nvCxnSpPr>
        <p:spPr>
          <a:xfrm flipH="1">
            <a:off x="2195736" y="3429000"/>
            <a:ext cx="21602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68D54F3-20EC-4188-8BA0-3F9E7E1894F8}"/>
              </a:ext>
            </a:extLst>
          </p:cNvPr>
          <p:cNvCxnSpPr>
            <a:cxnSpLocks/>
          </p:cNvCxnSpPr>
          <p:nvPr/>
        </p:nvCxnSpPr>
        <p:spPr>
          <a:xfrm flipV="1">
            <a:off x="3635896" y="2838709"/>
            <a:ext cx="144016" cy="1239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7445570-C4D7-4FE7-AFB6-341123562BD8}"/>
              </a:ext>
            </a:extLst>
          </p:cNvPr>
          <p:cNvCxnSpPr>
            <a:cxnSpLocks/>
          </p:cNvCxnSpPr>
          <p:nvPr/>
        </p:nvCxnSpPr>
        <p:spPr>
          <a:xfrm flipH="1">
            <a:off x="2627784" y="3933056"/>
            <a:ext cx="144016" cy="23660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8980F6A-6C33-42DB-8964-5BF640FE269B}"/>
              </a:ext>
            </a:extLst>
          </p:cNvPr>
          <p:cNvCxnSpPr>
            <a:cxnSpLocks/>
          </p:cNvCxnSpPr>
          <p:nvPr/>
        </p:nvCxnSpPr>
        <p:spPr>
          <a:xfrm>
            <a:off x="3779912" y="3429000"/>
            <a:ext cx="25449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9329E3AF-EB7B-4B04-AAB5-B292BD2D4304}"/>
              </a:ext>
            </a:extLst>
          </p:cNvPr>
          <p:cNvCxnSpPr>
            <a:cxnSpLocks/>
          </p:cNvCxnSpPr>
          <p:nvPr/>
        </p:nvCxnSpPr>
        <p:spPr>
          <a:xfrm>
            <a:off x="3154720" y="4169664"/>
            <a:ext cx="0" cy="197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D1115666-D2C3-41B4-9416-A07E1B790346}"/>
              </a:ext>
            </a:extLst>
          </p:cNvPr>
          <p:cNvCxnSpPr>
            <a:cxnSpLocks/>
          </p:cNvCxnSpPr>
          <p:nvPr/>
        </p:nvCxnSpPr>
        <p:spPr>
          <a:xfrm flipH="1" flipV="1">
            <a:off x="2483768" y="2717305"/>
            <a:ext cx="288032" cy="2453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990BEEA-50BC-4E67-8529-1E2DDA9695F5}"/>
              </a:ext>
            </a:extLst>
          </p:cNvPr>
          <p:cNvSpPr txBox="1"/>
          <p:nvPr/>
        </p:nvSpPr>
        <p:spPr>
          <a:xfrm>
            <a:off x="971600" y="2838709"/>
            <a:ext cx="1080120" cy="738664"/>
          </a:xfrm>
          <a:prstGeom prst="rect">
            <a:avLst/>
          </a:prstGeom>
          <a:noFill/>
        </p:spPr>
        <p:txBody>
          <a:bodyPr wrap="square" rtlCol="0">
            <a:spAutoFit/>
          </a:bodyPr>
          <a:lstStyle/>
          <a:p>
            <a:r>
              <a:rPr lang="en-GB" sz="1400" b="1" dirty="0"/>
              <a:t>Universe expands over time</a:t>
            </a:r>
          </a:p>
        </p:txBody>
      </p:sp>
      <p:sp>
        <p:nvSpPr>
          <p:cNvPr id="40" name="TextBox 39">
            <a:extLst>
              <a:ext uri="{FF2B5EF4-FFF2-40B4-BE49-F238E27FC236}">
                <a16:creationId xmlns:a16="http://schemas.microsoft.com/office/drawing/2014/main" id="{2C5A5463-C342-46A3-AD31-253FC2F5BDD5}"/>
              </a:ext>
            </a:extLst>
          </p:cNvPr>
          <p:cNvSpPr txBox="1"/>
          <p:nvPr/>
        </p:nvSpPr>
        <p:spPr>
          <a:xfrm>
            <a:off x="467544" y="4911009"/>
            <a:ext cx="8136904" cy="1323439"/>
          </a:xfrm>
          <a:prstGeom prst="rect">
            <a:avLst/>
          </a:prstGeom>
          <a:noFill/>
          <a:ln w="25400">
            <a:solidFill>
              <a:schemeClr val="accent6">
                <a:lumMod val="75000"/>
              </a:schemeClr>
            </a:solidFill>
          </a:ln>
        </p:spPr>
        <p:txBody>
          <a:bodyPr wrap="square" rtlCol="0">
            <a:spAutoFit/>
          </a:bodyPr>
          <a:lstStyle/>
          <a:p>
            <a:r>
              <a:rPr lang="en-GB" sz="2000" dirty="0"/>
              <a:t>Red shift measurements of many galaxies have given evidence that all galaxies are </a:t>
            </a:r>
            <a:r>
              <a:rPr lang="en-GB" sz="2000" b="1" dirty="0">
                <a:solidFill>
                  <a:schemeClr val="accent6">
                    <a:lumMod val="75000"/>
                  </a:schemeClr>
                </a:solidFill>
              </a:rPr>
              <a:t>moving away </a:t>
            </a:r>
            <a:r>
              <a:rPr lang="en-GB" sz="2000" dirty="0"/>
              <a:t>from a </a:t>
            </a:r>
            <a:r>
              <a:rPr lang="en-GB" sz="2000" b="1" dirty="0">
                <a:solidFill>
                  <a:schemeClr val="accent6">
                    <a:lumMod val="75000"/>
                  </a:schemeClr>
                </a:solidFill>
              </a:rPr>
              <a:t>single point </a:t>
            </a:r>
            <a:r>
              <a:rPr lang="en-GB" sz="2000" dirty="0"/>
              <a:t>of origin at </a:t>
            </a:r>
            <a:r>
              <a:rPr lang="en-GB" sz="2000" b="1" dirty="0">
                <a:solidFill>
                  <a:schemeClr val="accent6">
                    <a:lumMod val="75000"/>
                  </a:schemeClr>
                </a:solidFill>
              </a:rPr>
              <a:t>different speeds</a:t>
            </a:r>
            <a:r>
              <a:rPr lang="en-GB" sz="2000" dirty="0"/>
              <a:t>. This has led to the </a:t>
            </a:r>
            <a:r>
              <a:rPr lang="en-GB" sz="2000" b="1" dirty="0">
                <a:solidFill>
                  <a:schemeClr val="accent6">
                    <a:lumMod val="75000"/>
                  </a:schemeClr>
                </a:solidFill>
              </a:rPr>
              <a:t>Big Bang theory </a:t>
            </a:r>
            <a:r>
              <a:rPr lang="en-GB" sz="2000" dirty="0"/>
              <a:t>that the Universe expanded from a single point of matter around 13.7 billion years ago.</a:t>
            </a:r>
          </a:p>
        </p:txBody>
      </p:sp>
    </p:spTree>
    <p:extLst>
      <p:ext uri="{BB962C8B-B14F-4D97-AF65-F5344CB8AC3E}">
        <p14:creationId xmlns:p14="http://schemas.microsoft.com/office/powerpoint/2010/main" val="3974680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kumimoji="0" lang="en-US" sz="2400" b="1" i="0" u="none" strike="noStrike" kern="1200" cap="none" spc="0" normalizeH="0" baseline="0" noProof="0" dirty="0">
                <a:ln>
                  <a:noFill/>
                </a:ln>
                <a:solidFill>
                  <a:schemeClr val="accent6">
                    <a:lumMod val="75000"/>
                  </a:schemeClr>
                </a:solidFill>
                <a:effectLst/>
                <a:uLnTx/>
                <a:uFillTx/>
                <a:latin typeface="Calibri"/>
                <a:ea typeface=""/>
                <a:cs typeface="News Gothic MT"/>
              </a:rPr>
              <a:t>																	</a:t>
            </a:r>
            <a:r>
              <a:rPr kumimoji="0" lang="en-US" sz="2800" b="1" i="0" u="none" strike="noStrike" kern="1200" cap="none" spc="0" normalizeH="0" baseline="0" noProof="0" dirty="0">
                <a:ln>
                  <a:noFill/>
                </a:ln>
                <a:solidFill>
                  <a:schemeClr val="accent6">
                    <a:lumMod val="75000"/>
                  </a:schemeClr>
                </a:solidFill>
                <a:effectLst/>
                <a:uLnTx/>
                <a:uFillTx/>
                <a:latin typeface="Calibri"/>
                <a:ea typeface=""/>
                <a:cs typeface="News Gothic MT"/>
              </a:rPr>
              <a:t>Red shift </a:t>
            </a:r>
          </a:p>
        </p:txBody>
      </p:sp>
      <p:sp>
        <p:nvSpPr>
          <p:cNvPr id="3" name="TextBox 2">
            <a:extLst>
              <a:ext uri="{FF2B5EF4-FFF2-40B4-BE49-F238E27FC236}">
                <a16:creationId xmlns:a16="http://schemas.microsoft.com/office/drawing/2014/main" id="{C90C7F2C-2B9F-4F88-BAAE-2654DBD7C801}"/>
              </a:ext>
            </a:extLst>
          </p:cNvPr>
          <p:cNvSpPr txBox="1"/>
          <p:nvPr/>
        </p:nvSpPr>
        <p:spPr>
          <a:xfrm>
            <a:off x="395536" y="1052736"/>
            <a:ext cx="8424936" cy="707886"/>
          </a:xfrm>
          <a:prstGeom prst="rect">
            <a:avLst/>
          </a:prstGeom>
          <a:solidFill>
            <a:schemeClr val="accent6">
              <a:lumMod val="60000"/>
              <a:lumOff val="40000"/>
            </a:schemeClr>
          </a:solidFill>
        </p:spPr>
        <p:txBody>
          <a:bodyPr wrap="square" rtlCol="0">
            <a:spAutoFit/>
          </a:bodyPr>
          <a:lstStyle/>
          <a:p>
            <a:pPr algn="ctr"/>
            <a:r>
              <a:rPr lang="en-GB" sz="2000" b="1" dirty="0"/>
              <a:t>There are billions of galaxies in the Universe. We can see them because the stars within them give off light which travels to Earth. </a:t>
            </a:r>
          </a:p>
        </p:txBody>
      </p:sp>
      <p:sp>
        <p:nvSpPr>
          <p:cNvPr id="5" name="Star: 7 Points 4">
            <a:extLst>
              <a:ext uri="{FF2B5EF4-FFF2-40B4-BE49-F238E27FC236}">
                <a16:creationId xmlns:a16="http://schemas.microsoft.com/office/drawing/2014/main" id="{DB486A1C-7AA2-4F77-87CF-890F4AD34A9A}"/>
              </a:ext>
            </a:extLst>
          </p:cNvPr>
          <p:cNvSpPr/>
          <p:nvPr/>
        </p:nvSpPr>
        <p:spPr>
          <a:xfrm>
            <a:off x="1046362" y="2003253"/>
            <a:ext cx="144016" cy="216024"/>
          </a:xfrm>
          <a:prstGeom prst="star7">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60CCFF6B-F0E1-490D-AE4B-CD4BEDCFE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514" y="2665299"/>
            <a:ext cx="1514923" cy="604267"/>
          </a:xfrm>
          <a:prstGeom prst="rect">
            <a:avLst/>
          </a:prstGeom>
        </p:spPr>
      </p:pic>
      <p:pic>
        <p:nvPicPr>
          <p:cNvPr id="9" name="Picture 8">
            <a:extLst>
              <a:ext uri="{FF2B5EF4-FFF2-40B4-BE49-F238E27FC236}">
                <a16:creationId xmlns:a16="http://schemas.microsoft.com/office/drawing/2014/main" id="{D2EBA9B2-A21A-4978-A2CB-2820E4AA0F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flipH="1">
            <a:off x="1718437" y="1867871"/>
            <a:ext cx="4403112" cy="1594855"/>
          </a:xfrm>
          <a:prstGeom prst="rect">
            <a:avLst/>
          </a:prstGeom>
        </p:spPr>
      </p:pic>
      <p:pic>
        <p:nvPicPr>
          <p:cNvPr id="11" name="Picture 10">
            <a:extLst>
              <a:ext uri="{FF2B5EF4-FFF2-40B4-BE49-F238E27FC236}">
                <a16:creationId xmlns:a16="http://schemas.microsoft.com/office/drawing/2014/main" id="{760ABA95-7505-4D9E-8816-40525092CA7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460" t="25384" b="17739"/>
          <a:stretch/>
        </p:blipFill>
        <p:spPr>
          <a:xfrm flipH="1">
            <a:off x="6588224" y="1867870"/>
            <a:ext cx="576064" cy="697033"/>
          </a:xfrm>
          <a:prstGeom prst="rect">
            <a:avLst/>
          </a:prstGeom>
        </p:spPr>
      </p:pic>
      <p:pic>
        <p:nvPicPr>
          <p:cNvPr id="12" name="Picture 11">
            <a:extLst>
              <a:ext uri="{FF2B5EF4-FFF2-40B4-BE49-F238E27FC236}">
                <a16:creationId xmlns:a16="http://schemas.microsoft.com/office/drawing/2014/main" id="{F15D3828-CD3B-43A6-82B6-1FC92502D1B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460" t="25384" b="17739"/>
          <a:stretch/>
        </p:blipFill>
        <p:spPr>
          <a:xfrm flipH="1">
            <a:off x="6588224" y="2572533"/>
            <a:ext cx="576064" cy="697033"/>
          </a:xfrm>
          <a:prstGeom prst="rect">
            <a:avLst/>
          </a:prstGeom>
        </p:spPr>
      </p:pic>
      <p:sp>
        <p:nvSpPr>
          <p:cNvPr id="13" name="TextBox 12">
            <a:extLst>
              <a:ext uri="{FF2B5EF4-FFF2-40B4-BE49-F238E27FC236}">
                <a16:creationId xmlns:a16="http://schemas.microsoft.com/office/drawing/2014/main" id="{F51DE071-7F5A-4711-BFED-03919EA6B43F}"/>
              </a:ext>
            </a:extLst>
          </p:cNvPr>
          <p:cNvSpPr txBox="1"/>
          <p:nvPr/>
        </p:nvSpPr>
        <p:spPr>
          <a:xfrm>
            <a:off x="662319" y="1711003"/>
            <a:ext cx="1056118" cy="307777"/>
          </a:xfrm>
          <a:prstGeom prst="rect">
            <a:avLst/>
          </a:prstGeom>
          <a:noFill/>
        </p:spPr>
        <p:txBody>
          <a:bodyPr wrap="square" rtlCol="0">
            <a:spAutoFit/>
          </a:bodyPr>
          <a:lstStyle/>
          <a:p>
            <a:r>
              <a:rPr lang="en-GB" sz="1400" dirty="0"/>
              <a:t>Nearby star</a:t>
            </a:r>
          </a:p>
        </p:txBody>
      </p:sp>
      <p:sp>
        <p:nvSpPr>
          <p:cNvPr id="14" name="TextBox 13">
            <a:extLst>
              <a:ext uri="{FF2B5EF4-FFF2-40B4-BE49-F238E27FC236}">
                <a16:creationId xmlns:a16="http://schemas.microsoft.com/office/drawing/2014/main" id="{3B05F2C6-E906-4D4B-AD88-2708963F2A9F}"/>
              </a:ext>
            </a:extLst>
          </p:cNvPr>
          <p:cNvSpPr txBox="1"/>
          <p:nvPr/>
        </p:nvSpPr>
        <p:spPr>
          <a:xfrm>
            <a:off x="467544" y="2345586"/>
            <a:ext cx="1250893" cy="307777"/>
          </a:xfrm>
          <a:prstGeom prst="rect">
            <a:avLst/>
          </a:prstGeom>
          <a:noFill/>
        </p:spPr>
        <p:txBody>
          <a:bodyPr wrap="square" rtlCol="0">
            <a:spAutoFit/>
          </a:bodyPr>
          <a:lstStyle/>
          <a:p>
            <a:r>
              <a:rPr lang="en-GB" sz="1400" dirty="0"/>
              <a:t>Distant galaxy</a:t>
            </a:r>
          </a:p>
        </p:txBody>
      </p:sp>
      <p:sp>
        <p:nvSpPr>
          <p:cNvPr id="15" name="TextBox 14">
            <a:extLst>
              <a:ext uri="{FF2B5EF4-FFF2-40B4-BE49-F238E27FC236}">
                <a16:creationId xmlns:a16="http://schemas.microsoft.com/office/drawing/2014/main" id="{057D1812-E3CF-4B99-9ACE-3208F1228E5D}"/>
              </a:ext>
            </a:extLst>
          </p:cNvPr>
          <p:cNvSpPr txBox="1"/>
          <p:nvPr/>
        </p:nvSpPr>
        <p:spPr>
          <a:xfrm>
            <a:off x="467544" y="3462727"/>
            <a:ext cx="8352928" cy="1631216"/>
          </a:xfrm>
          <a:prstGeom prst="rect">
            <a:avLst/>
          </a:prstGeom>
          <a:noFill/>
          <a:ln w="25400">
            <a:solidFill>
              <a:schemeClr val="accent6">
                <a:lumMod val="75000"/>
              </a:schemeClr>
            </a:solidFill>
          </a:ln>
        </p:spPr>
        <p:txBody>
          <a:bodyPr wrap="square" rtlCol="0">
            <a:spAutoFit/>
          </a:bodyPr>
          <a:lstStyle/>
          <a:p>
            <a:r>
              <a:rPr lang="en-GB" sz="2000" dirty="0"/>
              <a:t>Light from a </a:t>
            </a:r>
            <a:r>
              <a:rPr lang="en-GB" sz="2000" b="1" dirty="0">
                <a:solidFill>
                  <a:schemeClr val="accent6">
                    <a:lumMod val="75000"/>
                  </a:schemeClr>
                </a:solidFill>
              </a:rPr>
              <a:t>nearby star </a:t>
            </a:r>
            <a:r>
              <a:rPr lang="en-GB" sz="2000" dirty="0"/>
              <a:t>appears </a:t>
            </a:r>
            <a:r>
              <a:rPr lang="en-GB" sz="2000" b="1" dirty="0">
                <a:solidFill>
                  <a:schemeClr val="accent6">
                    <a:lumMod val="75000"/>
                  </a:schemeClr>
                </a:solidFill>
              </a:rPr>
              <a:t>white</a:t>
            </a:r>
            <a:r>
              <a:rPr lang="en-GB" sz="2000" dirty="0"/>
              <a:t> as the wavelength of light emitted covers the </a:t>
            </a:r>
            <a:r>
              <a:rPr lang="en-GB" sz="2000" b="1" dirty="0">
                <a:solidFill>
                  <a:schemeClr val="accent6">
                    <a:lumMod val="75000"/>
                  </a:schemeClr>
                </a:solidFill>
              </a:rPr>
              <a:t>whole visible spectrum</a:t>
            </a:r>
            <a:r>
              <a:rPr lang="en-GB" sz="2000" dirty="0"/>
              <a:t>.</a:t>
            </a:r>
          </a:p>
          <a:p>
            <a:r>
              <a:rPr lang="en-GB" sz="2000" dirty="0"/>
              <a:t>The light we receive from a </a:t>
            </a:r>
            <a:r>
              <a:rPr lang="en-GB" sz="2000" b="1" dirty="0">
                <a:solidFill>
                  <a:schemeClr val="accent6">
                    <a:lumMod val="75000"/>
                  </a:schemeClr>
                </a:solidFill>
              </a:rPr>
              <a:t>distant galaxy </a:t>
            </a:r>
            <a:r>
              <a:rPr lang="en-GB" sz="2000" dirty="0"/>
              <a:t>has had its </a:t>
            </a:r>
            <a:r>
              <a:rPr lang="en-GB" sz="2000" b="1" dirty="0">
                <a:solidFill>
                  <a:schemeClr val="accent6">
                    <a:lumMod val="75000"/>
                  </a:schemeClr>
                </a:solidFill>
              </a:rPr>
              <a:t>wavelength increased</a:t>
            </a:r>
            <a:r>
              <a:rPr lang="en-GB" sz="2000" dirty="0"/>
              <a:t>. As longer wavelengths of light are the red end of the spectrum, the light appears redder than from the nearby star – this is called </a:t>
            </a:r>
            <a:r>
              <a:rPr lang="en-GB" sz="2000" b="1" dirty="0">
                <a:solidFill>
                  <a:schemeClr val="accent6">
                    <a:lumMod val="75000"/>
                  </a:schemeClr>
                </a:solidFill>
              </a:rPr>
              <a:t>RED SHIFT</a:t>
            </a:r>
            <a:r>
              <a:rPr lang="en-GB" sz="2000" dirty="0"/>
              <a:t>.</a:t>
            </a:r>
          </a:p>
        </p:txBody>
      </p:sp>
      <p:pic>
        <p:nvPicPr>
          <p:cNvPr id="17" name="Picture 16">
            <a:extLst>
              <a:ext uri="{FF2B5EF4-FFF2-40B4-BE49-F238E27FC236}">
                <a16:creationId xmlns:a16="http://schemas.microsoft.com/office/drawing/2014/main" id="{D79881E4-37BA-4487-9DE7-3AA6313682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16067" y="5394952"/>
            <a:ext cx="4127933" cy="955153"/>
          </a:xfrm>
          <a:prstGeom prst="rect">
            <a:avLst/>
          </a:prstGeom>
        </p:spPr>
      </p:pic>
      <p:sp>
        <p:nvSpPr>
          <p:cNvPr id="18" name="TextBox 17">
            <a:extLst>
              <a:ext uri="{FF2B5EF4-FFF2-40B4-BE49-F238E27FC236}">
                <a16:creationId xmlns:a16="http://schemas.microsoft.com/office/drawing/2014/main" id="{B16CE453-51E6-41B9-9311-E5D2F59E0F29}"/>
              </a:ext>
            </a:extLst>
          </p:cNvPr>
          <p:cNvSpPr txBox="1"/>
          <p:nvPr/>
        </p:nvSpPr>
        <p:spPr>
          <a:xfrm>
            <a:off x="161764" y="5355538"/>
            <a:ext cx="4788024" cy="1015663"/>
          </a:xfrm>
          <a:prstGeom prst="rect">
            <a:avLst/>
          </a:prstGeom>
          <a:noFill/>
          <a:ln>
            <a:solidFill>
              <a:schemeClr val="tx1"/>
            </a:solidFill>
          </a:ln>
        </p:spPr>
        <p:txBody>
          <a:bodyPr wrap="square" rtlCol="0">
            <a:spAutoFit/>
          </a:bodyPr>
          <a:lstStyle/>
          <a:p>
            <a:r>
              <a:rPr lang="en-GB" sz="2000" b="1" dirty="0">
                <a:solidFill>
                  <a:schemeClr val="accent6">
                    <a:lumMod val="75000"/>
                  </a:schemeClr>
                </a:solidFill>
              </a:rPr>
              <a:t>Red shift </a:t>
            </a:r>
            <a:r>
              <a:rPr lang="en-GB" sz="2000" dirty="0"/>
              <a:t>happens because the galaxy is </a:t>
            </a:r>
            <a:r>
              <a:rPr lang="en-GB" sz="2000" b="1" dirty="0">
                <a:solidFill>
                  <a:schemeClr val="accent6">
                    <a:lumMod val="75000"/>
                  </a:schemeClr>
                </a:solidFill>
              </a:rPr>
              <a:t>moving away </a:t>
            </a:r>
            <a:r>
              <a:rPr lang="en-GB" sz="2000" dirty="0"/>
              <a:t>from us at high speed, causing the wavelengths of light to be </a:t>
            </a:r>
            <a:r>
              <a:rPr lang="en-GB" sz="2000" b="1" dirty="0">
                <a:solidFill>
                  <a:schemeClr val="accent6">
                    <a:lumMod val="75000"/>
                  </a:schemeClr>
                </a:solidFill>
              </a:rPr>
              <a:t>stretched</a:t>
            </a:r>
            <a:r>
              <a:rPr lang="en-GB" sz="2000" b="1" dirty="0"/>
              <a:t>.</a:t>
            </a:r>
            <a:endParaRPr lang="en-GB" sz="2000" b="1" dirty="0">
              <a:solidFill>
                <a:schemeClr val="accent6">
                  <a:lumMod val="75000"/>
                </a:schemeClr>
              </a:solidFill>
            </a:endParaRPr>
          </a:p>
        </p:txBody>
      </p:sp>
    </p:spTree>
    <p:extLst>
      <p:ext uri="{BB962C8B-B14F-4D97-AF65-F5344CB8AC3E}">
        <p14:creationId xmlns:p14="http://schemas.microsoft.com/office/powerpoint/2010/main" val="1000777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35655"/>
            <a:ext cx="817240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kumimoji="0" lang="en-US" sz="2800" b="1" i="0" u="none" strike="noStrike" kern="1200" cap="none" spc="0" normalizeH="0" baseline="0" noProof="0" dirty="0">
                <a:ln>
                  <a:noFill/>
                </a:ln>
                <a:solidFill>
                  <a:schemeClr val="accent6">
                    <a:lumMod val="75000"/>
                  </a:schemeClr>
                </a:solidFill>
                <a:effectLst/>
                <a:uLnTx/>
                <a:uFillTx/>
                <a:latin typeface="Calibri"/>
                <a:ea typeface=""/>
                <a:cs typeface="News Gothic MT"/>
              </a:rPr>
              <a:t>Red shift</a:t>
            </a:r>
          </a:p>
        </p:txBody>
      </p:sp>
      <p:sp>
        <p:nvSpPr>
          <p:cNvPr id="3" name="TextBox 2">
            <a:extLst>
              <a:ext uri="{FF2B5EF4-FFF2-40B4-BE49-F238E27FC236}">
                <a16:creationId xmlns:a16="http://schemas.microsoft.com/office/drawing/2014/main" id="{FA26A8C4-0B71-46DF-B903-44EF43E49829}"/>
              </a:ext>
            </a:extLst>
          </p:cNvPr>
          <p:cNvSpPr txBox="1"/>
          <p:nvPr/>
        </p:nvSpPr>
        <p:spPr>
          <a:xfrm>
            <a:off x="575048" y="814940"/>
            <a:ext cx="8568952" cy="864096"/>
          </a:xfrm>
          <a:prstGeom prst="rect">
            <a:avLst/>
          </a:prstGeom>
          <a:noFill/>
        </p:spPr>
        <p:txBody>
          <a:bodyPr wrap="square" rtlCol="0">
            <a:spAutoFit/>
          </a:bodyPr>
          <a:lstStyle/>
          <a:p>
            <a:endParaRPr lang="en-GB" dirty="0"/>
          </a:p>
        </p:txBody>
      </p:sp>
      <p:pic>
        <p:nvPicPr>
          <p:cNvPr id="5" name="Picture 4">
            <a:extLst>
              <a:ext uri="{FF2B5EF4-FFF2-40B4-BE49-F238E27FC236}">
                <a16:creationId xmlns:a16="http://schemas.microsoft.com/office/drawing/2014/main" id="{9EE9179F-B50F-4602-ACCE-DC63DDBE6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4529436"/>
            <a:ext cx="2667000" cy="1781175"/>
          </a:xfrm>
          <a:prstGeom prst="rect">
            <a:avLst/>
          </a:prstGeom>
        </p:spPr>
      </p:pic>
      <p:sp>
        <p:nvSpPr>
          <p:cNvPr id="8" name="TextBox 7">
            <a:extLst>
              <a:ext uri="{FF2B5EF4-FFF2-40B4-BE49-F238E27FC236}">
                <a16:creationId xmlns:a16="http://schemas.microsoft.com/office/drawing/2014/main" id="{A89F5D8B-E323-4CB3-B72F-F57EF0E867AC}"/>
              </a:ext>
            </a:extLst>
          </p:cNvPr>
          <p:cNvSpPr txBox="1"/>
          <p:nvPr/>
        </p:nvSpPr>
        <p:spPr>
          <a:xfrm>
            <a:off x="179512" y="700166"/>
            <a:ext cx="4104456" cy="2554545"/>
          </a:xfrm>
          <a:prstGeom prst="rect">
            <a:avLst/>
          </a:prstGeom>
          <a:noFill/>
        </p:spPr>
        <p:txBody>
          <a:bodyPr wrap="square" rtlCol="0">
            <a:spAutoFit/>
          </a:bodyPr>
          <a:lstStyle/>
          <a:p>
            <a:pPr algn="ctr"/>
            <a:r>
              <a:rPr lang="en-GB" sz="2000" dirty="0"/>
              <a:t>Light emitted by a hot object produces a continuous spectrum.</a:t>
            </a:r>
          </a:p>
          <a:p>
            <a:pPr algn="ctr"/>
            <a:r>
              <a:rPr lang="en-GB" sz="2000" dirty="0"/>
              <a:t>When light is emitted by a star, the light has to travel through the gases which make up the star. </a:t>
            </a:r>
          </a:p>
          <a:p>
            <a:pPr algn="ctr"/>
            <a:r>
              <a:rPr lang="en-GB" sz="2000" dirty="0"/>
              <a:t>These gases absorb specific wavelengths of light, leaving black lines in the spectrum.</a:t>
            </a:r>
          </a:p>
        </p:txBody>
      </p:sp>
      <p:pic>
        <p:nvPicPr>
          <p:cNvPr id="9" name="Picture 8" descr="Image result for continuous and absorption spectrum">
            <a:extLst>
              <a:ext uri="{FF2B5EF4-FFF2-40B4-BE49-F238E27FC236}">
                <a16:creationId xmlns:a16="http://schemas.microsoft.com/office/drawing/2014/main" id="{FBEDB076-4170-4F3B-9B60-84FE0987DD77}"/>
              </a:ext>
            </a:extLst>
          </p:cNvPr>
          <p:cNvPicPr/>
          <p:nvPr/>
        </p:nvPicPr>
        <p:blipFill rotWithShape="1">
          <a:blip r:embed="rId4">
            <a:extLst>
              <a:ext uri="{28A0092B-C50C-407E-A947-70E740481C1C}">
                <a14:useLocalDpi xmlns:a14="http://schemas.microsoft.com/office/drawing/2010/main" val="0"/>
              </a:ext>
            </a:extLst>
          </a:blip>
          <a:srcRect l="-192" b="57328"/>
          <a:stretch/>
        </p:blipFill>
        <p:spPr bwMode="auto">
          <a:xfrm>
            <a:off x="4644008" y="823267"/>
            <a:ext cx="4503962" cy="767530"/>
          </a:xfrm>
          <a:prstGeom prst="rect">
            <a:avLst/>
          </a:prstGeom>
          <a:noFill/>
          <a:ln>
            <a:noFill/>
          </a:ln>
          <a:extLst>
            <a:ext uri="{53640926-AAD7-44D8-BBD7-CCE9431645EC}">
              <a14:shadowObscured xmlns:a14="http://schemas.microsoft.com/office/drawing/2010/main"/>
            </a:ext>
          </a:extLst>
        </p:spPr>
      </p:pic>
      <p:grpSp>
        <p:nvGrpSpPr>
          <p:cNvPr id="4" name="Group 3"/>
          <p:cNvGrpSpPr/>
          <p:nvPr/>
        </p:nvGrpSpPr>
        <p:grpSpPr>
          <a:xfrm>
            <a:off x="4739069" y="1696575"/>
            <a:ext cx="4404931" cy="1152039"/>
            <a:chOff x="3630358" y="1841151"/>
            <a:chExt cx="5144647" cy="1326588"/>
          </a:xfrm>
        </p:grpSpPr>
        <p:pic>
          <p:nvPicPr>
            <p:cNvPr id="10" name="Picture 9" descr="Image result for continuous and absorption spectrum">
              <a:extLst>
                <a:ext uri="{FF2B5EF4-FFF2-40B4-BE49-F238E27FC236}">
                  <a16:creationId xmlns:a16="http://schemas.microsoft.com/office/drawing/2014/main" id="{494F9670-75D9-4920-B952-07518D25968C}"/>
                </a:ext>
              </a:extLst>
            </p:cNvPr>
            <p:cNvPicPr/>
            <p:nvPr/>
          </p:nvPicPr>
          <p:blipFill rotWithShape="1">
            <a:blip r:embed="rId4">
              <a:extLst>
                <a:ext uri="{28A0092B-C50C-407E-A947-70E740481C1C}">
                  <a14:useLocalDpi xmlns:a14="http://schemas.microsoft.com/office/drawing/2010/main" val="0"/>
                </a:ext>
              </a:extLst>
            </a:blip>
            <a:srcRect t="71552"/>
            <a:stretch/>
          </p:blipFill>
          <p:spPr bwMode="auto">
            <a:xfrm>
              <a:off x="3822005" y="2121474"/>
              <a:ext cx="4953000" cy="628650"/>
            </a:xfrm>
            <a:prstGeom prst="rect">
              <a:avLst/>
            </a:prstGeom>
            <a:noFill/>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3BB56F8F-19E8-4B96-8E39-228D44C51F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30358" y="1841151"/>
              <a:ext cx="1445698" cy="1326588"/>
            </a:xfrm>
            <a:prstGeom prst="rect">
              <a:avLst/>
            </a:prstGeom>
          </p:spPr>
        </p:pic>
        <p:pic>
          <p:nvPicPr>
            <p:cNvPr id="15" name="Picture 14">
              <a:extLst>
                <a:ext uri="{FF2B5EF4-FFF2-40B4-BE49-F238E27FC236}">
                  <a16:creationId xmlns:a16="http://schemas.microsoft.com/office/drawing/2014/main" id="{7B2BBB50-DE0E-4580-B2CC-8191B910003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70074" y="2233020"/>
              <a:ext cx="792088" cy="594066"/>
            </a:xfrm>
            <a:prstGeom prst="rect">
              <a:avLst/>
            </a:prstGeom>
          </p:spPr>
        </p:pic>
      </p:grpSp>
      <p:sp>
        <p:nvSpPr>
          <p:cNvPr id="16" name="TextBox 15">
            <a:extLst>
              <a:ext uri="{FF2B5EF4-FFF2-40B4-BE49-F238E27FC236}">
                <a16:creationId xmlns:a16="http://schemas.microsoft.com/office/drawing/2014/main" id="{2ECAAEC8-6F19-4B35-96AD-9C4A2481E48A}"/>
              </a:ext>
            </a:extLst>
          </p:cNvPr>
          <p:cNvSpPr txBox="1"/>
          <p:nvPr/>
        </p:nvSpPr>
        <p:spPr>
          <a:xfrm>
            <a:off x="179512" y="3211654"/>
            <a:ext cx="8784976" cy="1015663"/>
          </a:xfrm>
          <a:prstGeom prst="rect">
            <a:avLst/>
          </a:prstGeom>
          <a:noFill/>
          <a:ln w="25400">
            <a:solidFill>
              <a:schemeClr val="accent6">
                <a:lumMod val="75000"/>
              </a:schemeClr>
            </a:solidFill>
          </a:ln>
        </p:spPr>
        <p:txBody>
          <a:bodyPr wrap="square" rtlCol="0">
            <a:spAutoFit/>
          </a:bodyPr>
          <a:lstStyle/>
          <a:p>
            <a:r>
              <a:rPr lang="en-GB" sz="2000" dirty="0"/>
              <a:t>Absorption spectra from stars in every galaxy would look the same if all the galaxies were a fixed distance from the Earth. Galaxies have different amounts of red shift which means they are moving away from us at different speeds.</a:t>
            </a:r>
          </a:p>
        </p:txBody>
      </p:sp>
      <p:sp>
        <p:nvSpPr>
          <p:cNvPr id="17" name="TextBox 16">
            <a:extLst>
              <a:ext uri="{FF2B5EF4-FFF2-40B4-BE49-F238E27FC236}">
                <a16:creationId xmlns:a16="http://schemas.microsoft.com/office/drawing/2014/main" id="{54D6EB8C-95AB-4E0F-8F1C-080FA3A2B74D}"/>
              </a:ext>
            </a:extLst>
          </p:cNvPr>
          <p:cNvSpPr txBox="1"/>
          <p:nvPr/>
        </p:nvSpPr>
        <p:spPr>
          <a:xfrm>
            <a:off x="1691680" y="4253814"/>
            <a:ext cx="5760640" cy="400110"/>
          </a:xfrm>
          <a:prstGeom prst="rect">
            <a:avLst/>
          </a:prstGeom>
          <a:noFill/>
          <a:ln>
            <a:noFill/>
          </a:ln>
        </p:spPr>
        <p:txBody>
          <a:bodyPr wrap="square" rtlCol="0">
            <a:spAutoFit/>
          </a:bodyPr>
          <a:lstStyle/>
          <a:p>
            <a:r>
              <a:rPr lang="en-GB" sz="2000" b="1" dirty="0">
                <a:solidFill>
                  <a:schemeClr val="accent6">
                    <a:lumMod val="75000"/>
                  </a:schemeClr>
                </a:solidFill>
              </a:rPr>
              <a:t>The faster a galaxy is moving, the further away it is.</a:t>
            </a:r>
          </a:p>
        </p:txBody>
      </p:sp>
      <p:sp>
        <p:nvSpPr>
          <p:cNvPr id="18" name="Arrow: Right 17">
            <a:extLst>
              <a:ext uri="{FF2B5EF4-FFF2-40B4-BE49-F238E27FC236}">
                <a16:creationId xmlns:a16="http://schemas.microsoft.com/office/drawing/2014/main" id="{D96AC15B-131D-457D-9387-1D9FCF462296}"/>
              </a:ext>
            </a:extLst>
          </p:cNvPr>
          <p:cNvSpPr/>
          <p:nvPr/>
        </p:nvSpPr>
        <p:spPr>
          <a:xfrm>
            <a:off x="3206552" y="4797152"/>
            <a:ext cx="423806" cy="196312"/>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9" name="Arrow: Right 18">
            <a:extLst>
              <a:ext uri="{FF2B5EF4-FFF2-40B4-BE49-F238E27FC236}">
                <a16:creationId xmlns:a16="http://schemas.microsoft.com/office/drawing/2014/main" id="{098184B5-F607-4C78-9A7C-2B625A7A953E}"/>
              </a:ext>
            </a:extLst>
          </p:cNvPr>
          <p:cNvSpPr/>
          <p:nvPr/>
        </p:nvSpPr>
        <p:spPr>
          <a:xfrm>
            <a:off x="3206552" y="5329665"/>
            <a:ext cx="423806" cy="196312"/>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0" name="Arrow: Right 19">
            <a:extLst>
              <a:ext uri="{FF2B5EF4-FFF2-40B4-BE49-F238E27FC236}">
                <a16:creationId xmlns:a16="http://schemas.microsoft.com/office/drawing/2014/main" id="{44906E18-75E5-47C1-BFCC-E8DE86804EA0}"/>
              </a:ext>
            </a:extLst>
          </p:cNvPr>
          <p:cNvSpPr/>
          <p:nvPr/>
        </p:nvSpPr>
        <p:spPr>
          <a:xfrm>
            <a:off x="3206552" y="5877272"/>
            <a:ext cx="423806" cy="196312"/>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1" name="TextBox 20">
            <a:extLst>
              <a:ext uri="{FF2B5EF4-FFF2-40B4-BE49-F238E27FC236}">
                <a16:creationId xmlns:a16="http://schemas.microsoft.com/office/drawing/2014/main" id="{EAF64F24-8FFA-48D0-856B-362D92F53E1E}"/>
              </a:ext>
            </a:extLst>
          </p:cNvPr>
          <p:cNvSpPr txBox="1"/>
          <p:nvPr/>
        </p:nvSpPr>
        <p:spPr>
          <a:xfrm>
            <a:off x="3630358" y="4703317"/>
            <a:ext cx="5334130" cy="400110"/>
          </a:xfrm>
          <a:prstGeom prst="rect">
            <a:avLst/>
          </a:prstGeom>
          <a:noFill/>
        </p:spPr>
        <p:txBody>
          <a:bodyPr wrap="square" rtlCol="0">
            <a:spAutoFit/>
          </a:bodyPr>
          <a:lstStyle/>
          <a:p>
            <a:r>
              <a:rPr lang="en-GB" sz="2000" b="1" dirty="0"/>
              <a:t>Spectrum from a star in our galaxy – no red shift</a:t>
            </a:r>
          </a:p>
        </p:txBody>
      </p:sp>
      <p:sp>
        <p:nvSpPr>
          <p:cNvPr id="22" name="TextBox 21">
            <a:extLst>
              <a:ext uri="{FF2B5EF4-FFF2-40B4-BE49-F238E27FC236}">
                <a16:creationId xmlns:a16="http://schemas.microsoft.com/office/drawing/2014/main" id="{26F18840-BDBA-4773-B2FB-DB85B72288A5}"/>
              </a:ext>
            </a:extLst>
          </p:cNvPr>
          <p:cNvSpPr txBox="1"/>
          <p:nvPr/>
        </p:nvSpPr>
        <p:spPr>
          <a:xfrm>
            <a:off x="3630358" y="5070599"/>
            <a:ext cx="5334130" cy="707886"/>
          </a:xfrm>
          <a:prstGeom prst="rect">
            <a:avLst/>
          </a:prstGeom>
          <a:noFill/>
        </p:spPr>
        <p:txBody>
          <a:bodyPr wrap="square" rtlCol="0">
            <a:spAutoFit/>
          </a:bodyPr>
          <a:lstStyle/>
          <a:p>
            <a:r>
              <a:rPr lang="en-GB" sz="2000" b="1" dirty="0"/>
              <a:t>Spectrum from a star in another galaxy – some red shift</a:t>
            </a:r>
          </a:p>
        </p:txBody>
      </p:sp>
      <p:sp>
        <p:nvSpPr>
          <p:cNvPr id="23" name="TextBox 22">
            <a:extLst>
              <a:ext uri="{FF2B5EF4-FFF2-40B4-BE49-F238E27FC236}">
                <a16:creationId xmlns:a16="http://schemas.microsoft.com/office/drawing/2014/main" id="{1742966F-B80E-4281-AC0E-703A2D1A7481}"/>
              </a:ext>
            </a:extLst>
          </p:cNvPr>
          <p:cNvSpPr txBox="1"/>
          <p:nvPr/>
        </p:nvSpPr>
        <p:spPr>
          <a:xfrm>
            <a:off x="3637249" y="5621485"/>
            <a:ext cx="5332986" cy="707886"/>
          </a:xfrm>
          <a:prstGeom prst="rect">
            <a:avLst/>
          </a:prstGeom>
          <a:noFill/>
        </p:spPr>
        <p:txBody>
          <a:bodyPr wrap="square" rtlCol="0">
            <a:spAutoFit/>
          </a:bodyPr>
          <a:lstStyle/>
          <a:p>
            <a:r>
              <a:rPr lang="en-GB" sz="2000" b="1" dirty="0"/>
              <a:t>Spectrum from a distant galaxy – a lot of red shift</a:t>
            </a:r>
          </a:p>
        </p:txBody>
      </p:sp>
    </p:spTree>
    <p:extLst>
      <p:ext uri="{BB962C8B-B14F-4D97-AF65-F5344CB8AC3E}">
        <p14:creationId xmlns:p14="http://schemas.microsoft.com/office/powerpoint/2010/main" val="1440701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5655"/>
            <a:ext cx="838842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kumimoji="0" lang="en-US" sz="2400" b="1" i="0" u="none" strike="noStrike" kern="1200" cap="none" spc="0" normalizeH="0" baseline="0" noProof="0" dirty="0">
                <a:ln>
                  <a:noFill/>
                </a:ln>
                <a:solidFill>
                  <a:schemeClr val="accent6">
                    <a:lumMod val="75000"/>
                  </a:schemeClr>
                </a:solidFill>
                <a:effectLst/>
                <a:uLnTx/>
                <a:uFillTx/>
                <a:latin typeface="Calibri"/>
                <a:ea typeface=""/>
                <a:cs typeface="News Gothic MT"/>
              </a:rPr>
              <a:t>																	</a:t>
            </a:r>
            <a:r>
              <a:rPr kumimoji="0" lang="en-US" sz="2800" b="1" i="0" u="none" strike="noStrike" kern="1200" cap="none" spc="0" normalizeH="0" baseline="0" noProof="0" dirty="0">
                <a:ln>
                  <a:noFill/>
                </a:ln>
                <a:solidFill>
                  <a:schemeClr val="accent6">
                    <a:lumMod val="75000"/>
                  </a:schemeClr>
                </a:solidFill>
                <a:effectLst/>
                <a:uLnTx/>
                <a:uFillTx/>
                <a:latin typeface="Calibri"/>
                <a:ea typeface=""/>
                <a:cs typeface="News Gothic MT"/>
              </a:rPr>
              <a:t>Red shift </a:t>
            </a:r>
          </a:p>
        </p:txBody>
      </p:sp>
      <p:sp>
        <p:nvSpPr>
          <p:cNvPr id="3" name="TextBox 2">
            <a:extLst>
              <a:ext uri="{FF2B5EF4-FFF2-40B4-BE49-F238E27FC236}">
                <a16:creationId xmlns:a16="http://schemas.microsoft.com/office/drawing/2014/main" id="{C90C7F2C-2B9F-4F88-BAAE-2654DBD7C801}"/>
              </a:ext>
            </a:extLst>
          </p:cNvPr>
          <p:cNvSpPr txBox="1"/>
          <p:nvPr/>
        </p:nvSpPr>
        <p:spPr>
          <a:xfrm>
            <a:off x="395536" y="760638"/>
            <a:ext cx="2088232" cy="400110"/>
          </a:xfrm>
          <a:prstGeom prst="rect">
            <a:avLst/>
          </a:prstGeom>
          <a:solidFill>
            <a:schemeClr val="accent6">
              <a:lumMod val="60000"/>
              <a:lumOff val="40000"/>
            </a:schemeClr>
          </a:solidFill>
        </p:spPr>
        <p:txBody>
          <a:bodyPr wrap="square" rtlCol="0">
            <a:spAutoFit/>
          </a:bodyPr>
          <a:lstStyle/>
          <a:p>
            <a:pPr algn="ctr"/>
            <a:r>
              <a:rPr lang="en-GB" sz="2000" b="1" dirty="0"/>
              <a:t>Summary</a:t>
            </a:r>
          </a:p>
        </p:txBody>
      </p:sp>
      <p:sp>
        <p:nvSpPr>
          <p:cNvPr id="15" name="TextBox 14">
            <a:extLst>
              <a:ext uri="{FF2B5EF4-FFF2-40B4-BE49-F238E27FC236}">
                <a16:creationId xmlns:a16="http://schemas.microsoft.com/office/drawing/2014/main" id="{057D1812-E3CF-4B99-9ACE-3208F1228E5D}"/>
              </a:ext>
            </a:extLst>
          </p:cNvPr>
          <p:cNvSpPr txBox="1"/>
          <p:nvPr/>
        </p:nvSpPr>
        <p:spPr>
          <a:xfrm>
            <a:off x="395536" y="1628800"/>
            <a:ext cx="8352928" cy="4154984"/>
          </a:xfrm>
          <a:prstGeom prst="rect">
            <a:avLst/>
          </a:prstGeom>
          <a:noFill/>
          <a:ln w="25400">
            <a:solidFill>
              <a:schemeClr val="accent6">
                <a:lumMod val="75000"/>
              </a:schemeClr>
            </a:solidFill>
          </a:ln>
        </p:spPr>
        <p:txBody>
          <a:bodyPr wrap="square" rtlCol="0">
            <a:spAutoFit/>
          </a:bodyPr>
          <a:lstStyle/>
          <a:p>
            <a:pPr marL="342900" indent="-342900">
              <a:buClr>
                <a:schemeClr val="tx1"/>
              </a:buClr>
              <a:buFont typeface="Arial" panose="020B0604020202020204" pitchFamily="34" charset="0"/>
              <a:buChar char="•"/>
            </a:pPr>
            <a:r>
              <a:rPr lang="en-GB" sz="2400" b="1" dirty="0">
                <a:solidFill>
                  <a:srgbClr val="FF0000"/>
                </a:solidFill>
              </a:rPr>
              <a:t>Red light </a:t>
            </a:r>
            <a:r>
              <a:rPr lang="en-GB" sz="2400" dirty="0"/>
              <a:t>has a </a:t>
            </a:r>
            <a:r>
              <a:rPr lang="en-GB" sz="2400" b="1" dirty="0">
                <a:solidFill>
                  <a:schemeClr val="accent6">
                    <a:lumMod val="75000"/>
                  </a:schemeClr>
                </a:solidFill>
              </a:rPr>
              <a:t>longer wavelength </a:t>
            </a:r>
            <a:r>
              <a:rPr lang="en-GB" sz="2400" dirty="0"/>
              <a:t>than </a:t>
            </a:r>
            <a:r>
              <a:rPr lang="en-GB" sz="2400" b="1" dirty="0">
                <a:solidFill>
                  <a:srgbClr val="0070C0"/>
                </a:solidFill>
              </a:rPr>
              <a:t>blue light</a:t>
            </a:r>
            <a:r>
              <a:rPr lang="en-GB" sz="2400" b="1" dirty="0"/>
              <a:t>.</a:t>
            </a:r>
          </a:p>
          <a:p>
            <a:pPr marL="342900" indent="-342900">
              <a:buClr>
                <a:schemeClr val="tx1"/>
              </a:buClr>
              <a:buFont typeface="Arial" panose="020B0604020202020204" pitchFamily="34" charset="0"/>
              <a:buChar char="•"/>
            </a:pPr>
            <a:endParaRPr lang="en-GB" sz="2400" dirty="0"/>
          </a:p>
          <a:p>
            <a:pPr marL="342900" indent="-342900">
              <a:buClr>
                <a:schemeClr val="tx1"/>
              </a:buClr>
              <a:buFont typeface="Arial" panose="020B0604020202020204" pitchFamily="34" charset="0"/>
              <a:buChar char="•"/>
            </a:pPr>
            <a:r>
              <a:rPr lang="en-GB" sz="2400" dirty="0"/>
              <a:t>Most </a:t>
            </a:r>
            <a:r>
              <a:rPr lang="en-GB" sz="2400" b="1" dirty="0">
                <a:solidFill>
                  <a:schemeClr val="accent6">
                    <a:lumMod val="75000"/>
                  </a:schemeClr>
                </a:solidFill>
              </a:rPr>
              <a:t>distant galaxies </a:t>
            </a:r>
            <a:r>
              <a:rPr lang="en-GB" sz="2400" dirty="0"/>
              <a:t>show an </a:t>
            </a:r>
            <a:r>
              <a:rPr lang="en-GB" sz="2400" b="1" dirty="0">
                <a:solidFill>
                  <a:schemeClr val="accent6">
                    <a:lumMod val="75000"/>
                  </a:schemeClr>
                </a:solidFill>
              </a:rPr>
              <a:t>increase in wavelength </a:t>
            </a:r>
            <a:r>
              <a:rPr lang="en-GB" sz="2400" dirty="0"/>
              <a:t>of light.</a:t>
            </a:r>
          </a:p>
          <a:p>
            <a:pPr marL="342900" indent="-342900">
              <a:buClr>
                <a:schemeClr val="tx1"/>
              </a:buClr>
              <a:buFont typeface="Arial" panose="020B0604020202020204" pitchFamily="34" charset="0"/>
              <a:buChar char="•"/>
            </a:pPr>
            <a:endParaRPr lang="en-GB" sz="2400" dirty="0"/>
          </a:p>
          <a:p>
            <a:pPr marL="342900" indent="-342900">
              <a:buClr>
                <a:schemeClr val="tx1"/>
              </a:buClr>
              <a:buFont typeface="Arial" panose="020B0604020202020204" pitchFamily="34" charset="0"/>
              <a:buChar char="•"/>
            </a:pPr>
            <a:r>
              <a:rPr lang="en-GB" sz="2400" dirty="0"/>
              <a:t>The </a:t>
            </a:r>
            <a:r>
              <a:rPr lang="en-GB" sz="2400" b="1" dirty="0">
                <a:solidFill>
                  <a:schemeClr val="accent6">
                    <a:lumMod val="75000"/>
                  </a:schemeClr>
                </a:solidFill>
              </a:rPr>
              <a:t>further away </a:t>
            </a:r>
            <a:r>
              <a:rPr lang="en-GB" sz="2400" dirty="0"/>
              <a:t>the galaxies the </a:t>
            </a:r>
            <a:r>
              <a:rPr lang="en-GB" sz="2400" b="1" dirty="0">
                <a:solidFill>
                  <a:schemeClr val="accent6">
                    <a:lumMod val="75000"/>
                  </a:schemeClr>
                </a:solidFill>
              </a:rPr>
              <a:t>faster</a:t>
            </a:r>
            <a:r>
              <a:rPr lang="en-GB" sz="2400" dirty="0"/>
              <a:t> they are moving and the </a:t>
            </a:r>
            <a:r>
              <a:rPr lang="en-GB" sz="2400" b="1" dirty="0">
                <a:solidFill>
                  <a:schemeClr val="accent6">
                    <a:lumMod val="75000"/>
                  </a:schemeClr>
                </a:solidFill>
              </a:rPr>
              <a:t>bigger the increase in wavelength</a:t>
            </a:r>
            <a:r>
              <a:rPr lang="en-GB" sz="2400" dirty="0"/>
              <a:t>.</a:t>
            </a:r>
          </a:p>
          <a:p>
            <a:pPr marL="342900" indent="-342900">
              <a:buClr>
                <a:schemeClr val="tx1"/>
              </a:buClr>
              <a:buFont typeface="Arial" panose="020B0604020202020204" pitchFamily="34" charset="0"/>
              <a:buChar char="•"/>
            </a:pPr>
            <a:endParaRPr lang="en-GB" sz="2400" dirty="0"/>
          </a:p>
          <a:p>
            <a:pPr marL="342900" indent="-342900">
              <a:buClr>
                <a:schemeClr val="tx1"/>
              </a:buClr>
              <a:buFont typeface="Arial" panose="020B0604020202020204" pitchFamily="34" charset="0"/>
              <a:buChar char="•"/>
            </a:pPr>
            <a:r>
              <a:rPr lang="en-GB" sz="2400" dirty="0"/>
              <a:t>This effect is called the </a:t>
            </a:r>
            <a:r>
              <a:rPr lang="en-GB" sz="2400" b="1" dirty="0">
                <a:solidFill>
                  <a:schemeClr val="accent6">
                    <a:lumMod val="75000"/>
                  </a:schemeClr>
                </a:solidFill>
              </a:rPr>
              <a:t>RED-SHIFT</a:t>
            </a:r>
            <a:r>
              <a:rPr lang="en-GB" sz="2400" dirty="0"/>
              <a:t>.</a:t>
            </a:r>
          </a:p>
          <a:p>
            <a:pPr marL="342900" indent="-342900">
              <a:buClr>
                <a:schemeClr val="tx1"/>
              </a:buClr>
              <a:buFont typeface="Arial" panose="020B0604020202020204" pitchFamily="34" charset="0"/>
              <a:buChar char="•"/>
            </a:pPr>
            <a:endParaRPr lang="en-GB" sz="2400" dirty="0"/>
          </a:p>
          <a:p>
            <a:pPr marL="342900" indent="-342900">
              <a:buClr>
                <a:schemeClr val="tx1"/>
              </a:buClr>
              <a:buFont typeface="Arial" panose="020B0604020202020204" pitchFamily="34" charset="0"/>
              <a:buChar char="•"/>
            </a:pPr>
            <a:r>
              <a:rPr lang="en-GB" sz="2400" dirty="0"/>
              <a:t>The observed red-shift provides </a:t>
            </a:r>
            <a:r>
              <a:rPr lang="en-GB" sz="2400" b="1" dirty="0">
                <a:solidFill>
                  <a:schemeClr val="accent6">
                    <a:lumMod val="75000"/>
                  </a:schemeClr>
                </a:solidFill>
              </a:rPr>
              <a:t>evidence</a:t>
            </a:r>
            <a:r>
              <a:rPr lang="en-GB" sz="2400" dirty="0"/>
              <a:t> that the </a:t>
            </a:r>
            <a:r>
              <a:rPr lang="en-GB" sz="2400" b="1" dirty="0">
                <a:solidFill>
                  <a:schemeClr val="accent6">
                    <a:lumMod val="75000"/>
                  </a:schemeClr>
                </a:solidFill>
              </a:rPr>
              <a:t>universe is expanding</a:t>
            </a:r>
            <a:r>
              <a:rPr lang="en-GB" sz="2400" dirty="0"/>
              <a:t> and supports the </a:t>
            </a:r>
            <a:r>
              <a:rPr lang="en-GB" sz="2400" b="1" dirty="0">
                <a:solidFill>
                  <a:schemeClr val="accent6">
                    <a:lumMod val="75000"/>
                  </a:schemeClr>
                </a:solidFill>
              </a:rPr>
              <a:t>Big Bang theory</a:t>
            </a:r>
            <a:r>
              <a:rPr lang="en-GB" sz="2400" dirty="0"/>
              <a:t>.</a:t>
            </a:r>
          </a:p>
        </p:txBody>
      </p:sp>
    </p:spTree>
    <p:extLst>
      <p:ext uri="{BB962C8B-B14F-4D97-AF65-F5344CB8AC3E}">
        <p14:creationId xmlns:p14="http://schemas.microsoft.com/office/powerpoint/2010/main" val="2524217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lumMod val="75000"/>
                  </a:schemeClr>
                </a:solidFill>
              </a:rPr>
              <a:t>							Life cycle of a star</a:t>
            </a:r>
            <a:endParaRPr lang="en-GB" sz="2400" b="1" dirty="0">
              <a:solidFill>
                <a:schemeClr val="accent6">
                  <a:lumMod val="75000"/>
                </a:schemeClr>
              </a:solidFill>
            </a:endParaRPr>
          </a:p>
        </p:txBody>
      </p:sp>
      <p:sp>
        <p:nvSpPr>
          <p:cNvPr id="3" name="TextBox 2">
            <a:extLst>
              <a:ext uri="{FF2B5EF4-FFF2-40B4-BE49-F238E27FC236}">
                <a16:creationId xmlns:a16="http://schemas.microsoft.com/office/drawing/2014/main" id="{C455BCD5-B85C-4A9C-906A-EE4C60786A4D}"/>
              </a:ext>
            </a:extLst>
          </p:cNvPr>
          <p:cNvSpPr txBox="1"/>
          <p:nvPr/>
        </p:nvSpPr>
        <p:spPr>
          <a:xfrm>
            <a:off x="467544" y="809678"/>
            <a:ext cx="8124972" cy="400110"/>
          </a:xfrm>
          <a:prstGeom prst="rect">
            <a:avLst/>
          </a:prstGeom>
          <a:solidFill>
            <a:schemeClr val="accent6">
              <a:lumMod val="60000"/>
              <a:lumOff val="40000"/>
            </a:schemeClr>
          </a:solidFill>
        </p:spPr>
        <p:txBody>
          <a:bodyPr wrap="square" rtlCol="0">
            <a:spAutoFit/>
          </a:bodyPr>
          <a:lstStyle/>
          <a:p>
            <a:r>
              <a:rPr lang="en-GB" b="1" dirty="0"/>
              <a:t>Stars go through a life cycle which is different for </a:t>
            </a:r>
            <a:r>
              <a:rPr lang="en-GB" sz="2000" b="1" dirty="0"/>
              <a:t>massive</a:t>
            </a:r>
            <a:r>
              <a:rPr lang="en-GB" b="1" dirty="0"/>
              <a:t> stars and smaller stars.</a:t>
            </a:r>
          </a:p>
        </p:txBody>
      </p:sp>
      <p:grpSp>
        <p:nvGrpSpPr>
          <p:cNvPr id="33" name="Group 32"/>
          <p:cNvGrpSpPr/>
          <p:nvPr/>
        </p:nvGrpSpPr>
        <p:grpSpPr>
          <a:xfrm>
            <a:off x="143066" y="1303081"/>
            <a:ext cx="8677848" cy="4847637"/>
            <a:chOff x="143066" y="1303081"/>
            <a:chExt cx="8677848" cy="4847637"/>
          </a:xfrm>
        </p:grpSpPr>
        <p:sp>
          <p:nvSpPr>
            <p:cNvPr id="27" name="Arrow: Down 26">
              <a:extLst>
                <a:ext uri="{FF2B5EF4-FFF2-40B4-BE49-F238E27FC236}">
                  <a16:creationId xmlns:a16="http://schemas.microsoft.com/office/drawing/2014/main" id="{4CBD9BD1-F330-4BF3-AC3A-C23D1B4D1905}"/>
                </a:ext>
              </a:extLst>
            </p:cNvPr>
            <p:cNvSpPr/>
            <p:nvPr/>
          </p:nvSpPr>
          <p:spPr>
            <a:xfrm>
              <a:off x="251520" y="2356756"/>
              <a:ext cx="144016" cy="3690465"/>
            </a:xfrm>
            <a:prstGeom prst="down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8" name="TextBox 27">
              <a:extLst>
                <a:ext uri="{FF2B5EF4-FFF2-40B4-BE49-F238E27FC236}">
                  <a16:creationId xmlns:a16="http://schemas.microsoft.com/office/drawing/2014/main" id="{361B489F-F2B9-4FD5-B6BA-310D85F77128}"/>
                </a:ext>
              </a:extLst>
            </p:cNvPr>
            <p:cNvSpPr txBox="1"/>
            <p:nvPr/>
          </p:nvSpPr>
          <p:spPr>
            <a:xfrm>
              <a:off x="143066" y="1444716"/>
              <a:ext cx="1476606" cy="738664"/>
            </a:xfrm>
            <a:prstGeom prst="rect">
              <a:avLst/>
            </a:prstGeom>
            <a:noFill/>
          </p:spPr>
          <p:txBody>
            <a:bodyPr wrap="square" rtlCol="0">
              <a:spAutoFit/>
            </a:bodyPr>
            <a:lstStyle/>
            <a:p>
              <a:r>
                <a:rPr lang="en-GB" sz="1400" b="1" dirty="0"/>
                <a:t>Stars about the same size as the Sun</a:t>
              </a:r>
            </a:p>
          </p:txBody>
        </p:sp>
        <p:sp>
          <p:nvSpPr>
            <p:cNvPr id="29" name="Arrow: Down 28">
              <a:extLst>
                <a:ext uri="{FF2B5EF4-FFF2-40B4-BE49-F238E27FC236}">
                  <a16:creationId xmlns:a16="http://schemas.microsoft.com/office/drawing/2014/main" id="{7B008D39-94C5-4641-8223-E6C8B48DA1D1}"/>
                </a:ext>
              </a:extLst>
            </p:cNvPr>
            <p:cNvSpPr/>
            <p:nvPr/>
          </p:nvSpPr>
          <p:spPr>
            <a:xfrm>
              <a:off x="8592516" y="2356755"/>
              <a:ext cx="144016" cy="3690465"/>
            </a:xfrm>
            <a:prstGeom prst="down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0" name="TextBox 29">
              <a:extLst>
                <a:ext uri="{FF2B5EF4-FFF2-40B4-BE49-F238E27FC236}">
                  <a16:creationId xmlns:a16="http://schemas.microsoft.com/office/drawing/2014/main" id="{C50E23A0-FEDE-4DFB-9716-D0C5326B00E8}"/>
                </a:ext>
              </a:extLst>
            </p:cNvPr>
            <p:cNvSpPr txBox="1"/>
            <p:nvPr/>
          </p:nvSpPr>
          <p:spPr>
            <a:xfrm>
              <a:off x="7596336" y="1574800"/>
              <a:ext cx="1224578" cy="738664"/>
            </a:xfrm>
            <a:prstGeom prst="rect">
              <a:avLst/>
            </a:prstGeom>
            <a:noFill/>
          </p:spPr>
          <p:txBody>
            <a:bodyPr wrap="square" rtlCol="0">
              <a:spAutoFit/>
            </a:bodyPr>
            <a:lstStyle/>
            <a:p>
              <a:pPr algn="r"/>
              <a:r>
                <a:rPr lang="en-GB" sz="1400" b="1" dirty="0"/>
                <a:t>Stars much bigger than the Sun</a:t>
              </a:r>
            </a:p>
          </p:txBody>
        </p:sp>
        <p:grpSp>
          <p:nvGrpSpPr>
            <p:cNvPr id="10" name="Group 9"/>
            <p:cNvGrpSpPr/>
            <p:nvPr/>
          </p:nvGrpSpPr>
          <p:grpSpPr>
            <a:xfrm>
              <a:off x="767056" y="1303081"/>
              <a:ext cx="7525948" cy="4847637"/>
              <a:chOff x="791580" y="1291470"/>
              <a:chExt cx="7525948" cy="4847637"/>
            </a:xfrm>
          </p:grpSpPr>
          <p:grpSp>
            <p:nvGrpSpPr>
              <p:cNvPr id="5" name="Group 4"/>
              <p:cNvGrpSpPr/>
              <p:nvPr/>
            </p:nvGrpSpPr>
            <p:grpSpPr>
              <a:xfrm>
                <a:off x="791580" y="1291470"/>
                <a:ext cx="7525948" cy="4847637"/>
                <a:chOff x="791580" y="1291470"/>
                <a:chExt cx="7525948" cy="4847637"/>
              </a:xfrm>
            </p:grpSpPr>
            <p:cxnSp>
              <p:nvCxnSpPr>
                <p:cNvPr id="57" name="Straight Connector 56">
                  <a:extLst>
                    <a:ext uri="{FF2B5EF4-FFF2-40B4-BE49-F238E27FC236}">
                      <a16:creationId xmlns:a16="http://schemas.microsoft.com/office/drawing/2014/main" id="{CA87049A-2236-4F24-B9A8-ED9D2DD8F53F}"/>
                    </a:ext>
                  </a:extLst>
                </p:cNvPr>
                <p:cNvCxnSpPr>
                  <a:cxnSpLocks/>
                  <a:stCxn id="22" idx="0"/>
                </p:cNvCxnSpPr>
                <p:nvPr/>
              </p:nvCxnSpPr>
              <p:spPr>
                <a:xfrm flipV="1">
                  <a:off x="1812864" y="5289073"/>
                  <a:ext cx="0" cy="46753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grpSp>
              <p:nvGrpSpPr>
                <p:cNvPr id="4" name="Group 3"/>
                <p:cNvGrpSpPr/>
                <p:nvPr/>
              </p:nvGrpSpPr>
              <p:grpSpPr>
                <a:xfrm>
                  <a:off x="791580" y="1291470"/>
                  <a:ext cx="7525948" cy="4847637"/>
                  <a:chOff x="791580" y="1291470"/>
                  <a:chExt cx="7525948" cy="4847637"/>
                </a:xfrm>
              </p:grpSpPr>
              <p:sp>
                <p:nvSpPr>
                  <p:cNvPr id="6" name="Cloud 5">
                    <a:extLst>
                      <a:ext uri="{FF2B5EF4-FFF2-40B4-BE49-F238E27FC236}">
                        <a16:creationId xmlns:a16="http://schemas.microsoft.com/office/drawing/2014/main" id="{8B94E6FC-FD25-4CCC-91FC-9D7021A6636A}"/>
                      </a:ext>
                    </a:extLst>
                  </p:cNvPr>
                  <p:cNvSpPr/>
                  <p:nvPr/>
                </p:nvSpPr>
                <p:spPr>
                  <a:xfrm>
                    <a:off x="3391729" y="1291470"/>
                    <a:ext cx="2125200" cy="1008112"/>
                  </a:xfrm>
                  <a:prstGeom prst="cloud">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7" name="Oval 6">
                    <a:extLst>
                      <a:ext uri="{FF2B5EF4-FFF2-40B4-BE49-F238E27FC236}">
                        <a16:creationId xmlns:a16="http://schemas.microsoft.com/office/drawing/2014/main" id="{E8D882AD-7F72-4819-A964-54C568764AED}"/>
                      </a:ext>
                    </a:extLst>
                  </p:cNvPr>
                  <p:cNvSpPr/>
                  <p:nvPr/>
                </p:nvSpPr>
                <p:spPr>
                  <a:xfrm>
                    <a:off x="3536758" y="2499089"/>
                    <a:ext cx="1728192" cy="648072"/>
                  </a:xfrm>
                  <a:prstGeom prst="ellipse">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8" name="TextBox 7">
                    <a:extLst>
                      <a:ext uri="{FF2B5EF4-FFF2-40B4-BE49-F238E27FC236}">
                        <a16:creationId xmlns:a16="http://schemas.microsoft.com/office/drawing/2014/main" id="{6ABA54C0-9CA1-4DB8-B8E8-99751836D82E}"/>
                      </a:ext>
                    </a:extLst>
                  </p:cNvPr>
                  <p:cNvSpPr txBox="1"/>
                  <p:nvPr/>
                </p:nvSpPr>
                <p:spPr>
                  <a:xfrm>
                    <a:off x="3978416" y="1358961"/>
                    <a:ext cx="953852" cy="954107"/>
                  </a:xfrm>
                  <a:prstGeom prst="rect">
                    <a:avLst/>
                  </a:prstGeom>
                  <a:noFill/>
                </p:spPr>
                <p:txBody>
                  <a:bodyPr wrap="square" rtlCol="0">
                    <a:spAutoFit/>
                  </a:bodyPr>
                  <a:lstStyle/>
                  <a:p>
                    <a:pPr algn="ctr"/>
                    <a:r>
                      <a:rPr lang="en-GB" sz="1400" b="1" dirty="0"/>
                      <a:t>Nebula</a:t>
                    </a:r>
                  </a:p>
                  <a:p>
                    <a:pPr algn="ctr"/>
                    <a:r>
                      <a:rPr lang="en-GB" sz="1400" b="1" dirty="0"/>
                      <a:t>(Cloud of gas and dust)</a:t>
                    </a:r>
                  </a:p>
                </p:txBody>
              </p:sp>
              <p:sp>
                <p:nvSpPr>
                  <p:cNvPr id="9" name="TextBox 8">
                    <a:extLst>
                      <a:ext uri="{FF2B5EF4-FFF2-40B4-BE49-F238E27FC236}">
                        <a16:creationId xmlns:a16="http://schemas.microsoft.com/office/drawing/2014/main" id="{D816920B-C50D-4776-80D7-4DFB6774401D}"/>
                      </a:ext>
                    </a:extLst>
                  </p:cNvPr>
                  <p:cNvSpPr txBox="1"/>
                  <p:nvPr/>
                </p:nvSpPr>
                <p:spPr>
                  <a:xfrm>
                    <a:off x="3864458" y="2656042"/>
                    <a:ext cx="1159501" cy="338554"/>
                  </a:xfrm>
                  <a:prstGeom prst="rect">
                    <a:avLst/>
                  </a:prstGeom>
                  <a:noFill/>
                </p:spPr>
                <p:txBody>
                  <a:bodyPr wrap="square" rtlCol="0">
                    <a:spAutoFit/>
                  </a:bodyPr>
                  <a:lstStyle/>
                  <a:p>
                    <a:pPr algn="ctr"/>
                    <a:r>
                      <a:rPr lang="en-GB" sz="1600" b="1" dirty="0"/>
                      <a:t>Protostar</a:t>
                    </a:r>
                  </a:p>
                </p:txBody>
              </p:sp>
              <p:sp>
                <p:nvSpPr>
                  <p:cNvPr id="11" name="Rectangle: Rounded Corners 10">
                    <a:extLst>
                      <a:ext uri="{FF2B5EF4-FFF2-40B4-BE49-F238E27FC236}">
                        <a16:creationId xmlns:a16="http://schemas.microsoft.com/office/drawing/2014/main" id="{A357EA88-BA81-45F9-BF7E-AC0BFE52153C}"/>
                      </a:ext>
                    </a:extLst>
                  </p:cNvPr>
                  <p:cNvSpPr/>
                  <p:nvPr/>
                </p:nvSpPr>
                <p:spPr>
                  <a:xfrm>
                    <a:off x="3392742" y="3311057"/>
                    <a:ext cx="2125200" cy="467721"/>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2" name="Rectangle: Rounded Corners 11">
                    <a:extLst>
                      <a:ext uri="{FF2B5EF4-FFF2-40B4-BE49-F238E27FC236}">
                        <a16:creationId xmlns:a16="http://schemas.microsoft.com/office/drawing/2014/main" id="{1A099527-1EA9-4902-8ECC-D758E0464042}"/>
                      </a:ext>
                    </a:extLst>
                  </p:cNvPr>
                  <p:cNvSpPr/>
                  <p:nvPr/>
                </p:nvSpPr>
                <p:spPr>
                  <a:xfrm>
                    <a:off x="791580" y="5779067"/>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3" name="Rectangle: Rounded Corners 12">
                    <a:extLst>
                      <a:ext uri="{FF2B5EF4-FFF2-40B4-BE49-F238E27FC236}">
                        <a16:creationId xmlns:a16="http://schemas.microsoft.com/office/drawing/2014/main" id="{EA7F78D7-668C-4638-AF74-E39CDF808A97}"/>
                      </a:ext>
                    </a:extLst>
                  </p:cNvPr>
                  <p:cNvSpPr/>
                  <p:nvPr/>
                </p:nvSpPr>
                <p:spPr>
                  <a:xfrm>
                    <a:off x="814280" y="4137402"/>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4" name="Rectangle: Rounded Corners 13">
                    <a:extLst>
                      <a:ext uri="{FF2B5EF4-FFF2-40B4-BE49-F238E27FC236}">
                        <a16:creationId xmlns:a16="http://schemas.microsoft.com/office/drawing/2014/main" id="{6479D81C-652F-4385-929F-6AABAAFF84D8}"/>
                      </a:ext>
                    </a:extLst>
                  </p:cNvPr>
                  <p:cNvSpPr/>
                  <p:nvPr/>
                </p:nvSpPr>
                <p:spPr>
                  <a:xfrm>
                    <a:off x="827584" y="4929032"/>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5" name="Rectangle: Rounded Corners 14">
                    <a:extLst>
                      <a:ext uri="{FF2B5EF4-FFF2-40B4-BE49-F238E27FC236}">
                        <a16:creationId xmlns:a16="http://schemas.microsoft.com/office/drawing/2014/main" id="{0BD78D58-5EA9-40E4-8CF6-1C18D4CD8C87}"/>
                      </a:ext>
                    </a:extLst>
                  </p:cNvPr>
                  <p:cNvSpPr/>
                  <p:nvPr/>
                </p:nvSpPr>
                <p:spPr>
                  <a:xfrm>
                    <a:off x="4877780" y="4137402"/>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6" name="Rectangle: Rounded Corners 15">
                    <a:extLst>
                      <a:ext uri="{FF2B5EF4-FFF2-40B4-BE49-F238E27FC236}">
                        <a16:creationId xmlns:a16="http://schemas.microsoft.com/office/drawing/2014/main" id="{AD76A9C4-4FF1-4724-9FFE-EA35CB6E8838}"/>
                      </a:ext>
                    </a:extLst>
                  </p:cNvPr>
                  <p:cNvSpPr/>
                  <p:nvPr/>
                </p:nvSpPr>
                <p:spPr>
                  <a:xfrm>
                    <a:off x="4877780" y="4929032"/>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7" name="Rectangle: Rounded Corners 16">
                    <a:extLst>
                      <a:ext uri="{FF2B5EF4-FFF2-40B4-BE49-F238E27FC236}">
                        <a16:creationId xmlns:a16="http://schemas.microsoft.com/office/drawing/2014/main" id="{F119AB07-E16E-49F9-92AB-691FA4DD84A7}"/>
                      </a:ext>
                    </a:extLst>
                  </p:cNvPr>
                  <p:cNvSpPr/>
                  <p:nvPr/>
                </p:nvSpPr>
                <p:spPr>
                  <a:xfrm>
                    <a:off x="6301304" y="5730472"/>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8" name="Rectangle: Rounded Corners 17">
                    <a:extLst>
                      <a:ext uri="{FF2B5EF4-FFF2-40B4-BE49-F238E27FC236}">
                        <a16:creationId xmlns:a16="http://schemas.microsoft.com/office/drawing/2014/main" id="{155E7140-510E-4DE4-A8F8-F9ACCDCB9DEC}"/>
                      </a:ext>
                    </a:extLst>
                  </p:cNvPr>
                  <p:cNvSpPr/>
                  <p:nvPr/>
                </p:nvSpPr>
                <p:spPr>
                  <a:xfrm>
                    <a:off x="3501718" y="5739444"/>
                    <a:ext cx="2016224" cy="360040"/>
                  </a:xfrm>
                  <a:prstGeom prst="roundRect">
                    <a:avLst/>
                  </a:prstGeom>
                  <a:solidFill>
                    <a:schemeClr val="accent6">
                      <a:lumMod val="40000"/>
                      <a:lumOff val="6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dirty="0"/>
                  </a:p>
                </p:txBody>
              </p:sp>
              <p:sp>
                <p:nvSpPr>
                  <p:cNvPr id="19" name="TextBox 18">
                    <a:extLst>
                      <a:ext uri="{FF2B5EF4-FFF2-40B4-BE49-F238E27FC236}">
                        <a16:creationId xmlns:a16="http://schemas.microsoft.com/office/drawing/2014/main" id="{8F7D0061-9764-4B01-AAA0-C03CF0D1103E}"/>
                      </a:ext>
                    </a:extLst>
                  </p:cNvPr>
                  <p:cNvSpPr txBox="1"/>
                  <p:nvPr/>
                </p:nvSpPr>
                <p:spPr>
                  <a:xfrm>
                    <a:off x="3466042" y="3387830"/>
                    <a:ext cx="1976574" cy="338554"/>
                  </a:xfrm>
                  <a:prstGeom prst="rect">
                    <a:avLst/>
                  </a:prstGeom>
                  <a:noFill/>
                </p:spPr>
                <p:txBody>
                  <a:bodyPr wrap="square" rtlCol="0">
                    <a:spAutoFit/>
                  </a:bodyPr>
                  <a:lstStyle/>
                  <a:p>
                    <a:pPr algn="ctr"/>
                    <a:r>
                      <a:rPr lang="en-GB" sz="1600" b="1" dirty="0"/>
                      <a:t>Main sequence star</a:t>
                    </a:r>
                  </a:p>
                </p:txBody>
              </p:sp>
              <p:sp>
                <p:nvSpPr>
                  <p:cNvPr id="20" name="TextBox 19">
                    <a:extLst>
                      <a:ext uri="{FF2B5EF4-FFF2-40B4-BE49-F238E27FC236}">
                        <a16:creationId xmlns:a16="http://schemas.microsoft.com/office/drawing/2014/main" id="{E8602A34-5EF0-4EC6-967B-EB8341FBF830}"/>
                      </a:ext>
                    </a:extLst>
                  </p:cNvPr>
                  <p:cNvSpPr txBox="1"/>
                  <p:nvPr/>
                </p:nvSpPr>
                <p:spPr>
                  <a:xfrm>
                    <a:off x="827584" y="4137402"/>
                    <a:ext cx="2016224" cy="338554"/>
                  </a:xfrm>
                  <a:prstGeom prst="rect">
                    <a:avLst/>
                  </a:prstGeom>
                  <a:noFill/>
                </p:spPr>
                <p:txBody>
                  <a:bodyPr wrap="square" rtlCol="0">
                    <a:spAutoFit/>
                  </a:bodyPr>
                  <a:lstStyle/>
                  <a:p>
                    <a:pPr algn="ctr"/>
                    <a:r>
                      <a:rPr lang="en-GB" sz="1600" b="1" dirty="0"/>
                      <a:t>Red Giant</a:t>
                    </a:r>
                  </a:p>
                </p:txBody>
              </p:sp>
              <p:sp>
                <p:nvSpPr>
                  <p:cNvPr id="21" name="TextBox 20">
                    <a:extLst>
                      <a:ext uri="{FF2B5EF4-FFF2-40B4-BE49-F238E27FC236}">
                        <a16:creationId xmlns:a16="http://schemas.microsoft.com/office/drawing/2014/main" id="{FFBCC243-D136-4019-9DDB-C148CCB5CC52}"/>
                      </a:ext>
                    </a:extLst>
                  </p:cNvPr>
                  <p:cNvSpPr txBox="1"/>
                  <p:nvPr/>
                </p:nvSpPr>
                <p:spPr>
                  <a:xfrm>
                    <a:off x="827584" y="4929032"/>
                    <a:ext cx="2002920" cy="338554"/>
                  </a:xfrm>
                  <a:prstGeom prst="rect">
                    <a:avLst/>
                  </a:prstGeom>
                  <a:noFill/>
                </p:spPr>
                <p:txBody>
                  <a:bodyPr wrap="square" rtlCol="0">
                    <a:spAutoFit/>
                  </a:bodyPr>
                  <a:lstStyle/>
                  <a:p>
                    <a:pPr algn="ctr"/>
                    <a:r>
                      <a:rPr lang="en-GB" sz="1600" b="1" dirty="0"/>
                      <a:t>White dwarf</a:t>
                    </a:r>
                  </a:p>
                </p:txBody>
              </p:sp>
              <p:sp>
                <p:nvSpPr>
                  <p:cNvPr id="22" name="TextBox 21">
                    <a:extLst>
                      <a:ext uri="{FF2B5EF4-FFF2-40B4-BE49-F238E27FC236}">
                        <a16:creationId xmlns:a16="http://schemas.microsoft.com/office/drawing/2014/main" id="{D1907DB4-95BA-4FD9-AC41-B041C29CF7EE}"/>
                      </a:ext>
                    </a:extLst>
                  </p:cNvPr>
                  <p:cNvSpPr txBox="1"/>
                  <p:nvPr/>
                </p:nvSpPr>
                <p:spPr>
                  <a:xfrm>
                    <a:off x="1200796" y="5756603"/>
                    <a:ext cx="1224136" cy="338554"/>
                  </a:xfrm>
                  <a:prstGeom prst="rect">
                    <a:avLst/>
                  </a:prstGeom>
                  <a:noFill/>
                </p:spPr>
                <p:txBody>
                  <a:bodyPr wrap="square" rtlCol="0">
                    <a:spAutoFit/>
                  </a:bodyPr>
                  <a:lstStyle/>
                  <a:p>
                    <a:pPr algn="ctr"/>
                    <a:r>
                      <a:rPr lang="en-GB" sz="1600" b="1" dirty="0"/>
                      <a:t>Black dwarf</a:t>
                    </a:r>
                  </a:p>
                </p:txBody>
              </p:sp>
              <p:sp>
                <p:nvSpPr>
                  <p:cNvPr id="23" name="TextBox 22">
                    <a:extLst>
                      <a:ext uri="{FF2B5EF4-FFF2-40B4-BE49-F238E27FC236}">
                        <a16:creationId xmlns:a16="http://schemas.microsoft.com/office/drawing/2014/main" id="{76859851-1FC2-49CF-8AED-A58F23EF99AD}"/>
                      </a:ext>
                    </a:extLst>
                  </p:cNvPr>
                  <p:cNvSpPr txBox="1"/>
                  <p:nvPr/>
                </p:nvSpPr>
                <p:spPr>
                  <a:xfrm>
                    <a:off x="5148064" y="4137402"/>
                    <a:ext cx="1584176" cy="338554"/>
                  </a:xfrm>
                  <a:prstGeom prst="rect">
                    <a:avLst/>
                  </a:prstGeom>
                  <a:noFill/>
                </p:spPr>
                <p:txBody>
                  <a:bodyPr wrap="square" rtlCol="0">
                    <a:spAutoFit/>
                  </a:bodyPr>
                  <a:lstStyle/>
                  <a:p>
                    <a:pPr algn="ctr"/>
                    <a:r>
                      <a:rPr lang="en-GB" sz="1600" b="1" dirty="0"/>
                      <a:t>Red super giant</a:t>
                    </a:r>
                  </a:p>
                </p:txBody>
              </p:sp>
              <p:sp>
                <p:nvSpPr>
                  <p:cNvPr id="24" name="TextBox 23">
                    <a:extLst>
                      <a:ext uri="{FF2B5EF4-FFF2-40B4-BE49-F238E27FC236}">
                        <a16:creationId xmlns:a16="http://schemas.microsoft.com/office/drawing/2014/main" id="{DA5263F9-4DD6-47A6-81C6-9D123B4310DA}"/>
                      </a:ext>
                    </a:extLst>
                  </p:cNvPr>
                  <p:cNvSpPr txBox="1"/>
                  <p:nvPr/>
                </p:nvSpPr>
                <p:spPr>
                  <a:xfrm>
                    <a:off x="5364088" y="4929032"/>
                    <a:ext cx="1368152" cy="338554"/>
                  </a:xfrm>
                  <a:prstGeom prst="rect">
                    <a:avLst/>
                  </a:prstGeom>
                  <a:noFill/>
                </p:spPr>
                <p:txBody>
                  <a:bodyPr wrap="square" rtlCol="0">
                    <a:spAutoFit/>
                  </a:bodyPr>
                  <a:lstStyle/>
                  <a:p>
                    <a:pPr algn="ctr"/>
                    <a:r>
                      <a:rPr lang="en-GB" sz="1600" b="1" dirty="0"/>
                      <a:t>Supernova</a:t>
                    </a:r>
                  </a:p>
                </p:txBody>
              </p:sp>
              <p:sp>
                <p:nvSpPr>
                  <p:cNvPr id="25" name="TextBox 24">
                    <a:extLst>
                      <a:ext uri="{FF2B5EF4-FFF2-40B4-BE49-F238E27FC236}">
                        <a16:creationId xmlns:a16="http://schemas.microsoft.com/office/drawing/2014/main" id="{7401E42C-6DCA-49AF-8B31-8147211FC988}"/>
                      </a:ext>
                    </a:extLst>
                  </p:cNvPr>
                  <p:cNvSpPr txBox="1"/>
                  <p:nvPr/>
                </p:nvSpPr>
                <p:spPr>
                  <a:xfrm>
                    <a:off x="3498122" y="5751958"/>
                    <a:ext cx="2015210" cy="338554"/>
                  </a:xfrm>
                  <a:prstGeom prst="rect">
                    <a:avLst/>
                  </a:prstGeom>
                  <a:noFill/>
                </p:spPr>
                <p:txBody>
                  <a:bodyPr wrap="square" rtlCol="0">
                    <a:spAutoFit/>
                  </a:bodyPr>
                  <a:lstStyle/>
                  <a:p>
                    <a:pPr algn="ctr"/>
                    <a:r>
                      <a:rPr lang="en-GB" sz="1600" b="1" dirty="0"/>
                      <a:t>Neutron star</a:t>
                    </a:r>
                  </a:p>
                </p:txBody>
              </p:sp>
              <p:sp>
                <p:nvSpPr>
                  <p:cNvPr id="26" name="TextBox 25">
                    <a:extLst>
                      <a:ext uri="{FF2B5EF4-FFF2-40B4-BE49-F238E27FC236}">
                        <a16:creationId xmlns:a16="http://schemas.microsoft.com/office/drawing/2014/main" id="{B87BB16C-6140-4F4E-83FD-C8D5D12F7D3D}"/>
                      </a:ext>
                    </a:extLst>
                  </p:cNvPr>
                  <p:cNvSpPr txBox="1"/>
                  <p:nvPr/>
                </p:nvSpPr>
                <p:spPr>
                  <a:xfrm>
                    <a:off x="6732240" y="5739444"/>
                    <a:ext cx="1224136" cy="338554"/>
                  </a:xfrm>
                  <a:prstGeom prst="rect">
                    <a:avLst/>
                  </a:prstGeom>
                  <a:noFill/>
                </p:spPr>
                <p:txBody>
                  <a:bodyPr wrap="square" rtlCol="0">
                    <a:spAutoFit/>
                  </a:bodyPr>
                  <a:lstStyle/>
                  <a:p>
                    <a:pPr algn="ctr"/>
                    <a:r>
                      <a:rPr lang="en-GB" sz="1600" b="1" dirty="0"/>
                      <a:t>Black hole</a:t>
                    </a:r>
                  </a:p>
                </p:txBody>
              </p:sp>
              <p:sp>
                <p:nvSpPr>
                  <p:cNvPr id="31" name="Arrow: Down 30">
                    <a:extLst>
                      <a:ext uri="{FF2B5EF4-FFF2-40B4-BE49-F238E27FC236}">
                        <a16:creationId xmlns:a16="http://schemas.microsoft.com/office/drawing/2014/main" id="{A35428BE-910C-4E55-8CDF-FBF8BC054739}"/>
                      </a:ext>
                    </a:extLst>
                  </p:cNvPr>
                  <p:cNvSpPr/>
                  <p:nvPr/>
                </p:nvSpPr>
                <p:spPr>
                  <a:xfrm>
                    <a:off x="4336658" y="2318335"/>
                    <a:ext cx="235342" cy="179025"/>
                  </a:xfrm>
                  <a:prstGeom prst="down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32" name="Arrow: Down 31">
                    <a:extLst>
                      <a:ext uri="{FF2B5EF4-FFF2-40B4-BE49-F238E27FC236}">
                        <a16:creationId xmlns:a16="http://schemas.microsoft.com/office/drawing/2014/main" id="{2A490053-F9D2-4F3C-A73C-5E97E5DB1AE9}"/>
                      </a:ext>
                    </a:extLst>
                  </p:cNvPr>
                  <p:cNvSpPr/>
                  <p:nvPr/>
                </p:nvSpPr>
                <p:spPr>
                  <a:xfrm>
                    <a:off x="4391980" y="3131036"/>
                    <a:ext cx="130174" cy="180020"/>
                  </a:xfrm>
                  <a:prstGeom prst="down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cxnSp>
                <p:nvCxnSpPr>
                  <p:cNvPr id="34" name="Straight Connector 33">
                    <a:extLst>
                      <a:ext uri="{FF2B5EF4-FFF2-40B4-BE49-F238E27FC236}">
                        <a16:creationId xmlns:a16="http://schemas.microsoft.com/office/drawing/2014/main" id="{DF6B3F06-E078-4B78-B541-DD7D010C5ED3}"/>
                      </a:ext>
                    </a:extLst>
                  </p:cNvPr>
                  <p:cNvCxnSpPr/>
                  <p:nvPr/>
                </p:nvCxnSpPr>
                <p:spPr>
                  <a:xfrm>
                    <a:off x="1799692" y="4005064"/>
                    <a:ext cx="4248472" cy="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6DE111E8-1BB9-4B6F-9FD0-75743E021662}"/>
                      </a:ext>
                    </a:extLst>
                  </p:cNvPr>
                  <p:cNvCxnSpPr>
                    <a:stCxn id="11" idx="2"/>
                  </p:cNvCxnSpPr>
                  <p:nvPr/>
                </p:nvCxnSpPr>
                <p:spPr>
                  <a:xfrm flipH="1">
                    <a:off x="4454329" y="3778778"/>
                    <a:ext cx="1013" cy="22628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F86E790-DEF0-42E5-BE08-A1578BC39490}"/>
                      </a:ext>
                    </a:extLst>
                  </p:cNvPr>
                  <p:cNvCxnSpPr>
                    <a:cxnSpLocks/>
                    <a:stCxn id="13" idx="2"/>
                    <a:endCxn id="21" idx="0"/>
                  </p:cNvCxnSpPr>
                  <p:nvPr/>
                </p:nvCxnSpPr>
                <p:spPr>
                  <a:xfrm>
                    <a:off x="1822392" y="4497442"/>
                    <a:ext cx="6652" cy="43159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4C546FD-14F2-4C60-9C80-1D9DFE7BFEC1}"/>
                      </a:ext>
                    </a:extLst>
                  </p:cNvPr>
                  <p:cNvCxnSpPr>
                    <a:cxnSpLocks/>
                    <a:endCxn id="24" idx="0"/>
                  </p:cNvCxnSpPr>
                  <p:nvPr/>
                </p:nvCxnSpPr>
                <p:spPr>
                  <a:xfrm>
                    <a:off x="6048164" y="4497442"/>
                    <a:ext cx="0" cy="43159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8BDD8131-D200-4A26-AF38-0A44200F366A}"/>
                      </a:ext>
                    </a:extLst>
                  </p:cNvPr>
                  <p:cNvCxnSpPr>
                    <a:cxnSpLocks/>
                  </p:cNvCxnSpPr>
                  <p:nvPr/>
                </p:nvCxnSpPr>
                <p:spPr>
                  <a:xfrm>
                    <a:off x="4500320" y="5535352"/>
                    <a:ext cx="2952000" cy="0"/>
                  </a:xfrm>
                  <a:prstGeom prst="line">
                    <a:avLst/>
                  </a:prstGeom>
                  <a:ln w="25400"/>
                </p:spPr>
                <p:style>
                  <a:lnRef idx="1">
                    <a:schemeClr val="accent6"/>
                  </a:lnRef>
                  <a:fillRef idx="0">
                    <a:schemeClr val="accent6"/>
                  </a:fillRef>
                  <a:effectRef idx="0">
                    <a:schemeClr val="accent6"/>
                  </a:effectRef>
                  <a:fontRef idx="minor">
                    <a:schemeClr val="tx1"/>
                  </a:fontRef>
                </p:style>
              </p:cxnSp>
              <p:cxnSp>
                <p:nvCxnSpPr>
                  <p:cNvPr id="63" name="Straight Connector 62">
                    <a:extLst>
                      <a:ext uri="{FF2B5EF4-FFF2-40B4-BE49-F238E27FC236}">
                        <a16:creationId xmlns:a16="http://schemas.microsoft.com/office/drawing/2014/main" id="{228F7910-5BA4-4259-BBD9-DC08E45CBF12}"/>
                      </a:ext>
                    </a:extLst>
                  </p:cNvPr>
                  <p:cNvCxnSpPr/>
                  <p:nvPr/>
                </p:nvCxnSpPr>
                <p:spPr>
                  <a:xfrm>
                    <a:off x="6048164" y="5289072"/>
                    <a:ext cx="0" cy="23376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343D3C11-70B9-4CE9-91AF-E9E44B6F39D7}"/>
                      </a:ext>
                    </a:extLst>
                  </p:cNvPr>
                  <p:cNvCxnSpPr>
                    <a:cxnSpLocks/>
                    <a:endCxn id="25" idx="0"/>
                  </p:cNvCxnSpPr>
                  <p:nvPr/>
                </p:nvCxnSpPr>
                <p:spPr>
                  <a:xfrm flipH="1">
                    <a:off x="4505726" y="5535352"/>
                    <a:ext cx="0" cy="21600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B3FC1BB6-2753-426F-9EF1-D7B191E4B66D}"/>
                      </a:ext>
                    </a:extLst>
                  </p:cNvPr>
                  <p:cNvCxnSpPr/>
                  <p:nvPr/>
                </p:nvCxnSpPr>
                <p:spPr>
                  <a:xfrm>
                    <a:off x="7452320" y="5522838"/>
                    <a:ext cx="0" cy="207634"/>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grpSp>
          </p:grpSp>
          <p:cxnSp>
            <p:nvCxnSpPr>
              <p:cNvPr id="41" name="Straight Connector 40">
                <a:extLst>
                  <a:ext uri="{FF2B5EF4-FFF2-40B4-BE49-F238E27FC236}">
                    <a16:creationId xmlns:a16="http://schemas.microsoft.com/office/drawing/2014/main" id="{F4D77F94-44F9-4BE3-9A13-8380D5C862A8}"/>
                  </a:ext>
                </a:extLst>
              </p:cNvPr>
              <p:cNvCxnSpPr>
                <a:endCxn id="13" idx="0"/>
              </p:cNvCxnSpPr>
              <p:nvPr/>
            </p:nvCxnSpPr>
            <p:spPr>
              <a:xfrm>
                <a:off x="1822392" y="4005064"/>
                <a:ext cx="0" cy="13233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2069FEB9-1D4A-46E9-A44A-263853215992}"/>
                  </a:ext>
                </a:extLst>
              </p:cNvPr>
              <p:cNvCxnSpPr/>
              <p:nvPr/>
            </p:nvCxnSpPr>
            <p:spPr>
              <a:xfrm>
                <a:off x="6048164" y="4005064"/>
                <a:ext cx="0" cy="132338"/>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grpSp>
      </p:grpSp>
      <p:sp>
        <p:nvSpPr>
          <p:cNvPr id="68" name="TextBox 67">
            <a:extLst>
              <a:ext uri="{FF2B5EF4-FFF2-40B4-BE49-F238E27FC236}">
                <a16:creationId xmlns:a16="http://schemas.microsoft.com/office/drawing/2014/main" id="{4F1C9906-656C-44CA-9D7D-23A5CF77A251}"/>
              </a:ext>
            </a:extLst>
          </p:cNvPr>
          <p:cNvSpPr txBox="1"/>
          <p:nvPr/>
        </p:nvSpPr>
        <p:spPr>
          <a:xfrm>
            <a:off x="1489502" y="1361054"/>
            <a:ext cx="1739091" cy="2246769"/>
          </a:xfrm>
          <a:prstGeom prst="rect">
            <a:avLst/>
          </a:prstGeom>
          <a:noFill/>
          <a:ln w="25400">
            <a:solidFill>
              <a:schemeClr val="accent6">
                <a:lumMod val="75000"/>
              </a:schemeClr>
            </a:solidFill>
          </a:ln>
        </p:spPr>
        <p:txBody>
          <a:bodyPr wrap="square" rtlCol="0">
            <a:spAutoFit/>
          </a:bodyPr>
          <a:lstStyle/>
          <a:p>
            <a:pPr algn="ctr"/>
            <a:r>
              <a:rPr lang="en-GB" sz="2000" b="1" dirty="0"/>
              <a:t>Small stars live a lot longer than massive stars as they use up their fuel more slowly.</a:t>
            </a:r>
          </a:p>
        </p:txBody>
      </p:sp>
      <p:sp>
        <p:nvSpPr>
          <p:cNvPr id="69" name="TextBox 68">
            <a:extLst>
              <a:ext uri="{FF2B5EF4-FFF2-40B4-BE49-F238E27FC236}">
                <a16:creationId xmlns:a16="http://schemas.microsoft.com/office/drawing/2014/main" id="{F35D77E2-6D2C-4243-9F69-1C354A309F76}"/>
              </a:ext>
            </a:extLst>
          </p:cNvPr>
          <p:cNvSpPr txBox="1"/>
          <p:nvPr/>
        </p:nvSpPr>
        <p:spPr>
          <a:xfrm>
            <a:off x="5665966" y="1333799"/>
            <a:ext cx="2148307" cy="2246769"/>
          </a:xfrm>
          <a:prstGeom prst="rect">
            <a:avLst/>
          </a:prstGeom>
          <a:noFill/>
          <a:ln w="25400">
            <a:solidFill>
              <a:schemeClr val="accent6">
                <a:lumMod val="75000"/>
              </a:schemeClr>
            </a:solidFill>
          </a:ln>
        </p:spPr>
        <p:txBody>
          <a:bodyPr wrap="square" rtlCol="0">
            <a:spAutoFit/>
          </a:bodyPr>
          <a:lstStyle/>
          <a:p>
            <a:pPr algn="ctr"/>
            <a:r>
              <a:rPr lang="en-GB" sz="2000" b="1" dirty="0"/>
              <a:t>The Sun will be a main sequence star for 20 billion years. Massive stars can last less than a million years.</a:t>
            </a:r>
          </a:p>
        </p:txBody>
      </p:sp>
    </p:spTree>
    <p:extLst>
      <p:ext uri="{BB962C8B-B14F-4D97-AF65-F5344CB8AC3E}">
        <p14:creationId xmlns:p14="http://schemas.microsoft.com/office/powerpoint/2010/main" val="229339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lumMod val="75000"/>
                  </a:schemeClr>
                </a:solidFill>
              </a:rPr>
              <a:t>							Stars and the elements</a:t>
            </a:r>
            <a:endParaRPr lang="en-GB" sz="2400" b="1" dirty="0">
              <a:solidFill>
                <a:schemeClr val="accent6">
                  <a:lumMod val="75000"/>
                </a:schemeClr>
              </a:solidFill>
            </a:endParaRPr>
          </a:p>
        </p:txBody>
      </p:sp>
      <p:sp>
        <p:nvSpPr>
          <p:cNvPr id="3" name="TextBox 2">
            <a:extLst>
              <a:ext uri="{FF2B5EF4-FFF2-40B4-BE49-F238E27FC236}">
                <a16:creationId xmlns:a16="http://schemas.microsoft.com/office/drawing/2014/main" id="{10CDE4FA-56C3-4A72-AB5B-736861D28B13}"/>
              </a:ext>
            </a:extLst>
          </p:cNvPr>
          <p:cNvSpPr txBox="1"/>
          <p:nvPr/>
        </p:nvSpPr>
        <p:spPr>
          <a:xfrm>
            <a:off x="440448" y="891992"/>
            <a:ext cx="8308016" cy="3477875"/>
          </a:xfrm>
          <a:prstGeom prst="rect">
            <a:avLst/>
          </a:prstGeom>
          <a:noFill/>
          <a:ln w="25400">
            <a:solidFill>
              <a:schemeClr val="accent6">
                <a:lumMod val="75000"/>
              </a:schemeClr>
            </a:solidFill>
          </a:ln>
        </p:spPr>
        <p:txBody>
          <a:bodyPr wrap="square" rtlCol="0">
            <a:spAutoFit/>
          </a:bodyPr>
          <a:lstStyle/>
          <a:p>
            <a:pPr marL="342900" indent="-342900">
              <a:buFont typeface="Arial" panose="020B0604020202020204" pitchFamily="34" charset="0"/>
              <a:buChar char="•"/>
            </a:pPr>
            <a:r>
              <a:rPr lang="en-GB" sz="2000" b="1" dirty="0">
                <a:solidFill>
                  <a:schemeClr val="accent6">
                    <a:lumMod val="75000"/>
                  </a:schemeClr>
                </a:solidFill>
              </a:rPr>
              <a:t>Fusion processes </a:t>
            </a:r>
            <a:r>
              <a:rPr lang="en-GB" sz="2000" dirty="0"/>
              <a:t>in stars produce </a:t>
            </a:r>
            <a:r>
              <a:rPr lang="en-GB" sz="2000" b="1" dirty="0">
                <a:solidFill>
                  <a:schemeClr val="accent6">
                    <a:lumMod val="75000"/>
                  </a:schemeClr>
                </a:solidFill>
              </a:rPr>
              <a:t>all</a:t>
            </a:r>
            <a:r>
              <a:rPr lang="en-GB" sz="2000" dirty="0"/>
              <a:t> of the naturally occurring elements. </a:t>
            </a:r>
          </a:p>
          <a:p>
            <a:pPr marL="342900" indent="-342900">
              <a:buFont typeface="Arial" panose="020B0604020202020204" pitchFamily="34" charset="0"/>
              <a:buChar char="•"/>
            </a:pPr>
            <a:r>
              <a:rPr lang="en-GB" sz="2000" b="1" dirty="0">
                <a:solidFill>
                  <a:schemeClr val="accent6">
                    <a:lumMod val="75000"/>
                  </a:schemeClr>
                </a:solidFill>
              </a:rPr>
              <a:t>Elements heavier </a:t>
            </a:r>
            <a:r>
              <a:rPr lang="en-GB" sz="2000" dirty="0"/>
              <a:t>than iron are produced in a </a:t>
            </a:r>
            <a:r>
              <a:rPr lang="en-GB" sz="2000" b="1" dirty="0">
                <a:solidFill>
                  <a:schemeClr val="accent6">
                    <a:lumMod val="75000"/>
                  </a:schemeClr>
                </a:solidFill>
              </a:rPr>
              <a:t>supernova</a:t>
            </a:r>
            <a:r>
              <a:rPr lang="en-GB" sz="2000" dirty="0"/>
              <a:t>.</a:t>
            </a:r>
          </a:p>
          <a:p>
            <a:pPr marL="342900" indent="-342900">
              <a:buFont typeface="Arial" panose="020B0604020202020204" pitchFamily="34" charset="0"/>
              <a:buChar char="•"/>
            </a:pPr>
            <a:r>
              <a:rPr lang="en-GB" sz="2000" dirty="0"/>
              <a:t>The </a:t>
            </a:r>
            <a:r>
              <a:rPr lang="en-GB" sz="2000" b="1" dirty="0">
                <a:solidFill>
                  <a:schemeClr val="accent6">
                    <a:lumMod val="75000"/>
                  </a:schemeClr>
                </a:solidFill>
              </a:rPr>
              <a:t>explosion of a massive star </a:t>
            </a:r>
            <a:r>
              <a:rPr lang="en-GB" sz="2000" dirty="0"/>
              <a:t>(supernova) distributes the elements throughout the </a:t>
            </a:r>
            <a:r>
              <a:rPr lang="en-GB" sz="2000" b="1" dirty="0">
                <a:solidFill>
                  <a:schemeClr val="accent6">
                    <a:lumMod val="75000"/>
                  </a:schemeClr>
                </a:solidFill>
              </a:rPr>
              <a:t>universe</a:t>
            </a:r>
            <a:r>
              <a:rPr lang="en-GB" sz="2000" dirty="0"/>
              <a:t>.</a:t>
            </a:r>
          </a:p>
          <a:p>
            <a:endParaRPr lang="en-GB" sz="2000" dirty="0"/>
          </a:p>
          <a:p>
            <a:r>
              <a:rPr lang="en-GB" sz="2000" b="1" u="sng" dirty="0"/>
              <a:t>How fusion processes lead to to the formation of new elements:</a:t>
            </a:r>
          </a:p>
          <a:p>
            <a:r>
              <a:rPr lang="en-GB" sz="2000" dirty="0"/>
              <a:t>Stars begin with </a:t>
            </a:r>
            <a:r>
              <a:rPr lang="en-GB" sz="2000" b="1" dirty="0">
                <a:solidFill>
                  <a:schemeClr val="accent6">
                    <a:lumMod val="75000"/>
                  </a:schemeClr>
                </a:solidFill>
              </a:rPr>
              <a:t>hydrogen</a:t>
            </a:r>
            <a:r>
              <a:rPr lang="en-GB" sz="2000" dirty="0"/>
              <a:t> as their “fuel”. Hydrogen nuclei join to becomes </a:t>
            </a:r>
            <a:r>
              <a:rPr lang="en-GB" sz="2000" b="1" dirty="0">
                <a:solidFill>
                  <a:schemeClr val="accent6">
                    <a:lumMod val="75000"/>
                  </a:schemeClr>
                </a:solidFill>
              </a:rPr>
              <a:t>helium</a:t>
            </a:r>
            <a:r>
              <a:rPr lang="en-GB" sz="2000" dirty="0"/>
              <a:t> during the </a:t>
            </a:r>
            <a:r>
              <a:rPr lang="en-GB" sz="2000" b="1" dirty="0">
                <a:solidFill>
                  <a:schemeClr val="accent6">
                    <a:lumMod val="75000"/>
                  </a:schemeClr>
                </a:solidFill>
              </a:rPr>
              <a:t>fusion</a:t>
            </a:r>
            <a:r>
              <a:rPr lang="en-GB" sz="2000" dirty="0"/>
              <a:t> process. Further fusion processes continue to create larger elements (as big as </a:t>
            </a:r>
            <a:r>
              <a:rPr lang="en-GB" sz="2000" b="1" dirty="0">
                <a:solidFill>
                  <a:schemeClr val="accent6">
                    <a:lumMod val="75000"/>
                  </a:schemeClr>
                </a:solidFill>
              </a:rPr>
              <a:t>iron</a:t>
            </a:r>
            <a:r>
              <a:rPr lang="en-GB" sz="2000" dirty="0"/>
              <a:t> on the periodic table).</a:t>
            </a:r>
          </a:p>
          <a:p>
            <a:r>
              <a:rPr lang="en-GB" sz="2000" dirty="0"/>
              <a:t>Elements bigger than iron are produced in a </a:t>
            </a:r>
            <a:r>
              <a:rPr lang="en-GB" sz="2000" b="1" dirty="0">
                <a:solidFill>
                  <a:schemeClr val="accent6">
                    <a:lumMod val="75000"/>
                  </a:schemeClr>
                </a:solidFill>
              </a:rPr>
              <a:t>supernova</a:t>
            </a:r>
            <a:r>
              <a:rPr lang="en-GB" sz="2000" dirty="0"/>
              <a:t>. The supernovae distribute elements throughout the Universe.</a:t>
            </a:r>
          </a:p>
        </p:txBody>
      </p:sp>
      <p:grpSp>
        <p:nvGrpSpPr>
          <p:cNvPr id="4" name="Group 3"/>
          <p:cNvGrpSpPr/>
          <p:nvPr/>
        </p:nvGrpSpPr>
        <p:grpSpPr>
          <a:xfrm>
            <a:off x="1905310" y="4725144"/>
            <a:ext cx="5378292" cy="1656184"/>
            <a:chOff x="394490" y="4221088"/>
            <a:chExt cx="5378292" cy="1656184"/>
          </a:xfrm>
        </p:grpSpPr>
        <p:pic>
          <p:nvPicPr>
            <p:cNvPr id="7" name="Picture 6">
              <a:extLst>
                <a:ext uri="{FF2B5EF4-FFF2-40B4-BE49-F238E27FC236}">
                  <a16:creationId xmlns:a16="http://schemas.microsoft.com/office/drawing/2014/main" id="{F20EA457-2E5F-4638-8BCE-5ACFD86C5005}"/>
                </a:ext>
              </a:extLst>
            </p:cNvPr>
            <p:cNvPicPr>
              <a:picLocks noChangeAspect="1"/>
            </p:cNvPicPr>
            <p:nvPr/>
          </p:nvPicPr>
          <p:blipFill rotWithShape="1">
            <a:blip r:embed="rId3">
              <a:extLst>
                <a:ext uri="{28A0092B-C50C-407E-A947-70E740481C1C}">
                  <a14:useLocalDpi xmlns:a14="http://schemas.microsoft.com/office/drawing/2010/main" val="0"/>
                </a:ext>
              </a:extLst>
            </a:blip>
            <a:srcRect t="22018" b="4583"/>
            <a:stretch/>
          </p:blipFill>
          <p:spPr>
            <a:xfrm>
              <a:off x="394490" y="4221088"/>
              <a:ext cx="5378292" cy="1656184"/>
            </a:xfrm>
            <a:prstGeom prst="rect">
              <a:avLst/>
            </a:prstGeom>
          </p:spPr>
        </p:pic>
        <p:pic>
          <p:nvPicPr>
            <p:cNvPr id="10" name="Picture 9">
              <a:extLst>
                <a:ext uri="{FF2B5EF4-FFF2-40B4-BE49-F238E27FC236}">
                  <a16:creationId xmlns:a16="http://schemas.microsoft.com/office/drawing/2014/main" id="{A52206BC-1C60-45E1-B68D-202F1532D3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1560" y="4221088"/>
              <a:ext cx="326344" cy="187648"/>
            </a:xfrm>
            <a:prstGeom prst="rect">
              <a:avLst/>
            </a:prstGeom>
          </p:spPr>
        </p:pic>
        <p:pic>
          <p:nvPicPr>
            <p:cNvPr id="11" name="Picture 10">
              <a:extLst>
                <a:ext uri="{FF2B5EF4-FFF2-40B4-BE49-F238E27FC236}">
                  <a16:creationId xmlns:a16="http://schemas.microsoft.com/office/drawing/2014/main" id="{2BF0A032-33D5-4649-AF5A-126CD182D8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1270" y="5013176"/>
              <a:ext cx="284306" cy="194842"/>
            </a:xfrm>
            <a:prstGeom prst="rect">
              <a:avLst/>
            </a:prstGeom>
          </p:spPr>
        </p:pic>
      </p:grpSp>
    </p:spTree>
    <p:extLst>
      <p:ext uri="{BB962C8B-B14F-4D97-AF65-F5344CB8AC3E}">
        <p14:creationId xmlns:p14="http://schemas.microsoft.com/office/powerpoint/2010/main" val="6038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5" name="TextBox 4">
            <a:extLst>
              <a:ext uri="{FF2B5EF4-FFF2-40B4-BE49-F238E27FC236}">
                <a16:creationId xmlns:a16="http://schemas.microsoft.com/office/drawing/2014/main" id="{C15E985B-AD00-0C4D-8C8C-AFC94711FB22}"/>
              </a:ext>
            </a:extLst>
          </p:cNvPr>
          <p:cNvSpPr txBox="1"/>
          <p:nvPr/>
        </p:nvSpPr>
        <p:spPr>
          <a:xfrm>
            <a:off x="0" y="980728"/>
            <a:ext cx="4716016" cy="3939540"/>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pPr lvl="0"/>
            <a:r>
              <a:rPr lang="en-GB" sz="3200" b="1" dirty="0">
                <a:solidFill>
                  <a:prstClr val="black">
                    <a:lumMod val="50000"/>
                    <a:lumOff val="50000"/>
                  </a:prstClr>
                </a:solidFill>
              </a:rPr>
              <a:t>Part 2</a:t>
            </a:r>
          </a:p>
          <a:p>
            <a:pPr lvl="0"/>
            <a:endParaRPr lang="en-GB" sz="3200" b="1" dirty="0">
              <a:solidFill>
                <a:prstClr val="black">
                  <a:lumMod val="50000"/>
                  <a:lumOff val="50000"/>
                </a:prstClr>
              </a:solidFill>
            </a:endParaRPr>
          </a:p>
          <a:p>
            <a:pPr marL="457200" lvl="0" indent="-457200">
              <a:buFont typeface="Arial" panose="020B0604020202020204" pitchFamily="34" charset="0"/>
              <a:buChar char="•"/>
            </a:pPr>
            <a:r>
              <a:rPr lang="en-GB" sz="2000" b="1" dirty="0">
                <a:solidFill>
                  <a:prstClr val="black">
                    <a:lumMod val="50000"/>
                    <a:lumOff val="50000"/>
                  </a:prstClr>
                </a:solidFill>
              </a:rPr>
              <a:t>Origin of the universe</a:t>
            </a:r>
          </a:p>
          <a:p>
            <a:pPr marL="457200" lvl="0" indent="-457200">
              <a:buFont typeface="Arial" panose="020B0604020202020204" pitchFamily="34" charset="0"/>
              <a:buChar char="•"/>
            </a:pPr>
            <a:r>
              <a:rPr lang="en-GB" sz="2000" b="1" dirty="0">
                <a:solidFill>
                  <a:prstClr val="black">
                    <a:lumMod val="50000"/>
                    <a:lumOff val="50000"/>
                  </a:prstClr>
                </a:solidFill>
              </a:rPr>
              <a:t>Redshift</a:t>
            </a:r>
          </a:p>
          <a:p>
            <a:pPr marL="457200" lvl="0" indent="-457200">
              <a:buFont typeface="Arial" panose="020B0604020202020204" pitchFamily="34" charset="0"/>
              <a:buChar char="•"/>
            </a:pPr>
            <a:r>
              <a:rPr lang="en-GB" sz="2000" b="1" dirty="0">
                <a:solidFill>
                  <a:prstClr val="black">
                    <a:lumMod val="50000"/>
                    <a:lumOff val="50000"/>
                  </a:prstClr>
                </a:solidFill>
              </a:rPr>
              <a:t>Life cycle of stars</a:t>
            </a:r>
          </a:p>
        </p:txBody>
      </p:sp>
      <p:pic>
        <p:nvPicPr>
          <p:cNvPr id="7" name="Picture 6">
            <a:extLst>
              <a:ext uri="{FF2B5EF4-FFF2-40B4-BE49-F238E27FC236}">
                <a16:creationId xmlns:a16="http://schemas.microsoft.com/office/drawing/2014/main" id="{77B06173-6924-A848-BBB9-ACFA8BD8CED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114709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6093976"/>
          </a:xfrm>
          <a:prstGeom prst="rect">
            <a:avLst/>
          </a:prstGeom>
          <a:noFill/>
        </p:spPr>
        <p:txBody>
          <a:bodyPr wrap="square" rtlCol="0">
            <a:spAutoFit/>
          </a:bodyPr>
          <a:lstStyle/>
          <a:p>
            <a:r>
              <a:rPr lang="en-GB" sz="2300" dirty="0"/>
              <a:t>1.  What does the diagram suggest is happening to the Universe over</a:t>
            </a:r>
          </a:p>
          <a:p>
            <a:r>
              <a:rPr lang="en-GB" sz="2300" dirty="0"/>
              <a:t>     time? </a:t>
            </a:r>
          </a:p>
          <a:p>
            <a:endParaRPr lang="en-GB" sz="2300" b="1" dirty="0">
              <a:solidFill>
                <a:srgbClr val="00B050"/>
              </a:solidFill>
            </a:endParaRPr>
          </a:p>
          <a:p>
            <a:endParaRPr lang="en-GB" sz="2300" dirty="0"/>
          </a:p>
          <a:p>
            <a:endParaRPr lang="en-GB" sz="2300" dirty="0"/>
          </a:p>
          <a:p>
            <a:r>
              <a:rPr lang="en-GB" sz="2300" dirty="0"/>
              <a:t>2.   Describe the current theory of how the Universe began.</a:t>
            </a:r>
          </a:p>
          <a:p>
            <a:r>
              <a:rPr lang="en-GB" sz="2300" dirty="0"/>
              <a:t>       </a:t>
            </a:r>
            <a:endParaRPr lang="en-GB" sz="2000" b="1" dirty="0">
              <a:solidFill>
                <a:srgbClr val="00B050"/>
              </a:solidFill>
            </a:endParaRPr>
          </a:p>
          <a:p>
            <a:endParaRPr lang="en-GB" sz="2000" b="1" dirty="0">
              <a:solidFill>
                <a:srgbClr val="00B050"/>
              </a:solidFill>
            </a:endParaRPr>
          </a:p>
          <a:p>
            <a:r>
              <a:rPr lang="en-GB" sz="2300" dirty="0"/>
              <a:t>3.   Which colour of light has the longest wavelength?</a:t>
            </a:r>
            <a:r>
              <a:rPr lang="en-GB" sz="2400" b="1" dirty="0">
                <a:solidFill>
                  <a:srgbClr val="00B050"/>
                </a:solidFill>
              </a:rPr>
              <a:t> </a:t>
            </a:r>
          </a:p>
          <a:p>
            <a:pPr lvl="1"/>
            <a:endParaRPr lang="en-GB" sz="2400" b="1" dirty="0">
              <a:solidFill>
                <a:srgbClr val="00B050"/>
              </a:solidFill>
            </a:endParaRPr>
          </a:p>
          <a:p>
            <a:r>
              <a:rPr lang="en-GB" sz="2300" dirty="0"/>
              <a:t>4. The diagram shows the spectrum of light from a star in our galaxy.</a:t>
            </a:r>
          </a:p>
          <a:p>
            <a:pPr marL="457200" indent="-457200">
              <a:buAutoNum type="arabicPeriod" startAt="2"/>
            </a:pPr>
            <a:endParaRPr lang="en-GB" sz="2300" dirty="0"/>
          </a:p>
          <a:p>
            <a:pPr marL="457200" indent="-457200">
              <a:buAutoNum type="arabicPeriod" startAt="2"/>
            </a:pPr>
            <a:endParaRPr lang="en-GB" sz="2300" dirty="0"/>
          </a:p>
          <a:p>
            <a:endParaRPr lang="en-GB" sz="2300" dirty="0"/>
          </a:p>
          <a:p>
            <a:r>
              <a:rPr lang="en-GB" sz="2300" dirty="0"/>
              <a:t>        Copy the second box by adding the spectra you would expect from a</a:t>
            </a:r>
          </a:p>
          <a:p>
            <a:r>
              <a:rPr lang="en-GB" sz="2300" dirty="0"/>
              <a:t>        star in a distant galaxy.</a:t>
            </a:r>
          </a:p>
          <a:p>
            <a:endParaRPr lang="en-GB" sz="2300" dirty="0"/>
          </a:p>
        </p:txBody>
      </p:sp>
      <p:grpSp>
        <p:nvGrpSpPr>
          <p:cNvPr id="5" name="Group 4">
            <a:extLst>
              <a:ext uri="{FF2B5EF4-FFF2-40B4-BE49-F238E27FC236}">
                <a16:creationId xmlns:a16="http://schemas.microsoft.com/office/drawing/2014/main" id="{BB9F9321-8A15-9A40-8AD1-2AFEAB80AB18}"/>
              </a:ext>
            </a:extLst>
          </p:cNvPr>
          <p:cNvGrpSpPr/>
          <p:nvPr/>
        </p:nvGrpSpPr>
        <p:grpSpPr>
          <a:xfrm>
            <a:off x="755576" y="4797152"/>
            <a:ext cx="7287514" cy="862635"/>
            <a:chOff x="755576" y="4797152"/>
            <a:chExt cx="7287514" cy="862635"/>
          </a:xfrm>
        </p:grpSpPr>
        <p:sp>
          <p:nvSpPr>
            <p:cNvPr id="7" name="Rectangle 6">
              <a:extLst>
                <a:ext uri="{FF2B5EF4-FFF2-40B4-BE49-F238E27FC236}">
                  <a16:creationId xmlns:a16="http://schemas.microsoft.com/office/drawing/2014/main" id="{6F1FCBCA-F8EA-4510-89E9-022A4C40EFC6}"/>
                </a:ext>
              </a:extLst>
            </p:cNvPr>
            <p:cNvSpPr/>
            <p:nvPr/>
          </p:nvSpPr>
          <p:spPr>
            <a:xfrm>
              <a:off x="822656" y="4838541"/>
              <a:ext cx="2736304" cy="50405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cxnSp>
          <p:nvCxnSpPr>
            <p:cNvPr id="9" name="Straight Connector 8">
              <a:extLst>
                <a:ext uri="{FF2B5EF4-FFF2-40B4-BE49-F238E27FC236}">
                  <a16:creationId xmlns:a16="http://schemas.microsoft.com/office/drawing/2014/main" id="{589693AE-1EA8-4E15-B570-DBB7E7A0B57A}"/>
                </a:ext>
              </a:extLst>
            </p:cNvPr>
            <p:cNvCxnSpPr/>
            <p:nvPr/>
          </p:nvCxnSpPr>
          <p:spPr>
            <a:xfrm>
              <a:off x="976528" y="4835853"/>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0161352-2E11-4FFB-8D51-6D56E1D19B95}"/>
                </a:ext>
              </a:extLst>
            </p:cNvPr>
            <p:cNvCxnSpPr/>
            <p:nvPr/>
          </p:nvCxnSpPr>
          <p:spPr>
            <a:xfrm>
              <a:off x="1264560" y="4840633"/>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CC07005-DF83-4F57-9E24-72C022BB085F}"/>
                </a:ext>
              </a:extLst>
            </p:cNvPr>
            <p:cNvCxnSpPr/>
            <p:nvPr/>
          </p:nvCxnSpPr>
          <p:spPr>
            <a:xfrm>
              <a:off x="1408575" y="4835853"/>
              <a:ext cx="0" cy="504056"/>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02BF67A-FFC9-4612-9BAC-4C458E3F6257}"/>
                </a:ext>
              </a:extLst>
            </p:cNvPr>
            <p:cNvCxnSpPr/>
            <p:nvPr/>
          </p:nvCxnSpPr>
          <p:spPr>
            <a:xfrm>
              <a:off x="1048536" y="4835853"/>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8A19548-09F2-4E19-AF65-72C8030E7DE6}"/>
                </a:ext>
              </a:extLst>
            </p:cNvPr>
            <p:cNvCxnSpPr/>
            <p:nvPr/>
          </p:nvCxnSpPr>
          <p:spPr>
            <a:xfrm>
              <a:off x="2190808" y="4835853"/>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10DB29A-37BD-40CF-8D99-75FCE88792AF}"/>
                </a:ext>
              </a:extLst>
            </p:cNvPr>
            <p:cNvCxnSpPr/>
            <p:nvPr/>
          </p:nvCxnSpPr>
          <p:spPr>
            <a:xfrm>
              <a:off x="2704720" y="4835853"/>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CA49024-4463-48FD-9FEA-C06DF7E1E3A0}"/>
                </a:ext>
              </a:extLst>
            </p:cNvPr>
            <p:cNvSpPr txBox="1"/>
            <p:nvPr/>
          </p:nvSpPr>
          <p:spPr>
            <a:xfrm>
              <a:off x="3266000" y="5374007"/>
              <a:ext cx="585919" cy="276999"/>
            </a:xfrm>
            <a:prstGeom prst="rect">
              <a:avLst/>
            </a:prstGeom>
            <a:noFill/>
          </p:spPr>
          <p:txBody>
            <a:bodyPr wrap="square" rtlCol="0">
              <a:spAutoFit/>
            </a:bodyPr>
            <a:lstStyle/>
            <a:p>
              <a:r>
                <a:rPr lang="en-GB" sz="1200" dirty="0"/>
                <a:t>Red</a:t>
              </a:r>
            </a:p>
          </p:txBody>
        </p:sp>
        <p:sp>
          <p:nvSpPr>
            <p:cNvPr id="16" name="TextBox 15">
              <a:extLst>
                <a:ext uri="{FF2B5EF4-FFF2-40B4-BE49-F238E27FC236}">
                  <a16:creationId xmlns:a16="http://schemas.microsoft.com/office/drawing/2014/main" id="{6546B6AA-22CD-4DC3-A267-CD74EACAD9E1}"/>
                </a:ext>
              </a:extLst>
            </p:cNvPr>
            <p:cNvSpPr txBox="1"/>
            <p:nvPr/>
          </p:nvSpPr>
          <p:spPr>
            <a:xfrm>
              <a:off x="755576" y="5382788"/>
              <a:ext cx="585919" cy="276999"/>
            </a:xfrm>
            <a:prstGeom prst="rect">
              <a:avLst/>
            </a:prstGeom>
            <a:noFill/>
          </p:spPr>
          <p:txBody>
            <a:bodyPr wrap="square" rtlCol="0">
              <a:spAutoFit/>
            </a:bodyPr>
            <a:lstStyle/>
            <a:p>
              <a:r>
                <a:rPr lang="en-GB" sz="1200" dirty="0"/>
                <a:t>Blue</a:t>
              </a:r>
            </a:p>
          </p:txBody>
        </p:sp>
        <p:sp>
          <p:nvSpPr>
            <p:cNvPr id="17" name="Rectangle 16">
              <a:extLst>
                <a:ext uri="{FF2B5EF4-FFF2-40B4-BE49-F238E27FC236}">
                  <a16:creationId xmlns:a16="http://schemas.microsoft.com/office/drawing/2014/main" id="{FA8DF595-E9A5-4E4F-B43A-144704C5BFEA}"/>
                </a:ext>
              </a:extLst>
            </p:cNvPr>
            <p:cNvSpPr/>
            <p:nvPr/>
          </p:nvSpPr>
          <p:spPr>
            <a:xfrm>
              <a:off x="4941819" y="4797152"/>
              <a:ext cx="2808312" cy="53815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8" name="TextBox 17">
              <a:extLst>
                <a:ext uri="{FF2B5EF4-FFF2-40B4-BE49-F238E27FC236}">
                  <a16:creationId xmlns:a16="http://schemas.microsoft.com/office/drawing/2014/main" id="{CA090609-B10F-4C87-9B56-4179E777A217}"/>
                </a:ext>
              </a:extLst>
            </p:cNvPr>
            <p:cNvSpPr txBox="1"/>
            <p:nvPr/>
          </p:nvSpPr>
          <p:spPr>
            <a:xfrm>
              <a:off x="4938410" y="5374007"/>
              <a:ext cx="585919" cy="276999"/>
            </a:xfrm>
            <a:prstGeom prst="rect">
              <a:avLst/>
            </a:prstGeom>
            <a:noFill/>
          </p:spPr>
          <p:txBody>
            <a:bodyPr wrap="square" rtlCol="0">
              <a:spAutoFit/>
            </a:bodyPr>
            <a:lstStyle/>
            <a:p>
              <a:r>
                <a:rPr lang="en-GB" sz="1200" dirty="0"/>
                <a:t>Blue</a:t>
              </a:r>
            </a:p>
          </p:txBody>
        </p:sp>
        <p:sp>
          <p:nvSpPr>
            <p:cNvPr id="19" name="TextBox 18">
              <a:extLst>
                <a:ext uri="{FF2B5EF4-FFF2-40B4-BE49-F238E27FC236}">
                  <a16:creationId xmlns:a16="http://schemas.microsoft.com/office/drawing/2014/main" id="{7A55814B-C0AE-4BCD-B55F-AC5CF3C41B2E}"/>
                </a:ext>
              </a:extLst>
            </p:cNvPr>
            <p:cNvSpPr txBox="1"/>
            <p:nvPr/>
          </p:nvSpPr>
          <p:spPr>
            <a:xfrm>
              <a:off x="7457171" y="5342597"/>
              <a:ext cx="585919" cy="276999"/>
            </a:xfrm>
            <a:prstGeom prst="rect">
              <a:avLst/>
            </a:prstGeom>
            <a:noFill/>
          </p:spPr>
          <p:txBody>
            <a:bodyPr wrap="square" rtlCol="0">
              <a:spAutoFit/>
            </a:bodyPr>
            <a:lstStyle/>
            <a:p>
              <a:r>
                <a:rPr lang="en-GB" sz="1200" dirty="0"/>
                <a:t>Red</a:t>
              </a:r>
            </a:p>
          </p:txBody>
        </p:sp>
      </p:grpSp>
      <p:pic>
        <p:nvPicPr>
          <p:cNvPr id="26" name="Picture 25">
            <a:extLst>
              <a:ext uri="{FF2B5EF4-FFF2-40B4-BE49-F238E27FC236}">
                <a16:creationId xmlns:a16="http://schemas.microsoft.com/office/drawing/2014/main" id="{ECE27716-067C-D546-BAE8-7529F197B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0867" y="1078071"/>
            <a:ext cx="2664296" cy="1300661"/>
          </a:xfrm>
          <a:prstGeom prst="rect">
            <a:avLst/>
          </a:prstGeom>
        </p:spPr>
      </p:pic>
    </p:spTree>
    <p:extLst>
      <p:ext uri="{BB962C8B-B14F-4D97-AF65-F5344CB8AC3E}">
        <p14:creationId xmlns:p14="http://schemas.microsoft.com/office/powerpoint/2010/main" val="2896808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873"/>
            <a:ext cx="9241361" cy="5678478"/>
          </a:xfrm>
          <a:prstGeom prst="rect">
            <a:avLst/>
          </a:prstGeom>
          <a:noFill/>
        </p:spPr>
        <p:txBody>
          <a:bodyPr wrap="square" rtlCol="0">
            <a:spAutoFit/>
          </a:bodyPr>
          <a:lstStyle/>
          <a:p>
            <a:pPr lvl="0"/>
            <a:r>
              <a:rPr lang="en-GB" sz="2300" dirty="0">
                <a:solidFill>
                  <a:prstClr val="black"/>
                </a:solidFill>
              </a:rPr>
              <a:t>5.   The light reaching Earth from distant galaxies exhibits red shift. </a:t>
            </a:r>
          </a:p>
          <a:p>
            <a:pPr lvl="0"/>
            <a:r>
              <a:rPr lang="en-GB" sz="2300" dirty="0">
                <a:solidFill>
                  <a:prstClr val="black"/>
                </a:solidFill>
              </a:rPr>
              <a:t>      Explain why red shift occurs. </a:t>
            </a:r>
          </a:p>
          <a:p>
            <a:pPr lvl="0"/>
            <a:endParaRPr lang="en-GB" dirty="0"/>
          </a:p>
          <a:p>
            <a:pPr lvl="0"/>
            <a:endParaRPr lang="en-GB" dirty="0"/>
          </a:p>
          <a:p>
            <a:pPr lvl="0"/>
            <a:endParaRPr lang="en-GB" dirty="0"/>
          </a:p>
          <a:p>
            <a:pPr lvl="0"/>
            <a:endParaRPr lang="en-GB" dirty="0"/>
          </a:p>
          <a:p>
            <a:pPr lvl="0" algn="ctr"/>
            <a:r>
              <a:rPr lang="en-GB" dirty="0"/>
              <a:t>Galaxy A				                Galaxy B	</a:t>
            </a:r>
          </a:p>
          <a:p>
            <a:pPr lvl="0"/>
            <a:endParaRPr lang="en-GB" sz="2300" dirty="0"/>
          </a:p>
          <a:p>
            <a:r>
              <a:rPr lang="en-GB" sz="2300" dirty="0"/>
              <a:t> 6.  If galaxy A has a much bigger red shift than galaxy B, what does this</a:t>
            </a:r>
          </a:p>
          <a:p>
            <a:r>
              <a:rPr lang="en-GB" sz="2300" dirty="0"/>
              <a:t>      tell you about galaxy A? </a:t>
            </a:r>
          </a:p>
          <a:p>
            <a:endParaRPr lang="en-GB" sz="2300" dirty="0"/>
          </a:p>
          <a:p>
            <a:r>
              <a:rPr lang="en-GB" sz="2300" dirty="0"/>
              <a:t>7.   Which theory about the origin of the Universe does red shift of</a:t>
            </a:r>
          </a:p>
          <a:p>
            <a:r>
              <a:rPr lang="en-GB" sz="2300" dirty="0"/>
              <a:t>       galaxies support?</a:t>
            </a:r>
            <a:r>
              <a:rPr lang="en-GB" b="1" dirty="0">
                <a:solidFill>
                  <a:srgbClr val="00B050"/>
                </a:solidFill>
              </a:rPr>
              <a:t> </a:t>
            </a:r>
          </a:p>
          <a:p>
            <a:endParaRPr lang="en-GB" sz="2300" b="1" dirty="0">
              <a:solidFill>
                <a:srgbClr val="00B050"/>
              </a:solidFill>
            </a:endParaRPr>
          </a:p>
          <a:p>
            <a:r>
              <a:rPr lang="en-GB" sz="2300" dirty="0"/>
              <a:t>8.   Approximately how many years ago did the Universe begin? </a:t>
            </a:r>
            <a:r>
              <a:rPr lang="en-GB" sz="2000" dirty="0"/>
              <a:t>(Circle the correct answer)</a:t>
            </a:r>
          </a:p>
          <a:p>
            <a:r>
              <a:rPr lang="en-GB" sz="2300" dirty="0"/>
              <a:t>      	  14 million		14 billion	  14 trillion</a:t>
            </a:r>
          </a:p>
        </p:txBody>
      </p:sp>
      <p:pic>
        <p:nvPicPr>
          <p:cNvPr id="5" name="Picture 4">
            <a:extLst>
              <a:ext uri="{FF2B5EF4-FFF2-40B4-BE49-F238E27FC236}">
                <a16:creationId xmlns:a16="http://schemas.microsoft.com/office/drawing/2014/main" id="{DC389C22-F947-4408-88E9-7006CF6507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3484" y="1728984"/>
            <a:ext cx="1083163" cy="432048"/>
          </a:xfrm>
          <a:prstGeom prst="rect">
            <a:avLst/>
          </a:prstGeom>
        </p:spPr>
      </p:pic>
      <p:pic>
        <p:nvPicPr>
          <p:cNvPr id="7" name="Picture 6">
            <a:extLst>
              <a:ext uri="{FF2B5EF4-FFF2-40B4-BE49-F238E27FC236}">
                <a16:creationId xmlns:a16="http://schemas.microsoft.com/office/drawing/2014/main" id="{496B06C1-2C2A-49A1-8E33-2E4CEFA912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6423894" y="1519173"/>
            <a:ext cx="892298" cy="851670"/>
          </a:xfrm>
          <a:prstGeom prst="rect">
            <a:avLst/>
          </a:prstGeom>
        </p:spPr>
      </p:pic>
    </p:spTree>
    <p:extLst>
      <p:ext uri="{BB962C8B-B14F-4D97-AF65-F5344CB8AC3E}">
        <p14:creationId xmlns:p14="http://schemas.microsoft.com/office/powerpoint/2010/main" val="2523449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09331" y="681440"/>
            <a:ext cx="8994912" cy="4493538"/>
          </a:xfrm>
          <a:prstGeom prst="rect">
            <a:avLst/>
          </a:prstGeom>
          <a:noFill/>
        </p:spPr>
        <p:txBody>
          <a:bodyPr wrap="square" rtlCol="0">
            <a:spAutoFit/>
          </a:bodyPr>
          <a:lstStyle/>
          <a:p>
            <a:r>
              <a:rPr lang="en-GB" sz="2300" dirty="0"/>
              <a:t>9 . The most distant galaxies in the Universe are thought to be:</a:t>
            </a:r>
          </a:p>
          <a:p>
            <a:r>
              <a:rPr lang="en-GB" sz="1600" dirty="0"/>
              <a:t>          </a:t>
            </a:r>
            <a:r>
              <a:rPr lang="en-GB" sz="1600" b="1" dirty="0"/>
              <a:t>(tick the correct box) </a:t>
            </a:r>
            <a:endParaRPr lang="en-GB" sz="2400" b="1" dirty="0"/>
          </a:p>
          <a:p>
            <a:endParaRPr lang="en-GB" sz="1000" b="1" dirty="0"/>
          </a:p>
          <a:p>
            <a:r>
              <a:rPr lang="en-GB" sz="2300" dirty="0"/>
              <a:t>	The biggest galaxies		Accelerating</a:t>
            </a:r>
          </a:p>
          <a:p>
            <a:r>
              <a:rPr lang="en-GB" sz="2300" dirty="0"/>
              <a:t>	Slowing down			The coldest</a:t>
            </a:r>
          </a:p>
          <a:p>
            <a:r>
              <a:rPr lang="en-GB" sz="2300" dirty="0"/>
              <a:t>10. </a:t>
            </a:r>
            <a:r>
              <a:rPr lang="en-GB" sz="2400" dirty="0"/>
              <a:t>What is a nebula?</a:t>
            </a:r>
          </a:p>
          <a:p>
            <a:endParaRPr lang="en-GB" sz="2400" dirty="0"/>
          </a:p>
          <a:p>
            <a:r>
              <a:rPr lang="en-GB" sz="2400" dirty="0"/>
              <a:t>11. What determines the life cycle a star will take?</a:t>
            </a:r>
          </a:p>
          <a:p>
            <a:endParaRPr lang="en-GB" sz="2400" dirty="0"/>
          </a:p>
          <a:p>
            <a:r>
              <a:rPr lang="en-GB" sz="2400" dirty="0"/>
              <a:t>12. Describe the lifecycle of a star the size of the sun.</a:t>
            </a:r>
          </a:p>
          <a:p>
            <a:endParaRPr lang="en-GB" sz="2400" dirty="0"/>
          </a:p>
          <a:p>
            <a:r>
              <a:rPr lang="en-GB" sz="2400" dirty="0"/>
              <a:t>13. Describe the lifecycle of a star more massive than the sun.</a:t>
            </a:r>
          </a:p>
          <a:p>
            <a:endParaRPr lang="en-GB" sz="2300" dirty="0"/>
          </a:p>
        </p:txBody>
      </p:sp>
      <p:sp>
        <p:nvSpPr>
          <p:cNvPr id="7" name="TextBox 6">
            <a:extLst>
              <a:ext uri="{FF2B5EF4-FFF2-40B4-BE49-F238E27FC236}">
                <a16:creationId xmlns:a16="http://schemas.microsoft.com/office/drawing/2014/main" id="{2C674078-319B-4908-A92F-59D9722FB64E}"/>
              </a:ext>
            </a:extLst>
          </p:cNvPr>
          <p:cNvSpPr txBox="1"/>
          <p:nvPr/>
        </p:nvSpPr>
        <p:spPr>
          <a:xfrm>
            <a:off x="3779912" y="1545828"/>
            <a:ext cx="288032" cy="295396"/>
          </a:xfrm>
          <a:prstGeom prst="rect">
            <a:avLst/>
          </a:prstGeom>
          <a:noFill/>
          <a:ln>
            <a:solidFill>
              <a:schemeClr val="tx1"/>
            </a:solidFill>
          </a:ln>
        </p:spPr>
        <p:txBody>
          <a:bodyPr wrap="square" rtlCol="0">
            <a:spAutoFit/>
          </a:bodyPr>
          <a:lstStyle/>
          <a:p>
            <a:endParaRPr lang="en-GB" dirty="0"/>
          </a:p>
        </p:txBody>
      </p:sp>
      <p:sp>
        <p:nvSpPr>
          <p:cNvPr id="8" name="TextBox 7">
            <a:extLst>
              <a:ext uri="{FF2B5EF4-FFF2-40B4-BE49-F238E27FC236}">
                <a16:creationId xmlns:a16="http://schemas.microsoft.com/office/drawing/2014/main" id="{6EFEFEAB-EB8A-4FD9-86DC-E5159CA7A14D}"/>
              </a:ext>
            </a:extLst>
          </p:cNvPr>
          <p:cNvSpPr txBox="1"/>
          <p:nvPr/>
        </p:nvSpPr>
        <p:spPr>
          <a:xfrm>
            <a:off x="3779912" y="1950335"/>
            <a:ext cx="288032" cy="295396"/>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AEA5ADBE-AFB5-48A8-8EAC-08A5B14BA3AB}"/>
              </a:ext>
            </a:extLst>
          </p:cNvPr>
          <p:cNvSpPr txBox="1"/>
          <p:nvPr/>
        </p:nvSpPr>
        <p:spPr>
          <a:xfrm>
            <a:off x="6732240" y="1545828"/>
            <a:ext cx="288032" cy="369332"/>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78134ABE-3FAA-440F-BABC-41D709DF6288}"/>
              </a:ext>
            </a:extLst>
          </p:cNvPr>
          <p:cNvSpPr txBox="1"/>
          <p:nvPr/>
        </p:nvSpPr>
        <p:spPr>
          <a:xfrm>
            <a:off x="6732240" y="1942103"/>
            <a:ext cx="288032" cy="295396"/>
          </a:xfrm>
          <a:prstGeom prst="rect">
            <a:avLst/>
          </a:prstGeom>
          <a:noFill/>
          <a:ln>
            <a:solidFill>
              <a:schemeClr val="tx1"/>
            </a:solidFill>
          </a:ln>
        </p:spPr>
        <p:txBody>
          <a:bodyPr wrap="square" rtlCol="0">
            <a:spAutoFit/>
          </a:bodyPr>
          <a:lstStyle/>
          <a:p>
            <a:endParaRPr lang="en-GB" dirty="0"/>
          </a:p>
        </p:txBody>
      </p:sp>
    </p:spTree>
    <p:extLst>
      <p:ext uri="{BB962C8B-B14F-4D97-AF65-F5344CB8AC3E}">
        <p14:creationId xmlns:p14="http://schemas.microsoft.com/office/powerpoint/2010/main" val="2053678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09331" y="681440"/>
            <a:ext cx="8994912" cy="2292935"/>
          </a:xfrm>
          <a:prstGeom prst="rect">
            <a:avLst/>
          </a:prstGeom>
          <a:noFill/>
        </p:spPr>
        <p:txBody>
          <a:bodyPr wrap="square" rtlCol="0">
            <a:spAutoFit/>
          </a:bodyPr>
          <a:lstStyle/>
          <a:p>
            <a:r>
              <a:rPr lang="en-GB" sz="2400" dirty="0"/>
              <a:t>14. What processes produce all of the naturally occurring elements?</a:t>
            </a:r>
          </a:p>
          <a:p>
            <a:endParaRPr lang="en-GB" sz="2400" dirty="0"/>
          </a:p>
          <a:p>
            <a:r>
              <a:rPr lang="en-GB" sz="2400" dirty="0"/>
              <a:t>15. Where are elements heavier than iron produced?</a:t>
            </a:r>
          </a:p>
          <a:p>
            <a:endParaRPr lang="en-GB" sz="2400" dirty="0"/>
          </a:p>
          <a:p>
            <a:r>
              <a:rPr lang="en-GB" sz="2400" dirty="0"/>
              <a:t>16. How are these elements distributed throughout the universe?</a:t>
            </a:r>
          </a:p>
          <a:p>
            <a:endParaRPr lang="en-GB" sz="2300" dirty="0"/>
          </a:p>
        </p:txBody>
      </p:sp>
    </p:spTree>
    <p:extLst>
      <p:ext uri="{BB962C8B-B14F-4D97-AF65-F5344CB8AC3E}">
        <p14:creationId xmlns:p14="http://schemas.microsoft.com/office/powerpoint/2010/main" val="1371037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968" y="704918"/>
            <a:ext cx="4680520" cy="5257800"/>
          </a:xfrm>
          <a:prstGeom prst="rect">
            <a:avLst/>
          </a:prstGeom>
        </p:spPr>
      </p:pic>
      <p:sp>
        <p:nvSpPr>
          <p:cNvPr id="5" name="TextBox 4">
            <a:extLst>
              <a:ext uri="{FF2B5EF4-FFF2-40B4-BE49-F238E27FC236}">
                <a16:creationId xmlns:a16="http://schemas.microsoft.com/office/drawing/2014/main" id="{C15E985B-AD00-0C4D-8C8C-AFC94711FB22}"/>
              </a:ext>
            </a:extLst>
          </p:cNvPr>
          <p:cNvSpPr txBox="1"/>
          <p:nvPr/>
        </p:nvSpPr>
        <p:spPr>
          <a:xfrm>
            <a:off x="0" y="980728"/>
            <a:ext cx="4716016" cy="421653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pPr lvl="0"/>
            <a:r>
              <a:rPr lang="en-GB" sz="3200" b="1" dirty="0">
                <a:solidFill>
                  <a:prstClr val="black">
                    <a:lumMod val="50000"/>
                    <a:lumOff val="50000"/>
                  </a:prstClr>
                </a:solidFill>
              </a:rPr>
              <a:t>Part 2</a:t>
            </a:r>
          </a:p>
          <a:p>
            <a:pPr lvl="0"/>
            <a:endParaRPr lang="en-GB" sz="3200" b="1" dirty="0">
              <a:solidFill>
                <a:prstClr val="black">
                  <a:lumMod val="50000"/>
                  <a:lumOff val="50000"/>
                </a:prstClr>
              </a:solidFill>
            </a:endParaRPr>
          </a:p>
          <a:p>
            <a:pPr marL="457200" lvl="0" indent="-457200">
              <a:buFont typeface="Arial" panose="020B0604020202020204" pitchFamily="34" charset="0"/>
              <a:buChar char="•"/>
            </a:pPr>
            <a:r>
              <a:rPr lang="en-GB" sz="2000" b="1" dirty="0">
                <a:solidFill>
                  <a:prstClr val="black">
                    <a:lumMod val="50000"/>
                    <a:lumOff val="50000"/>
                  </a:prstClr>
                </a:solidFill>
              </a:rPr>
              <a:t>Origin of the universe</a:t>
            </a:r>
          </a:p>
          <a:p>
            <a:pPr marL="457200" lvl="0" indent="-457200">
              <a:buFont typeface="Arial" panose="020B0604020202020204" pitchFamily="34" charset="0"/>
              <a:buChar char="•"/>
            </a:pPr>
            <a:r>
              <a:rPr lang="en-GB" sz="2000" b="1" dirty="0">
                <a:solidFill>
                  <a:prstClr val="black">
                    <a:lumMod val="50000"/>
                    <a:lumOff val="50000"/>
                  </a:prstClr>
                </a:solidFill>
              </a:rPr>
              <a:t>Redshift</a:t>
            </a:r>
          </a:p>
          <a:p>
            <a:pPr marL="457200" lvl="0" indent="-457200">
              <a:buFont typeface="Arial" panose="020B0604020202020204" pitchFamily="34" charset="0"/>
              <a:buChar char="•"/>
            </a:pPr>
            <a:r>
              <a:rPr lang="en-GB" sz="2000" b="1" dirty="0">
                <a:solidFill>
                  <a:prstClr val="black">
                    <a:lumMod val="50000"/>
                    <a:lumOff val="50000"/>
                  </a:prstClr>
                </a:solidFill>
              </a:rPr>
              <a:t>Life cycle of stars</a:t>
            </a:r>
          </a:p>
          <a:p>
            <a:endParaRPr lang="en-GB" dirty="0"/>
          </a:p>
        </p:txBody>
      </p:sp>
    </p:spTree>
    <p:extLst>
      <p:ext uri="{BB962C8B-B14F-4D97-AF65-F5344CB8AC3E}">
        <p14:creationId xmlns:p14="http://schemas.microsoft.com/office/powerpoint/2010/main" val="691867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AnswerIT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6109365"/>
          </a:xfrm>
          <a:prstGeom prst="rect">
            <a:avLst/>
          </a:prstGeom>
          <a:noFill/>
        </p:spPr>
        <p:txBody>
          <a:bodyPr wrap="square" rtlCol="0">
            <a:spAutoFit/>
          </a:bodyPr>
          <a:lstStyle/>
          <a:p>
            <a:r>
              <a:rPr lang="en-GB" sz="2300" dirty="0"/>
              <a:t>1.  What does the diagram suggest is happening to the Universe over</a:t>
            </a:r>
          </a:p>
          <a:p>
            <a:r>
              <a:rPr lang="en-GB" sz="2300" dirty="0"/>
              <a:t>     time? </a:t>
            </a:r>
          </a:p>
          <a:p>
            <a:endParaRPr lang="en-GB" sz="2300" b="1" dirty="0">
              <a:solidFill>
                <a:srgbClr val="00B050"/>
              </a:solidFill>
            </a:endParaRPr>
          </a:p>
          <a:p>
            <a:pPr lvl="1"/>
            <a:r>
              <a:rPr lang="en-GB" sz="2400" b="1" dirty="0">
                <a:solidFill>
                  <a:srgbClr val="00B050"/>
                </a:solidFill>
              </a:rPr>
              <a:t>It is expanding.</a:t>
            </a:r>
            <a:endParaRPr lang="en-GB" sz="2300" dirty="0"/>
          </a:p>
          <a:p>
            <a:endParaRPr lang="en-GB" sz="2300" dirty="0"/>
          </a:p>
          <a:p>
            <a:r>
              <a:rPr lang="en-GB" sz="2300" dirty="0"/>
              <a:t>2.   Describe the current theory of how the Universe began.</a:t>
            </a:r>
          </a:p>
          <a:p>
            <a:r>
              <a:rPr lang="en-GB" sz="2300" dirty="0"/>
              <a:t>       </a:t>
            </a:r>
            <a:r>
              <a:rPr lang="en-GB" sz="2000" b="1" dirty="0">
                <a:solidFill>
                  <a:srgbClr val="00B050"/>
                </a:solidFill>
              </a:rPr>
              <a:t>Started as a small region that was very hot and dense.</a:t>
            </a:r>
          </a:p>
          <a:p>
            <a:r>
              <a:rPr lang="en-GB" sz="2000" b="1" dirty="0">
                <a:solidFill>
                  <a:srgbClr val="00B050"/>
                </a:solidFill>
              </a:rPr>
              <a:t>         Big Bang caused it to rapidly expand.</a:t>
            </a:r>
          </a:p>
          <a:p>
            <a:r>
              <a:rPr lang="en-GB" sz="2300" dirty="0"/>
              <a:t>3.   Which colour of light has the longest wavelength?</a:t>
            </a:r>
            <a:r>
              <a:rPr lang="en-GB" sz="2400" b="1" dirty="0">
                <a:solidFill>
                  <a:srgbClr val="00B050"/>
                </a:solidFill>
              </a:rPr>
              <a:t> </a:t>
            </a:r>
          </a:p>
          <a:p>
            <a:pPr lvl="1"/>
            <a:r>
              <a:rPr lang="en-GB" sz="2400" b="1" dirty="0">
                <a:solidFill>
                  <a:srgbClr val="00B050"/>
                </a:solidFill>
              </a:rPr>
              <a:t>Red</a:t>
            </a:r>
          </a:p>
          <a:p>
            <a:r>
              <a:rPr lang="en-GB" sz="2300" dirty="0"/>
              <a:t>4. The diagram shows the spectrum of light from a star in our galaxy.</a:t>
            </a:r>
          </a:p>
          <a:p>
            <a:pPr marL="457200" indent="-457200">
              <a:buAutoNum type="arabicPeriod" startAt="2"/>
            </a:pPr>
            <a:endParaRPr lang="en-GB" sz="2300" dirty="0"/>
          </a:p>
          <a:p>
            <a:pPr marL="457200" indent="-457200">
              <a:buAutoNum type="arabicPeriod" startAt="2"/>
            </a:pPr>
            <a:endParaRPr lang="en-GB" sz="2300" dirty="0"/>
          </a:p>
          <a:p>
            <a:endParaRPr lang="en-GB" sz="2300" dirty="0"/>
          </a:p>
          <a:p>
            <a:r>
              <a:rPr lang="en-GB" sz="2300" dirty="0"/>
              <a:t>        Copy the second box by adding the spectra you would expect from a</a:t>
            </a:r>
          </a:p>
          <a:p>
            <a:r>
              <a:rPr lang="en-GB" sz="2300" dirty="0"/>
              <a:t>        star in a distant galaxy.</a:t>
            </a:r>
          </a:p>
          <a:p>
            <a:endParaRPr lang="en-GB" sz="2300" dirty="0"/>
          </a:p>
        </p:txBody>
      </p:sp>
      <p:grpSp>
        <p:nvGrpSpPr>
          <p:cNvPr id="3" name="Group 2">
            <a:extLst>
              <a:ext uri="{FF2B5EF4-FFF2-40B4-BE49-F238E27FC236}">
                <a16:creationId xmlns:a16="http://schemas.microsoft.com/office/drawing/2014/main" id="{B295B2B3-B6F2-FE41-B080-7236C77AC821}"/>
              </a:ext>
            </a:extLst>
          </p:cNvPr>
          <p:cNvGrpSpPr/>
          <p:nvPr/>
        </p:nvGrpSpPr>
        <p:grpSpPr>
          <a:xfrm>
            <a:off x="683568" y="4588867"/>
            <a:ext cx="7287514" cy="862635"/>
            <a:chOff x="678640" y="1878131"/>
            <a:chExt cx="7287514" cy="862635"/>
          </a:xfrm>
        </p:grpSpPr>
        <p:sp>
          <p:nvSpPr>
            <p:cNvPr id="7" name="Rectangle 6">
              <a:extLst>
                <a:ext uri="{FF2B5EF4-FFF2-40B4-BE49-F238E27FC236}">
                  <a16:creationId xmlns:a16="http://schemas.microsoft.com/office/drawing/2014/main" id="{6F1FCBCA-F8EA-4510-89E9-022A4C40EFC6}"/>
                </a:ext>
              </a:extLst>
            </p:cNvPr>
            <p:cNvSpPr/>
            <p:nvPr/>
          </p:nvSpPr>
          <p:spPr>
            <a:xfrm>
              <a:off x="745720" y="1919520"/>
              <a:ext cx="2736304" cy="50405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cxnSp>
          <p:nvCxnSpPr>
            <p:cNvPr id="9" name="Straight Connector 8">
              <a:extLst>
                <a:ext uri="{FF2B5EF4-FFF2-40B4-BE49-F238E27FC236}">
                  <a16:creationId xmlns:a16="http://schemas.microsoft.com/office/drawing/2014/main" id="{589693AE-1EA8-4E15-B570-DBB7E7A0B57A}"/>
                </a:ext>
              </a:extLst>
            </p:cNvPr>
            <p:cNvCxnSpPr/>
            <p:nvPr/>
          </p:nvCxnSpPr>
          <p:spPr>
            <a:xfrm>
              <a:off x="899592" y="1916832"/>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0161352-2E11-4FFB-8D51-6D56E1D19B95}"/>
                </a:ext>
              </a:extLst>
            </p:cNvPr>
            <p:cNvCxnSpPr/>
            <p:nvPr/>
          </p:nvCxnSpPr>
          <p:spPr>
            <a:xfrm>
              <a:off x="1187624" y="1921612"/>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CC07005-DF83-4F57-9E24-72C022BB085F}"/>
                </a:ext>
              </a:extLst>
            </p:cNvPr>
            <p:cNvCxnSpPr/>
            <p:nvPr/>
          </p:nvCxnSpPr>
          <p:spPr>
            <a:xfrm>
              <a:off x="1331639" y="1916832"/>
              <a:ext cx="0" cy="504056"/>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02BF67A-FFC9-4612-9BAC-4C458E3F6257}"/>
                </a:ext>
              </a:extLst>
            </p:cNvPr>
            <p:cNvCxnSpPr/>
            <p:nvPr/>
          </p:nvCxnSpPr>
          <p:spPr>
            <a:xfrm>
              <a:off x="971600" y="1916832"/>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8A19548-09F2-4E19-AF65-72C8030E7DE6}"/>
                </a:ext>
              </a:extLst>
            </p:cNvPr>
            <p:cNvCxnSpPr/>
            <p:nvPr/>
          </p:nvCxnSpPr>
          <p:spPr>
            <a:xfrm>
              <a:off x="2113872" y="1916832"/>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10DB29A-37BD-40CF-8D99-75FCE88792AF}"/>
                </a:ext>
              </a:extLst>
            </p:cNvPr>
            <p:cNvCxnSpPr/>
            <p:nvPr/>
          </p:nvCxnSpPr>
          <p:spPr>
            <a:xfrm>
              <a:off x="2627784" y="1916832"/>
              <a:ext cx="0" cy="50405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CA49024-4463-48FD-9FEA-C06DF7E1E3A0}"/>
                </a:ext>
              </a:extLst>
            </p:cNvPr>
            <p:cNvSpPr txBox="1"/>
            <p:nvPr/>
          </p:nvSpPr>
          <p:spPr>
            <a:xfrm>
              <a:off x="3189064" y="2454986"/>
              <a:ext cx="585919" cy="276999"/>
            </a:xfrm>
            <a:prstGeom prst="rect">
              <a:avLst/>
            </a:prstGeom>
            <a:noFill/>
          </p:spPr>
          <p:txBody>
            <a:bodyPr wrap="square" rtlCol="0">
              <a:spAutoFit/>
            </a:bodyPr>
            <a:lstStyle/>
            <a:p>
              <a:r>
                <a:rPr lang="en-GB" sz="1200" dirty="0"/>
                <a:t>Red</a:t>
              </a:r>
            </a:p>
          </p:txBody>
        </p:sp>
        <p:sp>
          <p:nvSpPr>
            <p:cNvPr id="16" name="TextBox 15">
              <a:extLst>
                <a:ext uri="{FF2B5EF4-FFF2-40B4-BE49-F238E27FC236}">
                  <a16:creationId xmlns:a16="http://schemas.microsoft.com/office/drawing/2014/main" id="{6546B6AA-22CD-4DC3-A267-CD74EACAD9E1}"/>
                </a:ext>
              </a:extLst>
            </p:cNvPr>
            <p:cNvSpPr txBox="1"/>
            <p:nvPr/>
          </p:nvSpPr>
          <p:spPr>
            <a:xfrm>
              <a:off x="678640" y="2463767"/>
              <a:ext cx="585919" cy="276999"/>
            </a:xfrm>
            <a:prstGeom prst="rect">
              <a:avLst/>
            </a:prstGeom>
            <a:noFill/>
          </p:spPr>
          <p:txBody>
            <a:bodyPr wrap="square" rtlCol="0">
              <a:spAutoFit/>
            </a:bodyPr>
            <a:lstStyle/>
            <a:p>
              <a:r>
                <a:rPr lang="en-GB" sz="1200" dirty="0"/>
                <a:t>Blue</a:t>
              </a:r>
            </a:p>
          </p:txBody>
        </p:sp>
        <p:sp>
          <p:nvSpPr>
            <p:cNvPr id="17" name="Rectangle 16">
              <a:extLst>
                <a:ext uri="{FF2B5EF4-FFF2-40B4-BE49-F238E27FC236}">
                  <a16:creationId xmlns:a16="http://schemas.microsoft.com/office/drawing/2014/main" id="{FA8DF595-E9A5-4E4F-B43A-144704C5BFEA}"/>
                </a:ext>
              </a:extLst>
            </p:cNvPr>
            <p:cNvSpPr/>
            <p:nvPr/>
          </p:nvSpPr>
          <p:spPr>
            <a:xfrm>
              <a:off x="4864883" y="1878131"/>
              <a:ext cx="2808312" cy="53815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8" name="TextBox 17">
              <a:extLst>
                <a:ext uri="{FF2B5EF4-FFF2-40B4-BE49-F238E27FC236}">
                  <a16:creationId xmlns:a16="http://schemas.microsoft.com/office/drawing/2014/main" id="{CA090609-B10F-4C87-9B56-4179E777A217}"/>
                </a:ext>
              </a:extLst>
            </p:cNvPr>
            <p:cNvSpPr txBox="1"/>
            <p:nvPr/>
          </p:nvSpPr>
          <p:spPr>
            <a:xfrm>
              <a:off x="4861474" y="2454986"/>
              <a:ext cx="585919" cy="276999"/>
            </a:xfrm>
            <a:prstGeom prst="rect">
              <a:avLst/>
            </a:prstGeom>
            <a:noFill/>
          </p:spPr>
          <p:txBody>
            <a:bodyPr wrap="square" rtlCol="0">
              <a:spAutoFit/>
            </a:bodyPr>
            <a:lstStyle/>
            <a:p>
              <a:r>
                <a:rPr lang="en-GB" sz="1200" dirty="0"/>
                <a:t>Blue</a:t>
              </a:r>
            </a:p>
          </p:txBody>
        </p:sp>
        <p:sp>
          <p:nvSpPr>
            <p:cNvPr id="19" name="TextBox 18">
              <a:extLst>
                <a:ext uri="{FF2B5EF4-FFF2-40B4-BE49-F238E27FC236}">
                  <a16:creationId xmlns:a16="http://schemas.microsoft.com/office/drawing/2014/main" id="{7A55814B-C0AE-4BCD-B55F-AC5CF3C41B2E}"/>
                </a:ext>
              </a:extLst>
            </p:cNvPr>
            <p:cNvSpPr txBox="1"/>
            <p:nvPr/>
          </p:nvSpPr>
          <p:spPr>
            <a:xfrm>
              <a:off x="7380235" y="2423576"/>
              <a:ext cx="585919" cy="276999"/>
            </a:xfrm>
            <a:prstGeom prst="rect">
              <a:avLst/>
            </a:prstGeom>
            <a:noFill/>
          </p:spPr>
          <p:txBody>
            <a:bodyPr wrap="square" rtlCol="0">
              <a:spAutoFit/>
            </a:bodyPr>
            <a:lstStyle/>
            <a:p>
              <a:r>
                <a:rPr lang="en-GB" sz="1200" dirty="0"/>
                <a:t>Red</a:t>
              </a:r>
            </a:p>
          </p:txBody>
        </p:sp>
        <p:cxnSp>
          <p:nvCxnSpPr>
            <p:cNvPr id="20" name="Straight Connector 19">
              <a:extLst>
                <a:ext uri="{FF2B5EF4-FFF2-40B4-BE49-F238E27FC236}">
                  <a16:creationId xmlns:a16="http://schemas.microsoft.com/office/drawing/2014/main" id="{FC8DE47B-2238-4D05-8A58-1A51783140CF}"/>
                </a:ext>
              </a:extLst>
            </p:cNvPr>
            <p:cNvCxnSpPr>
              <a:cxnSpLocks/>
            </p:cNvCxnSpPr>
            <p:nvPr/>
          </p:nvCxnSpPr>
          <p:spPr>
            <a:xfrm>
              <a:off x="7164288" y="1878131"/>
              <a:ext cx="0" cy="53815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86BBF13-9D6D-46D5-9964-62E576DBF908}"/>
                </a:ext>
              </a:extLst>
            </p:cNvPr>
            <p:cNvCxnSpPr>
              <a:cxnSpLocks/>
            </p:cNvCxnSpPr>
            <p:nvPr/>
          </p:nvCxnSpPr>
          <p:spPr>
            <a:xfrm>
              <a:off x="6660232" y="1878131"/>
              <a:ext cx="0" cy="53815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DD72139-3D8C-4DF2-AAD9-C279D51EDD1D}"/>
                </a:ext>
              </a:extLst>
            </p:cNvPr>
            <p:cNvCxnSpPr>
              <a:cxnSpLocks/>
            </p:cNvCxnSpPr>
            <p:nvPr/>
          </p:nvCxnSpPr>
          <p:spPr>
            <a:xfrm>
              <a:off x="5868144" y="1878131"/>
              <a:ext cx="0" cy="538154"/>
            </a:xfrm>
            <a:prstGeom prst="line">
              <a:avLst/>
            </a:prstGeom>
            <a:ln w="44450">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7FDD102-572E-4BAA-8716-6F13823A0302}"/>
                </a:ext>
              </a:extLst>
            </p:cNvPr>
            <p:cNvCxnSpPr>
              <a:cxnSpLocks/>
            </p:cNvCxnSpPr>
            <p:nvPr/>
          </p:nvCxnSpPr>
          <p:spPr>
            <a:xfrm>
              <a:off x="5724128" y="1878131"/>
              <a:ext cx="0" cy="53815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6531B13-4938-409F-83A8-296BF93A9410}"/>
                </a:ext>
              </a:extLst>
            </p:cNvPr>
            <p:cNvCxnSpPr>
              <a:cxnSpLocks/>
            </p:cNvCxnSpPr>
            <p:nvPr/>
          </p:nvCxnSpPr>
          <p:spPr>
            <a:xfrm>
              <a:off x="5447393" y="1878131"/>
              <a:ext cx="0" cy="53815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FF285BD-6FF7-41D2-BBE0-5ECE0E63E4DF}"/>
                </a:ext>
              </a:extLst>
            </p:cNvPr>
            <p:cNvCxnSpPr>
              <a:cxnSpLocks/>
            </p:cNvCxnSpPr>
            <p:nvPr/>
          </p:nvCxnSpPr>
          <p:spPr>
            <a:xfrm>
              <a:off x="5364088" y="1878131"/>
              <a:ext cx="0" cy="53815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pic>
        <p:nvPicPr>
          <p:cNvPr id="26" name="Picture 25">
            <a:extLst>
              <a:ext uri="{FF2B5EF4-FFF2-40B4-BE49-F238E27FC236}">
                <a16:creationId xmlns:a16="http://schemas.microsoft.com/office/drawing/2014/main" id="{ECE27716-067C-D546-BAE8-7529F197B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0867" y="1078071"/>
            <a:ext cx="2664296" cy="1300661"/>
          </a:xfrm>
          <a:prstGeom prst="rect">
            <a:avLst/>
          </a:prstGeom>
        </p:spPr>
      </p:pic>
    </p:spTree>
    <p:extLst>
      <p:ext uri="{BB962C8B-B14F-4D97-AF65-F5344CB8AC3E}">
        <p14:creationId xmlns:p14="http://schemas.microsoft.com/office/powerpoint/2010/main" val="4187984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AnswerIT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873"/>
            <a:ext cx="9241361" cy="5393784"/>
          </a:xfrm>
          <a:prstGeom prst="rect">
            <a:avLst/>
          </a:prstGeom>
          <a:noFill/>
        </p:spPr>
        <p:txBody>
          <a:bodyPr wrap="square" rtlCol="0">
            <a:spAutoFit/>
          </a:bodyPr>
          <a:lstStyle/>
          <a:p>
            <a:pPr lvl="0"/>
            <a:r>
              <a:rPr lang="en-GB" sz="2300" dirty="0">
                <a:solidFill>
                  <a:prstClr val="black"/>
                </a:solidFill>
              </a:rPr>
              <a:t>5.   The light reaching Earth from distant galaxies exhibits red shift. </a:t>
            </a:r>
          </a:p>
          <a:p>
            <a:pPr lvl="0"/>
            <a:r>
              <a:rPr lang="en-GB" sz="2300" dirty="0">
                <a:solidFill>
                  <a:prstClr val="black"/>
                </a:solidFill>
              </a:rPr>
              <a:t>      Explain why red shift occurs. </a:t>
            </a:r>
          </a:p>
          <a:p>
            <a:pPr lvl="0"/>
            <a:r>
              <a:rPr lang="en-GB" sz="2300" dirty="0">
                <a:solidFill>
                  <a:prstClr val="black"/>
                </a:solidFill>
              </a:rPr>
              <a:t>      </a:t>
            </a:r>
            <a:r>
              <a:rPr lang="en-GB" sz="2000" b="1" dirty="0">
                <a:solidFill>
                  <a:srgbClr val="00B050"/>
                </a:solidFill>
              </a:rPr>
              <a:t>Galaxy is moving away at high speed</a:t>
            </a:r>
          </a:p>
          <a:p>
            <a:pPr lvl="0"/>
            <a:r>
              <a:rPr lang="en-GB" sz="2000" b="1" dirty="0">
                <a:solidFill>
                  <a:srgbClr val="00B050"/>
                </a:solidFill>
              </a:rPr>
              <a:t>        Light waves from the galaxy are being stretched to longer wavelengths.</a:t>
            </a:r>
          </a:p>
          <a:p>
            <a:pPr lvl="0"/>
            <a:r>
              <a:rPr lang="en-GB" sz="2000" b="1" dirty="0">
                <a:solidFill>
                  <a:srgbClr val="00B050"/>
                </a:solidFill>
              </a:rPr>
              <a:t>        Longer wavelengths of light are found at the red end of the spectrum.</a:t>
            </a:r>
          </a:p>
          <a:p>
            <a:pPr lvl="0"/>
            <a:r>
              <a:rPr lang="en-GB" sz="2000" b="1" dirty="0">
                <a:solidFill>
                  <a:srgbClr val="00B050"/>
                </a:solidFill>
              </a:rPr>
              <a:t>        This shift of wavelength is called red shift.</a:t>
            </a:r>
          </a:p>
          <a:p>
            <a:pPr>
              <a:lnSpc>
                <a:spcPct val="150000"/>
              </a:lnSpc>
            </a:pPr>
            <a:r>
              <a:rPr lang="en-GB" sz="2300" dirty="0"/>
              <a:t>                </a:t>
            </a:r>
            <a:r>
              <a:rPr lang="en-GB" dirty="0"/>
              <a:t>Galaxy A				                Galaxy B	</a:t>
            </a:r>
            <a:endParaRPr lang="en-GB" sz="2300" dirty="0"/>
          </a:p>
          <a:p>
            <a:r>
              <a:rPr lang="en-GB" sz="2300" dirty="0"/>
              <a:t> 6.  If galaxy A has a much bigger red shift than galaxy B, what does this</a:t>
            </a:r>
          </a:p>
          <a:p>
            <a:r>
              <a:rPr lang="en-GB" sz="2300" dirty="0"/>
              <a:t>      tell you about galaxy A? </a:t>
            </a:r>
          </a:p>
          <a:p>
            <a:r>
              <a:rPr lang="en-GB" sz="2300" dirty="0"/>
              <a:t>       </a:t>
            </a:r>
            <a:r>
              <a:rPr lang="en-GB" sz="2000" b="1" dirty="0">
                <a:solidFill>
                  <a:srgbClr val="00B050"/>
                </a:solidFill>
              </a:rPr>
              <a:t>It is travelling away at a higher speed.  It is further away</a:t>
            </a:r>
            <a:r>
              <a:rPr lang="en-GB" b="1" dirty="0">
                <a:solidFill>
                  <a:srgbClr val="00B050"/>
                </a:solidFill>
              </a:rPr>
              <a:t>.</a:t>
            </a:r>
          </a:p>
          <a:p>
            <a:r>
              <a:rPr lang="en-GB" sz="2300" dirty="0"/>
              <a:t>7.   Which theory about the origin of the Universe does red shift of</a:t>
            </a:r>
          </a:p>
          <a:p>
            <a:r>
              <a:rPr lang="en-GB" sz="2300" dirty="0"/>
              <a:t>       galaxies support?</a:t>
            </a:r>
            <a:r>
              <a:rPr lang="en-GB" b="1" dirty="0">
                <a:solidFill>
                  <a:srgbClr val="00B050"/>
                </a:solidFill>
              </a:rPr>
              <a:t>         </a:t>
            </a:r>
            <a:r>
              <a:rPr lang="en-GB" sz="2000" b="1" dirty="0">
                <a:solidFill>
                  <a:srgbClr val="00B050"/>
                </a:solidFill>
              </a:rPr>
              <a:t>Big Bang theory.</a:t>
            </a:r>
          </a:p>
          <a:p>
            <a:r>
              <a:rPr lang="en-GB" sz="2300" dirty="0"/>
              <a:t>8.   Approximately how many years ago did the Universe begin? </a:t>
            </a:r>
            <a:r>
              <a:rPr lang="en-GB" sz="2000" dirty="0"/>
              <a:t>(Circle the correct answer)</a:t>
            </a:r>
          </a:p>
          <a:p>
            <a:r>
              <a:rPr lang="en-GB" sz="2300" dirty="0"/>
              <a:t>      	  14 million		14 billion	  14 trillion</a:t>
            </a:r>
          </a:p>
        </p:txBody>
      </p:sp>
      <p:pic>
        <p:nvPicPr>
          <p:cNvPr id="5" name="Picture 4">
            <a:extLst>
              <a:ext uri="{FF2B5EF4-FFF2-40B4-BE49-F238E27FC236}">
                <a16:creationId xmlns:a16="http://schemas.microsoft.com/office/drawing/2014/main" id="{DC389C22-F947-4408-88E9-7006CF6507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2838653"/>
            <a:ext cx="1083163" cy="432048"/>
          </a:xfrm>
          <a:prstGeom prst="rect">
            <a:avLst/>
          </a:prstGeom>
        </p:spPr>
      </p:pic>
      <p:pic>
        <p:nvPicPr>
          <p:cNvPr id="7" name="Picture 6">
            <a:extLst>
              <a:ext uri="{FF2B5EF4-FFF2-40B4-BE49-F238E27FC236}">
                <a16:creationId xmlns:a16="http://schemas.microsoft.com/office/drawing/2014/main" id="{496B06C1-2C2A-49A1-8E33-2E4CEFA912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720038" y="2398717"/>
            <a:ext cx="892298" cy="851670"/>
          </a:xfrm>
          <a:prstGeom prst="rect">
            <a:avLst/>
          </a:prstGeom>
        </p:spPr>
      </p:pic>
      <p:sp>
        <p:nvSpPr>
          <p:cNvPr id="3" name="Oval 2">
            <a:extLst>
              <a:ext uri="{FF2B5EF4-FFF2-40B4-BE49-F238E27FC236}">
                <a16:creationId xmlns:a16="http://schemas.microsoft.com/office/drawing/2014/main" id="{DF3BE187-DDB5-44E9-A22F-7E599698FC53}"/>
              </a:ext>
            </a:extLst>
          </p:cNvPr>
          <p:cNvSpPr/>
          <p:nvPr/>
        </p:nvSpPr>
        <p:spPr>
          <a:xfrm>
            <a:off x="3563888" y="5449368"/>
            <a:ext cx="1800200" cy="792088"/>
          </a:xfrm>
          <a:prstGeom prst="ellipse">
            <a:avLst/>
          </a:prstGeom>
          <a:noFill/>
          <a:ln w="127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46263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AnswerIT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09331" y="681440"/>
            <a:ext cx="8994912" cy="5601533"/>
          </a:xfrm>
          <a:prstGeom prst="rect">
            <a:avLst/>
          </a:prstGeom>
          <a:noFill/>
        </p:spPr>
        <p:txBody>
          <a:bodyPr wrap="square" rtlCol="0">
            <a:spAutoFit/>
          </a:bodyPr>
          <a:lstStyle/>
          <a:p>
            <a:r>
              <a:rPr lang="en-GB" sz="2300" dirty="0"/>
              <a:t>9 . The most distant galaxies in the Universe are thought to be:</a:t>
            </a:r>
          </a:p>
          <a:p>
            <a:r>
              <a:rPr lang="en-GB" sz="1600" dirty="0"/>
              <a:t>          </a:t>
            </a:r>
            <a:r>
              <a:rPr lang="en-GB" sz="1600" b="1" dirty="0"/>
              <a:t>(tick the correct box) </a:t>
            </a:r>
            <a:endParaRPr lang="en-GB" sz="2400" b="1" dirty="0"/>
          </a:p>
          <a:p>
            <a:endParaRPr lang="en-GB" sz="1000" b="1" dirty="0"/>
          </a:p>
          <a:p>
            <a:r>
              <a:rPr lang="en-GB" sz="2300" dirty="0"/>
              <a:t>	The biggest galaxies		Accelerating</a:t>
            </a:r>
          </a:p>
          <a:p>
            <a:r>
              <a:rPr lang="en-GB" sz="2300" dirty="0"/>
              <a:t>	Slowing down			The coldest</a:t>
            </a:r>
          </a:p>
          <a:p>
            <a:r>
              <a:rPr lang="en-GB" sz="2300" dirty="0"/>
              <a:t>10. </a:t>
            </a:r>
            <a:r>
              <a:rPr lang="en-GB" sz="2400" dirty="0"/>
              <a:t>What is a nebula?</a:t>
            </a:r>
          </a:p>
          <a:p>
            <a:pPr lvl="1"/>
            <a:r>
              <a:rPr lang="en-GB" sz="2400" b="1" dirty="0">
                <a:solidFill>
                  <a:srgbClr val="00B050"/>
                </a:solidFill>
              </a:rPr>
              <a:t>Cloud of dust and gas.</a:t>
            </a:r>
          </a:p>
          <a:p>
            <a:r>
              <a:rPr lang="en-GB" sz="2400" dirty="0"/>
              <a:t>11. What determines the life cycle a star will take?</a:t>
            </a:r>
          </a:p>
          <a:p>
            <a:pPr lvl="1"/>
            <a:r>
              <a:rPr lang="en-GB" sz="2400" b="1" dirty="0">
                <a:solidFill>
                  <a:srgbClr val="00B050"/>
                </a:solidFill>
              </a:rPr>
              <a:t>The size of the star.</a:t>
            </a:r>
          </a:p>
          <a:p>
            <a:r>
              <a:rPr lang="en-GB" sz="2400" dirty="0"/>
              <a:t>12. Describe the lifecycle of a star the size of the sun.</a:t>
            </a:r>
          </a:p>
          <a:p>
            <a:pPr lvl="1"/>
            <a:r>
              <a:rPr lang="en-GB" sz="2400" b="1" dirty="0">
                <a:solidFill>
                  <a:srgbClr val="00B050"/>
                </a:solidFill>
              </a:rPr>
              <a:t>Cloud of gas and dust, protostar, main sequence star, red giant, white dwarf, black dwarf.</a:t>
            </a:r>
          </a:p>
          <a:p>
            <a:r>
              <a:rPr lang="en-GB" sz="2400" dirty="0"/>
              <a:t>13. Describe the lifecycle of a star more massive than the sun.</a:t>
            </a:r>
          </a:p>
          <a:p>
            <a:pPr lvl="1"/>
            <a:r>
              <a:rPr lang="en-GB" sz="2400" b="1" dirty="0">
                <a:solidFill>
                  <a:srgbClr val="00B050"/>
                </a:solidFill>
              </a:rPr>
              <a:t>Cloud of gas and dust, protostar, main sequence star, red super giant, supernova, neutron star or black hole.</a:t>
            </a:r>
            <a:endParaRPr lang="en-GB" sz="2400" b="1" dirty="0"/>
          </a:p>
          <a:p>
            <a:endParaRPr lang="en-GB" sz="2300" dirty="0"/>
          </a:p>
        </p:txBody>
      </p:sp>
      <p:sp>
        <p:nvSpPr>
          <p:cNvPr id="7" name="TextBox 6">
            <a:extLst>
              <a:ext uri="{FF2B5EF4-FFF2-40B4-BE49-F238E27FC236}">
                <a16:creationId xmlns:a16="http://schemas.microsoft.com/office/drawing/2014/main" id="{2C674078-319B-4908-A92F-59D9722FB64E}"/>
              </a:ext>
            </a:extLst>
          </p:cNvPr>
          <p:cNvSpPr txBox="1"/>
          <p:nvPr/>
        </p:nvSpPr>
        <p:spPr>
          <a:xfrm>
            <a:off x="3779912" y="1545828"/>
            <a:ext cx="288032" cy="295396"/>
          </a:xfrm>
          <a:prstGeom prst="rect">
            <a:avLst/>
          </a:prstGeom>
          <a:noFill/>
          <a:ln>
            <a:solidFill>
              <a:schemeClr val="tx1"/>
            </a:solidFill>
          </a:ln>
        </p:spPr>
        <p:txBody>
          <a:bodyPr wrap="square" rtlCol="0">
            <a:spAutoFit/>
          </a:bodyPr>
          <a:lstStyle/>
          <a:p>
            <a:endParaRPr lang="en-GB" dirty="0"/>
          </a:p>
        </p:txBody>
      </p:sp>
      <p:sp>
        <p:nvSpPr>
          <p:cNvPr id="8" name="TextBox 7">
            <a:extLst>
              <a:ext uri="{FF2B5EF4-FFF2-40B4-BE49-F238E27FC236}">
                <a16:creationId xmlns:a16="http://schemas.microsoft.com/office/drawing/2014/main" id="{6EFEFEAB-EB8A-4FD9-86DC-E5159CA7A14D}"/>
              </a:ext>
            </a:extLst>
          </p:cNvPr>
          <p:cNvSpPr txBox="1"/>
          <p:nvPr/>
        </p:nvSpPr>
        <p:spPr>
          <a:xfrm>
            <a:off x="3779912" y="1950335"/>
            <a:ext cx="288032" cy="295396"/>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AEA5ADBE-AFB5-48A8-8EAC-08A5B14BA3AB}"/>
              </a:ext>
            </a:extLst>
          </p:cNvPr>
          <p:cNvSpPr txBox="1"/>
          <p:nvPr/>
        </p:nvSpPr>
        <p:spPr>
          <a:xfrm>
            <a:off x="6732240" y="1545828"/>
            <a:ext cx="288032" cy="369332"/>
          </a:xfrm>
          <a:prstGeom prst="rect">
            <a:avLst/>
          </a:prstGeom>
          <a:noFill/>
          <a:ln>
            <a:solidFill>
              <a:schemeClr val="tx1"/>
            </a:solidFill>
          </a:ln>
        </p:spPr>
        <p:txBody>
          <a:bodyPr wrap="square" rtlCol="0">
            <a:spAutoFit/>
          </a:bodyPr>
          <a:lstStyle/>
          <a:p>
            <a:r>
              <a:rPr lang="en-GB" b="1" dirty="0">
                <a:solidFill>
                  <a:srgbClr val="00B050"/>
                </a:solidFill>
                <a:sym typeface="Wingdings" panose="05000000000000000000" pitchFamily="2" charset="2"/>
              </a:rPr>
              <a:t></a:t>
            </a:r>
            <a:endParaRPr lang="en-GB" dirty="0"/>
          </a:p>
        </p:txBody>
      </p:sp>
      <p:sp>
        <p:nvSpPr>
          <p:cNvPr id="10" name="TextBox 9">
            <a:extLst>
              <a:ext uri="{FF2B5EF4-FFF2-40B4-BE49-F238E27FC236}">
                <a16:creationId xmlns:a16="http://schemas.microsoft.com/office/drawing/2014/main" id="{78134ABE-3FAA-440F-BABC-41D709DF6288}"/>
              </a:ext>
            </a:extLst>
          </p:cNvPr>
          <p:cNvSpPr txBox="1"/>
          <p:nvPr/>
        </p:nvSpPr>
        <p:spPr>
          <a:xfrm>
            <a:off x="6732240" y="1942103"/>
            <a:ext cx="288032" cy="295396"/>
          </a:xfrm>
          <a:prstGeom prst="rect">
            <a:avLst/>
          </a:prstGeom>
          <a:noFill/>
          <a:ln>
            <a:solidFill>
              <a:schemeClr val="tx1"/>
            </a:solidFill>
          </a:ln>
        </p:spPr>
        <p:txBody>
          <a:bodyPr wrap="square" rtlCol="0">
            <a:spAutoFit/>
          </a:bodyPr>
          <a:lstStyle/>
          <a:p>
            <a:endParaRPr lang="en-GB" dirty="0"/>
          </a:p>
        </p:txBody>
      </p:sp>
    </p:spTree>
    <p:extLst>
      <p:ext uri="{BB962C8B-B14F-4D97-AF65-F5344CB8AC3E}">
        <p14:creationId xmlns:p14="http://schemas.microsoft.com/office/powerpoint/2010/main" val="140956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39" y="33832"/>
            <a:ext cx="7812360" cy="657041"/>
          </a:xfrm>
        </p:spPr>
        <p:txBody>
          <a:bodyPr>
            <a:noAutofit/>
          </a:bodyPr>
          <a:lstStyle/>
          <a:p>
            <a:pPr marL="342900" lvl="1" algn="r" defTabSz="342900" rtl="0">
              <a:spcBef>
                <a:spcPct val="20000"/>
              </a:spcBef>
            </a:pPr>
            <a:r>
              <a:rPr lang="en-US" sz="2400" b="1" dirty="0">
                <a:solidFill>
                  <a:schemeClr val="accent6"/>
                </a:solidFill>
              </a:rPr>
              <a:t>Part 2 –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AnswerIT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09331" y="681440"/>
            <a:ext cx="8994912" cy="2662267"/>
          </a:xfrm>
          <a:prstGeom prst="rect">
            <a:avLst/>
          </a:prstGeom>
          <a:noFill/>
        </p:spPr>
        <p:txBody>
          <a:bodyPr wrap="square" rtlCol="0">
            <a:spAutoFit/>
          </a:bodyPr>
          <a:lstStyle/>
          <a:p>
            <a:r>
              <a:rPr lang="en-GB" sz="2400" dirty="0"/>
              <a:t>14. What processes produce all of the naturally occurring elements?</a:t>
            </a:r>
          </a:p>
          <a:p>
            <a:pPr lvl="1"/>
            <a:r>
              <a:rPr lang="en-GB" sz="2400" b="1" dirty="0">
                <a:solidFill>
                  <a:srgbClr val="00B050"/>
                </a:solidFill>
              </a:rPr>
              <a:t>Fusion.</a:t>
            </a:r>
          </a:p>
          <a:p>
            <a:r>
              <a:rPr lang="en-GB" sz="2400" dirty="0"/>
              <a:t>15. Where are elements heavier than iron produced?</a:t>
            </a:r>
          </a:p>
          <a:p>
            <a:pPr lvl="1"/>
            <a:r>
              <a:rPr lang="en-GB" sz="2400" b="1" dirty="0">
                <a:solidFill>
                  <a:srgbClr val="00B050"/>
                </a:solidFill>
              </a:rPr>
              <a:t>Supernova.</a:t>
            </a:r>
          </a:p>
          <a:p>
            <a:r>
              <a:rPr lang="en-GB" sz="2400" dirty="0"/>
              <a:t>16. How are these elements distributed throughout the universe?</a:t>
            </a:r>
          </a:p>
          <a:p>
            <a:pPr lvl="1"/>
            <a:r>
              <a:rPr lang="en-GB" sz="2400" b="1" dirty="0">
                <a:solidFill>
                  <a:srgbClr val="00B050"/>
                </a:solidFill>
              </a:rPr>
              <a:t>Explosion of massive star (supernova).</a:t>
            </a:r>
          </a:p>
          <a:p>
            <a:endParaRPr lang="en-GB" sz="2300" dirty="0"/>
          </a:p>
        </p:txBody>
      </p:sp>
    </p:spTree>
    <p:extLst>
      <p:ext uri="{BB962C8B-B14F-4D97-AF65-F5344CB8AC3E}">
        <p14:creationId xmlns:p14="http://schemas.microsoft.com/office/powerpoint/2010/main" val="160928462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48130</TotalTime>
  <Words>4740</Words>
  <Application>Microsoft Macintosh PowerPoint</Application>
  <PresentationFormat>On-screen Show (4:3)</PresentationFormat>
  <Paragraphs>407</Paragraphs>
  <Slides>35</Slides>
  <Notes>19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vt:i4>
      </vt:variant>
    </vt:vector>
  </HeadingPairs>
  <TitlesOfParts>
    <vt:vector size="45" baseType="lpstr">
      <vt:lpstr>Arial</vt:lpstr>
      <vt:lpstr>Beirut</vt:lpstr>
      <vt:lpstr>Calibri</vt:lpstr>
      <vt:lpstr>Calibri Light</vt:lpstr>
      <vt:lpstr>Lato Medium</vt:lpstr>
      <vt:lpstr>News Gothic MT</vt:lpstr>
      <vt:lpstr>Times New Roman</vt:lpstr>
      <vt:lpstr>Wingdings</vt:lpstr>
      <vt:lpstr>1_Office Theme</vt:lpstr>
      <vt:lpstr>Custom Design</vt:lpstr>
      <vt:lpstr>PowerPoint Presentation</vt:lpstr>
      <vt:lpstr>            Overview    Edexcel Topic 7 </vt:lpstr>
      <vt:lpstr>PowerPoint Presentation</vt:lpstr>
      <vt:lpstr>             Weight and mass</vt:lpstr>
      <vt:lpstr>             Our solar system</vt:lpstr>
      <vt:lpstr>Our solar system</vt:lpstr>
      <vt:lpstr>       Formation of the sun and solar system</vt:lpstr>
      <vt:lpstr>       Orbits and speed</vt:lpstr>
      <vt:lpstr>       Orbits and speed</vt:lpstr>
      <vt:lpstr>PowerPoint Presentation</vt:lpstr>
      <vt:lpstr>Part 1– QuestionIT</vt:lpstr>
      <vt:lpstr>Part 1– QuestionIT</vt:lpstr>
      <vt:lpstr>Part 1– QuestionIT</vt:lpstr>
      <vt:lpstr>PowerPoint Presentation</vt:lpstr>
      <vt:lpstr>Part 1– AnswerIT</vt:lpstr>
      <vt:lpstr>Part 1– AnswerIT</vt:lpstr>
      <vt:lpstr>Part 1– AnswerIT</vt:lpstr>
      <vt:lpstr>PowerPoint Presentation</vt:lpstr>
      <vt:lpstr>Steady state vs the Big Bang</vt:lpstr>
      <vt:lpstr>Big Bang theory</vt:lpstr>
      <vt:lpstr>                 Red shift </vt:lpstr>
      <vt:lpstr>Red shift</vt:lpstr>
      <vt:lpstr>                 Red shift </vt:lpstr>
      <vt:lpstr>       Life cycle of a star</vt:lpstr>
      <vt:lpstr>       Stars and the elements</vt:lpstr>
      <vt:lpstr>PowerPoint Presentation</vt:lpstr>
      <vt:lpstr>Part 2 – QuestionIT</vt:lpstr>
      <vt:lpstr>Part 2 – QuestionIT</vt:lpstr>
      <vt:lpstr>Part 2 – QuestionIT</vt:lpstr>
      <vt:lpstr>Part 2 – QuestionIT</vt:lpstr>
      <vt:lpstr>PowerPoint Presentation</vt:lpstr>
      <vt:lpstr>Part 2 – AnswerIT</vt:lpstr>
      <vt:lpstr>Part 2 – AnswerIT</vt:lpstr>
      <vt:lpstr>Part 2 – AnswerIT</vt:lpstr>
      <vt:lpstr>Part 2 – AnswerIT</vt:lpstr>
    </vt:vector>
  </TitlesOfParts>
  <LinksUpToDate>false</LinksUpToDate>
  <SharedDoc>false</SharedDoc>
  <HyperlinksChanged>false</HyperlinksChanged>
  <AppVersion>16.0015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Amanda Fleck</cp:lastModifiedBy>
  <cp:revision>780</cp:revision>
  <cp:lastPrinted>2017-05-23T14:15:43Z</cp:lastPrinted>
  <dcterms:created xsi:type="dcterms:W3CDTF">2016-03-05T09:38:04Z</dcterms:created>
  <dcterms:modified xsi:type="dcterms:W3CDTF">2018-08-28T10:10:17Z</dcterms:modified>
</cp:coreProperties>
</file>